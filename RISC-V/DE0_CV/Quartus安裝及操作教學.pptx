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sldIdLst>
    <p:sldId id="256" r:id="rId2"/>
    <p:sldId id="30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74" r:id="rId13"/>
    <p:sldId id="290" r:id="rId14"/>
    <p:sldId id="291" r:id="rId15"/>
    <p:sldId id="293" r:id="rId16"/>
    <p:sldId id="294" r:id="rId17"/>
    <p:sldId id="295" r:id="rId18"/>
    <p:sldId id="299" r:id="rId19"/>
    <p:sldId id="296" r:id="rId20"/>
    <p:sldId id="297" r:id="rId21"/>
    <p:sldId id="29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B7172CF-460D-43C0-972B-D5D9588CA5FB}">
          <p14:sldIdLst>
            <p14:sldId id="256"/>
            <p14:sldId id="300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73"/>
            <p14:sldId id="274"/>
            <p14:sldId id="290"/>
            <p14:sldId id="291"/>
            <p14:sldId id="293"/>
            <p14:sldId id="294"/>
            <p14:sldId id="295"/>
            <p14:sldId id="299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6327"/>
  </p:normalViewPr>
  <p:slideViewPr>
    <p:cSldViewPr snapToGrid="0">
      <p:cViewPr varScale="1">
        <p:scale>
          <a:sx n="79" d="100"/>
          <a:sy n="79" d="100"/>
        </p:scale>
        <p:origin x="189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1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98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9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96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3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15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1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0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97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13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4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52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02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13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8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201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software-kit/664527/intel-quartus-prime-lite-edition-design-software-version-19-1-for-window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224B9C-5999-733F-BBB1-2BC53CA9C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Quartus</a:t>
            </a:r>
            <a:r>
              <a:rPr kumimoji="1" lang="zh-TW" altLang="en-US" dirty="0"/>
              <a:t> </a:t>
            </a:r>
            <a:r>
              <a:rPr kumimoji="1" lang="en-US" altLang="zh-TW" dirty="0"/>
              <a:t>Prime Lite </a:t>
            </a:r>
            <a:r>
              <a:rPr kumimoji="1" lang="en" altLang="zh-TW" dirty="0"/>
              <a:t>edition</a:t>
            </a:r>
            <a:r>
              <a:rPr kumimoji="1" lang="zh-TW" altLang="en-US" dirty="0"/>
              <a:t>安裝及操作教學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ECDC90-572A-BBC2-6CFF-380CD5B15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127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軟體安裝</a:t>
            </a:r>
            <a:endParaRPr lang="en-US" altLang="zh-TW" dirty="0"/>
          </a:p>
          <a:p>
            <a:r>
              <a:rPr lang="zh-TW" altLang="en-US" dirty="0"/>
              <a:t>軟體操作</a:t>
            </a:r>
            <a:endParaRPr lang="en-US" altLang="zh-TW" dirty="0"/>
          </a:p>
          <a:p>
            <a:r>
              <a:rPr lang="zh-TW" altLang="en-US" dirty="0"/>
              <a:t>燒錄實作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4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9073D-2B66-C1A5-65E2-582EEAC2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軟體下載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791F-0236-E128-6E06-676769C78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>
                <a:hlinkClick r:id="rId2"/>
              </a:rPr>
              <a:t>Intel® Quartus® Prime Lite Edition Design Software Version 19.1 for Windows</a:t>
            </a:r>
            <a:endParaRPr lang="en" altLang="zh-TW" dirty="0"/>
          </a:p>
          <a:p>
            <a:pPr marL="0" indent="0">
              <a:buNone/>
            </a:pPr>
            <a:r>
              <a:rPr kumimoji="1" lang="en" altLang="zh-TW" dirty="0"/>
              <a:t>(</a:t>
            </a:r>
            <a:r>
              <a:rPr kumimoji="1" lang="zh-TW" altLang="en-US" dirty="0"/>
              <a:t>下載</a:t>
            </a:r>
            <a:r>
              <a:rPr kumimoji="1" lang="en-US" altLang="zh-TW" dirty="0"/>
              <a:t>Quartus</a:t>
            </a:r>
            <a:r>
              <a:rPr kumimoji="1" lang="zh-TW" altLang="en-US" dirty="0"/>
              <a:t>需要</a:t>
            </a:r>
            <a:r>
              <a:rPr kumimoji="1" lang="en-US" altLang="zh-TW" dirty="0"/>
              <a:t>intel FPGA</a:t>
            </a:r>
            <a:r>
              <a:rPr kumimoji="1" lang="zh-TW" altLang="en-US" dirty="0"/>
              <a:t>帳號，沒有的同學請先行註冊）</a:t>
            </a:r>
          </a:p>
        </p:txBody>
      </p:sp>
    </p:spTree>
    <p:extLst>
      <p:ext uri="{BB962C8B-B14F-4D97-AF65-F5344CB8AC3E}">
        <p14:creationId xmlns:p14="http://schemas.microsoft.com/office/powerpoint/2010/main" val="3210943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B9FBC-312C-F73B-0E1D-377AE00A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下載以下檔案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604306-9CEC-14DA-B974-C57C0F24A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983DF2-52CD-0BDD-179A-0DD517A826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986" r="38696" b="11594"/>
          <a:stretch/>
        </p:blipFill>
        <p:spPr>
          <a:xfrm>
            <a:off x="1141412" y="2249487"/>
            <a:ext cx="9249623" cy="419431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D72A65E-894E-FC8A-1403-BC6FE7173F22}"/>
              </a:ext>
            </a:extLst>
          </p:cNvPr>
          <p:cNvSpPr/>
          <p:nvPr/>
        </p:nvSpPr>
        <p:spPr>
          <a:xfrm>
            <a:off x="3626195" y="2696748"/>
            <a:ext cx="1218865" cy="4920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71DFA47C-F5DC-22E3-BBE1-3426EDF3BAD1}"/>
              </a:ext>
            </a:extLst>
          </p:cNvPr>
          <p:cNvSpPr/>
          <p:nvPr/>
        </p:nvSpPr>
        <p:spPr>
          <a:xfrm>
            <a:off x="1473579" y="4398818"/>
            <a:ext cx="551939" cy="2460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44E227FA-C961-79F1-DAEE-6CA95EC9C17D}"/>
              </a:ext>
            </a:extLst>
          </p:cNvPr>
          <p:cNvSpPr/>
          <p:nvPr/>
        </p:nvSpPr>
        <p:spPr>
          <a:xfrm>
            <a:off x="1473579" y="5333930"/>
            <a:ext cx="551939" cy="2460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719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B9FBC-312C-F73B-0E1D-377AE00A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下載以下檔案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604306-9CEC-14DA-B974-C57C0F24A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44E227FA-C961-79F1-DAEE-6CA95EC9C17D}"/>
              </a:ext>
            </a:extLst>
          </p:cNvPr>
          <p:cNvSpPr/>
          <p:nvPr/>
        </p:nvSpPr>
        <p:spPr>
          <a:xfrm>
            <a:off x="1473579" y="4777339"/>
            <a:ext cx="551939" cy="2460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6420381-1A19-106F-C258-A68F67E8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249487"/>
            <a:ext cx="5984945" cy="4364743"/>
          </a:xfrm>
          <a:prstGeom prst="rect">
            <a:avLst/>
          </a:prstGeom>
        </p:spPr>
      </p:pic>
      <p:sp>
        <p:nvSpPr>
          <p:cNvPr id="6" name="向右箭號 5">
            <a:extLst>
              <a:ext uri="{FF2B5EF4-FFF2-40B4-BE49-F238E27FC236}">
                <a16:creationId xmlns:a16="http://schemas.microsoft.com/office/drawing/2014/main" id="{71DFA47C-F5DC-22E3-BBE1-3426EDF3BAD1}"/>
              </a:ext>
            </a:extLst>
          </p:cNvPr>
          <p:cNvSpPr/>
          <p:nvPr/>
        </p:nvSpPr>
        <p:spPr>
          <a:xfrm>
            <a:off x="724706" y="6116482"/>
            <a:ext cx="551939" cy="24600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017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B75A0-4BB5-ECE3-64CA-53A35DC0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473CA0F6-7621-142B-B3DE-B195E7FB5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097088"/>
            <a:ext cx="7696200" cy="11557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DAA97C0-6E5C-FBF5-4D52-4138D2710FDF}"/>
              </a:ext>
            </a:extLst>
          </p:cNvPr>
          <p:cNvSpPr txBox="1"/>
          <p:nvPr/>
        </p:nvSpPr>
        <p:spPr>
          <a:xfrm>
            <a:off x="8925339" y="2097088"/>
            <a:ext cx="2122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Device</a:t>
            </a:r>
          </a:p>
          <a:p>
            <a:r>
              <a:rPr kumimoji="1" lang="zh-TW" altLang="en-US" sz="2400" dirty="0"/>
              <a:t>模擬</a:t>
            </a:r>
            <a:endParaRPr kumimoji="1" lang="en-US" altLang="zh-TW" sz="2400" dirty="0"/>
          </a:p>
          <a:p>
            <a:r>
              <a:rPr kumimoji="1" lang="zh-TW" altLang="en-US" sz="2400" dirty="0"/>
              <a:t>主程式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3449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76D98-EC9C-6AC9-3A05-02C27692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63880"/>
            <a:ext cx="9905998" cy="1905000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安裝</a:t>
            </a:r>
            <a:r>
              <a:rPr kumimoji="1" lang="en" altLang="zh-TW" dirty="0"/>
              <a:t>QuartusLiteSetup-19.1.0.670-windows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BDCB5D-A5BA-7E2C-AC6E-94C8FF1B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46830E-30E8-B525-4B74-C23CE350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300" y="1797001"/>
            <a:ext cx="5880222" cy="4680000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7534656" y="6153912"/>
            <a:ext cx="722376" cy="256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4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76D98-EC9C-6AC9-3A05-02C27692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36448"/>
            <a:ext cx="9905998" cy="1905000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安裝</a:t>
            </a:r>
            <a:r>
              <a:rPr kumimoji="1" lang="en" altLang="zh-TW" dirty="0"/>
              <a:t>QuartusLiteSetup-19.1.0.670-windows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BDCB5D-A5BA-7E2C-AC6E-94C8FF1B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DDE485-7F6E-5C58-91FE-800DF9721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214" y="1755351"/>
            <a:ext cx="5908393" cy="4680000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7562088" y="6126480"/>
            <a:ext cx="722376" cy="256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4553712" y="5239512"/>
            <a:ext cx="1271016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280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76D98-EC9C-6AC9-3A05-02C27692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99872"/>
            <a:ext cx="9905998" cy="1905000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安裝</a:t>
            </a:r>
            <a:r>
              <a:rPr kumimoji="1" lang="en" altLang="zh-TW" dirty="0"/>
              <a:t>QuartusLiteSetup-19.1.0.670-windows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BDCB5D-A5BA-7E2C-AC6E-94C8FF1B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2FFDFC-2494-F0FE-F95E-CE2561132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982" y="1680344"/>
            <a:ext cx="5888857" cy="4680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520439" y="3158914"/>
            <a:ext cx="7347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點選資料夾圖案並選取剛剛下載的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rgbClr val="FF0000"/>
                </a:solidFill>
              </a:rPr>
              <a:t>Cyclonev-19.1.0.670.qdz</a:t>
            </a:r>
            <a:r>
              <a:rPr lang="zh-TW" altLang="en-US" dirty="0">
                <a:solidFill>
                  <a:schemeClr val="bg1"/>
                </a:solidFill>
              </a:rPr>
              <a:t>所在資料夾</a:t>
            </a:r>
          </a:p>
          <a:p>
            <a:br>
              <a:rPr lang="zh-TW" altLang="en-US" dirty="0">
                <a:solidFill>
                  <a:srgbClr val="FF0000"/>
                </a:solidFill>
              </a:rPr>
            </a:b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7013448" y="2834640"/>
            <a:ext cx="310896" cy="3059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65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76D98-EC9C-6AC9-3A05-02C27692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63296"/>
            <a:ext cx="9905998" cy="1905000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安裝</a:t>
            </a:r>
            <a:r>
              <a:rPr kumimoji="1" lang="en" altLang="zh-TW" dirty="0"/>
              <a:t>QuartusLiteSetup-19.1.0.670-windows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BDCB5D-A5BA-7E2C-AC6E-94C8FF1B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3141348" y="1680344"/>
            <a:ext cx="5906126" cy="4680000"/>
            <a:chOff x="1141412" y="1820038"/>
            <a:chExt cx="5906126" cy="46800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FAD9FB6-D74D-A471-CFC8-109EA7FD5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412" y="1820038"/>
              <a:ext cx="5906126" cy="468000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66059343-6004-068A-10EA-4D7116384C60}"/>
                </a:ext>
              </a:extLst>
            </p:cNvPr>
            <p:cNvSpPr txBox="1"/>
            <p:nvPr/>
          </p:nvSpPr>
          <p:spPr>
            <a:xfrm>
              <a:off x="2014151" y="3744097"/>
              <a:ext cx="1519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rgbClr val="FF0000"/>
                  </a:solidFill>
                </a:rPr>
                <a:t>不要勾選到</a:t>
              </a:r>
            </a:p>
          </p:txBody>
        </p:sp>
        <p:cxnSp>
          <p:nvCxnSpPr>
            <p:cNvPr id="10" name="曲線接點 9">
              <a:extLst>
                <a:ext uri="{FF2B5EF4-FFF2-40B4-BE49-F238E27FC236}">
                  <a16:creationId xmlns:a16="http://schemas.microsoft.com/office/drawing/2014/main" id="{3FF74454-58FF-25B3-EBAB-FD04EFA23F5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768453" y="3767374"/>
              <a:ext cx="317540" cy="270986"/>
            </a:xfrm>
            <a:prstGeom prst="curvedConnector3">
              <a:avLst>
                <a:gd name="adj1" fmla="val -1027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圓角矩形 7"/>
          <p:cNvSpPr/>
          <p:nvPr/>
        </p:nvSpPr>
        <p:spPr>
          <a:xfrm>
            <a:off x="7534656" y="6044184"/>
            <a:ext cx="722376" cy="256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6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2AEDF-31AE-4802-91E1-28E8D7C1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安裝完成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5CC4DB-2510-4D77-C735-0E1ACD7F3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安裝完成後會繼續安裝驅動程式</a:t>
            </a:r>
          </a:p>
        </p:txBody>
      </p:sp>
    </p:spTree>
    <p:extLst>
      <p:ext uri="{BB962C8B-B14F-4D97-AF65-F5344CB8AC3E}">
        <p14:creationId xmlns:p14="http://schemas.microsoft.com/office/powerpoint/2010/main" val="399490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25EA46-3FFE-98C3-63FB-94793445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Altera Quartus</a:t>
            </a:r>
            <a:br>
              <a:rPr kumimoji="1" lang="en" altLang="zh-TW" dirty="0"/>
            </a:br>
            <a:r>
              <a:rPr kumimoji="1" lang="zh-TW" altLang="en-US" dirty="0"/>
              <a:t>軟體操作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CC9F50-2406-D3C8-6B96-15778A23A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421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2AEDF-31AE-4802-91E1-28E8D7C1E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2000" b="1" dirty="0">
                <a:solidFill>
                  <a:schemeClr val="tx1"/>
                </a:solidFill>
              </a:rPr>
              <a:t>開啟</a:t>
            </a:r>
            <a:r>
              <a:rPr kumimoji="1" lang="en-US" altLang="zh-TW" sz="2000" b="1" dirty="0" err="1">
                <a:solidFill>
                  <a:schemeClr val="tx1"/>
                </a:solidFill>
              </a:rPr>
              <a:t>Quartus</a:t>
            </a:r>
            <a:r>
              <a:rPr kumimoji="1" lang="zh-TW" altLang="en-US" sz="2000" b="1" dirty="0">
                <a:solidFill>
                  <a:schemeClr val="tx1"/>
                </a:solidFill>
              </a:rPr>
              <a:t>並開啟空專案的</a:t>
            </a:r>
            <a:r>
              <a:rPr kumimoji="1" lang="en-US" altLang="zh-TW" sz="2000" b="1" dirty="0" err="1">
                <a:solidFill>
                  <a:schemeClr val="tx1"/>
                </a:solidFill>
              </a:rPr>
              <a:t>qpf</a:t>
            </a:r>
            <a:r>
              <a:rPr kumimoji="1" lang="en-US" altLang="zh-TW" sz="2000" b="1" dirty="0">
                <a:solidFill>
                  <a:schemeClr val="tx1"/>
                </a:solidFill>
              </a:rPr>
              <a:t>(</a:t>
            </a:r>
            <a:r>
              <a:rPr kumimoji="1" lang="en-US" altLang="zh-TW" sz="2000" b="1" dirty="0" err="1">
                <a:solidFill>
                  <a:schemeClr val="tx1"/>
                </a:solidFill>
              </a:rPr>
              <a:t>quartus</a:t>
            </a:r>
            <a:r>
              <a:rPr kumimoji="1" lang="en-US" altLang="zh-TW" sz="2000" b="1" dirty="0">
                <a:solidFill>
                  <a:schemeClr val="tx1"/>
                </a:solidFill>
              </a:rPr>
              <a:t> project file)</a:t>
            </a:r>
            <a:r>
              <a:rPr kumimoji="1" lang="zh-TW" altLang="en-US" sz="2000" b="1" dirty="0">
                <a:solidFill>
                  <a:schemeClr val="tx1"/>
                </a:solidFill>
              </a:rPr>
              <a:t>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5CC4DB-2510-4D77-C735-0E1ACD7F3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141412" y="2249487"/>
            <a:ext cx="3324689" cy="2152950"/>
            <a:chOff x="1141412" y="2249487"/>
            <a:chExt cx="3324689" cy="215295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412" y="2249487"/>
              <a:ext cx="3324689" cy="2152950"/>
            </a:xfrm>
            <a:prstGeom prst="rect">
              <a:avLst/>
            </a:prstGeom>
          </p:spPr>
        </p:pic>
        <p:sp>
          <p:nvSpPr>
            <p:cNvPr id="5" name="圓角矩形 4"/>
            <p:cNvSpPr/>
            <p:nvPr/>
          </p:nvSpPr>
          <p:spPr>
            <a:xfrm>
              <a:off x="1141412" y="3886200"/>
              <a:ext cx="3311716" cy="28346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r="46998"/>
          <a:stretch/>
        </p:blipFill>
        <p:spPr>
          <a:xfrm>
            <a:off x="5411320" y="2249487"/>
            <a:ext cx="4690872" cy="2884620"/>
          </a:xfrm>
          <a:prstGeom prst="rect">
            <a:avLst/>
          </a:prstGeom>
        </p:spPr>
      </p:pic>
      <p:sp>
        <p:nvSpPr>
          <p:cNvPr id="8" name="圓角矩形 7"/>
          <p:cNvSpPr/>
          <p:nvPr/>
        </p:nvSpPr>
        <p:spPr>
          <a:xfrm>
            <a:off x="7287768" y="4901184"/>
            <a:ext cx="1170432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61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33" y="1122085"/>
            <a:ext cx="4934639" cy="246731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127833" y="637630"/>
            <a:ext cx="377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/>
              <a:t>左上角的</a:t>
            </a:r>
            <a:r>
              <a:rPr lang="en-US" altLang="zh-TW" sz="2000" b="1" dirty="0"/>
              <a:t>Hierarchy</a:t>
            </a:r>
            <a:r>
              <a:rPr lang="zh-TW" altLang="en-US" sz="2000" b="1" dirty="0"/>
              <a:t>切換至</a:t>
            </a:r>
            <a:r>
              <a:rPr lang="en-US" altLang="zh-TW" sz="2000" b="1" dirty="0">
                <a:solidFill>
                  <a:srgbClr val="FF0000"/>
                </a:solidFill>
              </a:rPr>
              <a:t>Files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2267712" y="2459736"/>
            <a:ext cx="722376" cy="2651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/>
          <a:srcRect r="13676"/>
          <a:stretch/>
        </p:blipFill>
        <p:spPr>
          <a:xfrm>
            <a:off x="1120140" y="4073859"/>
            <a:ext cx="4942332" cy="2495898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4"/>
          <a:srcRect r="38415"/>
          <a:stretch/>
        </p:blipFill>
        <p:spPr>
          <a:xfrm>
            <a:off x="7141464" y="2783766"/>
            <a:ext cx="4056904" cy="2580185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7141464" y="1911288"/>
            <a:ext cx="3822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/>
              <a:t>將寫好的</a:t>
            </a:r>
            <a:r>
              <a:rPr lang="en-US" altLang="zh-TW" sz="2000" b="1" dirty="0"/>
              <a:t>code</a:t>
            </a:r>
            <a:r>
              <a:rPr lang="zh-TW" altLang="en-US" sz="2000" b="1" dirty="0"/>
              <a:t>放進</a:t>
            </a:r>
            <a:r>
              <a:rPr lang="en-US" altLang="zh-TW" sz="2000" b="1" dirty="0">
                <a:solidFill>
                  <a:srgbClr val="FF0000"/>
                </a:solidFill>
              </a:rPr>
              <a:t>design</a:t>
            </a:r>
            <a:r>
              <a:rPr lang="zh-TW" altLang="en-US" sz="2000" b="1" dirty="0"/>
              <a:t>資料夾</a:t>
            </a:r>
            <a:r>
              <a:rPr lang="en-US" altLang="zh-TW" sz="2000" b="1" dirty="0"/>
              <a:t>(</a:t>
            </a:r>
            <a:r>
              <a:rPr lang="zh-TW" altLang="en-US" sz="2000" b="1" dirty="0"/>
              <a:t>與</a:t>
            </a:r>
            <a:r>
              <a:rPr lang="en-US" altLang="zh-TW" sz="2000" b="1" dirty="0"/>
              <a:t>DE0_CV.v</a:t>
            </a:r>
            <a:r>
              <a:rPr lang="zh-TW" altLang="en-US" sz="2000" b="1" dirty="0"/>
              <a:t>放置在同一層</a:t>
            </a:r>
            <a:r>
              <a:rPr lang="en-US" altLang="zh-TW" sz="2000" b="1" dirty="0"/>
              <a:t>)</a:t>
            </a:r>
            <a:endParaRPr lang="zh-TW" altLang="en-US" sz="2000" b="1" dirty="0"/>
          </a:p>
        </p:txBody>
      </p:sp>
      <p:sp>
        <p:nvSpPr>
          <p:cNvPr id="13" name="圓角矩形 12"/>
          <p:cNvSpPr/>
          <p:nvPr/>
        </p:nvSpPr>
        <p:spPr>
          <a:xfrm>
            <a:off x="9610344" y="5111496"/>
            <a:ext cx="813816" cy="2377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9610344" y="4709160"/>
            <a:ext cx="813816" cy="2377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174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3736"/>
            <a:ext cx="3286584" cy="398200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19" y="2433027"/>
            <a:ext cx="5033555" cy="426110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255264" y="20970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1.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875745" y="1865376"/>
            <a:ext cx="2425239" cy="2682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4754880" y="3329369"/>
            <a:ext cx="192024" cy="156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669592" y="3038159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2.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165" y="2654111"/>
            <a:ext cx="4572638" cy="2257740"/>
          </a:xfrm>
          <a:prstGeom prst="rect">
            <a:avLst/>
          </a:prstGeom>
        </p:spPr>
      </p:pic>
      <p:sp>
        <p:nvSpPr>
          <p:cNvPr id="11" name="圓角矩形 10"/>
          <p:cNvSpPr/>
          <p:nvPr/>
        </p:nvSpPr>
        <p:spPr>
          <a:xfrm>
            <a:off x="8493379" y="4471416"/>
            <a:ext cx="1216152" cy="2560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9746167" y="4414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3.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3" name="object 17"/>
          <p:cNvSpPr txBox="1"/>
          <p:nvPr/>
        </p:nvSpPr>
        <p:spPr>
          <a:xfrm>
            <a:off x="2427483" y="890135"/>
            <a:ext cx="7499984" cy="7677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6264">
              <a:lnSpc>
                <a:spcPts val="3110"/>
              </a:lnSpc>
              <a:spcBef>
                <a:spcPts val="95"/>
              </a:spcBef>
            </a:pPr>
            <a:r>
              <a:rPr sz="2000" b="1" spc="-5" dirty="0">
                <a:latin typeface="Microsoft JhengHei"/>
                <a:cs typeface="Microsoft JhengHei"/>
              </a:rPr>
              <a:t>對</a:t>
            </a:r>
            <a:r>
              <a:rPr sz="2000" b="1" spc="-5" dirty="0">
                <a:latin typeface="Times New Roman"/>
                <a:cs typeface="Times New Roman"/>
              </a:rPr>
              <a:t>Files</a:t>
            </a:r>
            <a:r>
              <a:rPr sz="2000" b="1" spc="-5" dirty="0">
                <a:latin typeface="Microsoft JhengHei"/>
                <a:cs typeface="Microsoft JhengHei"/>
              </a:rPr>
              <a:t>按下右鍵</a:t>
            </a:r>
            <a:r>
              <a:rPr sz="2000" b="1" spc="10" dirty="0">
                <a:latin typeface="Microsoft JhengHei"/>
                <a:cs typeface="Microsoft JhengHei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Add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Files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in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Project</a:t>
            </a:r>
            <a:endParaRPr sz="2000" b="1" dirty="0">
              <a:latin typeface="Times New Roman"/>
              <a:cs typeface="Times New Roman"/>
            </a:endParaRPr>
          </a:p>
          <a:p>
            <a:pPr marL="1864360">
              <a:lnSpc>
                <a:spcPts val="3110"/>
              </a:lnSpc>
            </a:pPr>
            <a:r>
              <a:rPr sz="2000" b="1" spc="-5" dirty="0" err="1">
                <a:latin typeface="Microsoft JhengHei"/>
                <a:cs typeface="Microsoft JhengHei"/>
              </a:rPr>
              <a:t>將</a:t>
            </a:r>
            <a:r>
              <a:rPr sz="2000" b="1" spc="-5" dirty="0" err="1">
                <a:latin typeface="Times New Roman"/>
                <a:cs typeface="Times New Roman"/>
              </a:rPr>
              <a:t>code</a:t>
            </a:r>
            <a:r>
              <a:rPr sz="2000" b="1" spc="-5" dirty="0" err="1">
                <a:latin typeface="Microsoft JhengHei"/>
                <a:cs typeface="Microsoft JhengHei"/>
              </a:rPr>
              <a:t>添加</a:t>
            </a:r>
            <a:r>
              <a:rPr sz="2000" b="1" spc="-10" dirty="0" err="1">
                <a:latin typeface="Microsoft JhengHei"/>
                <a:cs typeface="Microsoft JhengHei"/>
              </a:rPr>
              <a:t>進</a:t>
            </a:r>
            <a:r>
              <a:rPr sz="2000" b="1" spc="-5" dirty="0" err="1">
                <a:latin typeface="Times New Roman"/>
                <a:cs typeface="Times New Roman"/>
              </a:rPr>
              <a:t>Project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Navigato</a:t>
            </a:r>
            <a:r>
              <a:rPr lang="en-US" sz="2000" b="1" spc="-5" dirty="0">
                <a:latin typeface="Times New Roman"/>
                <a:cs typeface="Times New Roman"/>
              </a:rPr>
              <a:t>r</a:t>
            </a:r>
            <a:endParaRPr sz="2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7933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r="710"/>
          <a:stretch/>
        </p:blipFill>
        <p:spPr>
          <a:xfrm>
            <a:off x="6537960" y="5161490"/>
            <a:ext cx="4352544" cy="76382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7961" y="1611125"/>
            <a:ext cx="49863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TW" altLang="en-US" sz="2000" b="1" spc="5" dirty="0">
                <a:latin typeface="Microsoft YaHei UI"/>
                <a:cs typeface="Microsoft YaHei UI"/>
              </a:rPr>
              <a:t>對</a:t>
            </a:r>
            <a:r>
              <a:rPr lang="en-US" altLang="zh-TW" sz="2000" b="1" spc="-5" dirty="0">
                <a:latin typeface="Arial"/>
                <a:cs typeface="Arial"/>
              </a:rPr>
              <a:t>DE0_CV.v</a:t>
            </a:r>
            <a:r>
              <a:rPr lang="zh-TW" altLang="en-US" sz="2000" b="1" spc="5" dirty="0">
                <a:latin typeface="Microsoft YaHei UI"/>
                <a:cs typeface="Microsoft YaHei UI"/>
              </a:rPr>
              <a:t>右鍵</a:t>
            </a:r>
            <a:endParaRPr lang="zh-TW" altLang="en-US" sz="2000" b="1" dirty="0">
              <a:latin typeface="Microsoft YaHei UI"/>
              <a:cs typeface="Microsoft YaHei U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n-US" altLang="zh-TW" sz="2000" b="1" spc="-5" dirty="0">
                <a:latin typeface="Arial"/>
                <a:cs typeface="Arial"/>
              </a:rPr>
              <a:t>Set</a:t>
            </a:r>
            <a:r>
              <a:rPr lang="en-US" altLang="zh-TW" sz="2000" b="1" spc="-10" dirty="0">
                <a:latin typeface="Arial"/>
                <a:cs typeface="Arial"/>
              </a:rPr>
              <a:t> </a:t>
            </a:r>
            <a:r>
              <a:rPr lang="en-US" altLang="zh-TW" sz="2000" b="1" spc="-5" dirty="0">
                <a:latin typeface="Arial"/>
                <a:cs typeface="Arial"/>
              </a:rPr>
              <a:t>as </a:t>
            </a:r>
            <a:r>
              <a:rPr lang="en-US" altLang="zh-TW" sz="2000" b="1" spc="-75" dirty="0">
                <a:latin typeface="Arial"/>
                <a:cs typeface="Arial"/>
              </a:rPr>
              <a:t>Top</a:t>
            </a:r>
            <a:r>
              <a:rPr lang="en-US" altLang="zh-TW" sz="2000" b="1" spc="5" dirty="0">
                <a:latin typeface="Arial"/>
                <a:cs typeface="Arial"/>
              </a:rPr>
              <a:t> </a:t>
            </a:r>
            <a:r>
              <a:rPr lang="en-US" altLang="zh-TW" sz="2000" b="1" spc="-5" dirty="0">
                <a:latin typeface="Arial"/>
                <a:cs typeface="Arial"/>
              </a:rPr>
              <a:t>Level Entity</a:t>
            </a:r>
            <a:endParaRPr lang="en-US" altLang="zh-TW" sz="2000" b="1" dirty="0">
              <a:latin typeface="Arial"/>
              <a:cs typeface="Arial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61" y="2380566"/>
            <a:ext cx="5122530" cy="3325290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1490472" y="4407408"/>
            <a:ext cx="1673352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6537960" y="417652"/>
            <a:ext cx="446366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編輯</a:t>
            </a:r>
            <a:r>
              <a:rPr lang="en-US" altLang="zh-TW" sz="2000" b="1" spc="-5" dirty="0">
                <a:solidFill>
                  <a:schemeClr val="tx1"/>
                </a:solidFill>
              </a:rPr>
              <a:t>DE0_CV</a:t>
            </a:r>
            <a:r>
              <a:rPr sz="2000" b="1" spc="-5" dirty="0">
                <a:solidFill>
                  <a:schemeClr val="tx1"/>
                </a:solidFill>
              </a:rPr>
              <a:t>.v</a:t>
            </a:r>
            <a:r>
              <a:rPr sz="2000" b="1" spc="-80" dirty="0">
                <a:solidFill>
                  <a:schemeClr val="tx1"/>
                </a:solidFill>
              </a:rPr>
              <a:t> 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將</a:t>
            </a:r>
            <a:r>
              <a:rPr sz="2000" b="1" spc="-5" dirty="0">
                <a:solidFill>
                  <a:schemeClr val="tx1"/>
                </a:solidFill>
              </a:rPr>
              <a:t>module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添加進去 </a:t>
            </a: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並接上需要</a:t>
            </a:r>
            <a:r>
              <a:rPr sz="2000" b="1" spc="-5" dirty="0">
                <a:solidFill>
                  <a:schemeClr val="tx1"/>
                </a:solidFill>
                <a:latin typeface="Microsoft YaHei UI"/>
                <a:cs typeface="Microsoft YaHei UI"/>
              </a:rPr>
              <a:t>用到</a:t>
            </a:r>
            <a:r>
              <a:rPr sz="2000" b="1" spc="20" dirty="0">
                <a:solidFill>
                  <a:schemeClr val="tx1"/>
                </a:solidFill>
                <a:latin typeface="Microsoft YaHei UI"/>
                <a:cs typeface="Microsoft YaHei UI"/>
              </a:rPr>
              <a:t>的</a:t>
            </a:r>
            <a:r>
              <a:rPr sz="2000" b="1" spc="-5" dirty="0">
                <a:solidFill>
                  <a:schemeClr val="tx1"/>
                </a:solidFill>
              </a:rPr>
              <a:t>pin</a:t>
            </a:r>
            <a:r>
              <a:rPr sz="2000" b="1" spc="-5" dirty="0">
                <a:solidFill>
                  <a:schemeClr val="tx1"/>
                </a:solidFill>
                <a:latin typeface="Microsoft YaHei UI"/>
                <a:cs typeface="Microsoft YaHei UI"/>
              </a:rPr>
              <a:t>腳</a:t>
            </a:r>
            <a:endParaRPr sz="2000" b="1" dirty="0">
              <a:solidFill>
                <a:schemeClr val="tx1"/>
              </a:solidFill>
              <a:latin typeface="Microsoft YaHei UI"/>
              <a:cs typeface="Microsoft YaHei UI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r="1683"/>
          <a:stretch/>
        </p:blipFill>
        <p:spPr>
          <a:xfrm>
            <a:off x="6537961" y="1207008"/>
            <a:ext cx="4361688" cy="395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32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2" y="1115472"/>
            <a:ext cx="7544853" cy="1371791"/>
          </a:xfrm>
          <a:prstGeom prst="rect">
            <a:avLst/>
          </a:prstGeom>
        </p:spPr>
      </p:pic>
      <p:sp>
        <p:nvSpPr>
          <p:cNvPr id="5" name="圓角矩形 4"/>
          <p:cNvSpPr/>
          <p:nvPr/>
        </p:nvSpPr>
        <p:spPr>
          <a:xfrm>
            <a:off x="6656832" y="1687067"/>
            <a:ext cx="274320" cy="2834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512" y="3126085"/>
            <a:ext cx="4429743" cy="3019846"/>
          </a:xfrm>
          <a:prstGeom prst="rect">
            <a:avLst/>
          </a:prstGeom>
        </p:spPr>
      </p:pic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1428512" y="711144"/>
            <a:ext cx="3957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編輯完畢</a:t>
            </a:r>
            <a:r>
              <a:rPr sz="2000" b="1" spc="-5" dirty="0">
                <a:solidFill>
                  <a:schemeClr val="tx1"/>
                </a:solidFill>
                <a:latin typeface="Microsoft YaHei UI"/>
                <a:cs typeface="Microsoft YaHei UI"/>
              </a:rPr>
              <a:t>後</a:t>
            </a:r>
            <a:r>
              <a:rPr sz="2000" b="1" spc="-165" dirty="0">
                <a:solidFill>
                  <a:schemeClr val="tx1"/>
                </a:solidFill>
                <a:latin typeface="Microsoft YaHei UI"/>
                <a:cs typeface="Microsoft YaHei UI"/>
              </a:rPr>
              <a:t> 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開</a:t>
            </a:r>
            <a:r>
              <a:rPr sz="2000" b="1" spc="10" dirty="0">
                <a:solidFill>
                  <a:schemeClr val="tx1"/>
                </a:solidFill>
                <a:latin typeface="Microsoft YaHei UI"/>
                <a:cs typeface="Microsoft YaHei UI"/>
              </a:rPr>
              <a:t>始</a:t>
            </a:r>
            <a:r>
              <a:rPr sz="2000" b="1" spc="-5" dirty="0">
                <a:solidFill>
                  <a:schemeClr val="tx1"/>
                </a:solidFill>
              </a:rPr>
              <a:t>compile</a:t>
            </a:r>
            <a:endParaRPr sz="2000" b="1" dirty="0">
              <a:solidFill>
                <a:schemeClr val="tx1"/>
              </a:solidFill>
              <a:latin typeface="Microsoft YaHei UI"/>
              <a:cs typeface="Microsoft YaHei UI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6382512" y="2738899"/>
            <a:ext cx="53803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10" dirty="0">
                <a:latin typeface="Microsoft YaHei UI"/>
                <a:cs typeface="Microsoft YaHei UI"/>
              </a:rPr>
              <a:t>若</a:t>
            </a:r>
            <a:r>
              <a:rPr sz="2000" b="1" spc="-5" dirty="0">
                <a:latin typeface="Arial"/>
                <a:cs typeface="Arial"/>
              </a:rPr>
              <a:t>compile</a:t>
            </a:r>
            <a:r>
              <a:rPr sz="2000" b="1" spc="5" dirty="0">
                <a:latin typeface="Microsoft YaHei UI"/>
                <a:cs typeface="Microsoft YaHei UI"/>
              </a:rPr>
              <a:t>失</a:t>
            </a:r>
            <a:r>
              <a:rPr sz="2000" b="1" spc="-5" dirty="0">
                <a:latin typeface="Microsoft YaHei UI"/>
                <a:cs typeface="Microsoft YaHei UI"/>
              </a:rPr>
              <a:t>敗</a:t>
            </a:r>
            <a:r>
              <a:rPr sz="2000" b="1" spc="-114" dirty="0">
                <a:latin typeface="Microsoft YaHei UI"/>
                <a:cs typeface="Microsoft YaHei UI"/>
              </a:rPr>
              <a:t> </a:t>
            </a:r>
            <a:r>
              <a:rPr sz="2000" b="1" dirty="0">
                <a:latin typeface="Microsoft YaHei UI"/>
                <a:cs typeface="Microsoft YaHei UI"/>
              </a:rPr>
              <a:t>點擊錯</a:t>
            </a:r>
            <a:r>
              <a:rPr sz="2000" b="1" spc="-5" dirty="0">
                <a:latin typeface="Microsoft YaHei UI"/>
                <a:cs typeface="Microsoft YaHei UI"/>
              </a:rPr>
              <a:t>誤訊息查看</a:t>
            </a:r>
            <a:endParaRPr sz="2000" dirty="0">
              <a:latin typeface="Microsoft YaHei UI"/>
              <a:cs typeface="Microsoft YaHei U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126085"/>
            <a:ext cx="5641285" cy="3169189"/>
          </a:xfrm>
          <a:prstGeom prst="rect">
            <a:avLst/>
          </a:prstGeom>
        </p:spPr>
      </p:pic>
      <p:sp>
        <p:nvSpPr>
          <p:cNvPr id="11" name="圓角矩形 10"/>
          <p:cNvSpPr/>
          <p:nvPr/>
        </p:nvSpPr>
        <p:spPr>
          <a:xfrm>
            <a:off x="6629400" y="5980176"/>
            <a:ext cx="5366965" cy="2968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402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25EA46-3FFE-98C3-63FB-94793445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Altera Quartus</a:t>
            </a:r>
            <a:br>
              <a:rPr kumimoji="1" lang="en" altLang="zh-TW" dirty="0"/>
            </a:br>
            <a:r>
              <a:rPr kumimoji="1" lang="zh-TW" altLang="en-US" dirty="0"/>
              <a:t>燒錄實作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CC9F50-2406-D3C8-6B96-15778A23A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2927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1144016" y="416346"/>
            <a:ext cx="7395209" cy="31995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01160" algn="l"/>
              </a:tabLst>
            </a:pPr>
            <a:r>
              <a:rPr lang="zh-TW" altLang="en-US" sz="2000" b="1" spc="5" dirty="0">
                <a:latin typeface="Microsoft YaHei UI"/>
                <a:cs typeface="Microsoft YaHei UI"/>
              </a:rPr>
              <a:t>燒錄</a:t>
            </a:r>
            <a:r>
              <a:rPr lang="zh-TW" altLang="en-US" sz="2000" b="1" spc="-5" dirty="0">
                <a:latin typeface="Microsoft YaHei UI"/>
                <a:cs typeface="Microsoft YaHei UI"/>
              </a:rPr>
              <a:t>時</a:t>
            </a:r>
            <a:r>
              <a:rPr lang="zh-TW" altLang="en-US" sz="2000" b="1" spc="-65" dirty="0">
                <a:latin typeface="Microsoft YaHei UI"/>
                <a:cs typeface="Microsoft YaHei UI"/>
              </a:rPr>
              <a:t> </a:t>
            </a:r>
            <a:r>
              <a:rPr lang="zh-TW" altLang="en-US" sz="2000" b="1" spc="5" dirty="0">
                <a:latin typeface="Microsoft YaHei UI"/>
                <a:cs typeface="Microsoft YaHei UI"/>
              </a:rPr>
              <a:t>先將</a:t>
            </a:r>
            <a:r>
              <a:rPr lang="en-US" altLang="zh-TW" sz="2000" b="1" spc="-5" dirty="0"/>
              <a:t>DE0</a:t>
            </a:r>
            <a:r>
              <a:rPr lang="zh-TW" altLang="en-US" sz="2000" b="1" spc="5" dirty="0">
                <a:latin typeface="Microsoft YaHei UI"/>
                <a:cs typeface="Microsoft YaHei UI"/>
              </a:rPr>
              <a:t>接上電</a:t>
            </a:r>
            <a:r>
              <a:rPr lang="zh-TW" altLang="en-US" sz="2000" b="1" spc="-5" dirty="0">
                <a:latin typeface="Microsoft YaHei UI"/>
                <a:cs typeface="Microsoft YaHei UI"/>
              </a:rPr>
              <a:t>腦</a:t>
            </a:r>
            <a:r>
              <a:rPr lang="zh-TW" altLang="en-US" sz="2000" b="1" spc="5" dirty="0">
                <a:latin typeface="Microsoft YaHei UI"/>
                <a:cs typeface="Microsoft YaHei UI"/>
              </a:rPr>
              <a:t>再點擊</a:t>
            </a:r>
            <a:r>
              <a:rPr lang="en-US" altLang="zh-TW" sz="2000" b="1" spc="-5" dirty="0"/>
              <a:t>Pro</a:t>
            </a:r>
            <a:r>
              <a:rPr lang="en-US" altLang="zh-TW" sz="2000" b="1" spc="-15" dirty="0"/>
              <a:t>g</a:t>
            </a:r>
            <a:r>
              <a:rPr lang="en-US" altLang="zh-TW" sz="2000" b="1" spc="-5" dirty="0"/>
              <a:t>r</a:t>
            </a:r>
            <a:r>
              <a:rPr lang="en-US" altLang="zh-TW" sz="2000" b="1" dirty="0"/>
              <a:t>a</a:t>
            </a:r>
            <a:r>
              <a:rPr lang="en-US" altLang="zh-TW" sz="2000" b="1" spc="-5" dirty="0"/>
              <a:t>mmer</a:t>
            </a:r>
            <a:endParaRPr lang="zh-TW" altLang="en-US" sz="2000" b="1" dirty="0">
              <a:latin typeface="Microsoft YaHei UI"/>
              <a:cs typeface="Microsoft YaHei U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16" y="819455"/>
            <a:ext cx="7573432" cy="1086002"/>
          </a:xfrm>
          <a:prstGeom prst="rect">
            <a:avLst/>
          </a:prstGeom>
        </p:spPr>
      </p:pic>
      <p:sp>
        <p:nvSpPr>
          <p:cNvPr id="6" name="圓角矩形 5"/>
          <p:cNvSpPr/>
          <p:nvPr/>
        </p:nvSpPr>
        <p:spPr>
          <a:xfrm>
            <a:off x="7754112" y="1389888"/>
            <a:ext cx="265176" cy="2651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object 12"/>
          <p:cNvSpPr txBox="1"/>
          <p:nvPr/>
        </p:nvSpPr>
        <p:spPr>
          <a:xfrm>
            <a:off x="1125728" y="2080047"/>
            <a:ext cx="963676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5" dirty="0">
                <a:latin typeface="Microsoft YaHei UI"/>
                <a:cs typeface="Microsoft YaHei UI"/>
              </a:rPr>
              <a:t>選擇燒錄口</a:t>
            </a:r>
            <a:r>
              <a:rPr sz="2000" b="1" spc="-5" dirty="0">
                <a:latin typeface="Microsoft YaHei UI"/>
                <a:cs typeface="Microsoft YaHei UI"/>
              </a:rPr>
              <a:t>為</a:t>
            </a:r>
            <a:r>
              <a:rPr sz="2000" b="1" spc="-5" dirty="0">
                <a:latin typeface="Arial"/>
                <a:cs typeface="Arial"/>
              </a:rPr>
              <a:t>USB-Blaster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(</a:t>
            </a:r>
            <a:r>
              <a:rPr sz="2000" b="1" spc="5" dirty="0">
                <a:latin typeface="Microsoft YaHei UI"/>
                <a:cs typeface="Microsoft YaHei UI"/>
              </a:rPr>
              <a:t>若沒有找</a:t>
            </a:r>
            <a:r>
              <a:rPr sz="2000" b="1" spc="-5" dirty="0">
                <a:latin typeface="Microsoft YaHei UI"/>
                <a:cs typeface="Microsoft YaHei UI"/>
              </a:rPr>
              <a:t>到</a:t>
            </a:r>
            <a:r>
              <a:rPr sz="2000" b="1" spc="-114" dirty="0">
                <a:latin typeface="Microsoft YaHei UI"/>
                <a:cs typeface="Microsoft YaHei UI"/>
              </a:rPr>
              <a:t> </a:t>
            </a:r>
            <a:r>
              <a:rPr sz="2000" b="1" spc="10" dirty="0">
                <a:latin typeface="Microsoft YaHei UI"/>
                <a:cs typeface="Microsoft YaHei UI"/>
              </a:rPr>
              <a:t>將</a:t>
            </a:r>
            <a:r>
              <a:rPr sz="2000" b="1" spc="-5" dirty="0">
                <a:latin typeface="Arial"/>
                <a:cs typeface="Arial"/>
              </a:rPr>
              <a:t>DE0</a:t>
            </a:r>
            <a:r>
              <a:rPr sz="2000" b="1" spc="5" dirty="0">
                <a:latin typeface="Microsoft YaHei UI"/>
                <a:cs typeface="Microsoft YaHei UI"/>
              </a:rPr>
              <a:t>重開多次嘗</a:t>
            </a:r>
            <a:r>
              <a:rPr sz="2000" b="1" spc="-5" dirty="0">
                <a:latin typeface="Microsoft YaHei UI"/>
                <a:cs typeface="Microsoft YaHei UI"/>
              </a:rPr>
              <a:t>試</a:t>
            </a:r>
            <a:r>
              <a:rPr sz="2000" b="1" spc="-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016" y="2459736"/>
            <a:ext cx="6512209" cy="423293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772437"/>
            <a:ext cx="4352544" cy="310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92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/>
          <p:cNvSpPr txBox="1">
            <a:spLocks noGrp="1"/>
          </p:cNvSpPr>
          <p:nvPr>
            <p:ph type="title"/>
          </p:nvPr>
        </p:nvSpPr>
        <p:spPr>
          <a:xfrm>
            <a:off x="738162" y="1614465"/>
            <a:ext cx="57454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選擇燒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錄</a:t>
            </a:r>
            <a:r>
              <a:rPr sz="2000" b="1" spc="-5" dirty="0">
                <a:solidFill>
                  <a:schemeClr val="tx1"/>
                </a:solidFill>
              </a:rPr>
              <a:t>sof</a:t>
            </a: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檔</a:t>
            </a:r>
            <a:r>
              <a:rPr sz="2000" b="1" spc="-5" dirty="0">
                <a:solidFill>
                  <a:schemeClr val="tx1"/>
                </a:solidFill>
                <a:latin typeface="Microsoft YaHei UI"/>
                <a:cs typeface="Microsoft YaHei UI"/>
              </a:rPr>
              <a:t>後</a:t>
            </a:r>
            <a:r>
              <a:rPr sz="2000" b="1" spc="-130" dirty="0">
                <a:solidFill>
                  <a:schemeClr val="tx1"/>
                </a:solidFill>
                <a:latin typeface="Microsoft YaHei UI"/>
                <a:cs typeface="Microsoft YaHei UI"/>
              </a:rPr>
              <a:t> </a:t>
            </a: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點擊</a:t>
            </a:r>
            <a:r>
              <a:rPr sz="2000" b="1" dirty="0">
                <a:solidFill>
                  <a:schemeClr val="tx1"/>
                </a:solidFill>
              </a:rPr>
              <a:t>Start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開始燒錄</a:t>
            </a:r>
            <a:endParaRPr sz="2000" b="1" dirty="0">
              <a:solidFill>
                <a:schemeClr val="tx1"/>
              </a:solidFill>
              <a:latin typeface="Microsoft YaHei UI"/>
              <a:cs typeface="Microsoft YaHei U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07" y="2035008"/>
            <a:ext cx="5921326" cy="384886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809" y="2045062"/>
            <a:ext cx="5899832" cy="3838808"/>
          </a:xfrm>
          <a:prstGeom prst="rect">
            <a:avLst/>
          </a:prstGeom>
        </p:spPr>
      </p:pic>
      <p:sp>
        <p:nvSpPr>
          <p:cNvPr id="8" name="object 9"/>
          <p:cNvSpPr txBox="1"/>
          <p:nvPr/>
        </p:nvSpPr>
        <p:spPr>
          <a:xfrm>
            <a:off x="8461602" y="1614464"/>
            <a:ext cx="145224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5" dirty="0">
                <a:latin typeface="Microsoft YaHei UI"/>
                <a:cs typeface="Microsoft YaHei UI"/>
              </a:rPr>
              <a:t>燒錄成功</a:t>
            </a:r>
            <a:endParaRPr sz="2000" dirty="0">
              <a:latin typeface="Microsoft YaHei UI"/>
              <a:cs typeface="Microsoft YaHei UI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8195" y="3081528"/>
            <a:ext cx="707645" cy="2468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1069848" y="3355848"/>
            <a:ext cx="2531910" cy="1828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10506456" y="2487168"/>
            <a:ext cx="1581912" cy="3108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7514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/>
          <p:cNvSpPr txBox="1"/>
          <p:nvPr/>
        </p:nvSpPr>
        <p:spPr>
          <a:xfrm>
            <a:off x="957173" y="930656"/>
            <a:ext cx="57315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 err="1">
                <a:latin typeface="Microsoft YaHei UI"/>
                <a:cs typeface="Microsoft YaHei UI"/>
              </a:rPr>
              <a:t>如果</a:t>
            </a:r>
            <a:r>
              <a:rPr sz="2000" b="1" dirty="0" err="1">
                <a:latin typeface="Microsoft YaHei UI"/>
                <a:cs typeface="Microsoft YaHei UI"/>
              </a:rPr>
              <a:t>沒</a:t>
            </a:r>
            <a:r>
              <a:rPr sz="2000" b="1" spc="5" dirty="0" err="1">
                <a:latin typeface="Microsoft YaHei UI"/>
                <a:cs typeface="Microsoft YaHei UI"/>
              </a:rPr>
              <a:t>有</a:t>
            </a:r>
            <a:r>
              <a:rPr sz="2000" b="1" spc="-5" dirty="0" err="1">
                <a:latin typeface="Arial"/>
                <a:cs typeface="Arial"/>
              </a:rPr>
              <a:t>sof</a:t>
            </a:r>
            <a:r>
              <a:rPr sz="2000" b="1" dirty="0" err="1">
                <a:latin typeface="Microsoft YaHei UI"/>
                <a:cs typeface="Microsoft YaHei UI"/>
              </a:rPr>
              <a:t>檔</a:t>
            </a:r>
            <a:r>
              <a:rPr sz="2000" b="1" spc="-135" dirty="0">
                <a:latin typeface="Microsoft YaHei UI"/>
                <a:cs typeface="Microsoft YaHei UI"/>
              </a:rPr>
              <a:t> </a:t>
            </a:r>
            <a:r>
              <a:rPr sz="2000" b="1" spc="10" dirty="0">
                <a:latin typeface="Microsoft YaHei UI"/>
                <a:cs typeface="Microsoft YaHei UI"/>
              </a:rPr>
              <a:t>請點擊</a:t>
            </a:r>
            <a:r>
              <a:rPr sz="2000" b="1" spc="-5" dirty="0">
                <a:latin typeface="Arial"/>
                <a:cs typeface="Arial"/>
              </a:rPr>
              <a:t>Add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File</a:t>
            </a:r>
          </a:p>
        </p:txBody>
      </p:sp>
      <p:sp>
        <p:nvSpPr>
          <p:cNvPr id="5" name="object 6"/>
          <p:cNvSpPr txBox="1">
            <a:spLocks noGrp="1"/>
          </p:cNvSpPr>
          <p:nvPr>
            <p:ph type="title"/>
          </p:nvPr>
        </p:nvSpPr>
        <p:spPr>
          <a:xfrm>
            <a:off x="957173" y="1331707"/>
            <a:ext cx="41948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應該可</a:t>
            </a: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以在</a:t>
            </a:r>
            <a:r>
              <a:rPr lang="en-US" altLang="zh-TW" sz="2000" b="1" dirty="0">
                <a:solidFill>
                  <a:srgbClr val="FF0000"/>
                </a:solidFill>
              </a:rPr>
              <a:t>DE0_CV</a:t>
            </a:r>
            <a:r>
              <a:rPr sz="2000" b="1" spc="5" dirty="0">
                <a:solidFill>
                  <a:schemeClr val="tx1"/>
                </a:solidFill>
                <a:latin typeface="Microsoft YaHei UI"/>
                <a:cs typeface="Microsoft YaHei UI"/>
              </a:rPr>
              <a:t>中</a:t>
            </a:r>
            <a:r>
              <a:rPr sz="2000" b="1" dirty="0">
                <a:solidFill>
                  <a:schemeClr val="tx1"/>
                </a:solidFill>
                <a:latin typeface="Microsoft YaHei UI"/>
                <a:cs typeface="Microsoft YaHei UI"/>
              </a:rPr>
              <a:t>找到</a:t>
            </a:r>
          </a:p>
        </p:txBody>
      </p:sp>
      <p:sp>
        <p:nvSpPr>
          <p:cNvPr id="6" name="object 7"/>
          <p:cNvSpPr txBox="1"/>
          <p:nvPr/>
        </p:nvSpPr>
        <p:spPr>
          <a:xfrm>
            <a:off x="957173" y="1732758"/>
            <a:ext cx="407606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Microsoft YaHei UI"/>
                <a:cs typeface="Microsoft YaHei UI"/>
              </a:rPr>
              <a:t>如果還</a:t>
            </a:r>
            <a:r>
              <a:rPr sz="2000" b="1" dirty="0">
                <a:latin typeface="Microsoft YaHei UI"/>
                <a:cs typeface="Microsoft YaHei UI"/>
              </a:rPr>
              <a:t>是沒有</a:t>
            </a:r>
            <a:r>
              <a:rPr sz="2000" b="1" spc="-85" dirty="0">
                <a:latin typeface="Microsoft YaHei UI"/>
                <a:cs typeface="Microsoft YaHei UI"/>
              </a:rPr>
              <a:t> </a:t>
            </a:r>
            <a:r>
              <a:rPr sz="2000" b="1" spc="5" dirty="0">
                <a:latin typeface="Microsoft YaHei UI"/>
                <a:cs typeface="Microsoft YaHei UI"/>
              </a:rPr>
              <a:t>請檢察</a:t>
            </a:r>
            <a:r>
              <a:rPr sz="2000" b="1" dirty="0">
                <a:latin typeface="Microsoft YaHei UI"/>
                <a:cs typeface="Microsoft YaHei UI"/>
              </a:rPr>
              <a:t>每個環節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59" y="2318505"/>
            <a:ext cx="6589474" cy="4287533"/>
          </a:xfrm>
          <a:prstGeom prst="rect">
            <a:avLst/>
          </a:prstGeom>
        </p:spPr>
      </p:pic>
      <p:sp>
        <p:nvSpPr>
          <p:cNvPr id="8" name="圓角矩形 7"/>
          <p:cNvSpPr/>
          <p:nvPr/>
        </p:nvSpPr>
        <p:spPr>
          <a:xfrm>
            <a:off x="222706" y="4443983"/>
            <a:ext cx="771043" cy="32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1097280" y="3767328"/>
            <a:ext cx="5586984" cy="21031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11296" y="4064420"/>
            <a:ext cx="813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Arial Black" panose="020B0A04020102020204" pitchFamily="34" charset="0"/>
              </a:rPr>
              <a:t>???</a:t>
            </a:r>
            <a:endParaRPr lang="zh-TW" altLang="en-US" sz="2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182" y="2661121"/>
            <a:ext cx="5060291" cy="3565723"/>
          </a:xfrm>
          <a:prstGeom prst="rect">
            <a:avLst/>
          </a:prstGeom>
        </p:spPr>
      </p:pic>
      <p:sp>
        <p:nvSpPr>
          <p:cNvPr id="13" name="圓角矩形 12"/>
          <p:cNvSpPr/>
          <p:nvPr/>
        </p:nvSpPr>
        <p:spPr>
          <a:xfrm>
            <a:off x="8101584" y="3995928"/>
            <a:ext cx="914400" cy="2194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756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TM03457485[[fn=網線]]</Template>
  <TotalTime>1164</TotalTime>
  <Words>237</Words>
  <Application>Microsoft Office PowerPoint</Application>
  <PresentationFormat>寬螢幕</PresentationFormat>
  <Paragraphs>47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9" baseType="lpstr">
      <vt:lpstr>Microsoft YaHei UI</vt:lpstr>
      <vt:lpstr>Microsoft JhengHei</vt:lpstr>
      <vt:lpstr>新細明體</vt:lpstr>
      <vt:lpstr>Arial</vt:lpstr>
      <vt:lpstr>Arial Black</vt:lpstr>
      <vt:lpstr>Century Gothic</vt:lpstr>
      <vt:lpstr>Times New Roman</vt:lpstr>
      <vt:lpstr>網狀</vt:lpstr>
      <vt:lpstr>Quartus Prime Lite edition安裝及操作教學</vt:lpstr>
      <vt:lpstr>目錄</vt:lpstr>
      <vt:lpstr>軟體下載</vt:lpstr>
      <vt:lpstr>下載以下檔案</vt:lpstr>
      <vt:lpstr>下載以下檔案</vt:lpstr>
      <vt:lpstr>安裝</vt:lpstr>
      <vt:lpstr>安裝QuartusLiteSetup-19.1.0.670-windows</vt:lpstr>
      <vt:lpstr>安裝QuartusLiteSetup-19.1.0.670-windows</vt:lpstr>
      <vt:lpstr>安裝QuartusLiteSetup-19.1.0.670-windows</vt:lpstr>
      <vt:lpstr>安裝QuartusLiteSetup-19.1.0.670-windows</vt:lpstr>
      <vt:lpstr>安裝完成</vt:lpstr>
      <vt:lpstr>Altera Quartus 軟體操作</vt:lpstr>
      <vt:lpstr>開啟Quartus並開啟空專案的qpf(quartus project file)檔</vt:lpstr>
      <vt:lpstr>PowerPoint 簡報</vt:lpstr>
      <vt:lpstr>PowerPoint 簡報</vt:lpstr>
      <vt:lpstr>編輯DE0_CV.v 將module添加進去 並接上需要用到的pin腳</vt:lpstr>
      <vt:lpstr>編輯完畢後 開始compile</vt:lpstr>
      <vt:lpstr>Altera Quartus 燒錄實作</vt:lpstr>
      <vt:lpstr>PowerPoint 簡報</vt:lpstr>
      <vt:lpstr>選擇燒錄sof檔後 點擊Start開始燒錄</vt:lpstr>
      <vt:lpstr>應該可以在DE0_CV中找到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Altera Quartus 軟體操作與燒錄</dc:title>
  <dc:creator>eric20001002</dc:creator>
  <cp:lastModifiedBy>嚴茂旭</cp:lastModifiedBy>
  <cp:revision>27</cp:revision>
  <dcterms:created xsi:type="dcterms:W3CDTF">2023-01-09T12:09:05Z</dcterms:created>
  <dcterms:modified xsi:type="dcterms:W3CDTF">2023-02-15T00:57:59Z</dcterms:modified>
</cp:coreProperties>
</file>