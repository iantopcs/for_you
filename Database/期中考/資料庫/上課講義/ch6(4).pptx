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9"/>
  </p:notesMasterIdLst>
  <p:handoutMasterIdLst>
    <p:handoutMasterId r:id="rId80"/>
  </p:handoutMasterIdLst>
  <p:sldIdLst>
    <p:sldId id="423" r:id="rId2"/>
    <p:sldId id="337" r:id="rId3"/>
    <p:sldId id="421" r:id="rId4"/>
    <p:sldId id="339" r:id="rId5"/>
    <p:sldId id="340" r:id="rId6"/>
    <p:sldId id="341" r:id="rId7"/>
    <p:sldId id="342" r:id="rId8"/>
    <p:sldId id="343" r:id="rId9"/>
    <p:sldId id="344" r:id="rId10"/>
    <p:sldId id="346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360" r:id="rId25"/>
    <p:sldId id="361" r:id="rId26"/>
    <p:sldId id="362" r:id="rId27"/>
    <p:sldId id="363" r:id="rId28"/>
    <p:sldId id="364" r:id="rId29"/>
    <p:sldId id="456" r:id="rId30"/>
    <p:sldId id="365" r:id="rId31"/>
    <p:sldId id="366" r:id="rId32"/>
    <p:sldId id="368" r:id="rId33"/>
    <p:sldId id="369" r:id="rId34"/>
    <p:sldId id="370" r:id="rId35"/>
    <p:sldId id="371" r:id="rId36"/>
    <p:sldId id="373" r:id="rId37"/>
    <p:sldId id="374" r:id="rId38"/>
    <p:sldId id="375" r:id="rId39"/>
    <p:sldId id="376" r:id="rId40"/>
    <p:sldId id="457" r:id="rId41"/>
    <p:sldId id="377" r:id="rId42"/>
    <p:sldId id="378" r:id="rId43"/>
    <p:sldId id="379" r:id="rId44"/>
    <p:sldId id="380" r:id="rId45"/>
    <p:sldId id="381" r:id="rId46"/>
    <p:sldId id="382" r:id="rId47"/>
    <p:sldId id="383" r:id="rId48"/>
    <p:sldId id="384" r:id="rId49"/>
    <p:sldId id="385" r:id="rId50"/>
    <p:sldId id="386" r:id="rId51"/>
    <p:sldId id="387" r:id="rId52"/>
    <p:sldId id="425" r:id="rId53"/>
    <p:sldId id="426" r:id="rId54"/>
    <p:sldId id="427" r:id="rId55"/>
    <p:sldId id="431" r:id="rId56"/>
    <p:sldId id="432" r:id="rId57"/>
    <p:sldId id="428" r:id="rId58"/>
    <p:sldId id="429" r:id="rId59"/>
    <p:sldId id="430" r:id="rId60"/>
    <p:sldId id="433" r:id="rId61"/>
    <p:sldId id="434" r:id="rId62"/>
    <p:sldId id="435" r:id="rId63"/>
    <p:sldId id="437" r:id="rId64"/>
    <p:sldId id="438" r:id="rId65"/>
    <p:sldId id="439" r:id="rId66"/>
    <p:sldId id="440" r:id="rId67"/>
    <p:sldId id="441" r:id="rId68"/>
    <p:sldId id="442" r:id="rId69"/>
    <p:sldId id="443" r:id="rId70"/>
    <p:sldId id="445" r:id="rId71"/>
    <p:sldId id="446" r:id="rId72"/>
    <p:sldId id="447" r:id="rId73"/>
    <p:sldId id="448" r:id="rId74"/>
    <p:sldId id="449" r:id="rId75"/>
    <p:sldId id="450" r:id="rId76"/>
    <p:sldId id="451" r:id="rId77"/>
    <p:sldId id="452" r:id="rId78"/>
  </p:sldIdLst>
  <p:sldSz cx="9144000" cy="6858000" type="screen4x3"/>
  <p:notesSz cx="6997700" cy="9283700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737" autoAdjust="0"/>
  </p:normalViewPr>
  <p:slideViewPr>
    <p:cSldViewPr snapToGrid="0">
      <p:cViewPr varScale="1">
        <p:scale>
          <a:sx n="62" d="100"/>
          <a:sy n="62" d="100"/>
        </p:scale>
        <p:origin x="823" y="24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796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F0CAC2-290B-4447-A1A9-9DF2412B29D5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F0CAC2-290B-4447-A1A9-9DF2412B29D5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02" tIns="46501" rIns="93002" bIns="46501" anchor="b"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B202F3DB-D83B-4369-B6DF-4EFAC58302F7}" type="slidenum">
              <a:rPr lang="en-US" altLang="en-US" sz="1200"/>
              <a:pPr algn="r"/>
              <a:t>4</a:t>
            </a:fld>
            <a:endParaRPr lang="en-US" altLang="en-US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02" tIns="46501" rIns="93002" bIns="46501" anchor="b"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A4932D46-DD78-4BAB-BBDC-DC51872AFEF6}" type="slidenum">
              <a:rPr lang="en-US" altLang="en-US" sz="1200"/>
              <a:pPr algn="r"/>
              <a:t>5</a:t>
            </a:fld>
            <a:endParaRPr lang="en-US" altLang="en-US" sz="12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02" tIns="46501" rIns="93002" bIns="46501" anchor="b"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4572F582-7A30-44E2-B9AE-85A1CA63CB6B}" type="slidenum">
              <a:rPr lang="en-US" altLang="en-US" sz="1200"/>
              <a:pPr algn="r"/>
              <a:t>6</a:t>
            </a:fld>
            <a:endParaRPr lang="en-US" altLang="en-US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43EEFE5-6DA2-40BF-A0EC-25CFBBE7FBB4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E76179E-0825-42BA-A86D-E07CE2CDFB4A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E8D77EB-8DA4-473C-85D9-A2C867216A15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6C87BE7-122B-4399-B1F6-35CC3C43642F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54D2032-F7A1-47FB-8029-FF01734C1A45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D6698B-82E8-4243-BAB0-D6783EE2B84F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E75EE63-BBAB-4B59-AB6C-C7C62F9D7EF6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FA286EA-37A2-4E74-A5EA-47322F5F22B9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F34FE36-22BB-471F-B5BA-20ABB5BF6430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66F3D21-A5A9-4DF0-817E-313DA5AE0CC9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681DB7B-8BB9-428D-983D-60F2DF463925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1469615-0B6C-4E37-A5DC-FDCF4C566C37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2F97F58-FA04-4838-BA8D-1673429622FF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E8ABFFE-D826-4EF9-B15D-4180085C23C7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A9C970B-8220-4517-837F-B56840EC81F1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CB53E9A-4F1C-4562-B43B-B5CFB7E98BB2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D71DE7E-FF0D-4034-AE63-651A3A350F6F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6281BB1-9FD8-4756-B07C-05F43DCBB1D1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02CC610-2C92-4BB3-8D98-C7E1312CA104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844853C-1565-4D82-BAFB-17FA6226FCB3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C5E82CE-5F33-4AA9-922C-5F54A6966317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8449F55-0331-42F3-8185-5550FA6588AF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1A24CF4-9A58-4D8C-8B4A-1F5B4A557C17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7733CA9-4ACE-4C8E-94A6-AF7CB20743E9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D2532D8-F19F-403F-A34B-7117B24BF533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40ADC53-D181-43CB-9865-BA969C5AAEFD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94E467F-6EAC-4F92-B33E-2BE268A09E9A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AF7D5D7-1528-465C-90C3-10C59F6113C4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D1A45DA-CA64-41FA-A1E8-AD1BAE08C0BB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64DA130-9CE3-4E7D-9E7F-223297258F10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BB2FFBC-ECC8-4E72-ACD7-AC5B3AC7D391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733A54A-C6D5-44D3-B193-2B68843B2348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57AE074-BB24-467C-A389-042288128DCE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507090B-43B1-4E96-BBBD-29C4E144CED6}" type="slidenum">
              <a:rPr lang="en-US" altLang="en-US" sz="1200"/>
              <a:pPr/>
              <a:t>42</a:t>
            </a:fld>
            <a:endParaRPr lang="en-US" altLang="en-US" sz="1200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21DAE2F-0D65-4187-8195-66E3DFCF9142}" type="slidenum">
              <a:rPr lang="en-US" altLang="en-US" sz="1200"/>
              <a:pPr/>
              <a:t>43</a:t>
            </a:fld>
            <a:endParaRPr lang="en-US" altLang="en-US" sz="120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D12A99F-88C8-4413-BBDB-E9633A53948D}" type="slidenum">
              <a:rPr lang="en-US" altLang="en-US" sz="1200"/>
              <a:pPr/>
              <a:t>44</a:t>
            </a:fld>
            <a:endParaRPr lang="en-US" altLang="en-US" sz="1200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9B5DD2D-80F8-4C47-BE29-F71863EB928E}" type="slidenum">
              <a:rPr lang="en-US" altLang="en-US" sz="1200"/>
              <a:pPr/>
              <a:t>45</a:t>
            </a:fld>
            <a:endParaRPr lang="en-US" altLang="en-US" sz="1200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D1584D15-F658-456F-8F61-E80EBA02FF6A}" type="slidenum">
              <a:rPr lang="en-US" altLang="en-US" sz="1200"/>
              <a:pPr algn="r"/>
              <a:t>46</a:t>
            </a:fld>
            <a:endParaRPr lang="en-US" altLang="en-US" sz="1200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52C13233-64BC-4954-9464-11A8667DC6C3}" type="slidenum">
              <a:rPr lang="en-US" altLang="en-US" sz="1200"/>
              <a:pPr algn="r"/>
              <a:t>47</a:t>
            </a:fld>
            <a:endParaRPr lang="en-US" altLang="en-US" sz="120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702DC87-2809-4E8A-B7E5-19578CF611CB}" type="slidenum">
              <a:rPr lang="en-US" altLang="en-US" sz="1200"/>
              <a:pPr/>
              <a:t>48</a:t>
            </a:fld>
            <a:endParaRPr lang="en-US" altLang="en-US" sz="120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C5B6243-9F6C-4A40-B7AB-819F09B48280}" type="slidenum">
              <a:rPr lang="en-US" altLang="en-US" sz="1200"/>
              <a:pPr/>
              <a:t>49</a:t>
            </a:fld>
            <a:endParaRPr lang="en-US" altLang="en-US" sz="120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3671C7C-5C30-4951-A09C-C7DE0069A227}" type="slidenum">
              <a:rPr lang="en-US" altLang="en-US" sz="1200"/>
              <a:pPr algn="r"/>
              <a:t>50</a:t>
            </a:fld>
            <a:endParaRPr lang="en-US" altLang="en-US" sz="1200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1896E650-A8FF-4A75-8D3E-76E6F7496A62}" type="slidenum">
              <a:rPr lang="en-US" altLang="en-US" sz="1200"/>
              <a:pPr algn="r"/>
              <a:t>51</a:t>
            </a:fld>
            <a:endParaRPr lang="en-US" altLang="en-US" sz="1200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A60B134-387B-41E7-B677-3964AC0C6785}" type="slidenum">
              <a:rPr lang="en-US" altLang="en-US" sz="1200"/>
              <a:pPr/>
              <a:t>52</a:t>
            </a:fld>
            <a:endParaRPr lang="en-US" altLang="en-US" sz="1200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23851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5F59032-4CC8-49AA-B921-0985818A4A69}" type="slidenum">
              <a:rPr lang="en-US" altLang="en-US" sz="1200"/>
              <a:pPr/>
              <a:t>53</a:t>
            </a:fld>
            <a:endParaRPr lang="en-US" altLang="en-US" sz="1200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6244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BB37812-7A60-4D4D-B158-CDF22B62669D}" type="slidenum">
              <a:rPr lang="en-US" altLang="en-US" sz="1200"/>
              <a:pPr/>
              <a:t>54</a:t>
            </a:fld>
            <a:endParaRPr lang="en-US" altLang="en-US" sz="1200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27566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D25D0B9-C0C0-40E8-996B-37789D8CE8CB}" type="slidenum">
              <a:rPr lang="en-US" altLang="en-US" sz="1200"/>
              <a:pPr/>
              <a:t>55</a:t>
            </a:fld>
            <a:endParaRPr lang="en-US" altLang="en-US" sz="1200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5558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36294EE-9918-45CD-8B30-53914648990E}" type="slidenum">
              <a:rPr lang="en-US" altLang="en-US" sz="1200"/>
              <a:pPr/>
              <a:t>56</a:t>
            </a:fld>
            <a:endParaRPr lang="en-US" altLang="en-US" sz="1200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55238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19A4C02-8989-47FD-A904-144A669035C3}" type="slidenum">
              <a:rPr lang="en-US" altLang="en-US" sz="1200"/>
              <a:pPr algn="r"/>
              <a:t>57</a:t>
            </a:fld>
            <a:endParaRPr lang="en-US" altLang="en-US" sz="1200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01690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36AEDBC9-C94E-4A98-8290-172F520CC2AF}" type="slidenum">
              <a:rPr lang="en-US" altLang="en-US" sz="1200"/>
              <a:pPr algn="r"/>
              <a:t>58</a:t>
            </a:fld>
            <a:endParaRPr lang="en-US" altLang="en-US" sz="1200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73759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01C0836-68E5-499B-9488-51A72A955B8C}" type="slidenum">
              <a:rPr lang="en-US" altLang="en-US" sz="1200"/>
              <a:pPr/>
              <a:t>59</a:t>
            </a:fld>
            <a:endParaRPr lang="en-US" altLang="en-US" sz="120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7936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CB36896-4F4E-48BE-8ED8-64318D033CE8}" type="slidenum">
              <a:rPr lang="en-US" altLang="en-US" sz="1200"/>
              <a:pPr/>
              <a:t>60</a:t>
            </a:fld>
            <a:endParaRPr lang="en-US" altLang="en-US" sz="1200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98375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DE8E9FC-6F08-40BB-B772-EA0C2AE1A7A0}" type="slidenum">
              <a:rPr lang="en-US" altLang="en-US" sz="1200"/>
              <a:pPr/>
              <a:t>61</a:t>
            </a:fld>
            <a:endParaRPr lang="en-US" altLang="en-US" sz="1200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819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B999CF1A-EE2D-40C7-88BC-5CB4646E5D8B}" type="slidenum">
              <a:rPr lang="en-US" altLang="en-US" sz="1200"/>
              <a:pPr algn="r"/>
              <a:t>62</a:t>
            </a:fld>
            <a:endParaRPr lang="en-US" altLang="en-US" sz="1200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51420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17473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4934C981-6806-4B1C-8EC3-8AAD8F35AA7C}" type="slidenum">
              <a:rPr lang="en-US" altLang="en-US" sz="1200"/>
              <a:pPr algn="r"/>
              <a:t>64</a:t>
            </a:fld>
            <a:endParaRPr lang="en-US" altLang="en-US" sz="120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2426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500DFA9D-6D5B-4797-B1CA-7EEB8BD7226F}" type="slidenum">
              <a:rPr lang="en-US" altLang="en-US" sz="1200"/>
              <a:pPr algn="r"/>
              <a:t>65</a:t>
            </a:fld>
            <a:endParaRPr lang="en-US" altLang="en-US" sz="1200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4777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ACD7BD46-B851-41F6-BDE0-EE3DE5BA6FCC}" type="slidenum">
              <a:rPr lang="en-US" altLang="en-US" sz="1200"/>
              <a:pPr algn="r"/>
              <a:t>66</a:t>
            </a:fld>
            <a:endParaRPr lang="en-US" altLang="en-US" sz="1200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68864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B8506864-7409-4F31-A643-622503D4FBA6}" type="slidenum">
              <a:rPr lang="en-US" altLang="en-US" sz="1200"/>
              <a:pPr algn="r"/>
              <a:t>67</a:t>
            </a:fld>
            <a:endParaRPr lang="en-US" altLang="en-US" sz="1200"/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69770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7DB985E1-F95E-4DDA-9035-000ADC85BF1B}" type="slidenum">
              <a:rPr lang="en-US" altLang="en-US" sz="1200"/>
              <a:pPr algn="r"/>
              <a:t>68</a:t>
            </a:fld>
            <a:endParaRPr lang="en-US" altLang="en-US" sz="1200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62501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AA716B33-9885-4347-A6EC-10A44624E185}" type="slidenum">
              <a:rPr lang="en-US" altLang="en-US" sz="1200"/>
              <a:pPr algn="r"/>
              <a:t>69</a:t>
            </a:fld>
            <a:endParaRPr lang="en-US" altLang="en-US" sz="1200"/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86204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FAD77A2-2119-4E7C-B11C-A31372FFAE35}" type="slidenum">
              <a:rPr lang="en-US" altLang="en-US" sz="1200"/>
              <a:pPr/>
              <a:t>70</a:t>
            </a:fld>
            <a:endParaRPr lang="en-US" altLang="en-US" sz="1200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89476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B819C23-332F-464A-B228-80F79B607C9B}" type="slidenum">
              <a:rPr lang="en-US" altLang="en-US" sz="1200"/>
              <a:pPr/>
              <a:t>71</a:t>
            </a:fld>
            <a:endParaRPr lang="en-US" altLang="en-US" sz="1200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75893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1AE7BDE-6BAD-4869-BA94-42F764CB0731}" type="slidenum">
              <a:rPr lang="en-US" altLang="en-US" sz="1200"/>
              <a:pPr/>
              <a:t>72</a:t>
            </a:fld>
            <a:endParaRPr lang="en-US" altLang="en-US" sz="1200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4265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6B6CF80-A94A-429C-B018-ADC56A3A4F61}" type="slidenum">
              <a:rPr lang="en-US" altLang="en-US" sz="1200"/>
              <a:pPr/>
              <a:t>73</a:t>
            </a:fld>
            <a:endParaRPr lang="en-US" altLang="en-US" sz="1200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62811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BA03F12-E271-4AB0-B36E-709F00E15421}" type="slidenum">
              <a:rPr lang="en-US" altLang="en-US" sz="1200"/>
              <a:pPr/>
              <a:t>74</a:t>
            </a:fld>
            <a:endParaRPr lang="en-US" altLang="en-US" sz="1200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87923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6605841-5CB7-4C7A-924F-2C7512868176}" type="slidenum">
              <a:rPr lang="en-US" altLang="en-US" sz="1200"/>
              <a:pPr/>
              <a:t>75</a:t>
            </a:fld>
            <a:endParaRPr lang="en-US" altLang="en-US" sz="1200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15834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C0CCDE4-0F12-4A8C-B062-A94A0F2D6B2E}" type="slidenum">
              <a:rPr lang="en-US" altLang="en-US" sz="1200"/>
              <a:pPr/>
              <a:t>76</a:t>
            </a:fld>
            <a:endParaRPr lang="en-US" altLang="en-US" sz="1200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8844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50157" indent="-288522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5408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15722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77357" indent="-230817" defTabSz="93609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38992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300062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62261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923896" indent="-230817" defTabSz="93609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E4AA371-DF05-42FF-99C9-D54AF61A2C5F}" type="slidenum">
              <a:rPr lang="en-US" altLang="en-US" sz="1200"/>
              <a:pPr/>
              <a:t>77</a:t>
            </a:fld>
            <a:endParaRPr lang="en-US" altLang="en-US" sz="1200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473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5" y="6613525"/>
            <a:ext cx="44755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6.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10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110000"/>
        <a:buFont typeface="Arial" panose="020B0604020202020204" pitchFamily="34" charset="0"/>
        <a:buChar char="•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Arial" panose="020B0604020202020204" pitchFamily="34" charset="0"/>
        <a:buChar char="•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6: Database Design Using the E-R Model</a:t>
            </a:r>
          </a:p>
        </p:txBody>
      </p:sp>
    </p:spTree>
    <p:extLst>
      <p:ext uri="{BB962C8B-B14F-4D97-AF65-F5344CB8AC3E}">
        <p14:creationId xmlns:p14="http://schemas.microsoft.com/office/powerpoint/2010/main" val="4162239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254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185799"/>
            <a:ext cx="7473949" cy="4105529"/>
          </a:xfrm>
        </p:spPr>
        <p:txBody>
          <a:bodyPr/>
          <a:lstStyle/>
          <a:p>
            <a:r>
              <a:rPr lang="en-US" altLang="en-US" sz="1700" dirty="0"/>
              <a:t>Overview of the Design Process</a:t>
            </a:r>
          </a:p>
          <a:p>
            <a:r>
              <a:rPr lang="en-US" altLang="en-US" sz="1700" dirty="0"/>
              <a:t>The Entity-Relationship Model</a:t>
            </a:r>
          </a:p>
          <a:p>
            <a:r>
              <a:rPr lang="en-US" altLang="en-US" sz="1700" dirty="0"/>
              <a:t>Complex Attributes</a:t>
            </a:r>
          </a:p>
          <a:p>
            <a:r>
              <a:rPr lang="en-US" altLang="en-US" sz="1700" dirty="0"/>
              <a:t>Mapping Cardinalities</a:t>
            </a:r>
          </a:p>
          <a:p>
            <a:r>
              <a:rPr lang="en-US" altLang="en-US" sz="1700" dirty="0"/>
              <a:t>Primary Key</a:t>
            </a:r>
          </a:p>
          <a:p>
            <a:r>
              <a:rPr lang="en-US" altLang="en-US" sz="1700" dirty="0"/>
              <a:t>Removing Redundant Attributes in Entity Sets</a:t>
            </a:r>
          </a:p>
          <a:p>
            <a:r>
              <a:rPr lang="en-US" altLang="en-US" sz="1700" dirty="0"/>
              <a:t>Reducing ER Diagrams to Relational Schemas</a:t>
            </a:r>
          </a:p>
          <a:p>
            <a:r>
              <a:rPr lang="en-US" altLang="en-US" dirty="0"/>
              <a:t>Extended E-R Features</a:t>
            </a:r>
          </a:p>
          <a:p>
            <a:r>
              <a:rPr lang="en-US" altLang="en-US" dirty="0"/>
              <a:t>Entity-Relationship Design Issues</a:t>
            </a:r>
          </a:p>
          <a:p>
            <a:r>
              <a:rPr lang="en-US" altLang="en-US" dirty="0"/>
              <a:t>Alternative Notations for Modeling Data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254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/>
              </a:rPr>
              <a:t>Design Phases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1" y="1185799"/>
            <a:ext cx="7595870" cy="3764153"/>
          </a:xfrm>
        </p:spPr>
        <p:txBody>
          <a:bodyPr/>
          <a:lstStyle/>
          <a:p>
            <a:r>
              <a:rPr lang="en-US" altLang="en-US" sz="1700" dirty="0"/>
              <a:t>Initial phase -- characterize fully the data needs of the prospective database users. </a:t>
            </a:r>
          </a:p>
          <a:p>
            <a:r>
              <a:rPr lang="en-US" altLang="en-US" sz="1700" dirty="0"/>
              <a:t>Second phase  -- choosing  a data model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Applying the concepts of the chosen data model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Translating  these requirements into a conceptual schema of the database.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 fully developed conceptual schema indicates the functional requirements of the enterprise. </a:t>
            </a:r>
          </a:p>
          <a:p>
            <a:pPr lvl="2"/>
            <a:r>
              <a:rPr lang="en-US" altLang="en-US" sz="1700" dirty="0">
                <a:ea typeface="ＭＳ Ｐゴシック" panose="020B0600070205080204" pitchFamily="34" charset="-128"/>
              </a:rPr>
              <a:t>Describe the kinds of operations (or transactions) that will be performed on the data.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Design Phases (Cont.)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6762" y="1175195"/>
            <a:ext cx="7610476" cy="43751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Final Phase -- Moving from an abstract data model to the implementation of the database</a:t>
            </a:r>
            <a:endParaRPr lang="en-US" altLang="en-US" sz="1700" i="1" dirty="0"/>
          </a:p>
          <a:p>
            <a:pPr marL="800100" lvl="1" indent="-342900"/>
            <a:r>
              <a:rPr lang="en-US" altLang="en-US" sz="1700" dirty="0">
                <a:ea typeface="ＭＳ Ｐゴシック" panose="020B0600070205080204" pitchFamily="34" charset="-128"/>
              </a:rPr>
              <a:t>Logical Design –  Deciding on the database schema. Database design requires that we find a “good” collection of relation schemas.</a:t>
            </a:r>
          </a:p>
          <a:p>
            <a:pPr marL="1143000" lvl="2" indent="-342900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ＭＳ Ｐゴシック" panose="020B0600070205080204" pitchFamily="34" charset="-128"/>
              </a:rPr>
              <a:t>Business decision – What attributes should we record in the database?</a:t>
            </a:r>
          </a:p>
          <a:p>
            <a:pPr marL="1143000" lvl="2" indent="-342900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ＭＳ Ｐゴシック" panose="020B0600070205080204" pitchFamily="34" charset="-128"/>
              </a:rPr>
              <a:t>Computer Science decision –  What relation schemas should we have and how should the attributes be distributed among the various relation schemas?</a:t>
            </a:r>
          </a:p>
          <a:p>
            <a:pPr marL="800100" lvl="1" indent="-342900"/>
            <a:r>
              <a:rPr lang="en-US" altLang="en-US" sz="1700" dirty="0">
                <a:ea typeface="ＭＳ Ｐゴシック" panose="020B0600070205080204" pitchFamily="34" charset="-128"/>
              </a:rPr>
              <a:t>Physical Design – Deciding on the physical layout of the database                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     </a:t>
            </a:r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927100" y="1074738"/>
            <a:ext cx="7450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Monotype Sorts" charset="2"/>
              <a:buNone/>
            </a:pPr>
            <a:endParaRPr lang="en-US" altLang="en-US"/>
          </a:p>
          <a:p>
            <a:pPr>
              <a:buFont typeface="Monotype Sorts" charset="2"/>
              <a:buNone/>
            </a:pPr>
            <a:r>
              <a:rPr lang="en-US" altLang="en-US">
                <a:sym typeface="Symbol" panose="05050102010706020507" pitchFamily="18" charset="2"/>
              </a:rPr>
              <a:t> 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Design Alternatives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123950"/>
            <a:ext cx="7612170" cy="444779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In designing a database schema, we must ensure that we avoid two major pitfalls: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Redundancy:  a bad design  may result in repeat information. 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ＭＳ Ｐゴシック" panose="020B0600070205080204" pitchFamily="34" charset="-128"/>
              </a:rPr>
              <a:t>Redundant representation of information may lead to data inconsistency among the various copies of information 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Incompleteness: a bad design may make certain aspects of the enterprise difficult or impossible to model.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Avoiding bad designs is not enough. There may be a  large number  of  good designs from which we must choose.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Design Approaches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1" y="1123950"/>
            <a:ext cx="7763090" cy="4581906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Entity Relationship Model (covered in this chapter)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Models an enterprise as a collection of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entities </a:t>
            </a:r>
            <a:r>
              <a:rPr lang="en-US" altLang="en-US" sz="1700" dirty="0">
                <a:ea typeface="ＭＳ Ｐゴシック" panose="020B0600070205080204" pitchFamily="34" charset="-128"/>
              </a:rPr>
              <a:t>and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relationships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ＭＳ Ｐゴシック" panose="020B0600070205080204" pitchFamily="34" charset="-128"/>
              </a:rPr>
              <a:t>Entity: a “thing” or “object” in the enterprise that is distinguishable from other objects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Described by a set of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attributes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ＭＳ Ｐゴシック" panose="020B0600070205080204" pitchFamily="34" charset="-128"/>
              </a:rPr>
              <a:t>Relationship: an association among several entities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Represented diagrammatically by an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entity-relationship diagram: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Normalization Theory (Chapter 7)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Formalize what designs are bad, and test for them</a:t>
            </a:r>
          </a:p>
          <a:p>
            <a:pPr lvl="1">
              <a:buFont typeface="Monotype Sorts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73685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Outline of the ER Model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ER model -- Database Modeling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22375"/>
            <a:ext cx="7619746" cy="3678809"/>
          </a:xfrm>
        </p:spPr>
        <p:txBody>
          <a:bodyPr/>
          <a:lstStyle/>
          <a:p>
            <a:r>
              <a:rPr lang="en-US" altLang="en-US" sz="1700" dirty="0"/>
              <a:t>The ER data mode was developed to facilitate database design by allowing specification of an </a:t>
            </a:r>
            <a:r>
              <a:rPr lang="en-US" altLang="en-US" sz="1700" b="1" dirty="0">
                <a:solidFill>
                  <a:srgbClr val="002060"/>
                </a:solidFill>
              </a:rPr>
              <a:t>enterprise schema </a:t>
            </a:r>
            <a:r>
              <a:rPr lang="en-US" altLang="en-US" sz="1700" dirty="0"/>
              <a:t>that represents the overall logical structure of a database.</a:t>
            </a:r>
          </a:p>
          <a:p>
            <a:r>
              <a:rPr lang="en-US" altLang="en-US" sz="1700" dirty="0"/>
              <a:t>The ER data model employs three basic concepts: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entity sets,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relationship sets,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attributes.</a:t>
            </a:r>
          </a:p>
          <a:p>
            <a:r>
              <a:rPr lang="en-US" altLang="en-US" sz="1700" dirty="0"/>
              <a:t>The ER model also has an associated diagrammatic representation, the </a:t>
            </a:r>
            <a:r>
              <a:rPr lang="en-US" altLang="en-US" sz="1700" b="1" dirty="0">
                <a:solidFill>
                  <a:srgbClr val="002060"/>
                </a:solidFill>
              </a:rPr>
              <a:t>ER diagram</a:t>
            </a:r>
            <a:r>
              <a:rPr lang="en-US" altLang="en-US" sz="1700" dirty="0"/>
              <a:t>, which can express the overall logical structure of a database graphically</a:t>
            </a:r>
            <a:r>
              <a:rPr lang="en-US" altLang="en-US" sz="2000" dirty="0"/>
              <a:t>.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Entity Sets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394"/>
            <a:ext cx="7514515" cy="4998159"/>
          </a:xfrm>
        </p:spPr>
        <p:txBody>
          <a:bodyPr/>
          <a:lstStyle/>
          <a:p>
            <a:r>
              <a:rPr lang="en-US" altLang="en-US" sz="1700" dirty="0"/>
              <a:t>An </a:t>
            </a:r>
            <a:r>
              <a:rPr lang="en-US" altLang="en-US" sz="1700" b="1" dirty="0">
                <a:solidFill>
                  <a:srgbClr val="002060"/>
                </a:solidFill>
              </a:rPr>
              <a:t>entity</a:t>
            </a:r>
            <a:r>
              <a:rPr lang="en-US" altLang="en-US" sz="1700" b="1" dirty="0"/>
              <a:t> </a:t>
            </a:r>
            <a:r>
              <a:rPr lang="en-US" altLang="en-US" sz="1700" dirty="0"/>
              <a:t>is an object that exists and is distinguishable from other objects.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Example:  specific person, company, event, plant</a:t>
            </a:r>
          </a:p>
          <a:p>
            <a:r>
              <a:rPr lang="en-US" altLang="en-US" sz="1700" dirty="0"/>
              <a:t>An </a:t>
            </a:r>
            <a:r>
              <a:rPr lang="en-US" altLang="en-US" sz="1700" b="1" dirty="0">
                <a:solidFill>
                  <a:srgbClr val="002060"/>
                </a:solidFill>
              </a:rPr>
              <a:t>entity set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is a set of entities of the same type that share the same properties.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Example: set of all persons, companies, trees, holidays</a:t>
            </a:r>
          </a:p>
          <a:p>
            <a:r>
              <a:rPr lang="en-US" altLang="en-US" sz="1700" dirty="0"/>
              <a:t>An entity is represented by a set of attributes; i.e., descriptive properties possessed by all members of an entity set.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Example: 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>
                <a:ea typeface="ＭＳ Ｐゴシック" panose="020B0600070205080204" pitchFamily="34" charset="-128"/>
              </a:rPr>
              <a:t>     	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 = </a:t>
            </a:r>
            <a:r>
              <a:rPr lang="en-US" altLang="en-US" sz="1700" dirty="0">
                <a:ea typeface="ＭＳ Ｐゴシック" panose="020B0600070205080204" pitchFamily="34" charset="-128"/>
              </a:rPr>
              <a:t>(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ID, name, salary </a:t>
            </a:r>
            <a:r>
              <a:rPr lang="en-US" altLang="en-US" sz="1700" dirty="0">
                <a:ea typeface="ＭＳ Ｐゴシック" panose="020B0600070205080204" pitchFamily="34" charset="-128"/>
              </a:rPr>
              <a:t>)</a:t>
            </a:r>
            <a:br>
              <a:rPr lang="en-US" altLang="en-US" sz="1700" i="1" dirty="0">
                <a:ea typeface="ＭＳ Ｐゴシック" panose="020B0600070205080204" pitchFamily="34" charset="-128"/>
              </a:rPr>
            </a:br>
            <a:r>
              <a:rPr lang="en-US" altLang="en-US" sz="1700" i="1" dirty="0">
                <a:ea typeface="ＭＳ Ｐゴシック" panose="020B0600070205080204" pitchFamily="34" charset="-128"/>
              </a:rPr>
              <a:t>	course= </a:t>
            </a:r>
            <a:r>
              <a:rPr lang="en-US" altLang="en-US" sz="1700" dirty="0">
                <a:ea typeface="ＭＳ Ｐゴシック" panose="020B0600070205080204" pitchFamily="34" charset="-128"/>
              </a:rPr>
              <a:t>(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course_id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title, credits</a:t>
            </a:r>
            <a:r>
              <a:rPr lang="en-US" altLang="en-US" sz="1700" dirty="0">
                <a:ea typeface="ＭＳ Ｐゴシック" panose="020B0600070205080204" pitchFamily="34" charset="-128"/>
              </a:rPr>
              <a:t>)</a:t>
            </a:r>
            <a:endParaRPr lang="en-US" altLang="en-US" sz="1700" i="1" dirty="0">
              <a:solidFill>
                <a:schemeClr val="tx2"/>
              </a:solidFill>
              <a:ea typeface="ＭＳ Ｐゴシック" panose="020B0600070205080204" pitchFamily="34" charset="-128"/>
            </a:endParaRPr>
          </a:p>
          <a:p>
            <a:r>
              <a:rPr lang="en-US" altLang="en-US" sz="1700" dirty="0"/>
              <a:t>A subset of the attributes form a  </a:t>
            </a:r>
            <a:r>
              <a:rPr lang="en-US" altLang="en-US" sz="1700" b="1" dirty="0">
                <a:solidFill>
                  <a:srgbClr val="002060"/>
                </a:solidFill>
              </a:rPr>
              <a:t>primary key </a:t>
            </a:r>
            <a:r>
              <a:rPr lang="en-US" altLang="en-US" sz="1700" dirty="0"/>
              <a:t>of the entity set; i.e., uniquely identifying each member of the set.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85725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Entity sets in ER Diagram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781235" y="1109663"/>
            <a:ext cx="7615561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Entity sets can be represented graphically as follows:</a:t>
            </a:r>
          </a:p>
          <a:p>
            <a:pPr marL="914400" lvl="1" indent="-4572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Rectangles represent entity sets.</a:t>
            </a:r>
          </a:p>
          <a:p>
            <a:pPr marL="914400" lvl="1" indent="-4572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Attributes listed inside entity rectangle</a:t>
            </a:r>
          </a:p>
          <a:p>
            <a:pPr marL="914400" lvl="1" indent="-4572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Underline indicates primary key attributes</a:t>
            </a: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472" y="2699188"/>
            <a:ext cx="4124516" cy="1488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Relationship Sets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7031"/>
            <a:ext cx="7766050" cy="4876800"/>
          </a:xfrm>
        </p:spPr>
        <p:txBody>
          <a:bodyPr/>
          <a:lstStyle/>
          <a:p>
            <a:pPr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1700" dirty="0"/>
              <a:t>A </a:t>
            </a:r>
            <a:r>
              <a:rPr lang="en-US" altLang="en-US" sz="1700" b="1" dirty="0">
                <a:solidFill>
                  <a:srgbClr val="002060"/>
                </a:solidFill>
              </a:rPr>
              <a:t>relationship</a:t>
            </a:r>
            <a:r>
              <a:rPr lang="en-US" altLang="en-US" sz="1700" dirty="0"/>
              <a:t> is an association among several entities</a:t>
            </a:r>
          </a:p>
          <a:p>
            <a:pPr>
              <a:buFont typeface="Monotype Sorts" charset="2"/>
              <a:buNone/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1700" dirty="0"/>
              <a:t>	Example:</a:t>
            </a:r>
            <a:br>
              <a:rPr lang="en-US" altLang="en-US" sz="1700" dirty="0"/>
            </a:br>
            <a:r>
              <a:rPr lang="en-US" altLang="en-US" sz="1700" dirty="0"/>
              <a:t>	 </a:t>
            </a:r>
            <a:r>
              <a:rPr lang="en-US" altLang="en-US" sz="1700" u="sng" dirty="0"/>
              <a:t>44553 (Peltier) </a:t>
            </a:r>
            <a:r>
              <a:rPr lang="en-US" altLang="en-US" sz="1700" dirty="0"/>
              <a:t>	</a:t>
            </a:r>
            <a:r>
              <a:rPr lang="en-US" altLang="en-US" sz="1700" i="1" u="sng" dirty="0"/>
              <a:t>advisor</a:t>
            </a:r>
            <a:r>
              <a:rPr lang="en-US" altLang="en-US" sz="1700" dirty="0"/>
              <a:t>	 </a:t>
            </a:r>
            <a:r>
              <a:rPr lang="en-US" altLang="en-US" sz="1700" u="sng" dirty="0"/>
              <a:t>22222 (Einstein)</a:t>
            </a:r>
            <a:r>
              <a:rPr lang="en-US" altLang="en-US" sz="1700" dirty="0"/>
              <a:t> </a:t>
            </a:r>
            <a:br>
              <a:rPr lang="en-US" altLang="en-US" sz="1700" u="sng" dirty="0"/>
            </a:br>
            <a:r>
              <a:rPr lang="en-US" altLang="en-US" sz="1700" dirty="0"/>
              <a:t>	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entity	relationship set	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entity</a:t>
            </a:r>
          </a:p>
          <a:p>
            <a:pPr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1700" dirty="0"/>
              <a:t>A </a:t>
            </a:r>
            <a:r>
              <a:rPr lang="en-US" altLang="en-US" sz="1700" b="1" dirty="0">
                <a:solidFill>
                  <a:srgbClr val="002060"/>
                </a:solidFill>
              </a:rPr>
              <a:t>relationship set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is a mathematical relation among </a:t>
            </a:r>
            <a:r>
              <a:rPr lang="en-US" altLang="en-US" sz="1700" i="1" dirty="0"/>
              <a:t>n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 2 entities, each taken from entity sets</a:t>
            </a:r>
          </a:p>
          <a:p>
            <a:pPr>
              <a:buFont typeface="Monotype Sorts" charset="2"/>
              <a:buNone/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			{(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1</a:t>
            </a:r>
            <a:r>
              <a:rPr lang="en-US" altLang="en-US" sz="1700" dirty="0">
                <a:sym typeface="Symbol" panose="05050102010706020507" pitchFamily="18" charset="2"/>
              </a:rPr>
              <a:t>,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2</a:t>
            </a:r>
            <a:r>
              <a:rPr lang="en-US" altLang="en-US" sz="1700" dirty="0">
                <a:sym typeface="Symbol" panose="05050102010706020507" pitchFamily="18" charset="2"/>
              </a:rPr>
              <a:t>, … </a:t>
            </a:r>
            <a:r>
              <a:rPr lang="en-US" altLang="en-US" sz="1700" i="1" dirty="0" err="1">
                <a:sym typeface="Symbol" panose="05050102010706020507" pitchFamily="18" charset="2"/>
              </a:rPr>
              <a:t>e</a:t>
            </a:r>
            <a:r>
              <a:rPr lang="en-US" altLang="en-US" sz="17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1700" dirty="0">
                <a:sym typeface="Symbol" panose="05050102010706020507" pitchFamily="18" charset="2"/>
              </a:rPr>
              <a:t>) |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1</a:t>
            </a:r>
            <a:r>
              <a:rPr lang="en-US" altLang="en-US" sz="1700" dirty="0">
                <a:sym typeface="Symbol" panose="05050102010706020507" pitchFamily="18" charset="2"/>
              </a:rPr>
              <a:t>  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1</a:t>
            </a:r>
            <a:r>
              <a:rPr lang="en-US" altLang="en-US" sz="1700" dirty="0">
                <a:sym typeface="Symbol" panose="05050102010706020507" pitchFamily="18" charset="2"/>
              </a:rPr>
              <a:t>,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2</a:t>
            </a:r>
            <a:r>
              <a:rPr lang="en-US" altLang="en-US" sz="1700" dirty="0">
                <a:sym typeface="Symbol" panose="05050102010706020507" pitchFamily="18" charset="2"/>
              </a:rPr>
              <a:t>  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2</a:t>
            </a:r>
            <a:r>
              <a:rPr lang="en-US" altLang="en-US" sz="1700" dirty="0">
                <a:sym typeface="Symbol" panose="05050102010706020507" pitchFamily="18" charset="2"/>
              </a:rPr>
              <a:t>, …, </a:t>
            </a:r>
            <a:r>
              <a:rPr lang="en-US" altLang="en-US" sz="1700" i="1" dirty="0" err="1">
                <a:sym typeface="Symbol" panose="05050102010706020507" pitchFamily="18" charset="2"/>
              </a:rPr>
              <a:t>e</a:t>
            </a:r>
            <a:r>
              <a:rPr lang="en-US" altLang="en-US" sz="17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1700" dirty="0">
                <a:sym typeface="Symbol" panose="05050102010706020507" pitchFamily="18" charset="2"/>
              </a:rPr>
              <a:t>   </a:t>
            </a:r>
            <a:r>
              <a:rPr lang="en-US" altLang="en-US" sz="1700" i="1" dirty="0" err="1">
                <a:sym typeface="Symbol" panose="05050102010706020507" pitchFamily="18" charset="2"/>
              </a:rPr>
              <a:t>E</a:t>
            </a:r>
            <a:r>
              <a:rPr lang="en-US" altLang="en-US" sz="17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1700" dirty="0">
                <a:sym typeface="Symbol" panose="05050102010706020507" pitchFamily="18" charset="2"/>
              </a:rPr>
              <a:t>}</a:t>
            </a:r>
            <a:br>
              <a:rPr lang="en-US" altLang="en-US" sz="1700" dirty="0">
                <a:sym typeface="Symbol" panose="05050102010706020507" pitchFamily="18" charset="2"/>
              </a:rPr>
            </a:b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where (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1</a:t>
            </a:r>
            <a:r>
              <a:rPr lang="en-US" altLang="en-US" sz="1700" dirty="0">
                <a:sym typeface="Symbol" panose="05050102010706020507" pitchFamily="18" charset="2"/>
              </a:rPr>
              <a:t>,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baseline="-25000" dirty="0">
                <a:sym typeface="Symbol" panose="05050102010706020507" pitchFamily="18" charset="2"/>
              </a:rPr>
              <a:t>2</a:t>
            </a:r>
            <a:r>
              <a:rPr lang="en-US" altLang="en-US" sz="1700" dirty="0">
                <a:sym typeface="Symbol" panose="05050102010706020507" pitchFamily="18" charset="2"/>
              </a:rPr>
              <a:t>, …, </a:t>
            </a:r>
            <a:r>
              <a:rPr lang="en-US" altLang="en-US" sz="1700" i="1" dirty="0" err="1">
                <a:sym typeface="Symbol" panose="05050102010706020507" pitchFamily="18" charset="2"/>
              </a:rPr>
              <a:t>e</a:t>
            </a:r>
            <a:r>
              <a:rPr lang="en-US" altLang="en-US" sz="17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1700" dirty="0">
                <a:sym typeface="Symbol" panose="05050102010706020507" pitchFamily="18" charset="2"/>
              </a:rPr>
              <a:t>) is a relationship</a:t>
            </a:r>
          </a:p>
          <a:p>
            <a:pPr lvl="1"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  <a:sym typeface="Symbol" panose="05050102010706020507" pitchFamily="18" charset="2"/>
              </a:rPr>
              <a:t>Example: </a:t>
            </a:r>
          </a:p>
          <a:p>
            <a:pPr lvl="1">
              <a:buFont typeface="Monotype Sorts" charset="2"/>
              <a:buNone/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  <a:sym typeface="Symbol" panose="05050102010706020507" pitchFamily="18" charset="2"/>
              </a:rPr>
              <a:t>		        (44553,22222)  </a:t>
            </a:r>
            <a:r>
              <a:rPr lang="en-US" altLang="en-US" sz="1700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advisor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85725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Relationship Sets (Cont.)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781235" y="1109663"/>
            <a:ext cx="7521391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57200" indent="-4572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Example: we define the relationship set  </a:t>
            </a:r>
            <a:r>
              <a:rPr kumimoji="1" lang="en-US" altLang="en-US" sz="1700" i="1" dirty="0"/>
              <a:t>advisor</a:t>
            </a:r>
            <a:r>
              <a:rPr kumimoji="1" lang="en-US" altLang="en-US" sz="1700" dirty="0"/>
              <a:t> to denote the associations between students and the instructors who act as their advisors.</a:t>
            </a:r>
          </a:p>
          <a:p>
            <a:pPr marL="457200" indent="-4572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Pictorially, we draw a line between related entities.</a:t>
            </a:r>
          </a:p>
          <a:p>
            <a:pPr>
              <a:spcBef>
                <a:spcPct val="35000"/>
              </a:spcBef>
              <a:buClr>
                <a:schemeClr val="tx2"/>
              </a:buClr>
              <a:buSzPct val="110000"/>
              <a:buFont typeface="Monotype Sorts" charset="2"/>
              <a:buChar char="n"/>
            </a:pPr>
            <a:endParaRPr kumimoji="1" lang="en-US" altLang="en-US" sz="1700" dirty="0"/>
          </a:p>
        </p:txBody>
      </p:sp>
      <p:pic>
        <p:nvPicPr>
          <p:cNvPr id="1741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184" y="2488483"/>
            <a:ext cx="4967024" cy="2756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793750" y="85725"/>
            <a:ext cx="8350250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Relationship  Sets via ER Diagrams 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823595" y="1205034"/>
            <a:ext cx="749681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Diamonds represent relationship sets.</a:t>
            </a:r>
          </a:p>
        </p:txBody>
      </p:sp>
      <p:pic>
        <p:nvPicPr>
          <p:cNvPr id="1843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207" y="2012264"/>
            <a:ext cx="4804855" cy="982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Relationship Sets (Cont.)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21047" cy="1250759"/>
          </a:xfrm>
        </p:spPr>
        <p:txBody>
          <a:bodyPr/>
          <a:lstStyle/>
          <a:p>
            <a:r>
              <a:rPr lang="en-US" altLang="en-US" sz="1700" dirty="0"/>
              <a:t>An attribute can also be associated with a relationship set.</a:t>
            </a:r>
          </a:p>
          <a:p>
            <a:r>
              <a:rPr lang="en-US" altLang="en-US" sz="1700" dirty="0"/>
              <a:t>For instance, the </a:t>
            </a:r>
            <a:r>
              <a:rPr lang="en-US" altLang="en-US" sz="1700" i="1" dirty="0"/>
              <a:t>advisor </a:t>
            </a:r>
            <a:r>
              <a:rPr lang="en-US" altLang="en-US" sz="1700" dirty="0"/>
              <a:t>relationship set between entity sets </a:t>
            </a:r>
            <a:r>
              <a:rPr lang="en-US" altLang="en-US" sz="1700" i="1" dirty="0"/>
              <a:t>instructor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student </a:t>
            </a:r>
            <a:r>
              <a:rPr lang="en-US" altLang="en-US" sz="1700" dirty="0"/>
              <a:t>may have the attribute </a:t>
            </a:r>
            <a:r>
              <a:rPr lang="en-US" altLang="en-US" sz="1700" i="1" dirty="0"/>
              <a:t>date </a:t>
            </a:r>
            <a:r>
              <a:rPr lang="en-US" altLang="en-US" sz="1700" dirty="0"/>
              <a:t>which tracks when the student started being associated with the advisor</a:t>
            </a:r>
          </a:p>
        </p:txBody>
      </p:sp>
      <p:pic>
        <p:nvPicPr>
          <p:cNvPr id="1946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745" y="2511552"/>
            <a:ext cx="5298478" cy="2513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Relationship Sets with Attributes</a:t>
            </a:r>
          </a:p>
        </p:txBody>
      </p:sp>
      <p:pic>
        <p:nvPicPr>
          <p:cNvPr id="2048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587500"/>
            <a:ext cx="6932613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Roles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1349"/>
            <a:ext cx="7888097" cy="1476375"/>
          </a:xfrm>
        </p:spPr>
        <p:txBody>
          <a:bodyPr/>
          <a:lstStyle/>
          <a:p>
            <a:r>
              <a:rPr kumimoji="0" lang="en-US" altLang="en-US" sz="1700" dirty="0"/>
              <a:t>Entity sets of a relationship need not be distinct</a:t>
            </a:r>
          </a:p>
          <a:p>
            <a:pPr lvl="1"/>
            <a:r>
              <a:rPr kumimoji="0" lang="en-US" altLang="en-US" sz="1700" dirty="0">
                <a:ea typeface="ＭＳ Ｐゴシック" panose="020B0600070205080204" pitchFamily="34" charset="-128"/>
              </a:rPr>
              <a:t>Each occurrence of an entity set plays a “role” in the relationship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r>
              <a:rPr lang="en-US" altLang="en-US" sz="1700" dirty="0"/>
              <a:t>The labels “</a:t>
            </a:r>
            <a:r>
              <a:rPr lang="en-US" altLang="ja-JP" sz="1700" i="1" dirty="0" err="1"/>
              <a:t>course_id</a:t>
            </a:r>
            <a:r>
              <a:rPr lang="en-US" altLang="en-US" sz="1700" dirty="0"/>
              <a:t>”</a:t>
            </a:r>
            <a:r>
              <a:rPr lang="en-US" altLang="ja-JP" sz="1700" dirty="0"/>
              <a:t> and </a:t>
            </a:r>
            <a:r>
              <a:rPr lang="en-US" altLang="en-US" sz="1700" dirty="0"/>
              <a:t>“</a:t>
            </a:r>
            <a:r>
              <a:rPr lang="en-US" altLang="ja-JP" sz="1700" i="1" dirty="0" err="1"/>
              <a:t>prereq_id</a:t>
            </a:r>
            <a:r>
              <a:rPr lang="en-US" altLang="en-US" sz="1700" dirty="0"/>
              <a:t>”</a:t>
            </a:r>
            <a:r>
              <a:rPr lang="en-US" altLang="ja-JP" sz="1700" dirty="0"/>
              <a:t> are called </a:t>
            </a:r>
            <a:r>
              <a:rPr lang="en-US" altLang="ja-JP" sz="1700" b="1" dirty="0">
                <a:solidFill>
                  <a:srgbClr val="002060"/>
                </a:solidFill>
              </a:rPr>
              <a:t>roles</a:t>
            </a:r>
            <a:r>
              <a:rPr lang="en-US" altLang="ja-JP" sz="1700" dirty="0"/>
              <a:t>.</a:t>
            </a:r>
            <a:r>
              <a:rPr lang="zh-TW" altLang="en-US" sz="1700" dirty="0"/>
              <a:t> </a:t>
            </a:r>
            <a:r>
              <a:rPr lang="en-US" altLang="zh-TW" sz="1700" dirty="0"/>
              <a:t>They are optional.</a:t>
            </a:r>
            <a:endParaRPr lang="en-US" altLang="en-US" sz="1700" dirty="0"/>
          </a:p>
        </p:txBody>
      </p:sp>
      <p:pic>
        <p:nvPicPr>
          <p:cNvPr id="21508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520" y="2478346"/>
            <a:ext cx="5139204" cy="1516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Degree of a Relationship Set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413" y="1207929"/>
            <a:ext cx="7558787" cy="3783012"/>
          </a:xfrm>
        </p:spPr>
        <p:txBody>
          <a:bodyPr/>
          <a:lstStyle/>
          <a:p>
            <a:r>
              <a:rPr lang="en-US" altLang="en-US" sz="1700" dirty="0"/>
              <a:t>Binary relationship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involve two entity sets (or degree two). </a:t>
            </a:r>
          </a:p>
          <a:p>
            <a:r>
              <a:rPr lang="en-US" altLang="zh-TW" dirty="0"/>
              <a:t>Ternary</a:t>
            </a:r>
            <a:r>
              <a:rPr lang="en-US" altLang="en-US" dirty="0"/>
              <a:t> relationship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involve three entity sets (or degree three). </a:t>
            </a:r>
            <a:endParaRPr lang="en-US" altLang="en-US" sz="1700" dirty="0"/>
          </a:p>
          <a:p>
            <a:r>
              <a:rPr lang="en-US" altLang="en-US" sz="1700" dirty="0"/>
              <a:t>Relationships between more than two entity sets are rare.  Most relationships are binary.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53975"/>
            <a:ext cx="84963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Non-binary Relationship Sets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0366" y="920505"/>
            <a:ext cx="7634796" cy="1680845"/>
          </a:xfrm>
        </p:spPr>
        <p:txBody>
          <a:bodyPr/>
          <a:lstStyle/>
          <a:p>
            <a:r>
              <a:rPr lang="en-US" altLang="en-US" sz="1700" dirty="0"/>
              <a:t>There are  occasions when it is more convenient to represent relationships as non-binary.</a:t>
            </a:r>
          </a:p>
          <a:p>
            <a:pPr lvl="1">
              <a:buClr>
                <a:srgbClr val="FF9933"/>
              </a:buClr>
            </a:pPr>
            <a:r>
              <a:rPr lang="en-US" altLang="en-US" dirty="0">
                <a:ea typeface="ＭＳ Ｐゴシック" panose="020B0600070205080204" pitchFamily="34" charset="-128"/>
              </a:rPr>
              <a:t>Example: </a:t>
            </a:r>
            <a:r>
              <a:rPr lang="en-US" altLang="en-US" i="1" dirty="0">
                <a:ea typeface="ＭＳ Ｐゴシック" panose="020B0600070205080204" pitchFamily="34" charset="-128"/>
              </a:rPr>
              <a:t>students</a:t>
            </a:r>
            <a:r>
              <a:rPr lang="en-US" altLang="en-US" dirty="0">
                <a:ea typeface="ＭＳ Ｐゴシック" panose="020B0600070205080204" pitchFamily="34" charset="-128"/>
              </a:rPr>
              <a:t> work on research </a:t>
            </a:r>
            <a:r>
              <a:rPr lang="en-US" altLang="en-US" i="1" dirty="0">
                <a:ea typeface="ＭＳ Ｐゴシック" panose="020B0600070205080204" pitchFamily="34" charset="-128"/>
              </a:rPr>
              <a:t>projects</a:t>
            </a:r>
            <a:r>
              <a:rPr lang="en-US" altLang="en-US" dirty="0">
                <a:ea typeface="ＭＳ Ｐゴシック" panose="020B0600070205080204" pitchFamily="34" charset="-128"/>
              </a:rPr>
              <a:t> under the guidance of an </a:t>
            </a:r>
            <a:r>
              <a:rPr lang="en-US" altLang="en-US" i="1" dirty="0">
                <a:ea typeface="ＭＳ Ｐゴシック" panose="020B0600070205080204" pitchFamily="34" charset="-128"/>
              </a:rPr>
              <a:t>instructor</a:t>
            </a:r>
            <a:r>
              <a:rPr lang="en-US" altLang="en-US" dirty="0">
                <a:ea typeface="ＭＳ Ｐゴシック" panose="020B0600070205080204" pitchFamily="34" charset="-128"/>
              </a:rPr>
              <a:t>. </a:t>
            </a:r>
          </a:p>
          <a:p>
            <a:pPr lvl="1">
              <a:buClr>
                <a:srgbClr val="FF9933"/>
              </a:buClr>
            </a:pPr>
            <a:r>
              <a:rPr lang="en-US" altLang="en-US" dirty="0">
                <a:ea typeface="ＭＳ Ｐゴシック" panose="020B0600070205080204" pitchFamily="34" charset="-128"/>
              </a:rPr>
              <a:t>relationship </a:t>
            </a:r>
            <a:r>
              <a:rPr lang="en-US" altLang="en-US" i="1" dirty="0" err="1">
                <a:ea typeface="ＭＳ Ｐゴシック" panose="020B0600070205080204" pitchFamily="34" charset="-128"/>
              </a:rPr>
              <a:t>proj_guide</a:t>
            </a:r>
            <a:r>
              <a:rPr lang="en-US" altLang="en-US" dirty="0">
                <a:ea typeface="ＭＳ Ｐゴシック" panose="020B0600070205080204" pitchFamily="34" charset="-128"/>
              </a:rPr>
              <a:t> is a ternary relationship between </a:t>
            </a:r>
            <a:r>
              <a:rPr lang="en-US" altLang="en-US" i="1" dirty="0">
                <a:ea typeface="ＭＳ Ｐゴシック" panose="020B0600070205080204" pitchFamily="34" charset="-128"/>
              </a:rPr>
              <a:t>instructor, student, </a:t>
            </a:r>
            <a:r>
              <a:rPr lang="en-US" altLang="en-US" dirty="0">
                <a:ea typeface="ＭＳ Ｐゴシック" panose="020B0600070205080204" pitchFamily="34" charset="-128"/>
              </a:rPr>
              <a:t>and </a:t>
            </a:r>
            <a:r>
              <a:rPr lang="en-US" altLang="en-US" i="1" dirty="0">
                <a:ea typeface="ＭＳ Ｐゴシック" panose="020B0600070205080204" pitchFamily="34" charset="-128"/>
              </a:rPr>
              <a:t>project</a:t>
            </a:r>
            <a:endParaRPr kumimoji="0" lang="en-US" altLang="en-US" dirty="0">
              <a:ea typeface="ＭＳ Ｐゴシック" panose="020B0600070205080204" pitchFamily="34" charset="-128"/>
            </a:endParaRPr>
          </a:p>
          <a:p>
            <a:r>
              <a:rPr lang="zh-TW" altLang="en-US" dirty="0">
                <a:ea typeface="ＭＳ Ｐゴシック" panose="020B0600070205080204" pitchFamily="34" charset="-128"/>
              </a:rPr>
              <a:t>示意圖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sz="1700" dirty="0"/>
          </a:p>
          <a:p>
            <a:endParaRPr lang="en-US" altLang="en-US" sz="1700" dirty="0"/>
          </a:p>
          <a:p>
            <a:r>
              <a:rPr lang="en-US" altLang="en-US" sz="1700" dirty="0"/>
              <a:t>E-R Diagram with a Ternary Relationship</a:t>
            </a:r>
          </a:p>
          <a:p>
            <a:endParaRPr lang="en-US" altLang="en-US" sz="1700" dirty="0"/>
          </a:p>
          <a:p>
            <a:endParaRPr lang="en-US" altLang="en-US" sz="1700" dirty="0"/>
          </a:p>
        </p:txBody>
      </p:sp>
      <p:pic>
        <p:nvPicPr>
          <p:cNvPr id="23556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088" y="4251325"/>
            <a:ext cx="5098159" cy="1963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83C25BCE-9760-4019-837A-22CE02518369}"/>
              </a:ext>
            </a:extLst>
          </p:cNvPr>
          <p:cNvGrpSpPr/>
          <p:nvPr/>
        </p:nvGrpSpPr>
        <p:grpSpPr>
          <a:xfrm>
            <a:off x="2902744" y="2663544"/>
            <a:ext cx="3338512" cy="1031875"/>
            <a:chOff x="2496376" y="4395629"/>
            <a:chExt cx="3338512" cy="103187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10CB0BF-AEFF-4096-B0B9-CFF7DF0976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376" y="4933791"/>
              <a:ext cx="900112" cy="493713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TW"/>
                <a:t>Crick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TW"/>
                <a:t>Katz</a:t>
              </a:r>
              <a:endParaRPr kumimoji="0"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2A5E224-19DB-4072-8309-B00B7B95F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663" y="4990941"/>
              <a:ext cx="1292225" cy="40640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TW"/>
                <a:t>     Tanaka</a:t>
              </a:r>
              <a:endParaRPr kumimoji="0"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4D77D5B-BECA-4740-87AC-CBC543BEB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8426" y="4395629"/>
              <a:ext cx="593725" cy="493712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2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TW" dirty="0"/>
                <a:t>P1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TW" dirty="0"/>
                <a:t>P2</a:t>
              </a:r>
              <a:endParaRPr kumimoji="0" lang="zh-TW" altLang="en-US" dirty="0"/>
            </a:p>
          </p:txBody>
        </p:sp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C1D5BDF8-E711-43EF-847F-5178FF948E5A}"/>
                </a:ext>
              </a:extLst>
            </p:cNvPr>
            <p:cNvCxnSpPr/>
            <p:nvPr/>
          </p:nvCxnSpPr>
          <p:spPr bwMode="auto">
            <a:xfrm rot="10800000">
              <a:off x="3134551" y="5092541"/>
              <a:ext cx="1684337" cy="7302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7212C802-3B43-4016-B843-C35076E03C55}"/>
                </a:ext>
              </a:extLst>
            </p:cNvPr>
            <p:cNvCxnSpPr>
              <a:endCxn id="7" idx="1"/>
            </p:cNvCxnSpPr>
            <p:nvPr/>
          </p:nvCxnSpPr>
          <p:spPr bwMode="auto">
            <a:xfrm flipV="1">
              <a:off x="3150426" y="4643279"/>
              <a:ext cx="508000" cy="42068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40D05756-029B-4B0B-8883-8778E64BD515}"/>
                </a:ext>
              </a:extLst>
            </p:cNvPr>
            <p:cNvCxnSpPr>
              <a:stCxn id="7" idx="3"/>
            </p:cNvCxnSpPr>
            <p:nvPr/>
          </p:nvCxnSpPr>
          <p:spPr bwMode="auto">
            <a:xfrm>
              <a:off x="4252151" y="4643279"/>
              <a:ext cx="581025" cy="5080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C0DF83B0-FF6E-4E8C-ADFE-0E9C6D0FAAF5}"/>
                </a:ext>
              </a:extLst>
            </p:cNvPr>
            <p:cNvCxnSpPr/>
            <p:nvPr/>
          </p:nvCxnSpPr>
          <p:spPr bwMode="auto">
            <a:xfrm rot="10800000" flipV="1">
              <a:off x="3164713" y="5179854"/>
              <a:ext cx="1654175" cy="17462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CD166AE6-260E-4D40-8EB0-FA0CFE355468}"/>
                </a:ext>
              </a:extLst>
            </p:cNvPr>
            <p:cNvCxnSpPr/>
            <p:nvPr/>
          </p:nvCxnSpPr>
          <p:spPr bwMode="auto">
            <a:xfrm rot="5400000" flipH="1" flipV="1">
              <a:off x="3186145" y="4839335"/>
              <a:ext cx="508000" cy="46513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C3DB2DA0-4688-498F-807A-AFB0D42216F0}"/>
                </a:ext>
              </a:extLst>
            </p:cNvPr>
            <p:cNvCxnSpPr/>
            <p:nvPr/>
          </p:nvCxnSpPr>
          <p:spPr bwMode="auto">
            <a:xfrm rot="10800000">
              <a:off x="4282313" y="4802029"/>
              <a:ext cx="550863" cy="36353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Complex Attributes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8"/>
            <a:ext cx="7753859" cy="3335210"/>
          </a:xfrm>
        </p:spPr>
        <p:txBody>
          <a:bodyPr/>
          <a:lstStyle/>
          <a:p>
            <a:r>
              <a:rPr lang="en-US" altLang="en-US" sz="1700" dirty="0"/>
              <a:t>Attribute types: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Simple</a:t>
            </a:r>
            <a:r>
              <a:rPr lang="en-US" altLang="en-US" sz="1700" dirty="0">
                <a:ea typeface="ＭＳ Ｐゴシック" panose="020B0600070205080204" pitchFamily="34" charset="-128"/>
              </a:rPr>
              <a:t> and </a:t>
            </a:r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composite</a:t>
            </a:r>
            <a:r>
              <a:rPr lang="en-US" altLang="en-US" sz="1700" dirty="0">
                <a:ea typeface="ＭＳ Ｐゴシック" panose="020B0600070205080204" pitchFamily="34" charset="-128"/>
              </a:rPr>
              <a:t> attributes.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Single-valued</a:t>
            </a:r>
            <a:r>
              <a:rPr lang="en-US" altLang="en-US" sz="1700" dirty="0">
                <a:ea typeface="ＭＳ Ｐゴシック" panose="020B0600070205080204" pitchFamily="34" charset="-128"/>
              </a:rPr>
              <a:t> and </a:t>
            </a:r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multivalued</a:t>
            </a:r>
            <a:r>
              <a:rPr lang="en-US" altLang="en-US" sz="1700" dirty="0">
                <a:ea typeface="ＭＳ Ｐゴシック" panose="020B0600070205080204" pitchFamily="34" charset="-128"/>
              </a:rPr>
              <a:t> attributes</a:t>
            </a:r>
          </a:p>
          <a:p>
            <a:pPr lvl="2"/>
            <a:r>
              <a:rPr lang="en-US" altLang="en-US" sz="1700" dirty="0">
                <a:ea typeface="ＭＳ Ｐゴシック" panose="020B0600070205080204" pitchFamily="34" charset="-128"/>
              </a:rPr>
              <a:t>Example: multivalued attribute: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phone_numbers</a:t>
            </a:r>
            <a:endParaRPr lang="en-US" altLang="en-US" sz="1700" i="1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Derived</a:t>
            </a:r>
            <a:r>
              <a:rPr lang="en-US" altLang="en-US" sz="1700" dirty="0">
                <a:ea typeface="ＭＳ Ｐゴシック" panose="020B0600070205080204" pitchFamily="34" charset="-128"/>
              </a:rPr>
              <a:t> attributes</a:t>
            </a:r>
          </a:p>
          <a:p>
            <a:pPr lvl="2"/>
            <a:r>
              <a:rPr lang="en-US" altLang="en-US" sz="1700" dirty="0">
                <a:ea typeface="ＭＳ Ｐゴシック" panose="020B0600070205080204" pitchFamily="34" charset="-128"/>
              </a:rPr>
              <a:t>Can be computed from other attributes</a:t>
            </a:r>
          </a:p>
          <a:p>
            <a:pPr lvl="2"/>
            <a:r>
              <a:rPr lang="en-US" altLang="en-US" sz="1700" dirty="0">
                <a:ea typeface="ＭＳ Ｐゴシック" panose="020B0600070205080204" pitchFamily="34" charset="-128"/>
              </a:rPr>
              <a:t>Example:  age, given </a:t>
            </a:r>
            <a:r>
              <a:rPr lang="en-US" altLang="en-US" sz="1700" dirty="0" err="1">
                <a:ea typeface="ＭＳ Ｐゴシック" panose="020B0600070205080204" pitchFamily="34" charset="-128"/>
              </a:rPr>
              <a:t>date_of_birth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r>
              <a:rPr lang="en-US" altLang="en-US" sz="1700" b="1" dirty="0">
                <a:solidFill>
                  <a:srgbClr val="002060"/>
                </a:solidFill>
              </a:rPr>
              <a:t>Domain</a:t>
            </a:r>
            <a:r>
              <a:rPr lang="en-US" altLang="en-US" sz="1700" dirty="0"/>
              <a:t> – the set of permitted values for each attribute 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Composite Attributes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8"/>
            <a:ext cx="7558786" cy="901700"/>
          </a:xfrm>
        </p:spPr>
        <p:txBody>
          <a:bodyPr/>
          <a:lstStyle/>
          <a:p>
            <a:r>
              <a:rPr lang="en-US" altLang="en-US" sz="1700" dirty="0"/>
              <a:t>Composite attributes allow us to divided attributes  into subparts (other attributes).</a:t>
            </a:r>
          </a:p>
        </p:txBody>
      </p:sp>
      <p:pic>
        <p:nvPicPr>
          <p:cNvPr id="2560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71" y="2224571"/>
            <a:ext cx="7829057" cy="2408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3480" y="73025"/>
            <a:ext cx="8158578" cy="639763"/>
          </a:xfrm>
        </p:spPr>
        <p:txBody>
          <a:bodyPr/>
          <a:lstStyle/>
          <a:p>
            <a:pPr>
              <a:defRPr/>
            </a:pPr>
            <a:r>
              <a:rPr lang="en-US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Complex Attributes  in ER Diagram</a:t>
            </a:r>
          </a:p>
        </p:txBody>
      </p:sp>
      <p:pic>
        <p:nvPicPr>
          <p:cNvPr id="2662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0" y="1268413"/>
            <a:ext cx="1916113" cy="4060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Mapping Cardinality Constraints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612170" cy="4114800"/>
          </a:xfrm>
        </p:spPr>
        <p:txBody>
          <a:bodyPr/>
          <a:lstStyle/>
          <a:p>
            <a:r>
              <a:rPr lang="en-US" altLang="en-US" sz="1700" dirty="0"/>
              <a:t>Express the number of entities to which another entity can be associated via a relationship set.</a:t>
            </a:r>
          </a:p>
          <a:p>
            <a:r>
              <a:rPr lang="zh-TW" altLang="en-US" dirty="0"/>
              <a:t>表達數量對應的限制，如限制一個學生可以修多少門課</a:t>
            </a:r>
            <a:endParaRPr lang="en-US" altLang="en-US" sz="1700" dirty="0"/>
          </a:p>
          <a:p>
            <a:r>
              <a:rPr lang="en-US" altLang="en-US" sz="1700" dirty="0"/>
              <a:t>Most useful in describing binary relationship sets.</a:t>
            </a:r>
          </a:p>
          <a:p>
            <a:r>
              <a:rPr lang="en-US" altLang="en-US" sz="1700" dirty="0"/>
              <a:t>For a binary relationship set the mapping cardinality must be one of the following types: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One to one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One to many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Many to one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Many to many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Mapping Cardinalities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2529459" y="4675886"/>
            <a:ext cx="1416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One to one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6265696" y="4679855"/>
            <a:ext cx="14874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One to many</a:t>
            </a: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1488821" y="5267579"/>
            <a:ext cx="606929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kumimoji="1" lang="en-US" altLang="en-US" sz="1700" dirty="0"/>
              <a:t>Note: Some elements in </a:t>
            </a:r>
            <a:r>
              <a:rPr kumimoji="1" lang="en-US" altLang="en-US" sz="1700" i="1" dirty="0"/>
              <a:t>A</a:t>
            </a:r>
            <a:r>
              <a:rPr kumimoji="1" lang="en-US" altLang="en-US" sz="1700" dirty="0"/>
              <a:t> and </a:t>
            </a:r>
            <a:r>
              <a:rPr kumimoji="1" lang="en-US" altLang="en-US" sz="1700" i="1" dirty="0"/>
              <a:t>B</a:t>
            </a:r>
            <a:r>
              <a:rPr kumimoji="1" lang="en-US" altLang="en-US" sz="1700" dirty="0"/>
              <a:t> may not be mapped to any </a:t>
            </a:r>
          </a:p>
          <a:p>
            <a:r>
              <a:rPr kumimoji="1" lang="en-US" altLang="en-US" sz="1700" dirty="0"/>
              <a:t>elements in the other set</a:t>
            </a:r>
          </a:p>
        </p:txBody>
      </p:sp>
      <p:pic>
        <p:nvPicPr>
          <p:cNvPr id="28678" name="Picture 7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0" y="1389379"/>
            <a:ext cx="5939028" cy="3025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840865" y="856969"/>
            <a:ext cx="25193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/>
              <a:t>男性  </a:t>
            </a:r>
            <a:r>
              <a:rPr lang="zh-TW" altLang="en-US" sz="2000" i="1" dirty="0"/>
              <a:t>夫妻關係  </a:t>
            </a:r>
            <a:r>
              <a:rPr lang="zh-TW" altLang="en-US" sz="2000" dirty="0"/>
              <a:t>女性</a:t>
            </a:r>
            <a:endParaRPr lang="en-US" altLang="zh-TW" sz="2000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660427" y="856969"/>
            <a:ext cx="25193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/>
              <a:t>車主  </a:t>
            </a:r>
            <a:r>
              <a:rPr lang="zh-TW" altLang="en-US" sz="2000" i="1"/>
              <a:t>擁有關係  </a:t>
            </a:r>
            <a:r>
              <a:rPr lang="zh-TW" altLang="en-US" sz="2000"/>
              <a:t>車子</a:t>
            </a:r>
            <a:endParaRPr lang="en-US" altLang="zh-TW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Mapping Cardinalities 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2284921" y="4593781"/>
            <a:ext cx="1689671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Many to one</a:t>
            </a: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5962206" y="4632452"/>
            <a:ext cx="1609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Many to many</a:t>
            </a: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1507109" y="5126038"/>
            <a:ext cx="604518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kumimoji="1" lang="en-US" altLang="en-US" sz="1700" dirty="0"/>
              <a:t>Note: Some elements in A and B may not be mapped to any </a:t>
            </a:r>
          </a:p>
          <a:p>
            <a:r>
              <a:rPr kumimoji="1" lang="en-US" altLang="en-US" sz="1700" dirty="0"/>
              <a:t>elements in the other set</a:t>
            </a:r>
          </a:p>
        </p:txBody>
      </p:sp>
      <p:pic>
        <p:nvPicPr>
          <p:cNvPr id="29702" name="Picture 7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1277156"/>
            <a:ext cx="5851524" cy="3053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507386" y="924719"/>
            <a:ext cx="25193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/>
              <a:t>學生  </a:t>
            </a:r>
            <a:r>
              <a:rPr lang="zh-TW" altLang="en-US" sz="2000" i="1" dirty="0"/>
              <a:t>修課關係  </a:t>
            </a:r>
            <a:r>
              <a:rPr lang="zh-TW" altLang="en-US" sz="2000" dirty="0"/>
              <a:t>課程</a:t>
            </a:r>
            <a:endParaRPr lang="en-US" altLang="zh-TW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Cardinality Constraints in ER Diagram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3475"/>
            <a:ext cx="7647681" cy="27447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We express cardinality constraints by drawing either a directed line (</a:t>
            </a:r>
            <a:r>
              <a:rPr lang="en-US" altLang="en-US" sz="1700" dirty="0">
                <a:sym typeface="Symbol" panose="05050102010706020507" pitchFamily="18" charset="2"/>
              </a:rPr>
              <a:t>), signifying “one,” or an undirected line (—), signifying “many,” between the relationship set and the entity set.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sz="8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1700" dirty="0"/>
              <a:t>One-to-one relationship between an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a </a:t>
            </a:r>
            <a:r>
              <a:rPr lang="en-US" altLang="en-US" sz="1700" i="1" dirty="0"/>
              <a:t>student </a:t>
            </a:r>
            <a:r>
              <a:rPr lang="en-US" altLang="en-US" sz="1700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A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student</a:t>
            </a:r>
            <a:r>
              <a:rPr lang="en-US" altLang="en-US" sz="1700" dirty="0">
                <a:ea typeface="ＭＳ Ｐゴシック" panose="020B0600070205080204" pitchFamily="34" charset="-128"/>
              </a:rPr>
              <a:t> is associated with </a:t>
            </a:r>
            <a:r>
              <a:rPr lang="en-US" altLang="en-US" sz="1700" b="1" dirty="0">
                <a:ea typeface="ＭＳ Ｐゴシック" panose="020B0600070205080204" pitchFamily="34" charset="-128"/>
              </a:rPr>
              <a:t>at most one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</a:t>
            </a:r>
            <a:r>
              <a:rPr lang="en-US" altLang="en-US" sz="1700" dirty="0">
                <a:ea typeface="ＭＳ Ｐゴシック" panose="020B0600070205080204" pitchFamily="34" charset="-128"/>
              </a:rPr>
              <a:t> via the relationship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advisor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An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</a:t>
            </a:r>
            <a:r>
              <a:rPr lang="en-US" altLang="en-US" sz="1700" dirty="0">
                <a:ea typeface="ＭＳ Ｐゴシック" panose="020B0600070205080204" pitchFamily="34" charset="-128"/>
              </a:rPr>
              <a:t> is associated with </a:t>
            </a:r>
            <a:r>
              <a:rPr lang="en-US" altLang="en-US" sz="1700" b="1" dirty="0">
                <a:ea typeface="ＭＳ Ｐゴシック" panose="020B0600070205080204" pitchFamily="34" charset="-128"/>
              </a:rPr>
              <a:t>at most one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student</a:t>
            </a:r>
            <a:r>
              <a:rPr lang="en-US" altLang="en-US" sz="1700" dirty="0">
                <a:ea typeface="ＭＳ Ｐゴシック" panose="020B0600070205080204" pitchFamily="34" charset="-128"/>
              </a:rPr>
              <a:t> via the relationship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advisor</a:t>
            </a:r>
          </a:p>
          <a:p>
            <a:pPr>
              <a:lnSpc>
                <a:spcPct val="90000"/>
              </a:lnSpc>
            </a:pPr>
            <a:r>
              <a:rPr lang="zh-TW" altLang="en-US" i="1" dirty="0"/>
              <a:t>注意</a:t>
            </a:r>
            <a:r>
              <a:rPr lang="en-US" altLang="zh-TW" i="1" dirty="0"/>
              <a:t>: </a:t>
            </a:r>
            <a:r>
              <a:rPr lang="zh-TW" altLang="en-US" i="1" dirty="0"/>
              <a:t>箭頭指向</a:t>
            </a:r>
            <a:r>
              <a:rPr lang="en-US" altLang="zh-TW" i="1" dirty="0"/>
              <a:t>entity set</a:t>
            </a:r>
          </a:p>
          <a:p>
            <a:pPr>
              <a:lnSpc>
                <a:spcPct val="90000"/>
              </a:lnSpc>
            </a:pPr>
            <a:endParaRPr lang="en-US" altLang="en-US" u="sng" dirty="0">
              <a:ea typeface="ＭＳ Ｐゴシック" panose="020B0600070205080204" pitchFamily="34" charset="-128"/>
            </a:endParaRPr>
          </a:p>
        </p:txBody>
      </p:sp>
      <p:pic>
        <p:nvPicPr>
          <p:cNvPr id="3072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418"/>
          <a:stretch>
            <a:fillRect/>
          </a:stretch>
        </p:blipFill>
        <p:spPr bwMode="auto">
          <a:xfrm>
            <a:off x="1824764" y="4007355"/>
            <a:ext cx="5534851" cy="145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>
          <a:xfrm>
            <a:off x="819150" y="9525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One-to-Many Relationship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481" y="1087438"/>
            <a:ext cx="7643672" cy="1582610"/>
          </a:xfrm>
        </p:spPr>
        <p:txBody>
          <a:bodyPr/>
          <a:lstStyle/>
          <a:p>
            <a:r>
              <a:rPr lang="en-US" altLang="en-US" sz="1700" dirty="0"/>
              <a:t>one-to-many relationship between an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a </a:t>
            </a:r>
            <a:r>
              <a:rPr lang="en-US" altLang="en-US" sz="1700" i="1" dirty="0"/>
              <a:t>student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an instructor is associated with several (including 0) students via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advisor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 student is associated with at most one instructor via advisor </a:t>
            </a:r>
          </a:p>
        </p:txBody>
      </p:sp>
      <p:pic>
        <p:nvPicPr>
          <p:cNvPr id="3174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59" b="44698"/>
          <a:stretch>
            <a:fillRect/>
          </a:stretch>
        </p:blipFill>
        <p:spPr bwMode="auto">
          <a:xfrm>
            <a:off x="2340864" y="2372472"/>
            <a:ext cx="5152400" cy="1497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>
          <a:xfrm>
            <a:off x="852488" y="225425"/>
            <a:ext cx="8113712" cy="4572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Many-to-One Relationships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5724" y="1108012"/>
            <a:ext cx="7752101" cy="1814512"/>
          </a:xfrm>
        </p:spPr>
        <p:txBody>
          <a:bodyPr/>
          <a:lstStyle/>
          <a:p>
            <a:r>
              <a:rPr lang="en-US" altLang="en-US" sz="1700" dirty="0"/>
              <a:t>In a many-to-one relationship between an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a </a:t>
            </a:r>
            <a:r>
              <a:rPr lang="en-US" altLang="en-US" sz="1700" i="1" dirty="0"/>
              <a:t>student,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an instructor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 </a:t>
            </a:r>
            <a:r>
              <a:rPr lang="en-US" altLang="en-US" sz="1700" dirty="0">
                <a:ea typeface="ＭＳ Ｐゴシック" panose="020B0600070205080204" pitchFamily="34" charset="-128"/>
              </a:rPr>
              <a:t> is associated with at most one student via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advisor</a:t>
            </a:r>
            <a:r>
              <a:rPr lang="en-US" altLang="en-US" sz="1700" dirty="0">
                <a:ea typeface="ＭＳ Ｐゴシック" panose="020B0600070205080204" pitchFamily="34" charset="-128"/>
              </a:rPr>
              <a:t>,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and a student is associated with several (including 0) instructors via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advisor</a:t>
            </a:r>
          </a:p>
        </p:txBody>
      </p:sp>
      <p:pic>
        <p:nvPicPr>
          <p:cNvPr id="32772" name="Picture 5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64" b="6378"/>
          <a:stretch>
            <a:fillRect/>
          </a:stretch>
        </p:blipFill>
        <p:spPr bwMode="auto">
          <a:xfrm>
            <a:off x="1999869" y="2532454"/>
            <a:ext cx="5876163" cy="181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Line 6"/>
          <p:cNvSpPr>
            <a:spLocks noChangeShapeType="1"/>
          </p:cNvSpPr>
          <p:nvPr/>
        </p:nvSpPr>
        <p:spPr bwMode="auto">
          <a:xfrm>
            <a:off x="6365544" y="3488695"/>
            <a:ext cx="228600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Many-to-Many Relationship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8"/>
            <a:ext cx="7772972" cy="1546225"/>
          </a:xfrm>
        </p:spPr>
        <p:txBody>
          <a:bodyPr/>
          <a:lstStyle/>
          <a:p>
            <a:r>
              <a:rPr lang="en-US" altLang="en-US" sz="1700" dirty="0"/>
              <a:t>An instructor is associated with several (possibly 0) students via </a:t>
            </a:r>
            <a:r>
              <a:rPr lang="en-US" altLang="en-US" sz="1700" i="1" dirty="0"/>
              <a:t>advisor</a:t>
            </a:r>
          </a:p>
          <a:p>
            <a:r>
              <a:rPr lang="en-US" altLang="en-US" sz="1700" dirty="0"/>
              <a:t>A student is associated with several (possibly 0) instructors via </a:t>
            </a:r>
            <a:r>
              <a:rPr lang="en-US" altLang="en-US" sz="1700" i="1" dirty="0"/>
              <a:t>advisor</a:t>
            </a:r>
            <a:r>
              <a:rPr lang="en-US" altLang="en-US" sz="1700" dirty="0"/>
              <a:t> </a:t>
            </a:r>
          </a:p>
        </p:txBody>
      </p:sp>
      <p:pic>
        <p:nvPicPr>
          <p:cNvPr id="3379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334480"/>
            <a:ext cx="6161088" cy="1260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練習</a:t>
            </a:r>
          </a:p>
        </p:txBody>
      </p:sp>
      <p:sp>
        <p:nvSpPr>
          <p:cNvPr id="3277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Design an E-R diagram</a:t>
            </a:r>
            <a:r>
              <a:rPr lang="zh-TW" altLang="en-US" dirty="0"/>
              <a:t> </a:t>
            </a:r>
            <a:r>
              <a:rPr lang="en-US" altLang="zh-TW" dirty="0"/>
              <a:t>to record the marks (</a:t>
            </a:r>
            <a:r>
              <a:rPr lang="zh-TW" altLang="en-US" dirty="0"/>
              <a:t>分數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that students get in different assignments of different course offerings (sections).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5739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96988" y="233363"/>
            <a:ext cx="7427912" cy="455612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Total and Partial Participation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772357" y="1068642"/>
            <a:ext cx="7762043" cy="457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08585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b="1" dirty="0"/>
              <a:t>Total participation </a:t>
            </a:r>
            <a:r>
              <a:rPr kumimoji="1" lang="en-US" altLang="en-US" sz="1700" dirty="0"/>
              <a:t>(indicated by double line):  every entity in the entity set participates in </a:t>
            </a:r>
            <a:r>
              <a:rPr kumimoji="1" lang="en-US" altLang="en-US" sz="1700" b="1" dirty="0"/>
              <a:t>at least one </a:t>
            </a:r>
            <a:r>
              <a:rPr kumimoji="1" lang="en-US" altLang="en-US" sz="1700" dirty="0"/>
              <a:t>relationship in the relationship set</a:t>
            </a: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1700" dirty="0"/>
          </a:p>
          <a:p>
            <a:pPr lvl="1">
              <a:spcBef>
                <a:spcPct val="35000"/>
              </a:spcBef>
              <a:buClr>
                <a:schemeClr val="hlink"/>
              </a:buClr>
              <a:buSzPct val="80000"/>
            </a:pPr>
            <a:endParaRPr kumimoji="1" lang="en-US" altLang="en-US" sz="1700" dirty="0"/>
          </a:p>
          <a:p>
            <a:pPr lvl="1">
              <a:spcBef>
                <a:spcPct val="35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Example: participation of </a:t>
            </a:r>
            <a:r>
              <a:rPr kumimoji="1" lang="en-US" altLang="en-US" sz="1700" i="1" dirty="0"/>
              <a:t>student  </a:t>
            </a:r>
            <a:r>
              <a:rPr kumimoji="1" lang="en-US" altLang="en-US" sz="1700" dirty="0"/>
              <a:t>in </a:t>
            </a:r>
            <a:r>
              <a:rPr kumimoji="1" lang="en-US" altLang="en-US" sz="1700" i="1" dirty="0"/>
              <a:t>advisor r</a:t>
            </a:r>
            <a:r>
              <a:rPr kumimoji="1" lang="en-US" altLang="en-US" sz="1700" dirty="0"/>
              <a:t>elation is total</a:t>
            </a:r>
          </a:p>
          <a:p>
            <a:pPr marL="1200150" lvl="2" indent="-342900">
              <a:spcBef>
                <a:spcPct val="35000"/>
              </a:spcBef>
              <a:buClr>
                <a:srgbClr val="33CC33"/>
              </a:buClr>
              <a:buSzPct val="9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 every </a:t>
            </a:r>
            <a:r>
              <a:rPr kumimoji="1" lang="en-US" altLang="en-US" sz="1700" i="1" dirty="0"/>
              <a:t>student </a:t>
            </a:r>
            <a:r>
              <a:rPr kumimoji="1" lang="en-US" altLang="en-US" sz="1700" dirty="0"/>
              <a:t>must have an associated instructor</a:t>
            </a:r>
          </a:p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b="1" dirty="0"/>
              <a:t>Partial participation</a:t>
            </a:r>
            <a:r>
              <a:rPr kumimoji="1" lang="en-US" altLang="en-US" sz="1700" dirty="0"/>
              <a:t>:  some entities may not participate in any relationship in the relationship set</a:t>
            </a:r>
          </a:p>
          <a:p>
            <a:pPr marL="800100" lvl="1" indent="-342900">
              <a:spcBef>
                <a:spcPct val="35000"/>
              </a:spcBef>
              <a:buClr>
                <a:schemeClr val="hlink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Example: participation of </a:t>
            </a:r>
            <a:r>
              <a:rPr kumimoji="1" lang="en-US" altLang="en-US" sz="1700" i="1" dirty="0"/>
              <a:t>instructor</a:t>
            </a:r>
            <a:r>
              <a:rPr kumimoji="1" lang="en-US" altLang="en-US" sz="1700" dirty="0"/>
              <a:t> in </a:t>
            </a:r>
            <a:r>
              <a:rPr kumimoji="1" lang="en-US" altLang="en-US" sz="1700" i="1" dirty="0"/>
              <a:t>advisor</a:t>
            </a:r>
            <a:r>
              <a:rPr kumimoji="1" lang="en-US" altLang="en-US" sz="1700" dirty="0"/>
              <a:t> is partial</a:t>
            </a:r>
          </a:p>
        </p:txBody>
      </p:sp>
      <p:pic>
        <p:nvPicPr>
          <p:cNvPr id="34820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231" y="2000875"/>
            <a:ext cx="5513387" cy="108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50" y="38100"/>
            <a:ext cx="8420100" cy="682625"/>
          </a:xfrm>
        </p:spPr>
        <p:txBody>
          <a:bodyPr/>
          <a:lstStyle/>
          <a:p>
            <a:pPr>
              <a:defRPr/>
            </a:pPr>
            <a:r>
              <a:rPr lang="en-US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Notation for Expressing More Complex Constraints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882928" y="808299"/>
            <a:ext cx="7632954" cy="4463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A line may have an associated minimum and maximum cardinality, shown in the form </a:t>
            </a:r>
            <a:r>
              <a:rPr kumimoji="1" lang="en-US" altLang="en-US" sz="1700" i="1" dirty="0" err="1"/>
              <a:t>l..h</a:t>
            </a:r>
            <a:r>
              <a:rPr kumimoji="1" lang="en-US" altLang="en-US" sz="1700" dirty="0"/>
              <a:t>, where </a:t>
            </a:r>
            <a:r>
              <a:rPr kumimoji="1" lang="en-US" altLang="en-US" sz="1700" i="1" dirty="0"/>
              <a:t>l</a:t>
            </a:r>
            <a:r>
              <a:rPr kumimoji="1" lang="en-US" altLang="en-US" sz="1700" dirty="0"/>
              <a:t> is the minimum and </a:t>
            </a:r>
            <a:r>
              <a:rPr kumimoji="1" lang="en-US" altLang="en-US" sz="1700" i="1" dirty="0"/>
              <a:t>h</a:t>
            </a:r>
            <a:r>
              <a:rPr kumimoji="1" lang="en-US" altLang="en-US" sz="1700" dirty="0"/>
              <a:t> the maximum cardinality</a:t>
            </a:r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A minimum value of 1 indicates total participation.</a:t>
            </a:r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A maximum value of 1 indicates that the entity participates  in at most one relationship</a:t>
            </a:r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A maximum value of * indicates no limit.</a:t>
            </a:r>
          </a:p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Example</a:t>
            </a:r>
          </a:p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kumimoji="1" lang="en-US" altLang="en-US" sz="1700" dirty="0"/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Instructor can advise 0 or more students.  A student must have 1 advisor; cannot have multiple advisors. </a:t>
            </a:r>
            <a:r>
              <a:rPr kumimoji="1" lang="zh-TW" altLang="en-US" sz="1700" dirty="0"/>
              <a:t>等同下面的表示法</a:t>
            </a:r>
            <a:r>
              <a:rPr kumimoji="1" lang="en-US" altLang="zh-TW" sz="1700" dirty="0"/>
              <a:t>:</a:t>
            </a: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1700" dirty="0"/>
          </a:p>
        </p:txBody>
      </p:sp>
      <p:pic>
        <p:nvPicPr>
          <p:cNvPr id="3584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185" y="3287975"/>
            <a:ext cx="5392484" cy="1053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線接點 2"/>
          <p:cNvCxnSpPr/>
          <p:nvPr/>
        </p:nvCxnSpPr>
        <p:spPr bwMode="auto">
          <a:xfrm>
            <a:off x="7222695" y="3308414"/>
            <a:ext cx="9144" cy="105156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11"/>
          <p:cNvSpPr>
            <a:spLocks noChangeArrowheads="1"/>
          </p:cNvSpPr>
          <p:nvPr/>
        </p:nvSpPr>
        <p:spPr bwMode="auto">
          <a:xfrm>
            <a:off x="5817679" y="2619439"/>
            <a:ext cx="523875" cy="581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>
                <a:solidFill>
                  <a:srgbClr val="0066CC"/>
                </a:solidFill>
              </a:rPr>
              <a:t>i1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>
                <a:solidFill>
                  <a:srgbClr val="0066CC"/>
                </a:solidFill>
              </a:rPr>
              <a:t>i2</a:t>
            </a:r>
          </a:p>
        </p:txBody>
      </p:sp>
      <p:sp>
        <p:nvSpPr>
          <p:cNvPr id="8" name="Oval 12"/>
          <p:cNvSpPr>
            <a:spLocks noChangeArrowheads="1"/>
          </p:cNvSpPr>
          <p:nvPr/>
        </p:nvSpPr>
        <p:spPr bwMode="auto">
          <a:xfrm>
            <a:off x="7217854" y="2554351"/>
            <a:ext cx="523875" cy="581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dirty="0">
                <a:solidFill>
                  <a:srgbClr val="0066CC"/>
                </a:solidFill>
              </a:rPr>
              <a:t>s1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dirty="0">
                <a:solidFill>
                  <a:srgbClr val="0066CC"/>
                </a:solidFill>
              </a:rPr>
              <a:t>s2</a:t>
            </a:r>
          </a:p>
        </p:txBody>
      </p:sp>
      <p:sp>
        <p:nvSpPr>
          <p:cNvPr id="9" name="Line 13"/>
          <p:cNvSpPr>
            <a:spLocks noChangeShapeType="1"/>
          </p:cNvSpPr>
          <p:nvPr/>
        </p:nvSpPr>
        <p:spPr bwMode="auto">
          <a:xfrm>
            <a:off x="6282816" y="2765489"/>
            <a:ext cx="100171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0" name="Line 14"/>
          <p:cNvSpPr>
            <a:spLocks noChangeShapeType="1"/>
          </p:cNvSpPr>
          <p:nvPr/>
        </p:nvSpPr>
        <p:spPr bwMode="auto">
          <a:xfrm>
            <a:off x="6311391" y="2822639"/>
            <a:ext cx="1016000" cy="2174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59" b="44698"/>
          <a:stretch>
            <a:fillRect/>
          </a:stretch>
        </p:blipFill>
        <p:spPr bwMode="auto">
          <a:xfrm>
            <a:off x="2464841" y="5109634"/>
            <a:ext cx="4318831" cy="1254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 bwMode="auto">
          <a:xfrm flipV="1">
            <a:off x="5249732" y="5852160"/>
            <a:ext cx="567947" cy="215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Primary Key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222375"/>
            <a:ext cx="7647681" cy="3386201"/>
          </a:xfrm>
        </p:spPr>
        <p:txBody>
          <a:bodyPr/>
          <a:lstStyle/>
          <a:p>
            <a:r>
              <a:rPr lang="en-US" altLang="en-US" sz="1700" dirty="0"/>
              <a:t>Primary keys provide a way to specify how entities and  relations are distinguished.  We will consider: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Entity sets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Relationship sets.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Weak entity sets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Primary key for Entity Sets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7925"/>
            <a:ext cx="7534401" cy="3893947"/>
          </a:xfrm>
        </p:spPr>
        <p:txBody>
          <a:bodyPr/>
          <a:lstStyle/>
          <a:p>
            <a:r>
              <a:rPr lang="en-US" altLang="en-US" sz="1700" dirty="0"/>
              <a:t>By definition, individual entities are distinct.</a:t>
            </a:r>
          </a:p>
          <a:p>
            <a:r>
              <a:rPr lang="en-US" altLang="en-US" sz="1700" dirty="0"/>
              <a:t>From database perspective, the differences among them must be expressed in terms of their attributes.</a:t>
            </a:r>
          </a:p>
          <a:p>
            <a:r>
              <a:rPr lang="en-US" altLang="en-US" sz="1700" dirty="0"/>
              <a:t>The attribute values of an entity must be such that they can uniquely identify the entity.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No two entities in an entity set are allowed to have exactly the same value for all attributes.</a:t>
            </a:r>
          </a:p>
          <a:p>
            <a:r>
              <a:rPr lang="en-US" altLang="en-US" sz="1700" dirty="0"/>
              <a:t>A key for an entity is a set of attributes that suffice to distinguish entities from each other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Primary Key for Relationship Sets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3857"/>
            <a:ext cx="7665436" cy="4462272"/>
          </a:xfrm>
        </p:spPr>
        <p:txBody>
          <a:bodyPr/>
          <a:lstStyle/>
          <a:p>
            <a:r>
              <a:rPr lang="en-US" altLang="en-US" sz="1700" dirty="0"/>
              <a:t>To distinguish among the various relationships of a relationship set we use the individual  primary keys of the entities in the relationship set.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Let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R</a:t>
            </a:r>
            <a:r>
              <a:rPr lang="en-US" altLang="en-US" sz="1700" dirty="0">
                <a:ea typeface="ＭＳ Ｐゴシック" panose="020B0600070205080204" pitchFamily="34" charset="-128"/>
              </a:rPr>
              <a:t> be a relationship set involving entity sets E1, E2, .. </a:t>
            </a:r>
            <a:r>
              <a:rPr lang="en-US" altLang="en-US" sz="1700" dirty="0" err="1">
                <a:ea typeface="ＭＳ Ｐゴシック" panose="020B0600070205080204" pitchFamily="34" charset="-128"/>
              </a:rPr>
              <a:t>En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The </a:t>
            </a:r>
            <a:r>
              <a:rPr lang="en-US" altLang="en-US" sz="1700" u="sng" dirty="0" err="1">
                <a:ea typeface="ＭＳ Ｐゴシック" panose="020B0600070205080204" pitchFamily="34" charset="-128"/>
              </a:rPr>
              <a:t>superkey</a:t>
            </a:r>
            <a:r>
              <a:rPr lang="en-US" altLang="en-US" sz="1700" dirty="0">
                <a:ea typeface="ＭＳ Ｐゴシック" panose="020B0600070205080204" pitchFamily="34" charset="-128"/>
              </a:rPr>
              <a:t> for R consists of the union of the primary keys of entity sets E1, E2, ..</a:t>
            </a:r>
            <a:r>
              <a:rPr lang="en-US" altLang="en-US" sz="1700" dirty="0" err="1">
                <a:ea typeface="ＭＳ Ｐゴシック" panose="020B0600070205080204" pitchFamily="34" charset="-128"/>
              </a:rPr>
              <a:t>En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r>
              <a:rPr lang="en-US" altLang="en-US" sz="1700" dirty="0"/>
              <a:t>Example: relationship set “advisor”.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The </a:t>
            </a:r>
            <a:r>
              <a:rPr lang="en-US" altLang="en-US" sz="1700" dirty="0" err="1">
                <a:ea typeface="ＭＳ Ｐゴシック" panose="020B0600070205080204" pitchFamily="34" charset="-128"/>
              </a:rPr>
              <a:t>superkey</a:t>
            </a:r>
            <a:r>
              <a:rPr lang="en-US" altLang="en-US" sz="1700" dirty="0">
                <a:ea typeface="ＭＳ Ｐゴシック" panose="020B0600070205080204" pitchFamily="34" charset="-128"/>
              </a:rPr>
              <a:t>  consists of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inrsructor.ID</a:t>
            </a:r>
            <a:r>
              <a:rPr lang="en-US" altLang="en-US" sz="1700" dirty="0">
                <a:ea typeface="ＭＳ Ｐゴシック" panose="020B0600070205080204" pitchFamily="34" charset="-128"/>
              </a:rPr>
              <a:t> and s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tudent.ID</a:t>
            </a:r>
          </a:p>
          <a:p>
            <a:r>
              <a:rPr lang="en-US" altLang="en-US" sz="1700" dirty="0"/>
              <a:t>The choice of the primary key for a relationship set depends on  the mapping cardinality of the relationship set.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51230" y="1174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Choice of Primary key for Binary Relationship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93869"/>
            <a:ext cx="7741328" cy="5096060"/>
          </a:xfrm>
        </p:spPr>
        <p:txBody>
          <a:bodyPr/>
          <a:lstStyle/>
          <a:p>
            <a:r>
              <a:rPr lang="en-US" altLang="en-US" sz="1700" dirty="0"/>
              <a:t>Many-to-Many relationships.   The preceding union of the primary keys is a minimal superkey and is chosen  as the primary key.</a:t>
            </a:r>
          </a:p>
          <a:p>
            <a:r>
              <a:rPr lang="en-US" altLang="en-US" sz="1700" dirty="0"/>
              <a:t>One-to-Many relationships . The primary key of the “Many” side is a minimal superkey and is used as the primary key.</a:t>
            </a:r>
          </a:p>
          <a:p>
            <a:r>
              <a:rPr lang="en-US" altLang="en-US" sz="1700" dirty="0"/>
              <a:t>Many-to-one relationships. The primary key of the “Many” side is a minimal superkey and is used as the primary key.</a:t>
            </a:r>
          </a:p>
          <a:p>
            <a:r>
              <a:rPr lang="en-US" altLang="en-US" sz="1700" dirty="0"/>
              <a:t>One-to-one relationships. The primary key of either one of the participating entity sets forms a minimal superkey, and either one can be chosen as the primary key.</a:t>
            </a:r>
          </a:p>
          <a:p>
            <a:r>
              <a:rPr lang="zh-TW" altLang="en-US" dirty="0"/>
              <a:t>關係集合的</a:t>
            </a:r>
            <a:r>
              <a:rPr lang="en-US" altLang="zh-TW" dirty="0"/>
              <a:t>primary key</a:t>
            </a:r>
            <a:r>
              <a:rPr lang="zh-TW" altLang="en-US" dirty="0"/>
              <a:t>在</a:t>
            </a:r>
            <a:r>
              <a:rPr lang="en-US" altLang="zh-TW" dirty="0"/>
              <a:t>ER</a:t>
            </a:r>
            <a:r>
              <a:rPr lang="zh-TW" altLang="en-US" dirty="0"/>
              <a:t>圖不用標示，主要是後續轉</a:t>
            </a:r>
            <a:r>
              <a:rPr lang="en-US" altLang="zh-TW" dirty="0"/>
              <a:t>relational schema</a:t>
            </a:r>
            <a:r>
              <a:rPr lang="zh-TW" altLang="en-US" dirty="0"/>
              <a:t>的時候要用到。</a:t>
            </a:r>
            <a:endParaRPr lang="en-US" altLang="en-US" sz="1700" dirty="0"/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Entity Sets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89371"/>
            <a:ext cx="7629925" cy="4138533"/>
          </a:xfrm>
        </p:spPr>
        <p:txBody>
          <a:bodyPr/>
          <a:lstStyle/>
          <a:p>
            <a:r>
              <a:rPr lang="en-US" altLang="en-US" sz="1700" dirty="0"/>
              <a:t>Consider a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entity, which is uniquely identified by a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semester, year</a:t>
            </a:r>
            <a:r>
              <a:rPr lang="en-US" altLang="en-US" sz="1700" dirty="0"/>
              <a:t>, and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.</a:t>
            </a:r>
          </a:p>
          <a:p>
            <a:r>
              <a:rPr lang="en-US" altLang="en-US" sz="1700" dirty="0"/>
              <a:t>Clearly, section entities are related to course entities. Suppose we create a relationship set </a:t>
            </a:r>
            <a:r>
              <a:rPr lang="en-US" altLang="en-US" sz="1700" i="1" dirty="0" err="1"/>
              <a:t>sec_course</a:t>
            </a:r>
            <a:r>
              <a:rPr lang="en-US" altLang="en-US" sz="1700" dirty="0"/>
              <a:t> between entity sets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.</a:t>
            </a:r>
          </a:p>
          <a:p>
            <a:r>
              <a:rPr lang="en-US" altLang="en-US" sz="1700" dirty="0"/>
              <a:t>Note that the information in </a:t>
            </a:r>
            <a:r>
              <a:rPr lang="en-US" altLang="en-US" sz="1700" i="1" dirty="0" err="1"/>
              <a:t>sec_course</a:t>
            </a:r>
            <a:r>
              <a:rPr lang="en-US" altLang="en-US" sz="1700" dirty="0"/>
              <a:t> is redundant, since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already has an attribute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which identifies the course with which the section is related. </a:t>
            </a:r>
          </a:p>
          <a:p>
            <a:r>
              <a:rPr lang="en-US" altLang="en-US" sz="1700" dirty="0"/>
              <a:t>One option to deal with this redundancy is to get rid of the relationship </a:t>
            </a:r>
            <a:r>
              <a:rPr lang="en-US" altLang="en-US" sz="1700" dirty="0" err="1"/>
              <a:t>s</a:t>
            </a:r>
            <a:r>
              <a:rPr lang="en-US" altLang="en-US" sz="1700" i="1" dirty="0" err="1"/>
              <a:t>ec_course</a:t>
            </a:r>
            <a:r>
              <a:rPr lang="en-US" altLang="en-US" sz="1700" dirty="0"/>
              <a:t>;  however, by doing so the relationship between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course </a:t>
            </a:r>
            <a:r>
              <a:rPr lang="en-US" altLang="en-US" sz="1700" dirty="0"/>
              <a:t>becomes implicit in an attribute, which is not desirable. (</a:t>
            </a:r>
            <a:r>
              <a:rPr lang="zh-TW" altLang="en-US" sz="1700" dirty="0"/>
              <a:t>參考</a:t>
            </a:r>
            <a:r>
              <a:rPr lang="en-US" altLang="zh-TW" sz="1700" dirty="0"/>
              <a:t>p6.39</a:t>
            </a:r>
            <a:r>
              <a:rPr lang="zh-TW" altLang="en-US" sz="1700" dirty="0"/>
              <a:t>下圖</a:t>
            </a:r>
            <a:r>
              <a:rPr lang="en-US" altLang="zh-TW" sz="1700" dirty="0"/>
              <a:t>)</a:t>
            </a:r>
            <a:endParaRPr lang="en-US" altLang="en-US" sz="1700" dirty="0"/>
          </a:p>
        </p:txBody>
      </p:sp>
      <p:pic>
        <p:nvPicPr>
          <p:cNvPr id="4" name="Picture 1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00" b="65825"/>
          <a:stretch/>
        </p:blipFill>
        <p:spPr bwMode="auto">
          <a:xfrm>
            <a:off x="1214339" y="4546674"/>
            <a:ext cx="6737948" cy="13270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Entity Sets (Cont.)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56443"/>
            <a:ext cx="7668514" cy="5042732"/>
          </a:xfrm>
        </p:spPr>
        <p:txBody>
          <a:bodyPr/>
          <a:lstStyle/>
          <a:p>
            <a:r>
              <a:rPr lang="en-US" altLang="en-US" sz="1700" dirty="0"/>
              <a:t>An alternative way to deal with this redundancy is to not store the attribute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in the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entity and to only store the remaining attributes </a:t>
            </a:r>
            <a:r>
              <a:rPr lang="en-US" altLang="en-US" sz="1700" i="1" dirty="0" err="1"/>
              <a:t>section_id</a:t>
            </a:r>
            <a:r>
              <a:rPr lang="en-US" altLang="en-US" sz="1700" dirty="0"/>
              <a:t>, 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, and </a:t>
            </a:r>
            <a:r>
              <a:rPr lang="en-US" altLang="en-US" sz="1700" i="1" dirty="0"/>
              <a:t>semester.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However, the entity set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section</a:t>
            </a:r>
            <a:r>
              <a:rPr lang="en-US" altLang="en-US" sz="1700" dirty="0">
                <a:ea typeface="ＭＳ Ｐゴシック" panose="020B0600070205080204" pitchFamily="34" charset="-128"/>
              </a:rPr>
              <a:t> then does not have enough attributes to identify a particular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section</a:t>
            </a:r>
            <a:r>
              <a:rPr lang="en-US" altLang="en-US" sz="1700" dirty="0">
                <a:ea typeface="ＭＳ Ｐゴシック" panose="020B0600070205080204" pitchFamily="34" charset="-128"/>
              </a:rPr>
              <a:t> entity uniquely</a:t>
            </a:r>
          </a:p>
          <a:p>
            <a:r>
              <a:rPr lang="en-US" altLang="en-US" sz="1700" dirty="0"/>
              <a:t>To deal with this problem, we treat the relationship </a:t>
            </a:r>
            <a:r>
              <a:rPr lang="en-US" altLang="en-US" sz="1700" i="1" dirty="0" err="1"/>
              <a:t>sec_course</a:t>
            </a:r>
            <a:r>
              <a:rPr lang="en-US" altLang="en-US" sz="1700" dirty="0"/>
              <a:t>  as a special relationship that provides extra information, in this case, the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required to identify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 entities uniquely.</a:t>
            </a:r>
          </a:p>
          <a:p>
            <a:r>
              <a:rPr lang="en-US" altLang="en-US" sz="1700" dirty="0"/>
              <a:t>A </a:t>
            </a:r>
            <a:r>
              <a:rPr lang="en-US" altLang="en-US" sz="1700" b="1" dirty="0">
                <a:solidFill>
                  <a:srgbClr val="002060"/>
                </a:solidFill>
              </a:rPr>
              <a:t>weak entity set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is one whose existence is dependent on another entity, called its </a:t>
            </a:r>
            <a:r>
              <a:rPr lang="en-US" altLang="en-US" sz="1700" b="1" dirty="0">
                <a:solidFill>
                  <a:srgbClr val="002060"/>
                </a:solidFill>
              </a:rPr>
              <a:t>identifying entity</a:t>
            </a:r>
            <a:endParaRPr lang="en-US" altLang="en-US" sz="1700" dirty="0">
              <a:solidFill>
                <a:srgbClr val="002060"/>
              </a:solidFill>
            </a:endParaRPr>
          </a:p>
          <a:p>
            <a:r>
              <a:rPr lang="en-US" altLang="en-US" sz="1700" dirty="0"/>
              <a:t>Instead of associating a primary key with a weak entity, we use the identifying entity, along with extra attributes called </a:t>
            </a:r>
            <a:r>
              <a:rPr lang="en-US" altLang="en-US" sz="1700" b="1" dirty="0">
                <a:solidFill>
                  <a:srgbClr val="002060"/>
                </a:solidFill>
              </a:rPr>
              <a:t>discriminator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to uniquely identify a weak entity. 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b="1" dirty="0">
                <a:solidFill>
                  <a:srgbClr val="000099"/>
                </a:solidFill>
              </a:rPr>
              <a:t>discriminator</a:t>
            </a:r>
            <a:r>
              <a:rPr lang="en-US" altLang="zh-TW" b="1" i="1" dirty="0">
                <a:solidFill>
                  <a:schemeClr val="tx2"/>
                </a:solidFill>
              </a:rPr>
              <a:t> </a:t>
            </a:r>
            <a:r>
              <a:rPr lang="en-US" altLang="zh-TW" dirty="0"/>
              <a:t>(</a:t>
            </a:r>
            <a:r>
              <a:rPr lang="en-US" altLang="zh-TW" i="1" dirty="0"/>
              <a:t>or partial key)</a:t>
            </a:r>
            <a:r>
              <a:rPr lang="en-US" altLang="zh-TW" dirty="0"/>
              <a:t> of a weak entity set is the set of attributes that distinguishes among the weak entities which depends on the same strong entity.</a:t>
            </a:r>
          </a:p>
          <a:p>
            <a:endParaRPr lang="en-US" altLang="en-US" sz="17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Entity Sets (Cont.)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48415"/>
            <a:ext cx="7534402" cy="4630593"/>
          </a:xfrm>
        </p:spPr>
        <p:txBody>
          <a:bodyPr/>
          <a:lstStyle/>
          <a:p>
            <a:r>
              <a:rPr lang="en-US" altLang="en-US" sz="1700" dirty="0"/>
              <a:t>An entity set that is not a weak entity set is termed a </a:t>
            </a:r>
            <a:r>
              <a:rPr lang="en-US" altLang="en-US" sz="1700" b="1" dirty="0">
                <a:solidFill>
                  <a:srgbClr val="002060"/>
                </a:solidFill>
              </a:rPr>
              <a:t>strong entity set</a:t>
            </a:r>
            <a:r>
              <a:rPr lang="en-US" altLang="en-US" sz="1700" dirty="0">
                <a:solidFill>
                  <a:srgbClr val="000099"/>
                </a:solidFill>
              </a:rPr>
              <a:t>.</a:t>
            </a:r>
          </a:p>
          <a:p>
            <a:r>
              <a:rPr lang="en-US" altLang="en-US" sz="1700" dirty="0"/>
              <a:t>Every weak entity must be associated with an identifying entity; that is, the weak entity set is said to be </a:t>
            </a:r>
            <a:r>
              <a:rPr lang="en-US" altLang="en-US" sz="1700" b="1" dirty="0">
                <a:solidFill>
                  <a:srgbClr val="002060"/>
                </a:solidFill>
              </a:rPr>
              <a:t>existence dependent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on the identifying entity set. </a:t>
            </a:r>
          </a:p>
          <a:p>
            <a:r>
              <a:rPr lang="en-US" altLang="en-US" sz="1700" dirty="0"/>
              <a:t>The identifying entity set is said to </a:t>
            </a:r>
            <a:r>
              <a:rPr lang="en-US" altLang="en-US" sz="1700" b="1" dirty="0">
                <a:solidFill>
                  <a:srgbClr val="002060"/>
                </a:solidFill>
              </a:rPr>
              <a:t>own</a:t>
            </a:r>
            <a:r>
              <a:rPr lang="en-US" altLang="en-US" sz="1700" dirty="0"/>
              <a:t> the weak entity set that it identifies. </a:t>
            </a:r>
          </a:p>
          <a:p>
            <a:r>
              <a:rPr lang="en-US" altLang="en-US" sz="1700" dirty="0"/>
              <a:t>The relationship associating the weak entity set with the identifying entity set is called the </a:t>
            </a:r>
            <a:r>
              <a:rPr lang="en-US" altLang="en-US" sz="1700" b="1" dirty="0">
                <a:solidFill>
                  <a:srgbClr val="002060"/>
                </a:solidFill>
              </a:rPr>
              <a:t>identifying relationship</a:t>
            </a:r>
            <a:r>
              <a:rPr lang="en-US" altLang="en-US" sz="1700" dirty="0"/>
              <a:t>.</a:t>
            </a:r>
          </a:p>
          <a:p>
            <a:r>
              <a:rPr lang="en-US" altLang="en-US" sz="1700" dirty="0"/>
              <a:t>Note that the relational schema we eventually create from the entity set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does have the attribute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for reasons that will become clear later, even though we have dropped the attribute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from the entity set </a:t>
            </a:r>
            <a:r>
              <a:rPr lang="en-US" altLang="en-US" sz="1700" i="1" dirty="0"/>
              <a:t>section.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857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Expressing Weak Entity Sets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42557"/>
            <a:ext cx="7411789" cy="2222436"/>
          </a:xfrm>
        </p:spPr>
        <p:txBody>
          <a:bodyPr/>
          <a:lstStyle/>
          <a:p>
            <a:r>
              <a:rPr lang="en-US" altLang="en-US" sz="1700" dirty="0"/>
              <a:t>In E-R diagrams, a weak entity set is depicted via a double rectangle.</a:t>
            </a:r>
          </a:p>
          <a:p>
            <a:r>
              <a:rPr lang="en-US" altLang="en-US" sz="1700" dirty="0"/>
              <a:t>We underline the discriminator of a weak entity set  with a dashed line.</a:t>
            </a:r>
          </a:p>
          <a:p>
            <a:r>
              <a:rPr lang="en-US" altLang="en-US" sz="1700" dirty="0"/>
              <a:t>The relationship set connecting the  weak entity set to the identifying strong entity set is depicted by a double diamond. </a:t>
            </a:r>
          </a:p>
          <a:p>
            <a:r>
              <a:rPr lang="en-US" altLang="en-US" sz="1700" dirty="0"/>
              <a:t>Primary key for </a:t>
            </a:r>
            <a:r>
              <a:rPr lang="en-US" altLang="en-US" sz="1700" i="1" dirty="0"/>
              <a:t>section </a:t>
            </a:r>
            <a:r>
              <a:rPr lang="en-US" altLang="en-US" sz="1700" dirty="0"/>
              <a:t>– 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</a:t>
            </a:r>
            <a:r>
              <a:rPr lang="en-US" altLang="en-US" sz="2000" dirty="0"/>
              <a:t>)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</p:txBody>
      </p:sp>
      <p:pic>
        <p:nvPicPr>
          <p:cNvPr id="4608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653" y="3251813"/>
            <a:ext cx="5279394" cy="1120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2914015" y="5101403"/>
            <a:ext cx="1060450" cy="7556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u="sng"/>
              <a:t>course_id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/>
              <a:t>title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/>
              <a:t>credits</a:t>
            </a:r>
            <a:endParaRPr kumimoji="0" lang="zh-TW" altLang="en-US"/>
          </a:p>
        </p:txBody>
      </p:sp>
      <p:sp>
        <p:nvSpPr>
          <p:cNvPr id="6" name="矩形 6"/>
          <p:cNvSpPr>
            <a:spLocks noChangeArrowheads="1"/>
          </p:cNvSpPr>
          <p:nvPr/>
        </p:nvSpPr>
        <p:spPr bwMode="auto">
          <a:xfrm>
            <a:off x="2928303" y="4841053"/>
            <a:ext cx="1031875" cy="260350"/>
          </a:xfrm>
          <a:prstGeom prst="rect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/>
              <a:t>course</a:t>
            </a:r>
            <a:endParaRPr kumimoji="0" lang="zh-TW" altLang="en-US"/>
          </a:p>
        </p:txBody>
      </p:sp>
      <p:sp>
        <p:nvSpPr>
          <p:cNvPr id="7" name="矩形 7"/>
          <p:cNvSpPr>
            <a:spLocks noChangeArrowheads="1"/>
          </p:cNvSpPr>
          <p:nvPr/>
        </p:nvSpPr>
        <p:spPr bwMode="auto">
          <a:xfrm>
            <a:off x="4838065" y="5109341"/>
            <a:ext cx="1058863" cy="105251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u="sng"/>
              <a:t>course_id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u="sng"/>
              <a:t>sec_id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u="sng"/>
              <a:t>semester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u="sng"/>
              <a:t>year</a:t>
            </a:r>
            <a:endParaRPr kumimoji="0" lang="zh-TW" altLang="en-US" u="sng"/>
          </a:p>
        </p:txBody>
      </p:sp>
      <p:sp>
        <p:nvSpPr>
          <p:cNvPr id="8" name="矩形 8"/>
          <p:cNvSpPr>
            <a:spLocks noChangeArrowheads="1"/>
          </p:cNvSpPr>
          <p:nvPr/>
        </p:nvSpPr>
        <p:spPr bwMode="auto">
          <a:xfrm>
            <a:off x="4852353" y="4847403"/>
            <a:ext cx="1030287" cy="261938"/>
          </a:xfrm>
          <a:prstGeom prst="rect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/>
              <a:t>section</a:t>
            </a:r>
            <a:endParaRPr kumimoji="0" lang="zh-TW" altLang="en-US"/>
          </a:p>
        </p:txBody>
      </p:sp>
      <p:cxnSp>
        <p:nvCxnSpPr>
          <p:cNvPr id="9" name="直線接點 10"/>
          <p:cNvCxnSpPr>
            <a:cxnSpLocks noChangeShapeType="1"/>
          </p:cNvCxnSpPr>
          <p:nvPr/>
        </p:nvCxnSpPr>
        <p:spPr bwMode="auto">
          <a:xfrm flipV="1">
            <a:off x="3974465" y="5261741"/>
            <a:ext cx="928688" cy="14287"/>
          </a:xfrm>
          <a:prstGeom prst="line">
            <a:avLst/>
          </a:prstGeom>
          <a:noFill/>
          <a:ln w="1587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矩形 1"/>
          <p:cNvSpPr/>
          <p:nvPr/>
        </p:nvSpPr>
        <p:spPr>
          <a:xfrm>
            <a:off x="852911" y="4723132"/>
            <a:ext cx="18042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TW" altLang="en-US" dirty="0"/>
              <a:t>另一種不使用</a:t>
            </a:r>
            <a:r>
              <a:rPr lang="en-US" altLang="zh-TW" dirty="0"/>
              <a:t>weak entity set</a:t>
            </a:r>
            <a:r>
              <a:rPr lang="zh-TW" altLang="en-US" dirty="0"/>
              <a:t>的做法</a:t>
            </a:r>
            <a:r>
              <a:rPr lang="en-US" altLang="zh-TW" dirty="0"/>
              <a:t>:</a:t>
            </a:r>
            <a:endParaRPr lang="en-US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菱形 12"/>
          <p:cNvSpPr>
            <a:spLocks noChangeArrowheads="1"/>
          </p:cNvSpPr>
          <p:nvPr/>
        </p:nvSpPr>
        <p:spPr bwMode="auto">
          <a:xfrm>
            <a:off x="3136900" y="2921000"/>
            <a:ext cx="2374900" cy="101600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TW" altLang="en-US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zh-TW" altLang="en-US" dirty="0">
                <a:effectLst/>
              </a:rPr>
              <a:t>另一個例子</a:t>
            </a:r>
            <a:endParaRPr lang="en-US" altLang="zh-TW" dirty="0">
              <a:effectLst/>
            </a:endParaRP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081088"/>
            <a:ext cx="7661275" cy="1636712"/>
          </a:xfrm>
        </p:spPr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In a bank, a </a:t>
            </a:r>
            <a:r>
              <a:rPr lang="en-US" altLang="zh-TW" i="1">
                <a:ea typeface="新細明體" panose="02020500000000000000" pitchFamily="18" charset="-120"/>
              </a:rPr>
              <a:t>loan</a:t>
            </a:r>
            <a:r>
              <a:rPr lang="en-US" altLang="zh-TW">
                <a:ea typeface="新細明體" panose="02020500000000000000" pitchFamily="18" charset="-120"/>
              </a:rPr>
              <a:t> is a strong entity and a </a:t>
            </a:r>
            <a:r>
              <a:rPr lang="en-US" altLang="zh-TW" i="1">
                <a:ea typeface="新細明體" panose="02020500000000000000" pitchFamily="18" charset="-120"/>
              </a:rPr>
              <a:t>payment </a:t>
            </a:r>
            <a:r>
              <a:rPr lang="en-US" altLang="zh-TW">
                <a:ea typeface="新細明體" panose="02020500000000000000" pitchFamily="18" charset="-120"/>
              </a:rPr>
              <a:t>can be modeled as a weak entity</a:t>
            </a:r>
          </a:p>
          <a:p>
            <a:r>
              <a:rPr lang="en-US" altLang="zh-TW">
                <a:ea typeface="新細明體" panose="02020500000000000000" pitchFamily="18" charset="-120"/>
              </a:rPr>
              <a:t>payment-number – discriminator of the </a:t>
            </a:r>
            <a:r>
              <a:rPr lang="en-US" altLang="zh-TW" i="1">
                <a:ea typeface="新細明體" panose="02020500000000000000" pitchFamily="18" charset="-120"/>
              </a:rPr>
              <a:t>payment </a:t>
            </a:r>
            <a:r>
              <a:rPr lang="en-US" altLang="zh-TW">
                <a:ea typeface="新細明體" panose="02020500000000000000" pitchFamily="18" charset="-120"/>
              </a:rPr>
              <a:t>entity set </a:t>
            </a:r>
          </a:p>
          <a:p>
            <a:r>
              <a:rPr lang="en-US" altLang="zh-TW">
                <a:ea typeface="新細明體" panose="02020500000000000000" pitchFamily="18" charset="-120"/>
              </a:rPr>
              <a:t>Primary key for </a:t>
            </a:r>
            <a:r>
              <a:rPr lang="en-US" altLang="zh-TW" i="1">
                <a:ea typeface="新細明體" panose="02020500000000000000" pitchFamily="18" charset="-120"/>
              </a:rPr>
              <a:t>payment </a:t>
            </a:r>
            <a:r>
              <a:rPr lang="en-US" altLang="zh-TW">
                <a:ea typeface="新細明體" panose="02020500000000000000" pitchFamily="18" charset="-120"/>
              </a:rPr>
              <a:t>– (</a:t>
            </a:r>
            <a:r>
              <a:rPr lang="en-US" altLang="zh-TW" i="1">
                <a:ea typeface="新細明體" panose="02020500000000000000" pitchFamily="18" charset="-120"/>
              </a:rPr>
              <a:t>loan-number, payment-number</a:t>
            </a:r>
            <a:r>
              <a:rPr lang="en-US" altLang="zh-TW">
                <a:ea typeface="新細明體" panose="02020500000000000000" pitchFamily="18" charset="-120"/>
              </a:rPr>
              <a:t>) </a:t>
            </a:r>
          </a:p>
          <a:p>
            <a:pPr>
              <a:buFont typeface="Monotype Sorts" pitchFamily="2" charset="2"/>
              <a:buNone/>
            </a:pPr>
            <a:endParaRPr lang="en-US" altLang="zh-TW" i="1">
              <a:ea typeface="新細明體" panose="02020500000000000000" pitchFamily="18" charset="-120"/>
            </a:endParaRPr>
          </a:p>
          <a:p>
            <a:endParaRPr lang="en-US" altLang="zh-TW">
              <a:ea typeface="新細明體" panose="02020500000000000000" pitchFamily="18" charset="-120"/>
            </a:endParaRPr>
          </a:p>
          <a:p>
            <a:endParaRPr lang="zh-TW" altLang="en-US"/>
          </a:p>
        </p:txBody>
      </p:sp>
      <p:sp>
        <p:nvSpPr>
          <p:cNvPr id="36869" name="矩形 3"/>
          <p:cNvSpPr>
            <a:spLocks noChangeArrowheads="1"/>
          </p:cNvSpPr>
          <p:nvPr/>
        </p:nvSpPr>
        <p:spPr bwMode="auto">
          <a:xfrm>
            <a:off x="1209675" y="3241675"/>
            <a:ext cx="1444625" cy="7556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u="sng"/>
              <a:t>loan-number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/>
              <a:t>amount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TW" altLang="en-US"/>
          </a:p>
        </p:txBody>
      </p:sp>
      <p:sp>
        <p:nvSpPr>
          <p:cNvPr id="36870" name="矩形 6"/>
          <p:cNvSpPr>
            <a:spLocks noChangeArrowheads="1"/>
          </p:cNvSpPr>
          <p:nvPr/>
        </p:nvSpPr>
        <p:spPr bwMode="auto">
          <a:xfrm>
            <a:off x="1211263" y="2981325"/>
            <a:ext cx="1443037" cy="269875"/>
          </a:xfrm>
          <a:prstGeom prst="rect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/>
              <a:t>loan</a:t>
            </a:r>
            <a:endParaRPr kumimoji="0" lang="zh-TW" altLang="en-US"/>
          </a:p>
        </p:txBody>
      </p:sp>
      <p:sp>
        <p:nvSpPr>
          <p:cNvPr id="36871" name="矩形 3"/>
          <p:cNvSpPr>
            <a:spLocks noChangeArrowheads="1"/>
          </p:cNvSpPr>
          <p:nvPr/>
        </p:nvSpPr>
        <p:spPr bwMode="auto">
          <a:xfrm>
            <a:off x="6096000" y="3254375"/>
            <a:ext cx="1866900" cy="7556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dirty="0"/>
              <a:t>payment-number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dirty="0"/>
              <a:t>Payment-date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dirty="0"/>
              <a:t>Payment-amount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TW" altLang="en-US" dirty="0"/>
          </a:p>
        </p:txBody>
      </p:sp>
      <p:sp>
        <p:nvSpPr>
          <p:cNvPr id="36872" name="矩形 8"/>
          <p:cNvSpPr>
            <a:spLocks noChangeArrowheads="1"/>
          </p:cNvSpPr>
          <p:nvPr/>
        </p:nvSpPr>
        <p:spPr bwMode="auto">
          <a:xfrm>
            <a:off x="6096000" y="2994025"/>
            <a:ext cx="1866900" cy="257175"/>
          </a:xfrm>
          <a:prstGeom prst="rect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/>
              <a:t>payment</a:t>
            </a:r>
            <a:endParaRPr kumimoji="0" lang="zh-TW" altLang="en-US"/>
          </a:p>
        </p:txBody>
      </p:sp>
      <p:cxnSp>
        <p:nvCxnSpPr>
          <p:cNvPr id="36873" name="直線接點 10"/>
          <p:cNvCxnSpPr>
            <a:cxnSpLocks noChangeShapeType="1"/>
          </p:cNvCxnSpPr>
          <p:nvPr/>
        </p:nvCxnSpPr>
        <p:spPr bwMode="auto">
          <a:xfrm flipV="1">
            <a:off x="6096000" y="3556000"/>
            <a:ext cx="1739900" cy="127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74" name="菱形 11"/>
          <p:cNvSpPr>
            <a:spLocks noChangeArrowheads="1"/>
          </p:cNvSpPr>
          <p:nvPr/>
        </p:nvSpPr>
        <p:spPr bwMode="auto">
          <a:xfrm>
            <a:off x="3276600" y="3035300"/>
            <a:ext cx="2108200" cy="76200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/>
              <a:t>loan-payment</a:t>
            </a:r>
            <a:endParaRPr kumimoji="0" lang="zh-TW" altLang="en-US"/>
          </a:p>
        </p:txBody>
      </p:sp>
      <p:cxnSp>
        <p:nvCxnSpPr>
          <p:cNvPr id="36875" name="直線接點 14"/>
          <p:cNvCxnSpPr>
            <a:cxnSpLocks noChangeShapeType="1"/>
            <a:stCxn id="36866" idx="3"/>
          </p:cNvCxnSpPr>
          <p:nvPr/>
        </p:nvCxnSpPr>
        <p:spPr bwMode="auto">
          <a:xfrm>
            <a:off x="5511800" y="3429000"/>
            <a:ext cx="60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6" name="直線接點 16"/>
          <p:cNvCxnSpPr>
            <a:cxnSpLocks noChangeShapeType="1"/>
          </p:cNvCxnSpPr>
          <p:nvPr/>
        </p:nvCxnSpPr>
        <p:spPr bwMode="auto">
          <a:xfrm>
            <a:off x="5397500" y="3505200"/>
            <a:ext cx="6858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7" name="直線單箭頭接點 18"/>
          <p:cNvCxnSpPr>
            <a:cxnSpLocks noChangeShapeType="1"/>
            <a:stCxn id="36866" idx="1"/>
          </p:cNvCxnSpPr>
          <p:nvPr/>
        </p:nvCxnSpPr>
        <p:spPr bwMode="auto">
          <a:xfrm flipH="1" flipV="1">
            <a:off x="2654300" y="3416300"/>
            <a:ext cx="482600" cy="12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AD68127-5499-42B2-8354-07879D760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463"/>
              </p:ext>
            </p:extLst>
          </p:nvPr>
        </p:nvGraphicFramePr>
        <p:xfrm>
          <a:off x="1817915" y="5035232"/>
          <a:ext cx="18415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0750">
                  <a:extLst>
                    <a:ext uri="{9D8B030D-6E8A-4147-A177-3AD203B41FA5}">
                      <a16:colId xmlns:a16="http://schemas.microsoft.com/office/drawing/2014/main" val="3372685688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3777909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L1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10000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725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L2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20000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1104627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6C9B6DE9-6028-4739-A440-D832B0705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605010"/>
              </p:ext>
            </p:extLst>
          </p:nvPr>
        </p:nvGraphicFramePr>
        <p:xfrm>
          <a:off x="4572000" y="4847771"/>
          <a:ext cx="2667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3372685688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77790957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666679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P1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01-01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725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P2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02-01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1000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110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P1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01-01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1000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321456"/>
                  </a:ext>
                </a:extLst>
              </a:tr>
            </a:tbl>
          </a:graphicData>
        </a:graphic>
      </p:graphicFrame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FA5FBA8A-FED7-4D10-ABD4-753B8240B600}"/>
              </a:ext>
            </a:extLst>
          </p:cNvPr>
          <p:cNvCxnSpPr/>
          <p:nvPr/>
        </p:nvCxnSpPr>
        <p:spPr bwMode="auto">
          <a:xfrm flipV="1">
            <a:off x="3659415" y="5035232"/>
            <a:ext cx="912585" cy="16813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675F11A4-3D4A-45A1-BB14-481F59E967BC}"/>
              </a:ext>
            </a:extLst>
          </p:cNvPr>
          <p:cNvCxnSpPr>
            <a:endCxn id="15" idx="1"/>
          </p:cNvCxnSpPr>
          <p:nvPr/>
        </p:nvCxnSpPr>
        <p:spPr bwMode="auto">
          <a:xfrm>
            <a:off x="3659415" y="5312229"/>
            <a:ext cx="912585" cy="9180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5489E14-30D4-46E7-B082-948A38D9DA6C}"/>
              </a:ext>
            </a:extLst>
          </p:cNvPr>
          <p:cNvCxnSpPr/>
          <p:nvPr/>
        </p:nvCxnSpPr>
        <p:spPr bwMode="auto">
          <a:xfrm>
            <a:off x="3659415" y="5584371"/>
            <a:ext cx="912585" cy="19254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0DBB714E-09B2-42C3-88E9-7072F427897E}"/>
              </a:ext>
            </a:extLst>
          </p:cNvPr>
          <p:cNvCxnSpPr/>
          <p:nvPr/>
        </p:nvCxnSpPr>
        <p:spPr bwMode="auto">
          <a:xfrm>
            <a:off x="4330700" y="5584371"/>
            <a:ext cx="316955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078021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Redundant Attributes</a:t>
            </a:r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5145"/>
            <a:ext cx="7594415" cy="3313975"/>
          </a:xfrm>
        </p:spPr>
        <p:txBody>
          <a:bodyPr/>
          <a:lstStyle/>
          <a:p>
            <a:r>
              <a:rPr lang="en-US" altLang="en-US" sz="1700" dirty="0"/>
              <a:t>Suppose we have entity sets:</a:t>
            </a:r>
          </a:p>
          <a:p>
            <a:pPr lvl="1"/>
            <a:r>
              <a:rPr lang="en-US" altLang="en-US" sz="1700" i="1" dirty="0">
                <a:ea typeface="ＭＳ Ｐゴシック" panose="020B0600070205080204" pitchFamily="34" charset="-128"/>
              </a:rPr>
              <a:t>instructor</a:t>
            </a:r>
            <a:r>
              <a:rPr lang="en-US" altLang="en-US" sz="1700" dirty="0">
                <a:ea typeface="ＭＳ Ｐゴシック" panose="020B0600070205080204" pitchFamily="34" charset="-128"/>
              </a:rPr>
              <a:t>, with attributes: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ID</a:t>
            </a:r>
            <a:r>
              <a:rPr lang="en-US" altLang="en-US" sz="1700" dirty="0">
                <a:ea typeface="ＭＳ Ｐゴシック" panose="020B0600070205080204" pitchFamily="34" charset="-128"/>
              </a:rPr>
              <a:t>,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name</a:t>
            </a:r>
            <a:r>
              <a:rPr lang="en-US" altLang="en-US" sz="1700" dirty="0">
                <a:ea typeface="ＭＳ Ｐゴシック" panose="020B0600070205080204" pitchFamily="34" charset="-128"/>
              </a:rPr>
              <a:t>,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dept_name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salary</a:t>
            </a:r>
          </a:p>
          <a:p>
            <a:pPr lvl="1"/>
            <a:r>
              <a:rPr lang="en-US" altLang="en-US" sz="1700" i="1" dirty="0">
                <a:ea typeface="ＭＳ Ｐゴシック" panose="020B0600070205080204" pitchFamily="34" charset="-128"/>
              </a:rPr>
              <a:t>department, </a:t>
            </a:r>
            <a:r>
              <a:rPr lang="en-US" altLang="en-US" sz="1700" dirty="0">
                <a:ea typeface="ＭＳ Ｐゴシック" panose="020B0600070205080204" pitchFamily="34" charset="-128"/>
              </a:rPr>
              <a:t>with attributes: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dept_name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building, budget</a:t>
            </a:r>
          </a:p>
          <a:p>
            <a:r>
              <a:rPr lang="en-US" altLang="en-US" sz="1700" dirty="0"/>
              <a:t>We model the fact that each instructor has an associated department</a:t>
            </a:r>
            <a:r>
              <a:rPr lang="en-US" altLang="en-US" sz="1700" i="1" dirty="0"/>
              <a:t> </a:t>
            </a:r>
            <a:r>
              <a:rPr lang="en-US" altLang="en-US" sz="1700" dirty="0"/>
              <a:t>using a relationship set </a:t>
            </a:r>
            <a:r>
              <a:rPr lang="en-US" altLang="en-US" sz="1700" i="1" dirty="0" err="1"/>
              <a:t>inst_dept</a:t>
            </a:r>
            <a:endParaRPr lang="en-US" altLang="en-US" sz="1700" i="1" dirty="0"/>
          </a:p>
          <a:p>
            <a:r>
              <a:rPr lang="en-US" altLang="en-US" sz="1700" dirty="0"/>
              <a:t>The attribute 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in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replicates information present in the relationship and is therefore  redundant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and needs to be removed.</a:t>
            </a:r>
          </a:p>
          <a:p>
            <a:r>
              <a:rPr lang="en-US" altLang="en-US" sz="1700" dirty="0"/>
              <a:t>BUT: when converting back to tables, in some cases the attribute gets reintroduced, as we will see later.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814" y="4446460"/>
            <a:ext cx="4014980" cy="1186244"/>
          </a:xfrm>
          <a:prstGeom prst="rect">
            <a:avLst/>
          </a:prstGeom>
        </p:spPr>
      </p:pic>
      <p:cxnSp>
        <p:nvCxnSpPr>
          <p:cNvPr id="4" name="直線接點 3"/>
          <p:cNvCxnSpPr/>
          <p:nvPr/>
        </p:nvCxnSpPr>
        <p:spPr bwMode="auto">
          <a:xfrm>
            <a:off x="6717794" y="4446460"/>
            <a:ext cx="0" cy="986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直線接點 5"/>
          <p:cNvCxnSpPr/>
          <p:nvPr/>
        </p:nvCxnSpPr>
        <p:spPr bwMode="auto">
          <a:xfrm>
            <a:off x="2702814" y="5632704"/>
            <a:ext cx="97630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50" y="38100"/>
            <a:ext cx="8420100" cy="6826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E-R Diagram for a University Enterprise</a:t>
            </a:r>
          </a:p>
        </p:txBody>
      </p:sp>
      <p:pic>
        <p:nvPicPr>
          <p:cNvPr id="48131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425" y="927100"/>
            <a:ext cx="565785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85825" y="2439988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Reduction to Relation Schemas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85825" y="11430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Reduction to Relation Schemas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8167" y="1130365"/>
            <a:ext cx="7563231" cy="3917124"/>
          </a:xfrm>
        </p:spPr>
        <p:txBody>
          <a:bodyPr/>
          <a:lstStyle/>
          <a:p>
            <a:r>
              <a:rPr lang="en-US" altLang="en-US" sz="1700" dirty="0"/>
              <a:t>Entity sets and relationship sets can be expressed uniformly as </a:t>
            </a:r>
            <a:r>
              <a:rPr lang="en-US" altLang="en-US" sz="1700" i="1" dirty="0"/>
              <a:t>relation schemas </a:t>
            </a:r>
            <a:r>
              <a:rPr lang="en-US" altLang="en-US" sz="1700" dirty="0"/>
              <a:t>that represent the contents of the database.</a:t>
            </a:r>
          </a:p>
          <a:p>
            <a:r>
              <a:rPr lang="en-US" altLang="en-US" sz="1700" dirty="0"/>
              <a:t>A database which conforms to an E-R diagram can be represented by a collection of schemas.</a:t>
            </a:r>
          </a:p>
          <a:p>
            <a:r>
              <a:rPr lang="en-US" altLang="en-US" sz="1700" dirty="0"/>
              <a:t>For each entity set and relationship set there is a unique schema that is assigned the name of the corresponding entity set or relationship set.</a:t>
            </a:r>
          </a:p>
          <a:p>
            <a:r>
              <a:rPr lang="en-US" altLang="en-US" sz="1700" dirty="0"/>
              <a:t>Each schema has a number of columns (generally corresponding to attributes), which have unique names.</a:t>
            </a:r>
          </a:p>
          <a:p>
            <a:r>
              <a:rPr lang="zh-TW" altLang="en-US" dirty="0"/>
              <a:t>注意</a:t>
            </a:r>
            <a:r>
              <a:rPr lang="en-US" altLang="zh-TW" dirty="0"/>
              <a:t>:</a:t>
            </a:r>
            <a:r>
              <a:rPr lang="zh-TW" altLang="en-US" dirty="0"/>
              <a:t>轉換時要符合原來</a:t>
            </a:r>
            <a:r>
              <a:rPr lang="en-US" altLang="zh-TW" dirty="0"/>
              <a:t>ER-diagram</a:t>
            </a:r>
            <a:r>
              <a:rPr lang="zh-TW" altLang="en-US" dirty="0"/>
              <a:t>的語意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  <a:r>
              <a:rPr lang="en-US" altLang="zh-TW" dirty="0"/>
              <a:t>relational model</a:t>
            </a:r>
            <a:r>
              <a:rPr lang="zh-TW" altLang="en-US" dirty="0"/>
              <a:t>的限制</a:t>
            </a:r>
            <a:r>
              <a:rPr lang="en-US" altLang="zh-TW" dirty="0"/>
              <a:t>, </a:t>
            </a:r>
            <a:r>
              <a:rPr lang="zh-TW" altLang="en-US" dirty="0"/>
              <a:t>並且要避免不必要或重複的轉換 </a:t>
            </a:r>
            <a:r>
              <a:rPr lang="en-US" altLang="zh-TW" dirty="0"/>
              <a:t>(redundancy)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Entity Sets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1413"/>
            <a:ext cx="7612063" cy="2528887"/>
          </a:xfrm>
        </p:spPr>
        <p:txBody>
          <a:bodyPr/>
          <a:lstStyle/>
          <a:p>
            <a:r>
              <a:rPr lang="en-US" altLang="en-US" sz="1700" dirty="0"/>
              <a:t>A strong entity set reduces to a schema with the same attributes</a:t>
            </a:r>
          </a:p>
          <a:p>
            <a:pPr>
              <a:buFont typeface="Monotype Sorts" charset="2"/>
              <a:buNone/>
            </a:pPr>
            <a:br>
              <a:rPr lang="en-US" altLang="en-US" sz="1700" dirty="0"/>
            </a:br>
            <a:r>
              <a:rPr lang="en-US" altLang="en-US" sz="1700" dirty="0"/>
              <a:t>            </a:t>
            </a:r>
            <a:r>
              <a:rPr lang="en-US" altLang="en-US" sz="1700" i="1" dirty="0"/>
              <a:t>student(</a:t>
            </a:r>
            <a:r>
              <a:rPr lang="en-US" altLang="en-US" sz="1700" i="1" u="sng" dirty="0"/>
              <a:t>ID</a:t>
            </a:r>
            <a:r>
              <a:rPr lang="en-US" altLang="en-US" sz="1700" i="1" dirty="0"/>
              <a:t>, name, </a:t>
            </a:r>
            <a:r>
              <a:rPr lang="en-US" altLang="en-US" sz="1700" i="1" dirty="0" err="1"/>
              <a:t>tot_cred</a:t>
            </a:r>
            <a:r>
              <a:rPr lang="en-US" altLang="en-US" sz="1700" i="1" dirty="0"/>
              <a:t>)</a:t>
            </a:r>
          </a:p>
          <a:p>
            <a:pPr>
              <a:buFont typeface="Monotype Sorts" charset="2"/>
              <a:buNone/>
            </a:pPr>
            <a:endParaRPr lang="en-US" altLang="en-US" sz="800" dirty="0"/>
          </a:p>
          <a:p>
            <a:r>
              <a:rPr lang="en-US" altLang="en-US" sz="1700" dirty="0"/>
              <a:t>A weak entity set becomes a table that includes a column for the primary key of the identifying strong entity set </a:t>
            </a:r>
          </a:p>
          <a:p>
            <a:pPr>
              <a:buFont typeface="Monotype Sorts" charset="2"/>
              <a:buNone/>
            </a:pP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         </a:t>
            </a:r>
            <a:r>
              <a:rPr lang="en-US" altLang="en-US" sz="1700" i="1" dirty="0"/>
              <a:t>section ( </a:t>
            </a:r>
            <a:r>
              <a:rPr lang="en-US" altLang="en-US" sz="1700" i="1" u="sng" dirty="0" err="1"/>
              <a:t>course_id</a:t>
            </a:r>
            <a:r>
              <a:rPr lang="en-US" altLang="en-US" sz="1700" i="1" u="sng" dirty="0"/>
              <a:t>, </a:t>
            </a:r>
            <a:r>
              <a:rPr lang="en-US" altLang="en-US" sz="1700" i="1" u="sng" dirty="0" err="1"/>
              <a:t>sec_id</a:t>
            </a:r>
            <a:r>
              <a:rPr lang="en-US" altLang="en-US" sz="1700" i="1" u="sng" dirty="0"/>
              <a:t>, </a:t>
            </a:r>
            <a:r>
              <a:rPr lang="en-US" altLang="en-US" sz="1700" i="1" u="sng" dirty="0" err="1"/>
              <a:t>sem</a:t>
            </a:r>
            <a:r>
              <a:rPr lang="en-US" altLang="en-US" sz="1700" i="1" u="sng" dirty="0"/>
              <a:t>, year</a:t>
            </a:r>
            <a:r>
              <a:rPr lang="en-US" altLang="en-US" sz="1700" i="1" dirty="0"/>
              <a:t> )</a:t>
            </a:r>
          </a:p>
          <a:p>
            <a:r>
              <a:rPr lang="en-US" altLang="en-US" sz="1700" dirty="0"/>
              <a:t>Example</a:t>
            </a:r>
          </a:p>
        </p:txBody>
      </p:sp>
      <p:pic>
        <p:nvPicPr>
          <p:cNvPr id="5120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484" y="3755645"/>
            <a:ext cx="5451031" cy="1156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73113" y="-11113"/>
            <a:ext cx="8370887" cy="609601"/>
          </a:xfrm>
        </p:spPr>
        <p:txBody>
          <a:bodyPr/>
          <a:lstStyle/>
          <a:p>
            <a:pPr>
              <a:defRPr/>
            </a:pPr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Representation of Entity Sets with Composite Attributes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786230" y="739140"/>
            <a:ext cx="5948978" cy="552181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Composite attributes are flattened out by creating a separate attribute for each component attribute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Example: given entity set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</a:t>
            </a:r>
            <a:r>
              <a:rPr lang="en-US" altLang="en-US" sz="1700" dirty="0">
                <a:ea typeface="ＭＳ Ｐゴシック" panose="020B0600070205080204" pitchFamily="34" charset="-128"/>
              </a:rPr>
              <a:t> with composite attribute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name</a:t>
            </a:r>
            <a:r>
              <a:rPr lang="en-US" altLang="en-US" sz="1700" dirty="0">
                <a:ea typeface="ＭＳ Ｐゴシック" panose="020B0600070205080204" pitchFamily="34" charset="-128"/>
              </a:rPr>
              <a:t> with component attributes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first_name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 </a:t>
            </a:r>
            <a:r>
              <a:rPr lang="en-US" altLang="en-US" sz="1700" dirty="0">
                <a:ea typeface="ＭＳ Ｐゴシック" panose="020B0600070205080204" pitchFamily="34" charset="-128"/>
              </a:rPr>
              <a:t>and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last_name</a:t>
            </a:r>
            <a:r>
              <a:rPr lang="en-US" altLang="en-US" sz="1700" dirty="0">
                <a:ea typeface="ＭＳ Ｐゴシック" panose="020B0600070205080204" pitchFamily="34" charset="-128"/>
              </a:rPr>
              <a:t> the schema corresponding to the entity set has two attributes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name_first_name</a:t>
            </a:r>
            <a:r>
              <a:rPr lang="en-US" altLang="en-US" sz="1700" dirty="0">
                <a:ea typeface="ＭＳ Ｐゴシック" panose="020B0600070205080204" pitchFamily="34" charset="-128"/>
              </a:rPr>
              <a:t>  and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name_last_name</a:t>
            </a:r>
            <a:endParaRPr lang="en-US" altLang="en-US" sz="1700" i="1" dirty="0">
              <a:ea typeface="ＭＳ Ｐゴシック" panose="020B0600070205080204" pitchFamily="34" charset="-128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700" dirty="0">
                <a:ea typeface="ＭＳ Ｐゴシック" panose="020B0600070205080204" pitchFamily="34" charset="-128"/>
              </a:rPr>
              <a:t>Prefix omitted if there is no ambiguity (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name_first_name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 </a:t>
            </a:r>
            <a:r>
              <a:rPr lang="en-US" altLang="en-US" sz="1700" dirty="0">
                <a:ea typeface="ＭＳ Ｐゴシック" panose="020B0600070205080204" pitchFamily="34" charset="-128"/>
              </a:rPr>
              <a:t>could be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first_name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)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Ignoring multivalued attributes, extended instructor schema is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i="1" dirty="0">
                <a:ea typeface="ＭＳ Ｐゴシック" panose="020B0600070205080204" pitchFamily="34" charset="-128"/>
              </a:rPr>
              <a:t>instructor(ID, </a:t>
            </a:r>
            <a:br>
              <a:rPr lang="en-US" altLang="en-US" sz="1700" i="1" dirty="0">
                <a:ea typeface="ＭＳ Ｐゴシック" panose="020B0600070205080204" pitchFamily="34" charset="-128"/>
              </a:rPr>
            </a:br>
            <a:r>
              <a:rPr lang="en-US" altLang="en-US" sz="1700" i="1" dirty="0">
                <a:ea typeface="ＭＳ Ｐゴシック" panose="020B0600070205080204" pitchFamily="34" charset="-128"/>
              </a:rPr>
              <a:t>     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first_name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middle_initial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last_name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</a:t>
            </a:r>
            <a:br>
              <a:rPr lang="en-US" altLang="en-US" sz="1700" i="1" dirty="0">
                <a:ea typeface="ＭＳ Ｐゴシック" panose="020B0600070205080204" pitchFamily="34" charset="-128"/>
              </a:rPr>
            </a:br>
            <a:r>
              <a:rPr lang="en-US" altLang="en-US" sz="1700" i="1" dirty="0">
                <a:ea typeface="ＭＳ Ｐゴシック" panose="020B0600070205080204" pitchFamily="34" charset="-128"/>
              </a:rPr>
              <a:t>     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street_number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street_name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 </a:t>
            </a:r>
            <a:br>
              <a:rPr lang="en-US" altLang="en-US" sz="1700" i="1" dirty="0">
                <a:ea typeface="ＭＳ Ｐゴシック" panose="020B0600070205080204" pitchFamily="34" charset="-128"/>
              </a:rPr>
            </a:br>
            <a:r>
              <a:rPr lang="en-US" altLang="en-US" sz="1700" i="1" dirty="0">
                <a:ea typeface="ＭＳ Ｐゴシック" panose="020B0600070205080204" pitchFamily="34" charset="-128"/>
              </a:rPr>
              <a:t>          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apt_number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city, state,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zip_code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,  </a:t>
            </a:r>
            <a:br>
              <a:rPr lang="en-US" altLang="en-US" sz="1700" i="1" dirty="0">
                <a:ea typeface="ＭＳ Ｐゴシック" panose="020B0600070205080204" pitchFamily="34" charset="-128"/>
              </a:rPr>
            </a:br>
            <a:r>
              <a:rPr lang="en-US" altLang="en-US" sz="1700" i="1" dirty="0">
                <a:ea typeface="ＭＳ Ｐゴシック" panose="020B0600070205080204" pitchFamily="34" charset="-128"/>
              </a:rPr>
              <a:t>     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date_of_birth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)</a:t>
            </a:r>
          </a:p>
          <a:p>
            <a:r>
              <a:rPr lang="en-US" altLang="zh-TW" dirty="0"/>
              <a:t>Derived attributes are not explicitly represented in the relational data model. They can be represented as “methods” in the object-oriented data model.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pic>
        <p:nvPicPr>
          <p:cNvPr id="5222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62" y="1306696"/>
            <a:ext cx="1963786" cy="41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0593" y="47625"/>
            <a:ext cx="8537575" cy="609600"/>
          </a:xfrm>
        </p:spPr>
        <p:txBody>
          <a:bodyPr/>
          <a:lstStyle/>
          <a:p>
            <a:pPr>
              <a:defRPr/>
            </a:pPr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Representation of Entity Sets with Multivalued Attributes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7" y="1205116"/>
            <a:ext cx="7518204" cy="394779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A multivalued attribute </a:t>
            </a:r>
            <a:r>
              <a:rPr lang="en-US" altLang="en-US" sz="1700" i="1" dirty="0"/>
              <a:t>M</a:t>
            </a:r>
            <a:r>
              <a:rPr lang="en-US" altLang="en-US" sz="1700" dirty="0"/>
              <a:t> of an entity </a:t>
            </a:r>
            <a:r>
              <a:rPr lang="en-US" altLang="en-US" sz="1700" i="1" dirty="0"/>
              <a:t>E</a:t>
            </a:r>
            <a:r>
              <a:rPr lang="en-US" altLang="en-US" sz="1700" dirty="0"/>
              <a:t> is represented by a separate schema </a:t>
            </a:r>
            <a:r>
              <a:rPr lang="en-US" altLang="en-US" sz="1700" i="1" dirty="0"/>
              <a:t>EM</a:t>
            </a:r>
            <a:endParaRPr lang="en-US" altLang="en-US" sz="17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Schema </a:t>
            </a:r>
            <a:r>
              <a:rPr lang="en-US" altLang="en-US" sz="1700" i="1" dirty="0"/>
              <a:t>EM</a:t>
            </a:r>
            <a:r>
              <a:rPr lang="en-US" altLang="en-US" sz="1700" dirty="0"/>
              <a:t> has attributes corresponding to the primary key of </a:t>
            </a:r>
            <a:r>
              <a:rPr lang="en-US" altLang="en-US" sz="1700" i="1" dirty="0"/>
              <a:t>E</a:t>
            </a:r>
            <a:r>
              <a:rPr lang="en-US" altLang="en-US" sz="1700" dirty="0"/>
              <a:t> and an attribute corresponding to multivalued attribute </a:t>
            </a:r>
            <a:r>
              <a:rPr lang="en-US" altLang="en-US" sz="1700" i="1" dirty="0"/>
              <a:t>M</a:t>
            </a:r>
            <a:endParaRPr lang="en-US" altLang="en-US" sz="17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Example:  Multivalued attribute </a:t>
            </a:r>
            <a:r>
              <a:rPr lang="en-US" altLang="en-US" sz="1700" i="1" dirty="0" err="1"/>
              <a:t>phone_number</a:t>
            </a:r>
            <a:r>
              <a:rPr lang="en-US" altLang="en-US" sz="1700" i="1" dirty="0"/>
              <a:t> </a:t>
            </a:r>
            <a:r>
              <a:rPr lang="en-US" altLang="en-US" sz="1700" dirty="0"/>
              <a:t>of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is represented by a schema:</a:t>
            </a:r>
            <a:br>
              <a:rPr lang="en-US" altLang="en-US" sz="1700" dirty="0"/>
            </a:br>
            <a:r>
              <a:rPr lang="en-US" altLang="en-US" sz="1700" dirty="0"/>
              <a:t>    </a:t>
            </a:r>
            <a:r>
              <a:rPr lang="en-US" altLang="en-US" sz="1700" i="1" dirty="0" err="1"/>
              <a:t>inst_phone</a:t>
            </a:r>
            <a:r>
              <a:rPr lang="en-US" altLang="en-US" sz="1700" i="1" dirty="0"/>
              <a:t>= </a:t>
            </a:r>
            <a:r>
              <a:rPr lang="en-US" altLang="en-US" sz="1700" dirty="0"/>
              <a:t>(</a:t>
            </a:r>
            <a:r>
              <a:rPr lang="en-US" altLang="en-US" sz="1700" i="1" dirty="0"/>
              <a:t> </a:t>
            </a:r>
            <a:r>
              <a:rPr lang="en-US" altLang="en-US" sz="1700" i="1" u="sng" dirty="0"/>
              <a:t>ID</a:t>
            </a:r>
            <a:r>
              <a:rPr lang="en-US" altLang="en-US" sz="1700" i="1" dirty="0"/>
              <a:t>, </a:t>
            </a:r>
            <a:r>
              <a:rPr lang="en-US" altLang="en-US" sz="1700" i="1" u="sng" dirty="0" err="1"/>
              <a:t>phone_number</a:t>
            </a:r>
            <a:r>
              <a:rPr lang="en-US" altLang="en-US" sz="1700" dirty="0"/>
              <a:t>)</a:t>
            </a:r>
            <a:r>
              <a:rPr lang="en-US" altLang="en-US" sz="1700" i="1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Each value of the multivalued attribute maps to a separate tuple of the relation on schema </a:t>
            </a:r>
            <a:r>
              <a:rPr lang="en-US" altLang="en-US" sz="1700" i="1" dirty="0"/>
              <a:t>EM</a:t>
            </a:r>
            <a:endParaRPr lang="en-US" altLang="en-US" sz="17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For example, an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instructor</a:t>
            </a:r>
            <a:r>
              <a:rPr lang="en-US" altLang="en-US" sz="1700" dirty="0">
                <a:ea typeface="ＭＳ Ｐゴシック" panose="020B0600070205080204" pitchFamily="34" charset="-128"/>
              </a:rPr>
              <a:t> entity with primary key  22222 and phone numbers 456-7890 and 123-4567 maps to two tuples:   </a:t>
            </a:r>
            <a:br>
              <a:rPr lang="en-US" altLang="en-US" sz="1700" dirty="0">
                <a:ea typeface="ＭＳ Ｐゴシック" panose="020B0600070205080204" pitchFamily="34" charset="-128"/>
              </a:rPr>
            </a:br>
            <a:r>
              <a:rPr lang="en-US" altLang="en-US" sz="1700" dirty="0">
                <a:ea typeface="ＭＳ Ｐゴシック" panose="020B0600070205080204" pitchFamily="34" charset="-128"/>
              </a:rPr>
              <a:t>   (22222, 456-7890) and (22222, 123-4567) 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zh-TW" altLang="en-US" dirty="0">
                <a:ea typeface="ＭＳ Ｐゴシック" panose="020B0600070205080204" pitchFamily="34" charset="-128"/>
              </a:rPr>
              <a:t>表格如下</a:t>
            </a:r>
            <a:r>
              <a:rPr lang="en-US" altLang="zh-TW" dirty="0">
                <a:ea typeface="ＭＳ Ｐゴシック" panose="020B0600070205080204" pitchFamily="34" charset="-128"/>
              </a:rPr>
              <a:t>:</a:t>
            </a:r>
            <a:endParaRPr lang="en-US" altLang="en-US" sz="1700" dirty="0">
              <a:ea typeface="ＭＳ Ｐゴシック" panose="020B0600070205080204" pitchFamily="34" charset="-128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744246" y="4993370"/>
            <a:ext cx="815975" cy="342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 i="1"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547521" y="4991783"/>
            <a:ext cx="1676400" cy="322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phone_number</a:t>
            </a:r>
            <a:endParaRPr kumimoji="0" lang="en-US" altLang="zh-TW" sz="1800" i="1">
              <a:ea typeface="新細明體" panose="02020500000000000000" pitchFamily="18" charset="-120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2744246" y="5360083"/>
            <a:ext cx="803275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22222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22222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547521" y="5360083"/>
            <a:ext cx="16764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456-7890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123-4567</a:t>
            </a:r>
            <a:endParaRPr kumimoji="0" lang="zh-TW" altLang="en-US" sz="1800" i="1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0" y="96838"/>
            <a:ext cx="8429625" cy="60325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Relationship Sets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4603" y="1189038"/>
            <a:ext cx="7523766" cy="1932114"/>
          </a:xfrm>
        </p:spPr>
        <p:txBody>
          <a:bodyPr/>
          <a:lstStyle/>
          <a:p>
            <a:r>
              <a:rPr lang="en-US" altLang="en-US" sz="1700" dirty="0"/>
              <a:t>A </a:t>
            </a:r>
            <a:r>
              <a:rPr lang="en-US" altLang="en-US" sz="1700" b="1" dirty="0"/>
              <a:t>many-to-many</a:t>
            </a:r>
            <a:r>
              <a:rPr lang="en-US" altLang="en-US" sz="1700" dirty="0"/>
              <a:t> relationship set is represented as a schema with attributes for the primary keys of the two participating entity sets, and any descriptive attributes of the relationship set. </a:t>
            </a:r>
          </a:p>
          <a:p>
            <a:r>
              <a:rPr lang="en-US" altLang="en-US" sz="1700" dirty="0"/>
              <a:t>Example: schema for relationship set </a:t>
            </a:r>
            <a:r>
              <a:rPr lang="en-US" altLang="en-US" sz="1700" i="1" dirty="0"/>
              <a:t>advisor</a:t>
            </a:r>
          </a:p>
          <a:p>
            <a:pPr>
              <a:buFont typeface="Monotype Sorts" charset="2"/>
              <a:buNone/>
            </a:pPr>
            <a:endParaRPr lang="en-US" altLang="en-US" sz="1700" i="1" dirty="0"/>
          </a:p>
          <a:p>
            <a:pPr>
              <a:buFont typeface="Monotype Sorts" charset="2"/>
              <a:buNone/>
            </a:pPr>
            <a:r>
              <a:rPr lang="en-US" altLang="en-US" sz="1700" dirty="0"/>
              <a:t>	         </a:t>
            </a:r>
            <a:r>
              <a:rPr lang="en-US" altLang="en-US" sz="1700" i="1" dirty="0"/>
              <a:t>advisor = </a:t>
            </a:r>
            <a:r>
              <a:rPr lang="en-US" altLang="en-US" sz="1700" dirty="0"/>
              <a:t>(</a:t>
            </a:r>
            <a:r>
              <a:rPr lang="en-US" altLang="en-US" sz="1700" i="1" u="sng" dirty="0" err="1"/>
              <a:t>s_id</a:t>
            </a:r>
            <a:r>
              <a:rPr lang="en-US" altLang="en-US" sz="1700" i="1" u="sng" dirty="0"/>
              <a:t>, </a:t>
            </a:r>
            <a:r>
              <a:rPr lang="en-US" altLang="en-US" sz="1700" i="1" u="sng" dirty="0" err="1"/>
              <a:t>i_id</a:t>
            </a:r>
            <a:r>
              <a:rPr lang="en-US" altLang="en-US" sz="1700" dirty="0"/>
              <a:t>)</a:t>
            </a:r>
          </a:p>
        </p:txBody>
      </p:sp>
      <p:sp>
        <p:nvSpPr>
          <p:cNvPr id="54276" name="Rectangle 5"/>
          <p:cNvSpPr>
            <a:spLocks noChangeArrowheads="1"/>
          </p:cNvSpPr>
          <p:nvPr/>
        </p:nvSpPr>
        <p:spPr bwMode="auto">
          <a:xfrm rot="-372694">
            <a:off x="2216150" y="3624263"/>
            <a:ext cx="1970088" cy="2809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5427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911" y="3467594"/>
            <a:ext cx="5592445" cy="1144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Redundancy of Schemas</a:t>
            </a:r>
          </a:p>
        </p:txBody>
      </p:sp>
      <p:sp>
        <p:nvSpPr>
          <p:cNvPr id="55299" name="Rectangle 4"/>
          <p:cNvSpPr>
            <a:spLocks noChangeArrowheads="1"/>
          </p:cNvSpPr>
          <p:nvPr/>
        </p:nvSpPr>
        <p:spPr bwMode="auto">
          <a:xfrm>
            <a:off x="768350" y="1237997"/>
            <a:ext cx="7729474" cy="2036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Many-to-one and one-to-many relationship sets that are </a:t>
            </a:r>
            <a:r>
              <a:rPr kumimoji="1" lang="en-US" altLang="en-US" sz="1700" b="1" dirty="0"/>
              <a:t>total</a:t>
            </a:r>
            <a:r>
              <a:rPr kumimoji="1" lang="en-US" altLang="en-US" sz="1700" dirty="0"/>
              <a:t> on the many-side can be represented by adding an extra attribute to the “many” side, containing the primary key of the “one” side</a:t>
            </a:r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Example: Instead of creating a schema for relationship set </a:t>
            </a:r>
            <a:r>
              <a:rPr kumimoji="1" lang="en-US" altLang="en-US" sz="1700" i="1" dirty="0" err="1"/>
              <a:t>inst_dept</a:t>
            </a:r>
            <a:r>
              <a:rPr kumimoji="1" lang="en-US" altLang="en-US" sz="1700" dirty="0"/>
              <a:t>, add an attribute </a:t>
            </a:r>
            <a:r>
              <a:rPr kumimoji="1" lang="en-US" altLang="en-US" sz="1700" i="1" dirty="0"/>
              <a:t>dept_name</a:t>
            </a:r>
            <a:r>
              <a:rPr kumimoji="1" lang="en-US" altLang="en-US" sz="1700" dirty="0"/>
              <a:t> to the schema arising from entity set </a:t>
            </a:r>
            <a:r>
              <a:rPr kumimoji="1" lang="en-US" altLang="en-US" sz="1700" i="1" dirty="0"/>
              <a:t>instructor</a:t>
            </a:r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Example</a:t>
            </a:r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kumimoji="1" lang="en-US" altLang="en-US" sz="1700" dirty="0"/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kumimoji="1" lang="en-US" altLang="en-US" sz="1700" dirty="0"/>
          </a:p>
        </p:txBody>
      </p:sp>
      <p:sp>
        <p:nvSpPr>
          <p:cNvPr id="55300" name="Rectangle 6"/>
          <p:cNvSpPr>
            <a:spLocks noChangeArrowheads="1"/>
          </p:cNvSpPr>
          <p:nvPr/>
        </p:nvSpPr>
        <p:spPr bwMode="auto">
          <a:xfrm rot="-372694">
            <a:off x="1692275" y="3449638"/>
            <a:ext cx="1970088" cy="2809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195482" y="2748055"/>
            <a:ext cx="4431433" cy="2863609"/>
            <a:chOff x="0" y="1413"/>
            <a:chExt cx="5483" cy="2545"/>
          </a:xfrm>
        </p:grpSpPr>
        <p:pic>
          <p:nvPicPr>
            <p:cNvPr id="55302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52" t="423" r="7481" b="61655"/>
            <a:stretch>
              <a:fillRect/>
            </a:stretch>
          </p:blipFill>
          <p:spPr bwMode="auto">
            <a:xfrm>
              <a:off x="175" y="1413"/>
              <a:ext cx="5308" cy="2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303" name="Rectangle 11"/>
            <p:cNvSpPr>
              <a:spLocks noChangeArrowheads="1"/>
            </p:cNvSpPr>
            <p:nvPr/>
          </p:nvSpPr>
          <p:spPr bwMode="auto">
            <a:xfrm>
              <a:off x="0" y="1500"/>
              <a:ext cx="1956" cy="4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04" name="Rectangle 12"/>
            <p:cNvSpPr>
              <a:spLocks noChangeArrowheads="1"/>
            </p:cNvSpPr>
            <p:nvPr/>
          </p:nvSpPr>
          <p:spPr bwMode="auto">
            <a:xfrm>
              <a:off x="1920" y="1690"/>
              <a:ext cx="374" cy="1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234950" y="3406802"/>
            <a:ext cx="3960532" cy="1815882"/>
          </a:xfrm>
          <a:prstGeom prst="rect">
            <a:avLst/>
          </a:prstGeom>
          <a:ln>
            <a:solidFill>
              <a:schemeClr val="bg1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TW" altLang="en-US" dirty="0"/>
              <a:t>轉法一</a:t>
            </a:r>
            <a:r>
              <a:rPr lang="en-US" altLang="zh-TW" dirty="0"/>
              <a:t>: (redundant </a:t>
            </a:r>
            <a:r>
              <a:rPr lang="zh-TW" altLang="en-US" dirty="0"/>
              <a:t>的轉法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department(</a:t>
            </a:r>
            <a:r>
              <a:rPr lang="en-US" altLang="zh-TW" u="sng" dirty="0" err="1"/>
              <a:t>dept_name</a:t>
            </a:r>
            <a:r>
              <a:rPr lang="en-US" altLang="zh-TW" dirty="0"/>
              <a:t>, building, budget)</a:t>
            </a:r>
          </a:p>
          <a:p>
            <a:r>
              <a:rPr lang="en-US" altLang="zh-TW" dirty="0"/>
              <a:t>instructor (</a:t>
            </a:r>
            <a:r>
              <a:rPr lang="en-US" altLang="zh-TW" u="sng" dirty="0"/>
              <a:t>ID</a:t>
            </a:r>
            <a:r>
              <a:rPr lang="en-US" altLang="zh-TW" dirty="0"/>
              <a:t>, name, salary)</a:t>
            </a:r>
          </a:p>
          <a:p>
            <a:r>
              <a:rPr lang="en-US" altLang="zh-TW" dirty="0" err="1"/>
              <a:t>inst_dept</a:t>
            </a:r>
            <a:r>
              <a:rPr lang="en-US" altLang="zh-TW" dirty="0"/>
              <a:t>(</a:t>
            </a:r>
            <a:r>
              <a:rPr lang="en-US" altLang="zh-TW" dirty="0" err="1"/>
              <a:t>dept_name</a:t>
            </a:r>
            <a:r>
              <a:rPr lang="en-US" altLang="zh-TW" dirty="0"/>
              <a:t>, </a:t>
            </a:r>
            <a:r>
              <a:rPr lang="en-US" altLang="zh-TW" u="sng" dirty="0"/>
              <a:t>ID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轉法二</a:t>
            </a:r>
            <a:r>
              <a:rPr lang="en-US" altLang="zh-TW" dirty="0"/>
              <a:t>: (</a:t>
            </a:r>
            <a:r>
              <a:rPr lang="zh-TW" altLang="en-US" dirty="0"/>
              <a:t>建議的轉法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department(</a:t>
            </a:r>
            <a:r>
              <a:rPr lang="en-US" altLang="zh-TW" u="sng" dirty="0" err="1"/>
              <a:t>dept_name</a:t>
            </a:r>
            <a:r>
              <a:rPr lang="en-US" altLang="zh-TW" dirty="0"/>
              <a:t>, building, budget)</a:t>
            </a:r>
          </a:p>
          <a:p>
            <a:r>
              <a:rPr lang="en-US" altLang="zh-TW" dirty="0"/>
              <a:t>instructor (</a:t>
            </a:r>
            <a:r>
              <a:rPr lang="en-US" altLang="zh-TW" u="sng" dirty="0"/>
              <a:t>ID</a:t>
            </a:r>
            <a:r>
              <a:rPr lang="en-US" altLang="zh-TW" dirty="0"/>
              <a:t>, name, salary, </a:t>
            </a:r>
            <a:r>
              <a:rPr lang="en-US" altLang="zh-TW" dirty="0" err="1"/>
              <a:t>dept_name</a:t>
            </a:r>
            <a:r>
              <a:rPr lang="en-US" altLang="zh-TW" dirty="0"/>
              <a:t>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Redundancy of Schemas (Cont.)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203706"/>
            <a:ext cx="7558904" cy="285623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700" dirty="0"/>
              <a:t>For one-to-one relationship sets, either side can be chosen to act as the “many” side</a:t>
            </a:r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That is, an extra attribute can be added to either of the tables corresponding to the two entity sets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700" dirty="0"/>
              <a:t>If participation is </a:t>
            </a:r>
            <a:r>
              <a:rPr lang="en-US" altLang="en-US" sz="1700" i="1" dirty="0"/>
              <a:t>partial</a:t>
            </a:r>
            <a:r>
              <a:rPr lang="en-US" altLang="en-US" sz="1700" dirty="0"/>
              <a:t> on the “many” side, replacing a schema by an extra attribute in the schema corresponding to the “many” side could result in null values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Redundancy of Schemas (Cont.)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222375"/>
            <a:ext cx="7621047" cy="2424467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700" dirty="0"/>
              <a:t>The schema corresponding to a relationship set linking a weak entity set to its identifying strong entity set is redundant.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17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17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17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700" dirty="0"/>
              <a:t>Example: The </a:t>
            </a:r>
            <a:r>
              <a:rPr lang="en-US" altLang="en-US" sz="1700" i="1" dirty="0"/>
              <a:t>section </a:t>
            </a:r>
            <a:r>
              <a:rPr lang="en-US" altLang="en-US" sz="1700" dirty="0"/>
              <a:t>schema already contains the attributes that would appear in the </a:t>
            </a:r>
            <a:r>
              <a:rPr lang="en-US" altLang="en-US" sz="1700" i="1" dirty="0" err="1"/>
              <a:t>sec_course</a:t>
            </a:r>
            <a:r>
              <a:rPr lang="en-US" altLang="en-US" sz="1700" dirty="0"/>
              <a:t> schema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zh-TW" altLang="en-US" dirty="0"/>
              <a:t>轉出範例如下</a:t>
            </a:r>
            <a:r>
              <a:rPr lang="en-US" altLang="zh-TW" dirty="0"/>
              <a:t>:</a:t>
            </a:r>
          </a:p>
          <a:p>
            <a:pPr marL="1143000" lvl="2">
              <a:lnSpc>
                <a:spcPct val="90000"/>
              </a:lnSpc>
            </a:pPr>
            <a:r>
              <a:rPr lang="en-US" altLang="zh-TW" i="1" dirty="0"/>
              <a:t>section ( </a:t>
            </a:r>
            <a:r>
              <a:rPr lang="en-US" altLang="zh-TW" i="1" u="sng" dirty="0" err="1"/>
              <a:t>course_id</a:t>
            </a:r>
            <a:r>
              <a:rPr lang="en-US" altLang="zh-TW" i="1" u="sng" dirty="0"/>
              <a:t>, </a:t>
            </a:r>
            <a:r>
              <a:rPr lang="en-US" altLang="zh-TW" i="1" u="sng" dirty="0" err="1"/>
              <a:t>sec_id</a:t>
            </a:r>
            <a:r>
              <a:rPr lang="en-US" altLang="zh-TW" i="1" u="sng" dirty="0"/>
              <a:t>, </a:t>
            </a:r>
            <a:r>
              <a:rPr lang="en-US" altLang="zh-TW" i="1" u="sng" dirty="0" err="1"/>
              <a:t>sem</a:t>
            </a:r>
            <a:r>
              <a:rPr lang="en-US" altLang="zh-TW" i="1" u="sng" dirty="0"/>
              <a:t>, year</a:t>
            </a:r>
            <a:r>
              <a:rPr lang="en-US" altLang="zh-TW" i="1" dirty="0"/>
              <a:t> )</a:t>
            </a:r>
          </a:p>
          <a:p>
            <a:pPr marL="1143000" lvl="2">
              <a:lnSpc>
                <a:spcPct val="90000"/>
              </a:lnSpc>
            </a:pPr>
            <a:r>
              <a:rPr lang="en-US" altLang="zh-TW" i="1" dirty="0" err="1"/>
              <a:t>sec_course</a:t>
            </a:r>
            <a:r>
              <a:rPr lang="en-US" altLang="zh-TW" i="1" dirty="0"/>
              <a:t> ( </a:t>
            </a:r>
            <a:r>
              <a:rPr lang="en-US" altLang="zh-TW" i="1" u="sng" dirty="0" err="1"/>
              <a:t>course_id</a:t>
            </a:r>
            <a:r>
              <a:rPr lang="en-US" altLang="zh-TW" i="1" u="sng" dirty="0"/>
              <a:t>, </a:t>
            </a:r>
            <a:r>
              <a:rPr lang="en-US" altLang="zh-TW" i="1" u="sng" dirty="0" err="1"/>
              <a:t>sec_id</a:t>
            </a:r>
            <a:r>
              <a:rPr lang="en-US" altLang="zh-TW" i="1" u="sng" dirty="0"/>
              <a:t>, </a:t>
            </a:r>
            <a:r>
              <a:rPr lang="en-US" altLang="zh-TW" i="1" u="sng" dirty="0" err="1"/>
              <a:t>sem</a:t>
            </a:r>
            <a:r>
              <a:rPr lang="en-US" altLang="zh-TW" i="1" u="sng" dirty="0"/>
              <a:t>, year</a:t>
            </a:r>
            <a:r>
              <a:rPr lang="en-US" altLang="zh-TW" i="1" dirty="0"/>
              <a:t> ) &lt;- redundant!</a:t>
            </a:r>
          </a:p>
          <a:p>
            <a:pPr marL="400050">
              <a:lnSpc>
                <a:spcPct val="90000"/>
              </a:lnSpc>
            </a:pPr>
            <a:r>
              <a:rPr lang="zh-TW" altLang="en-US" dirty="0"/>
              <a:t>注意：要避免轉出</a:t>
            </a:r>
            <a:r>
              <a:rPr lang="en-US" altLang="zh-TW" dirty="0"/>
              <a:t>redundant schema</a:t>
            </a:r>
          </a:p>
          <a:p>
            <a:pPr marL="1143000" lvl="2">
              <a:lnSpc>
                <a:spcPct val="90000"/>
              </a:lnSpc>
            </a:pPr>
            <a:endParaRPr lang="en-US" altLang="zh-TW" i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zh-TW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1700" dirty="0"/>
          </a:p>
          <a:p>
            <a:endParaRPr lang="en-US" altLang="en-US" dirty="0"/>
          </a:p>
        </p:txBody>
      </p:sp>
      <p:pic>
        <p:nvPicPr>
          <p:cNvPr id="5734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341" y="1958069"/>
            <a:ext cx="5707063" cy="121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73685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Extended E-R Features (EER)</a:t>
            </a: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1249226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Specialization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08089"/>
            <a:ext cx="7674314" cy="3924744"/>
          </a:xfrm>
        </p:spPr>
        <p:txBody>
          <a:bodyPr/>
          <a:lstStyle/>
          <a:p>
            <a:r>
              <a:rPr lang="en-US" altLang="en-US" sz="1700" dirty="0"/>
              <a:t>Top-down design process; we designate sub-groupings within an entity set that are distinctive from other entities in the set.</a:t>
            </a:r>
          </a:p>
          <a:p>
            <a:r>
              <a:rPr lang="en-US" altLang="en-US" sz="1700" dirty="0"/>
              <a:t>These sub-groupings become lower-level entity sets that have attributes or participate in relationships that do not apply to the higher-level entity set.</a:t>
            </a:r>
          </a:p>
          <a:p>
            <a:r>
              <a:rPr lang="en-US" altLang="en-US" sz="1700" dirty="0"/>
              <a:t>Depicted by a </a:t>
            </a:r>
            <a:r>
              <a:rPr lang="en-US" altLang="en-US" sz="1700" i="1" dirty="0"/>
              <a:t>triangle</a:t>
            </a:r>
            <a:r>
              <a:rPr lang="en-US" altLang="en-US" sz="1700" dirty="0"/>
              <a:t> component labeled ISA (e.g.,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“is a” </a:t>
            </a:r>
            <a:r>
              <a:rPr lang="en-US" altLang="en-US" sz="1700" i="1" dirty="0"/>
              <a:t>person</a:t>
            </a:r>
            <a:r>
              <a:rPr lang="en-US" altLang="en-US" sz="1700" dirty="0"/>
              <a:t>).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Attribute inheritance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– a lower-level entity set inherits all the attributes and relationship participation of the higher-level entity set to which it is linked.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437074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Specialization Example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993775"/>
            <a:ext cx="7692898" cy="1240952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Overlapping</a:t>
            </a:r>
            <a:r>
              <a:rPr lang="en-US" altLang="en-US" sz="1700" dirty="0"/>
              <a:t> – </a:t>
            </a:r>
            <a:r>
              <a:rPr lang="en-US" altLang="en-US" sz="1700" i="1" dirty="0"/>
              <a:t>employee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student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Disjoint</a:t>
            </a:r>
            <a:r>
              <a:rPr lang="en-US" altLang="en-US" sz="1700" dirty="0"/>
              <a:t> –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secretary</a:t>
            </a:r>
          </a:p>
          <a:p>
            <a:r>
              <a:rPr lang="en-US" altLang="en-US" sz="1700" dirty="0"/>
              <a:t>Total and partial (</a:t>
            </a:r>
            <a:r>
              <a:rPr lang="zh-TW" altLang="en-US" dirty="0"/>
              <a:t>看下兩頁</a:t>
            </a:r>
            <a:r>
              <a:rPr lang="en-US" altLang="en-US" sz="1700" dirty="0"/>
              <a:t>)</a:t>
            </a:r>
          </a:p>
        </p:txBody>
      </p:sp>
      <p:pic>
        <p:nvPicPr>
          <p:cNvPr id="6042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504" y="2251539"/>
            <a:ext cx="3225546" cy="33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19381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55663" y="114300"/>
            <a:ext cx="8077200" cy="56197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Completeness constraint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6883" y="1187451"/>
            <a:ext cx="7471591" cy="3165094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Completeness constraint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-- specifies whether or not an entity in the higher-level entity set must belong to at least one of the lower-level entity sets within a generalization.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total</a:t>
            </a:r>
            <a:r>
              <a:rPr lang="en-US" altLang="en-US" sz="1700" dirty="0">
                <a:ea typeface="ＭＳ Ｐゴシック" panose="020B0600070205080204" pitchFamily="34" charset="-128"/>
              </a:rPr>
              <a:t>: an entity must belong to one of the lower-level entity sets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partial</a:t>
            </a:r>
            <a:r>
              <a:rPr lang="en-US" altLang="en-US" sz="1700" dirty="0">
                <a:ea typeface="ＭＳ Ｐゴシック" panose="020B0600070205080204" pitchFamily="34" charset="-128"/>
              </a:rPr>
              <a:t>: an entity need not belong to one of the lower-level entity sets</a:t>
            </a:r>
          </a:p>
          <a:p>
            <a:endParaRPr lang="en-US" altLang="en-US" sz="1600" dirty="0"/>
          </a:p>
          <a:p>
            <a:endParaRPr lang="en-US" altLang="en-US" dirty="0"/>
          </a:p>
          <a:p>
            <a:endParaRPr lang="en-US" altLang="en-US" dirty="0"/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86976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55663" y="114300"/>
            <a:ext cx="8077200" cy="56197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Completeness constraint (Cont.)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233996"/>
            <a:ext cx="7354144" cy="3435976"/>
          </a:xfrm>
        </p:spPr>
        <p:txBody>
          <a:bodyPr/>
          <a:lstStyle/>
          <a:p>
            <a:r>
              <a:rPr lang="en-US" altLang="en-US" sz="1700" dirty="0"/>
              <a:t>Partial generalization is the default.  </a:t>
            </a:r>
          </a:p>
          <a:p>
            <a:r>
              <a:rPr lang="en-US" altLang="en-US" sz="1700" dirty="0"/>
              <a:t>We can specify total generalization in an ER diagram by adding the keyword </a:t>
            </a:r>
            <a:r>
              <a:rPr lang="en-US" altLang="en-US" sz="1700" b="1" dirty="0"/>
              <a:t>total</a:t>
            </a:r>
            <a:r>
              <a:rPr lang="en-US" altLang="en-US" sz="1700" dirty="0"/>
              <a:t> in the diagram and drawing a dashed line from the keyword to the corresponding hollow arrow-head to which it applies (for a total generalization), or to the set of hollow arrow-heads to which it applies (for an overlapping generalization).</a:t>
            </a:r>
          </a:p>
          <a:p>
            <a:r>
              <a:rPr lang="en-US" altLang="en-US" sz="1700" dirty="0"/>
              <a:t>The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generalization </a:t>
            </a:r>
            <a:r>
              <a:rPr lang="en-US" altLang="en-US" dirty="0"/>
              <a:t>below </a:t>
            </a:r>
            <a:r>
              <a:rPr lang="en-US" altLang="en-US" sz="1700" dirty="0"/>
              <a:t>is total: All student entities must be either graduate or undergraduate. </a:t>
            </a:r>
          </a:p>
          <a:p>
            <a:r>
              <a:rPr lang="en-US" altLang="en-US" sz="1700" dirty="0"/>
              <a:t>Because the higher-level entity set arrived at through generalization is generally composed of only those entities in the lower-level entity sets, the completeness constraint for a generalized higher-level entity set is usually total.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dirty="0"/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F5DEF3-55B1-4410-BB29-5FD0166FCC7F}"/>
              </a:ext>
            </a:extLst>
          </p:cNvPr>
          <p:cNvSpPr/>
          <p:nvPr/>
        </p:nvSpPr>
        <p:spPr bwMode="auto">
          <a:xfrm>
            <a:off x="4344320" y="4669972"/>
            <a:ext cx="971657" cy="2682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rPr>
              <a:t>student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EF2F00-5A54-4E6B-A31E-F036883646CB}"/>
              </a:ext>
            </a:extLst>
          </p:cNvPr>
          <p:cNvSpPr/>
          <p:nvPr/>
        </p:nvSpPr>
        <p:spPr bwMode="auto">
          <a:xfrm>
            <a:off x="3600343" y="5566854"/>
            <a:ext cx="971657" cy="3265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latin typeface="Helvetica" charset="0"/>
              </a:rPr>
              <a:t>graduate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DE868F-5BEF-4FC6-8FEC-F277C8726DEB}"/>
              </a:ext>
            </a:extLst>
          </p:cNvPr>
          <p:cNvSpPr/>
          <p:nvPr/>
        </p:nvSpPr>
        <p:spPr bwMode="auto">
          <a:xfrm>
            <a:off x="4962977" y="5566854"/>
            <a:ext cx="1495651" cy="3265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latin typeface="Helvetica" charset="0"/>
              </a:rPr>
              <a:t>undergraduate</a:t>
            </a: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C96C08A-9DF9-4F6F-AF80-4ED9B4E42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153" y="4995354"/>
            <a:ext cx="1771650" cy="571500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4C67BE6-C476-4893-BAA8-EE5577D8608D}"/>
              </a:ext>
            </a:extLst>
          </p:cNvPr>
          <p:cNvCxnSpPr>
            <a:cxnSpLocks/>
          </p:cNvCxnSpPr>
          <p:nvPr/>
        </p:nvCxnSpPr>
        <p:spPr bwMode="auto">
          <a:xfrm>
            <a:off x="4894263" y="5082440"/>
            <a:ext cx="116216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80A341B-62DB-4B0B-802F-409C12C02F6F}"/>
              </a:ext>
            </a:extLst>
          </p:cNvPr>
          <p:cNvSpPr txBox="1"/>
          <p:nvPr/>
        </p:nvSpPr>
        <p:spPr>
          <a:xfrm>
            <a:off x="6122880" y="4931572"/>
            <a:ext cx="1162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total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99873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08038" y="492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Specialization via Schemas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60" y="1157289"/>
            <a:ext cx="7507195" cy="4499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/>
              <a:t>Method 1: </a:t>
            </a: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</a:rPr>
              <a:t>Form a schema for the higher-level entity </a:t>
            </a: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</a:rPr>
              <a:t>Form a schema for each lower-level entity set, include primary key of higher-level entity set and local attributes</a:t>
            </a:r>
          </a:p>
          <a:p>
            <a:pPr marL="457200" lvl="1" indent="0">
              <a:buSzPct val="110000"/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br>
              <a:rPr lang="en-US" altLang="en-US" sz="1700" dirty="0">
                <a:ea typeface="ＭＳ Ｐゴシック" panose="020B0600070205080204" pitchFamily="34" charset="-128"/>
              </a:rPr>
            </a:br>
            <a:br>
              <a:rPr lang="en-US" altLang="en-US" sz="1700" dirty="0">
                <a:ea typeface="ＭＳ Ｐゴシック" panose="020B0600070205080204" pitchFamily="34" charset="-128"/>
              </a:rPr>
            </a:b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  <a:p>
            <a:pPr marL="457200" lvl="1" indent="0"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</a:rPr>
              <a:t>Drawback:  getting information about, an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employee</a:t>
            </a:r>
            <a:r>
              <a:rPr lang="en-US" altLang="en-US" sz="1700" dirty="0">
                <a:ea typeface="ＭＳ Ｐゴシック" panose="020B0600070205080204" pitchFamily="34" charset="-128"/>
              </a:rPr>
              <a:t> requires accessing two relations, the one corresponding to the low-level schema and the one corresponding to the high-level schema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737" y="2621661"/>
            <a:ext cx="3633407" cy="126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551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6027" y="96901"/>
            <a:ext cx="8942773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Specialization as Schemas (Cont.)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3480" y="1148763"/>
            <a:ext cx="7392969" cy="397294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/>
              <a:t>Method 2:  </a:t>
            </a: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</a:rPr>
              <a:t>Form a schema for each entity set with all local and inherited attributes</a:t>
            </a:r>
          </a:p>
          <a:p>
            <a:pPr lvl="1">
              <a:buFont typeface="Monotype Sorts" charset="2"/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>
              <a:buFont typeface="Monotype Sorts" charset="2"/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>
              <a:buFont typeface="Monotype Sorts" charset="2"/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>
              <a:buFont typeface="Monotype Sorts" charset="2"/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en-US" sz="1700" dirty="0">
                <a:ea typeface="ＭＳ Ｐゴシック" panose="020B0600070205080204" pitchFamily="34" charset="-128"/>
              </a:rPr>
              <a:t>Drawback: 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name, street</a:t>
            </a:r>
            <a:r>
              <a:rPr lang="en-US" altLang="en-US" sz="1700" dirty="0">
                <a:ea typeface="ＭＳ Ｐゴシック" panose="020B0600070205080204" pitchFamily="34" charset="-128"/>
              </a:rPr>
              <a:t> and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city</a:t>
            </a:r>
            <a:r>
              <a:rPr lang="en-US" altLang="en-US" sz="1700" dirty="0">
                <a:ea typeface="ＭＳ Ｐゴシック" panose="020B0600070205080204" pitchFamily="34" charset="-128"/>
              </a:rPr>
              <a:t> may be stored redundantly for people who are both students and employees</a:t>
            </a:r>
          </a:p>
          <a:p>
            <a:pPr lvl="1"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zh-TW" dirty="0"/>
              <a:t>If specialization is total, the schema for the generalized entity set (</a:t>
            </a:r>
            <a:r>
              <a:rPr lang="en-US" altLang="zh-TW" i="1" dirty="0"/>
              <a:t>person</a:t>
            </a:r>
            <a:r>
              <a:rPr lang="en-US" altLang="zh-TW" dirty="0"/>
              <a:t>) not required to store information</a:t>
            </a:r>
          </a:p>
          <a:p>
            <a:pPr lvl="2"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zh-TW" dirty="0"/>
              <a:t>Can be defined as a “view” relation containing union of specialization relations</a:t>
            </a:r>
          </a:p>
          <a:p>
            <a:pPr lvl="2"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r>
              <a:rPr lang="en-US" altLang="zh-TW" dirty="0"/>
              <a:t>But explicit schema may still be needed for foreign key constraints</a:t>
            </a: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713" algn="ctr"/>
                <a:tab pos="2452688" algn="l"/>
                <a:tab pos="3824288" algn="ctr"/>
              </a:tabLst>
            </a:pPr>
            <a:endParaRPr lang="en-US" altLang="en-US" sz="1700" dirty="0">
              <a:ea typeface="ＭＳ Ｐゴシック" panose="020B0600070205080204" pitchFamily="3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483" y="2212449"/>
            <a:ext cx="4451033" cy="121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8147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Generalization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68400"/>
            <a:ext cx="7541149" cy="2674938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A bottom-up design process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– combine a number of entity sets that share the same features into a higher-level entity set.</a:t>
            </a:r>
          </a:p>
          <a:p>
            <a:r>
              <a:rPr lang="en-US" altLang="en-US" sz="1700" dirty="0"/>
              <a:t>Specialization and generalization are simple inversions of each other; they are represented in an E-R diagram in the same way.</a:t>
            </a:r>
          </a:p>
          <a:p>
            <a:r>
              <a:rPr lang="en-US" altLang="en-US" sz="1700" dirty="0"/>
              <a:t>The terms specialization and generalization are used interchangeably.</a:t>
            </a:r>
          </a:p>
        </p:txBody>
      </p:sp>
    </p:spTree>
    <p:extLst>
      <p:ext uri="{BB962C8B-B14F-4D97-AF65-F5344CB8AC3E}">
        <p14:creationId xmlns:p14="http://schemas.microsoft.com/office/powerpoint/2010/main" val="7256679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09675" y="52388"/>
            <a:ext cx="6726238" cy="6223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Aggregation</a:t>
            </a:r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710215" y="1071563"/>
            <a:ext cx="7679184" cy="100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00050">
              <a:spcBef>
                <a:spcPct val="50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Consider the ternary relationship </a:t>
            </a:r>
            <a:r>
              <a:rPr kumimoji="1" lang="en-US" altLang="en-US" sz="1700" i="1" dirty="0" err="1"/>
              <a:t>proj_guide</a:t>
            </a:r>
            <a:r>
              <a:rPr kumimoji="1" lang="en-US" altLang="en-US" sz="1700" dirty="0"/>
              <a:t>, which we saw earlier</a:t>
            </a:r>
          </a:p>
          <a:p>
            <a:pPr marL="400050">
              <a:spcBef>
                <a:spcPct val="50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Suppose we want to record evaluations of a student by a guide on a project</a:t>
            </a:r>
          </a:p>
        </p:txBody>
      </p:sp>
      <p:pic>
        <p:nvPicPr>
          <p:cNvPr id="66564" name="Picture 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896" y="2201769"/>
            <a:ext cx="4140454" cy="32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4882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Aggregation (Cont.)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84275"/>
            <a:ext cx="7677723" cy="3760587"/>
          </a:xfrm>
        </p:spPr>
        <p:txBody>
          <a:bodyPr/>
          <a:lstStyle/>
          <a:p>
            <a:r>
              <a:rPr lang="en-US" altLang="en-US" sz="1700" dirty="0"/>
              <a:t>Relationship sets </a:t>
            </a:r>
            <a:r>
              <a:rPr lang="en-US" altLang="en-US" sz="1700" i="1" dirty="0" err="1"/>
              <a:t>eval_for</a:t>
            </a:r>
            <a:r>
              <a:rPr lang="en-US" altLang="en-US" sz="1700" i="1" dirty="0"/>
              <a:t> </a:t>
            </a:r>
            <a:r>
              <a:rPr lang="en-US" altLang="en-US" sz="1700" dirty="0"/>
              <a:t>and </a:t>
            </a:r>
            <a:r>
              <a:rPr lang="en-US" altLang="en-US" sz="1700" i="1" dirty="0" err="1"/>
              <a:t>proj_guide</a:t>
            </a:r>
            <a:r>
              <a:rPr lang="en-US" altLang="en-US" sz="1700" dirty="0"/>
              <a:t> represent overlapping information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Every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eval_for</a:t>
            </a:r>
            <a:r>
              <a:rPr lang="en-US" altLang="en-US" sz="1700" dirty="0">
                <a:ea typeface="ＭＳ Ｐゴシック" panose="020B0600070205080204" pitchFamily="34" charset="-128"/>
              </a:rPr>
              <a:t> relationship corresponds to a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proj_guide</a:t>
            </a:r>
            <a:r>
              <a:rPr lang="en-US" altLang="en-US" sz="1700" dirty="0">
                <a:ea typeface="ＭＳ Ｐゴシック" panose="020B0600070205080204" pitchFamily="34" charset="-128"/>
              </a:rPr>
              <a:t> relationship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However, some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proj_guide</a:t>
            </a:r>
            <a:r>
              <a:rPr lang="en-US" altLang="en-US" sz="1700" dirty="0">
                <a:ea typeface="ＭＳ Ｐゴシック" panose="020B0600070205080204" pitchFamily="34" charset="-128"/>
              </a:rPr>
              <a:t> relationships may not correspond to any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eval_for</a:t>
            </a:r>
            <a:r>
              <a:rPr lang="en-US" altLang="en-US" sz="1700" dirty="0">
                <a:ea typeface="ＭＳ Ｐゴシック" panose="020B0600070205080204" pitchFamily="34" charset="-128"/>
              </a:rPr>
              <a:t> relationships </a:t>
            </a:r>
          </a:p>
          <a:p>
            <a:pPr lvl="2"/>
            <a:r>
              <a:rPr lang="en-US" altLang="en-US" sz="1700" dirty="0">
                <a:ea typeface="ＭＳ Ｐゴシック" panose="020B0600070205080204" pitchFamily="34" charset="-128"/>
              </a:rPr>
              <a:t>So we can’t discard the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proj_guide</a:t>
            </a:r>
            <a:r>
              <a:rPr lang="en-US" altLang="en-US" sz="1700" dirty="0">
                <a:ea typeface="ＭＳ Ｐゴシック" panose="020B0600070205080204" pitchFamily="34" charset="-128"/>
              </a:rPr>
              <a:t> relationship</a:t>
            </a:r>
          </a:p>
          <a:p>
            <a:r>
              <a:rPr lang="en-US" altLang="en-US" sz="1700" dirty="0"/>
              <a:t>Eliminate this redundancy via </a:t>
            </a:r>
            <a:r>
              <a:rPr lang="en-US" altLang="en-US" sz="1700" i="1" dirty="0"/>
              <a:t>aggregation</a:t>
            </a:r>
            <a:endParaRPr lang="en-US" altLang="en-US" sz="1700" dirty="0"/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Treat relationship as an abstract entity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Allows relationships between relationships 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Abstraction of relationship into new entity</a:t>
            </a:r>
          </a:p>
        </p:txBody>
      </p:sp>
    </p:spTree>
    <p:extLst>
      <p:ext uri="{BB962C8B-B14F-4D97-AF65-F5344CB8AC3E}">
        <p14:creationId xmlns:p14="http://schemas.microsoft.com/office/powerpoint/2010/main" val="25069988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Aggregation (Cont.)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1" y="1106488"/>
            <a:ext cx="7647680" cy="17732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700" dirty="0"/>
              <a:t>Eliminate this redundancy via </a:t>
            </a:r>
            <a:r>
              <a:rPr lang="en-US" altLang="en-US" sz="1700" i="1" dirty="0"/>
              <a:t>aggregation</a:t>
            </a:r>
            <a:r>
              <a:rPr lang="en-US" altLang="en-US" sz="1700" dirty="0"/>
              <a:t> without introducing redundancy, the following diagram represents: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A student is guided by a particular instructor on a particular project 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ＭＳ Ｐゴシック" panose="020B0600070205080204" pitchFamily="34" charset="-128"/>
              </a:rPr>
              <a:t>A student, instructor, project combination may have an associated evaluation</a:t>
            </a:r>
          </a:p>
        </p:txBody>
      </p:sp>
      <p:pic>
        <p:nvPicPr>
          <p:cNvPr id="68612" name="Picture 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392" y="2837298"/>
            <a:ext cx="3677389" cy="2952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7104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>
                <a:effectLst/>
              </a:rPr>
              <a:t>Design Issues</a:t>
            </a:r>
          </a:p>
        </p:txBody>
      </p:sp>
    </p:spTree>
    <p:extLst>
      <p:ext uri="{BB962C8B-B14F-4D97-AF65-F5344CB8AC3E}">
        <p14:creationId xmlns:p14="http://schemas.microsoft.com/office/powerpoint/2010/main" val="9696619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2488" y="428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Common Mistakes in E-R Diagrams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7" y="1093788"/>
            <a:ext cx="7396283" cy="503364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1700" dirty="0"/>
              <a:t>Example of erroneous E-R diagrams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(a) </a:t>
            </a:r>
            <a:r>
              <a:rPr lang="zh-TW" altLang="en-US" dirty="0"/>
              <a:t>使用別人的</a:t>
            </a:r>
            <a:r>
              <a:rPr lang="en-US" altLang="zh-TW" dirty="0"/>
              <a:t>primary key</a:t>
            </a:r>
            <a:r>
              <a:rPr lang="zh-TW" altLang="en-US" dirty="0"/>
              <a:t>作為自己或關係的屬性。</a:t>
            </a:r>
            <a:endParaRPr lang="en-US" altLang="zh-TW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(b) </a:t>
            </a:r>
            <a:r>
              <a:rPr lang="zh-TW" altLang="en-US" dirty="0"/>
              <a:t>使用只具有</a:t>
            </a:r>
            <a:r>
              <a:rPr lang="en-US" altLang="zh-TW" dirty="0"/>
              <a:t>single-valued attribute</a:t>
            </a:r>
            <a:r>
              <a:rPr lang="zh-TW" altLang="en-US" dirty="0"/>
              <a:t>的關係來表示</a:t>
            </a:r>
            <a:r>
              <a:rPr lang="en-US" altLang="zh-TW" dirty="0"/>
              <a:t>multivalued attribute.</a:t>
            </a:r>
            <a:r>
              <a:rPr lang="en-US" altLang="en-US" dirty="0"/>
              <a:t> </a:t>
            </a:r>
            <a:br>
              <a:rPr lang="en-US" altLang="en-US" sz="2000" dirty="0"/>
            </a:br>
            <a:br>
              <a:rPr lang="en-US" altLang="en-US" sz="2000" b="1" dirty="0">
                <a:solidFill>
                  <a:schemeClr val="tx2"/>
                </a:solidFill>
              </a:rPr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  <a:p>
            <a:endParaRPr lang="en-US" altLang="en-US" sz="2000" dirty="0"/>
          </a:p>
          <a:p>
            <a:pPr>
              <a:buFont typeface="Monotype Sorts" charset="2"/>
              <a:buNone/>
            </a:pPr>
            <a:endParaRPr lang="en-US" altLang="en-US" sz="2000" dirty="0"/>
          </a:p>
        </p:txBody>
      </p:sp>
      <p:pic>
        <p:nvPicPr>
          <p:cNvPr id="71684" name="Picture 5" descr="C:\Users\as668\Desktop\Judi\6_2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8479" y="2542503"/>
            <a:ext cx="4364037" cy="368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27305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2488" y="428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Common Mistakes in E-R Diagrams (Cont.)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8" y="1093788"/>
            <a:ext cx="7758728" cy="491172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1700" dirty="0"/>
              <a:t>Correct versions of the E-R diagram of previous slide</a:t>
            </a:r>
            <a:br>
              <a:rPr lang="en-US" altLang="en-US" sz="2000" b="1" dirty="0">
                <a:solidFill>
                  <a:schemeClr val="tx2"/>
                </a:solidFill>
              </a:rPr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  <a:p>
            <a:endParaRPr lang="en-US" altLang="en-US" sz="2000" dirty="0"/>
          </a:p>
          <a:p>
            <a:pPr>
              <a:buFont typeface="Monotype Sorts" charset="2"/>
              <a:buNone/>
            </a:pPr>
            <a:endParaRPr lang="en-US" altLang="en-US" sz="2000" dirty="0"/>
          </a:p>
        </p:txBody>
      </p:sp>
      <p:pic>
        <p:nvPicPr>
          <p:cNvPr id="72708" name="Picture 2" descr="C:\Users\as668\Desktop\Judi\6_2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844" y="1846996"/>
            <a:ext cx="6721074" cy="4228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85464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2488" y="428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Entities vs. Attributes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7" y="1093788"/>
            <a:ext cx="7606861" cy="4368228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1700" dirty="0"/>
              <a:t>Use of entity sets vs. attributes</a:t>
            </a:r>
            <a:br>
              <a:rPr lang="en-US" altLang="en-US" sz="1700" dirty="0"/>
            </a:br>
            <a:br>
              <a:rPr lang="en-US" altLang="en-US" sz="1700" b="1" dirty="0">
                <a:solidFill>
                  <a:schemeClr val="tx2"/>
                </a:solidFill>
              </a:rPr>
            </a:br>
            <a:br>
              <a:rPr lang="en-US" altLang="en-US" sz="1700" dirty="0"/>
            </a:br>
            <a:br>
              <a:rPr lang="en-US" altLang="en-US" sz="1700" dirty="0"/>
            </a:br>
            <a:br>
              <a:rPr lang="en-US" altLang="en-US" sz="1700" dirty="0"/>
            </a:br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1700" dirty="0"/>
              <a:t>Use of phone as an entity allows extra information about phone numbers (plus multiple phone numbers)</a:t>
            </a:r>
          </a:p>
        </p:txBody>
      </p:sp>
      <p:pic>
        <p:nvPicPr>
          <p:cNvPr id="7373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42"/>
          <a:stretch>
            <a:fillRect/>
          </a:stretch>
        </p:blipFill>
        <p:spPr bwMode="auto">
          <a:xfrm>
            <a:off x="1600228" y="1835368"/>
            <a:ext cx="5598097" cy="1218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線接點 4"/>
          <p:cNvCxnSpPr/>
          <p:nvPr/>
        </p:nvCxnSpPr>
        <p:spPr bwMode="auto">
          <a:xfrm>
            <a:off x="7207624" y="2022438"/>
            <a:ext cx="0" cy="5809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2460400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Entities vs. Relationship sets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093788"/>
            <a:ext cx="7416862" cy="4990020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1700" b="1" dirty="0">
                <a:solidFill>
                  <a:srgbClr val="002060"/>
                </a:solidFill>
              </a:rPr>
              <a:t>Use of entity sets vs. relationship sets</a:t>
            </a:r>
            <a:r>
              <a:rPr lang="zh-TW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zh-TW" sz="1700" b="1" dirty="0">
                <a:solidFill>
                  <a:srgbClr val="002060"/>
                </a:solidFill>
              </a:rPr>
              <a:t>(</a:t>
            </a:r>
            <a:r>
              <a:rPr lang="zh-TW" altLang="en-US" sz="1700" b="1" dirty="0">
                <a:solidFill>
                  <a:srgbClr val="002060"/>
                </a:solidFill>
              </a:rPr>
              <a:t>參考原</a:t>
            </a:r>
            <a:r>
              <a:rPr lang="en-US" altLang="zh-TW" sz="1700" b="1" dirty="0">
                <a:solidFill>
                  <a:srgbClr val="002060"/>
                </a:solidFill>
              </a:rPr>
              <a:t>ER</a:t>
            </a:r>
            <a:r>
              <a:rPr lang="zh-TW" altLang="en-US" sz="1700" b="1" dirty="0">
                <a:solidFill>
                  <a:srgbClr val="002060"/>
                </a:solidFill>
              </a:rPr>
              <a:t>圖的</a:t>
            </a:r>
            <a:r>
              <a:rPr lang="en-US" altLang="zh-TW" sz="1700" b="1" dirty="0">
                <a:solidFill>
                  <a:srgbClr val="002060"/>
                </a:solidFill>
              </a:rPr>
              <a:t>takes </a:t>
            </a:r>
            <a:r>
              <a:rPr lang="zh-TW" altLang="en-US" sz="1700" b="1" dirty="0">
                <a:solidFill>
                  <a:srgbClr val="002060"/>
                </a:solidFill>
              </a:rPr>
              <a:t>關係</a:t>
            </a:r>
            <a:r>
              <a:rPr lang="en-US" altLang="zh-TW" sz="1700" b="1" dirty="0">
                <a:solidFill>
                  <a:srgbClr val="002060"/>
                </a:solidFill>
              </a:rPr>
              <a:t>)</a:t>
            </a: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700" b="1" dirty="0">
              <a:solidFill>
                <a:srgbClr val="00206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1700" dirty="0"/>
              <a:t>      Possible guideline is to designate a relationship set to describe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altLang="en-US" sz="1700" dirty="0"/>
              <a:t>an action that occurs between entities</a:t>
            </a: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r>
              <a:rPr lang="en-US" altLang="en-US" sz="1700" b="1" dirty="0">
                <a:solidFill>
                  <a:srgbClr val="002060"/>
                </a:solidFill>
              </a:rPr>
              <a:t>Placement of relationship attributes</a:t>
            </a:r>
            <a:endParaRPr lang="en-US" altLang="en-US" sz="2000" b="1" dirty="0">
              <a:solidFill>
                <a:srgbClr val="002060"/>
              </a:solidFill>
            </a:endParaRPr>
          </a:p>
          <a:p>
            <a:endParaRPr lang="en-US" altLang="en-US" sz="2000" b="1" dirty="0">
              <a:solidFill>
                <a:srgbClr val="000099"/>
              </a:solidFill>
            </a:endParaRPr>
          </a:p>
          <a:p>
            <a:endParaRPr lang="en-US" altLang="en-US" sz="2000" b="1" dirty="0">
              <a:solidFill>
                <a:srgbClr val="000099"/>
              </a:solidFill>
            </a:endParaRPr>
          </a:p>
          <a:p>
            <a:endParaRPr lang="en-US" altLang="en-US" sz="2000" b="1" dirty="0">
              <a:solidFill>
                <a:srgbClr val="000099"/>
              </a:solidFill>
            </a:endParaRPr>
          </a:p>
          <a:p>
            <a:pPr marL="37931725" lvl="1" indent="-37474525"/>
            <a:endParaRPr lang="en-US" altLang="en-US" sz="200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7475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296" y="2280273"/>
            <a:ext cx="5343596" cy="1964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127464" y="4935746"/>
            <a:ext cx="6309656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en-US" sz="1700" dirty="0">
                <a:latin typeface="+mn-lt"/>
                <a:ea typeface="ＭＳ Ｐゴシック" charset="-128"/>
              </a:rPr>
              <a:t>For example, attribute </a:t>
            </a:r>
            <a:r>
              <a:rPr kumimoji="1" lang="en-US" sz="1700" i="1" dirty="0">
                <a:latin typeface="+mn-lt"/>
                <a:ea typeface="ＭＳ Ｐゴシック" charset="-128"/>
              </a:rPr>
              <a:t>date</a:t>
            </a:r>
            <a:r>
              <a:rPr kumimoji="1" lang="en-US" sz="1700" dirty="0">
                <a:latin typeface="+mn-lt"/>
                <a:ea typeface="ＭＳ Ｐゴシック" charset="-128"/>
              </a:rPr>
              <a:t> as attribute of </a:t>
            </a:r>
            <a:r>
              <a:rPr kumimoji="1" lang="en-US" sz="1700" i="1" dirty="0">
                <a:latin typeface="+mn-lt"/>
                <a:ea typeface="ＭＳ Ｐゴシック" charset="-128"/>
              </a:rPr>
              <a:t>advisor</a:t>
            </a:r>
            <a:r>
              <a:rPr kumimoji="1" lang="en-US" sz="1700" dirty="0">
                <a:latin typeface="+mn-lt"/>
                <a:ea typeface="ＭＳ Ｐゴシック" charset="-128"/>
              </a:rPr>
              <a:t> or as attribute of </a:t>
            </a:r>
            <a:r>
              <a:rPr kumimoji="1" lang="en-US" sz="1700" i="1" dirty="0">
                <a:latin typeface="+mn-lt"/>
                <a:ea typeface="ＭＳ Ｐゴシック" charset="-128"/>
              </a:rPr>
              <a:t>student (</a:t>
            </a:r>
            <a:r>
              <a:rPr kumimoji="1" lang="zh-TW" altLang="en-US" sz="1700" dirty="0">
                <a:latin typeface="+mn-lt"/>
                <a:ea typeface="ＭＳ Ｐゴシック" charset="-128"/>
              </a:rPr>
              <a:t>對照</a:t>
            </a:r>
            <a:r>
              <a:rPr kumimoji="1" lang="en-US" altLang="zh-TW" sz="1700" dirty="0">
                <a:latin typeface="+mn-lt"/>
                <a:ea typeface="ＭＳ Ｐゴシック" charset="-128"/>
              </a:rPr>
              <a:t>p6.15</a:t>
            </a:r>
            <a:r>
              <a:rPr kumimoji="1" lang="zh-TW" altLang="en-US" sz="1700" dirty="0">
                <a:latin typeface="+mn-lt"/>
                <a:ea typeface="ＭＳ Ｐゴシック" charset="-128"/>
              </a:rPr>
              <a:t>的圖</a:t>
            </a:r>
            <a:r>
              <a:rPr kumimoji="1" lang="en-US" altLang="zh-TW" sz="1700" i="1" dirty="0">
                <a:latin typeface="+mn-lt"/>
                <a:ea typeface="ＭＳ Ｐゴシック" charset="-128"/>
              </a:rPr>
              <a:t>)</a:t>
            </a:r>
            <a:endParaRPr kumimoji="1" lang="en-US" sz="1700" i="1" dirty="0">
              <a:latin typeface="+mn-lt"/>
              <a:ea typeface="ＭＳ Ｐゴシック" charset="-128"/>
            </a:endParaRPr>
          </a:p>
          <a:p>
            <a:pPr>
              <a:defRPr/>
            </a:pPr>
            <a:endParaRPr kumimoji="1" lang="en-US" sz="1700" dirty="0">
              <a:latin typeface="+mn-lt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48453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9525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Binary Vs. Non-Binary Relationships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8" y="1107341"/>
            <a:ext cx="7572652" cy="4932779"/>
          </a:xfrm>
        </p:spPr>
        <p:txBody>
          <a:bodyPr/>
          <a:lstStyle/>
          <a:p>
            <a:r>
              <a:rPr lang="en-US" altLang="en-US" sz="1700" dirty="0"/>
              <a:t>Although it is possible to replace any non-binary (</a:t>
            </a:r>
            <a:r>
              <a:rPr lang="en-US" altLang="en-US" sz="1700" i="1" dirty="0"/>
              <a:t>n</a:t>
            </a:r>
            <a:r>
              <a:rPr lang="en-US" altLang="en-US" sz="1700" dirty="0"/>
              <a:t>-</a:t>
            </a:r>
            <a:r>
              <a:rPr lang="en-US" altLang="en-US" sz="1700" dirty="0" err="1"/>
              <a:t>ary</a:t>
            </a:r>
            <a:r>
              <a:rPr lang="en-US" altLang="en-US" sz="1700" dirty="0"/>
              <a:t>, for </a:t>
            </a:r>
            <a:r>
              <a:rPr lang="en-US" altLang="en-US" sz="1700" i="1" dirty="0"/>
              <a:t>n</a:t>
            </a:r>
            <a:r>
              <a:rPr lang="en-US" altLang="en-US" sz="1700" dirty="0"/>
              <a:t> &gt; 2) relationship set by a number of distinct binary relationship sets, a </a:t>
            </a:r>
            <a:r>
              <a:rPr lang="en-US" altLang="en-US" sz="1700" i="1" dirty="0"/>
              <a:t>n</a:t>
            </a:r>
            <a:r>
              <a:rPr lang="en-US" altLang="en-US" sz="1700" dirty="0"/>
              <a:t>-</a:t>
            </a:r>
            <a:r>
              <a:rPr lang="en-US" altLang="en-US" sz="1700" dirty="0" err="1"/>
              <a:t>ary</a:t>
            </a:r>
            <a:r>
              <a:rPr lang="en-US" altLang="en-US" sz="1700" dirty="0"/>
              <a:t> relationship set shows more clearly that several entities participate in a single relationship.</a:t>
            </a:r>
          </a:p>
          <a:p>
            <a:r>
              <a:rPr lang="en-US" altLang="en-US" sz="1700" dirty="0"/>
              <a:t>Some relationships that appear to be non-binary may be better represented using binary relationships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For example,  a ternary relationship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parents</a:t>
            </a:r>
            <a:r>
              <a:rPr lang="en-US" altLang="en-US" sz="1700" dirty="0">
                <a:ea typeface="ＭＳ Ｐゴシック" panose="020B0600070205080204" pitchFamily="34" charset="-128"/>
              </a:rPr>
              <a:t>, relating a child to his/her father and mother, is best replaced by two binary relationships, 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father</a:t>
            </a:r>
            <a:r>
              <a:rPr lang="en-US" altLang="en-US" sz="1700" dirty="0">
                <a:ea typeface="ＭＳ Ｐゴシック" panose="020B0600070205080204" pitchFamily="34" charset="-128"/>
              </a:rPr>
              <a:t> and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mother</a:t>
            </a:r>
          </a:p>
          <a:p>
            <a:pPr lvl="2"/>
            <a:r>
              <a:rPr lang="en-US" altLang="en-US" sz="1700" dirty="0">
                <a:ea typeface="ＭＳ Ｐゴシック" panose="020B0600070205080204" pitchFamily="34" charset="-128"/>
              </a:rPr>
              <a:t>Using two binary relationships allows partial information (e.g., only mother being known)</a:t>
            </a:r>
          </a:p>
          <a:p>
            <a:pPr lvl="1"/>
            <a:r>
              <a:rPr lang="en-US" altLang="en-US" sz="1700" dirty="0">
                <a:ea typeface="ＭＳ Ｐゴシック" panose="020B0600070205080204" pitchFamily="34" charset="-128"/>
              </a:rPr>
              <a:t>But there are some relationships that are naturally non-binary</a:t>
            </a:r>
          </a:p>
          <a:p>
            <a:pPr lvl="2"/>
            <a:r>
              <a:rPr lang="en-US" altLang="en-US" sz="1700" dirty="0">
                <a:ea typeface="ＭＳ Ｐゴシック" panose="020B0600070205080204" pitchFamily="34" charset="-128"/>
              </a:rPr>
              <a:t>Example: 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proj_guide</a:t>
            </a:r>
            <a:endParaRPr lang="en-US" altLang="en-US" sz="1700" i="1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811330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5662" y="69850"/>
            <a:ext cx="8170003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※</a:t>
            </a: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Converting Non-Binary Relationships to Binary Form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7" y="1050925"/>
            <a:ext cx="8012512" cy="317969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In general, any non-binary relationship can be represented using binary relationships by creating an artificial entity set.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Replace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R </a:t>
            </a:r>
            <a:r>
              <a:rPr lang="en-US" altLang="en-US" sz="1700" dirty="0">
                <a:ea typeface="ＭＳ Ｐゴシック" panose="020B0600070205080204" pitchFamily="34" charset="-128"/>
              </a:rPr>
              <a:t>between entity sets A, B and C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 </a:t>
            </a:r>
            <a:r>
              <a:rPr lang="en-US" altLang="en-US" sz="1700" dirty="0">
                <a:ea typeface="ＭＳ Ｐゴシック" panose="020B0600070205080204" pitchFamily="34" charset="-128"/>
              </a:rPr>
              <a:t>by an entity set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E</a:t>
            </a:r>
            <a:r>
              <a:rPr lang="en-US" altLang="en-US" sz="1700" dirty="0">
                <a:ea typeface="ＭＳ Ｐゴシック" panose="020B0600070205080204" pitchFamily="34" charset="-128"/>
              </a:rPr>
              <a:t>, and three relationship sets: 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sz="1700" dirty="0"/>
              <a:t>		1. </a:t>
            </a:r>
            <a:r>
              <a:rPr lang="en-US" altLang="en-US" sz="1700" i="1" dirty="0"/>
              <a:t>R</a:t>
            </a:r>
            <a:r>
              <a:rPr lang="en-US" altLang="en-US" sz="1700" i="1" baseline="-25000" dirty="0"/>
              <a:t>A</a:t>
            </a:r>
            <a:r>
              <a:rPr lang="en-US" altLang="en-US" sz="1700" dirty="0"/>
              <a:t>, relating </a:t>
            </a:r>
            <a:r>
              <a:rPr lang="en-US" altLang="en-US" sz="1700" i="1" dirty="0"/>
              <a:t>E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A        </a:t>
            </a:r>
            <a:r>
              <a:rPr lang="en-US" altLang="en-US" sz="1700" dirty="0"/>
              <a:t>2.  </a:t>
            </a:r>
            <a:r>
              <a:rPr lang="en-US" altLang="en-US" sz="1700" i="1" dirty="0"/>
              <a:t>R</a:t>
            </a:r>
            <a:r>
              <a:rPr lang="en-US" altLang="en-US" sz="1700" i="1" baseline="-25000" dirty="0"/>
              <a:t>B</a:t>
            </a:r>
            <a:r>
              <a:rPr lang="en-US" altLang="en-US" sz="1700" dirty="0"/>
              <a:t>, relating </a:t>
            </a:r>
            <a:r>
              <a:rPr lang="en-US" altLang="en-US" sz="1700" i="1" dirty="0"/>
              <a:t>E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B      </a:t>
            </a:r>
            <a:br>
              <a:rPr lang="en-US" altLang="en-US" sz="1700" i="1" dirty="0"/>
            </a:br>
            <a:r>
              <a:rPr lang="en-US" altLang="en-US" sz="1700" i="1" dirty="0"/>
              <a:t>          </a:t>
            </a:r>
            <a:r>
              <a:rPr lang="en-US" altLang="en-US" sz="1700" dirty="0"/>
              <a:t>3. </a:t>
            </a:r>
            <a:r>
              <a:rPr lang="en-US" altLang="en-US" sz="1700" i="1" dirty="0"/>
              <a:t>R</a:t>
            </a:r>
            <a:r>
              <a:rPr lang="en-US" altLang="en-US" sz="1700" i="1" baseline="-25000" dirty="0"/>
              <a:t>C</a:t>
            </a:r>
            <a:r>
              <a:rPr lang="en-US" altLang="en-US" sz="1700" dirty="0"/>
              <a:t>, relating </a:t>
            </a:r>
            <a:r>
              <a:rPr lang="en-US" altLang="en-US" sz="1700" i="1" dirty="0"/>
              <a:t>E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C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Create an identifying attribute for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E and </a:t>
            </a:r>
            <a:r>
              <a:rPr lang="en-US" altLang="en-US" sz="1700" dirty="0">
                <a:ea typeface="ＭＳ Ｐゴシック" panose="020B0600070205080204" pitchFamily="34" charset="-128"/>
              </a:rPr>
              <a:t>add any attributes of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R </a:t>
            </a:r>
            <a:r>
              <a:rPr lang="en-US" altLang="en-US" sz="1700" dirty="0">
                <a:ea typeface="ＭＳ Ｐゴシック" panose="020B0600070205080204" pitchFamily="34" charset="-128"/>
              </a:rPr>
              <a:t>to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E 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For each relationship (</a:t>
            </a:r>
            <a:r>
              <a:rPr lang="en-US" altLang="en-US" sz="1700" i="1" dirty="0" err="1">
                <a:ea typeface="ＭＳ Ｐゴシック" panose="020B0600070205080204" pitchFamily="34" charset="-128"/>
              </a:rPr>
              <a:t>a</a:t>
            </a:r>
            <a:r>
              <a:rPr lang="en-US" altLang="en-US" sz="1700" i="1" baseline="-25000" dirty="0" err="1">
                <a:ea typeface="ＭＳ Ｐゴシック" panose="020B0600070205080204" pitchFamily="34" charset="-128"/>
              </a:rPr>
              <a:t>i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 , b</a:t>
            </a:r>
            <a:r>
              <a:rPr lang="en-US" altLang="en-US" sz="1700" i="1" baseline="-25000" dirty="0">
                <a:ea typeface="ＭＳ Ｐゴシック" panose="020B0600070205080204" pitchFamily="34" charset="-128"/>
              </a:rPr>
              <a:t>i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 , c</a:t>
            </a:r>
            <a:r>
              <a:rPr lang="en-US" altLang="en-US" sz="1700" i="1" baseline="-25000" dirty="0">
                <a:ea typeface="ＭＳ Ｐゴシック" panose="020B0600070205080204" pitchFamily="34" charset="-128"/>
              </a:rPr>
              <a:t>i</a:t>
            </a:r>
            <a:r>
              <a:rPr lang="en-US" altLang="en-US" sz="1700" dirty="0">
                <a:ea typeface="ＭＳ Ｐゴシック" panose="020B0600070205080204" pitchFamily="34" charset="-128"/>
              </a:rPr>
              <a:t>) in </a:t>
            </a:r>
            <a:r>
              <a:rPr lang="en-US" altLang="en-US" sz="1700" i="1" dirty="0">
                <a:ea typeface="ＭＳ Ｐゴシック" panose="020B0600070205080204" pitchFamily="34" charset="-128"/>
              </a:rPr>
              <a:t>R,</a:t>
            </a:r>
            <a:r>
              <a:rPr lang="en-US" altLang="en-US" sz="1700" dirty="0">
                <a:ea typeface="ＭＳ Ｐゴシック" panose="020B0600070205080204" pitchFamily="34" charset="-128"/>
              </a:rPr>
              <a:t> create 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sz="1700" dirty="0"/>
              <a:t>	      1. a new entity </a:t>
            </a:r>
            <a:r>
              <a:rPr lang="en-US" altLang="en-US" sz="1700" i="1" dirty="0" err="1"/>
              <a:t>e</a:t>
            </a:r>
            <a:r>
              <a:rPr lang="en-US" altLang="en-US" sz="1700" i="1" baseline="-25000" dirty="0" err="1"/>
              <a:t>i</a:t>
            </a:r>
            <a:r>
              <a:rPr lang="en-US" altLang="en-US" sz="1700" i="1" dirty="0"/>
              <a:t> </a:t>
            </a:r>
            <a:r>
              <a:rPr lang="en-US" altLang="en-US" sz="1700" dirty="0"/>
              <a:t>in the entity set </a:t>
            </a:r>
            <a:r>
              <a:rPr lang="en-US" altLang="en-US" sz="1700" i="1" dirty="0"/>
              <a:t>E       </a:t>
            </a:r>
            <a:r>
              <a:rPr lang="en-US" altLang="en-US" sz="1700" dirty="0"/>
              <a:t>2. add (</a:t>
            </a:r>
            <a:r>
              <a:rPr lang="en-US" altLang="en-US" sz="1700" i="1" dirty="0" err="1"/>
              <a:t>e</a:t>
            </a:r>
            <a:r>
              <a:rPr lang="en-US" altLang="en-US" sz="1700" i="1" baseline="-25000" dirty="0" err="1"/>
              <a:t>i</a:t>
            </a:r>
            <a:r>
              <a:rPr lang="en-US" altLang="en-US" sz="1700" i="1" dirty="0"/>
              <a:t> , </a:t>
            </a:r>
            <a:r>
              <a:rPr lang="en-US" altLang="en-US" sz="1700" i="1" dirty="0" err="1"/>
              <a:t>a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) to </a:t>
            </a:r>
            <a:r>
              <a:rPr lang="en-US" altLang="en-US" sz="1700" i="1" dirty="0"/>
              <a:t>R</a:t>
            </a:r>
            <a:r>
              <a:rPr lang="en-US" altLang="en-US" sz="1700" i="1" baseline="-25000" dirty="0"/>
              <a:t>A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sz="1700" dirty="0"/>
              <a:t>	      3. add (</a:t>
            </a:r>
            <a:r>
              <a:rPr lang="en-US" altLang="en-US" sz="1700" i="1" dirty="0" err="1"/>
              <a:t>e</a:t>
            </a:r>
            <a:r>
              <a:rPr lang="en-US" altLang="en-US" sz="1700" i="1" baseline="-25000" dirty="0" err="1"/>
              <a:t>i</a:t>
            </a:r>
            <a:r>
              <a:rPr lang="en-US" altLang="en-US" sz="1700" i="1" dirty="0"/>
              <a:t> , b</a:t>
            </a:r>
            <a:r>
              <a:rPr lang="en-US" altLang="en-US" sz="1700" i="1" baseline="-25000" dirty="0"/>
              <a:t>i</a:t>
            </a:r>
            <a:r>
              <a:rPr lang="en-US" altLang="en-US" sz="1700" i="1" dirty="0"/>
              <a:t> </a:t>
            </a:r>
            <a:r>
              <a:rPr lang="en-US" altLang="en-US" sz="1700" dirty="0"/>
              <a:t>) to </a:t>
            </a:r>
            <a:r>
              <a:rPr lang="en-US" altLang="en-US" sz="1700" i="1" dirty="0"/>
              <a:t>R</a:t>
            </a:r>
            <a:r>
              <a:rPr lang="en-US" altLang="en-US" sz="1700" i="1" baseline="-25000" dirty="0"/>
              <a:t>B</a:t>
            </a:r>
            <a:r>
              <a:rPr lang="en-US" altLang="en-US" sz="1700" i="1" dirty="0"/>
              <a:t>      </a:t>
            </a:r>
            <a:r>
              <a:rPr lang="en-US" altLang="en-US" sz="1700" dirty="0"/>
              <a:t>	             4. add (</a:t>
            </a:r>
            <a:r>
              <a:rPr lang="en-US" altLang="en-US" sz="1700" i="1" dirty="0" err="1"/>
              <a:t>e</a:t>
            </a:r>
            <a:r>
              <a:rPr lang="en-US" altLang="en-US" sz="1700" i="1" baseline="-25000" dirty="0" err="1"/>
              <a:t>i</a:t>
            </a:r>
            <a:r>
              <a:rPr lang="en-US" altLang="en-US" sz="1700" i="1" dirty="0"/>
              <a:t> , c</a:t>
            </a:r>
            <a:r>
              <a:rPr lang="en-US" altLang="en-US" sz="1700" i="1" baseline="-25000" dirty="0"/>
              <a:t>i </a:t>
            </a:r>
            <a:r>
              <a:rPr lang="en-US" altLang="en-US" sz="1700" dirty="0"/>
              <a:t>) to </a:t>
            </a:r>
            <a:r>
              <a:rPr lang="en-US" altLang="en-US" sz="1700" i="1" dirty="0"/>
              <a:t>R</a:t>
            </a:r>
            <a:r>
              <a:rPr lang="en-US" altLang="en-US" sz="1700" i="1" baseline="-25000" dirty="0"/>
              <a:t>C</a:t>
            </a:r>
          </a:p>
        </p:txBody>
      </p:sp>
      <p:pic>
        <p:nvPicPr>
          <p:cNvPr id="76804" name="Picture 5" descr="C:\Users\as668\Desktop\Oasis-9-12\6_2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410" y="4169664"/>
            <a:ext cx="4333875" cy="1541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12983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E-R Design Decisions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6941"/>
            <a:ext cx="7523394" cy="4136580"/>
          </a:xfrm>
        </p:spPr>
        <p:txBody>
          <a:bodyPr/>
          <a:lstStyle/>
          <a:p>
            <a:r>
              <a:rPr lang="en-US" altLang="en-US" sz="1700" dirty="0"/>
              <a:t>The use of an attribute or entity set to represent an object.</a:t>
            </a:r>
          </a:p>
          <a:p>
            <a:r>
              <a:rPr lang="en-US" altLang="en-US" sz="1700" dirty="0"/>
              <a:t>Whether a real-world concept is best expressed by an entity set or a relationship set.</a:t>
            </a:r>
          </a:p>
          <a:p>
            <a:r>
              <a:rPr lang="en-US" altLang="en-US" sz="1700" dirty="0"/>
              <a:t>The use of a ternary relationship versus a pair of binary relationships.</a:t>
            </a:r>
          </a:p>
          <a:p>
            <a:r>
              <a:rPr lang="en-US" altLang="en-US" sz="1700" dirty="0"/>
              <a:t>The use of a strong or weak entity set.</a:t>
            </a:r>
          </a:p>
          <a:p>
            <a:r>
              <a:rPr lang="en-US" altLang="en-US" sz="1700" dirty="0"/>
              <a:t>The use of specialization/generalization – contributes to modularity in the design.</a:t>
            </a:r>
          </a:p>
          <a:p>
            <a:r>
              <a:rPr lang="en-US" altLang="en-US" sz="17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sz="1700" dirty="0"/>
              <a:t>The use of aggregation – can treat the aggregate entity set as a single unit without concern for the details of its internal structure.</a:t>
            </a:r>
          </a:p>
        </p:txBody>
      </p:sp>
    </p:spTree>
    <p:extLst>
      <p:ext uri="{BB962C8B-B14F-4D97-AF65-F5344CB8AC3E}">
        <p14:creationId xmlns:p14="http://schemas.microsoft.com/office/powerpoint/2010/main" val="24730635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4501" y="155575"/>
            <a:ext cx="7874494" cy="616782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Summary of Symbols Used in E-R Notation</a:t>
            </a:r>
          </a:p>
        </p:txBody>
      </p:sp>
      <p:pic>
        <p:nvPicPr>
          <p:cNvPr id="7987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56"/>
          <a:stretch>
            <a:fillRect/>
          </a:stretch>
        </p:blipFill>
        <p:spPr bwMode="auto">
          <a:xfrm>
            <a:off x="1078261" y="1344062"/>
            <a:ext cx="6987477" cy="4008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268314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Symbols Used in E-R Notation (Cont.)</a:t>
            </a:r>
          </a:p>
        </p:txBody>
      </p:sp>
      <p:pic>
        <p:nvPicPr>
          <p:cNvPr id="8089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72"/>
          <a:stretch>
            <a:fillRect/>
          </a:stretch>
        </p:blipFill>
        <p:spPr bwMode="auto">
          <a:xfrm>
            <a:off x="1719072" y="1265716"/>
            <a:ext cx="6511416" cy="4420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17901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Alternative ER Notations</a:t>
            </a:r>
          </a:p>
        </p:txBody>
      </p:sp>
      <p:sp>
        <p:nvSpPr>
          <p:cNvPr id="81923" name="Rectangle 116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853617" cy="466788"/>
          </a:xfrm>
        </p:spPr>
        <p:txBody>
          <a:bodyPr/>
          <a:lstStyle/>
          <a:p>
            <a:r>
              <a:rPr kumimoji="0" lang="en-US" altLang="en-US" sz="1700" dirty="0"/>
              <a:t> Chen, IDE1FX, …</a:t>
            </a:r>
          </a:p>
        </p:txBody>
      </p:sp>
      <p:pic>
        <p:nvPicPr>
          <p:cNvPr id="8192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94" b="76595"/>
          <a:stretch>
            <a:fillRect/>
          </a:stretch>
        </p:blipFill>
        <p:spPr bwMode="auto">
          <a:xfrm>
            <a:off x="1205469" y="1927291"/>
            <a:ext cx="6335649" cy="1644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552"/>
          <a:stretch>
            <a:fillRect/>
          </a:stretch>
        </p:blipFill>
        <p:spPr bwMode="auto">
          <a:xfrm>
            <a:off x="856932" y="3938653"/>
            <a:ext cx="7676452" cy="893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57305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Alternative ER Notations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8496" y="1266824"/>
            <a:ext cx="8159882" cy="622935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sz="2000" b="1" dirty="0"/>
              <a:t>                                     </a:t>
            </a:r>
            <a:r>
              <a:rPr lang="en-US" altLang="en-US" b="1" dirty="0"/>
              <a:t>Chen                        IDE1FX (Crows feet notation)</a:t>
            </a:r>
          </a:p>
        </p:txBody>
      </p:sp>
      <p:pic>
        <p:nvPicPr>
          <p:cNvPr id="8294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16" b="11975"/>
          <a:stretch>
            <a:fillRect/>
          </a:stretch>
        </p:blipFill>
        <p:spPr bwMode="auto">
          <a:xfrm>
            <a:off x="1734788" y="1889760"/>
            <a:ext cx="6166262" cy="377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8997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UML	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22375"/>
            <a:ext cx="7558903" cy="2508377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UML</a:t>
            </a:r>
            <a:r>
              <a:rPr lang="en-US" altLang="en-US" sz="1700" dirty="0"/>
              <a:t>: Unified Modeling Language</a:t>
            </a:r>
          </a:p>
          <a:p>
            <a:r>
              <a:rPr lang="en-US" altLang="en-US" sz="1700" dirty="0"/>
              <a:t>UML has many components to graphically model different aspects of an entire software system</a:t>
            </a:r>
          </a:p>
          <a:p>
            <a:r>
              <a:rPr lang="en-US" altLang="en-US" sz="1700" dirty="0"/>
              <a:t>UML Class Diagrams correspond to E-R Diagram, but several differences.</a:t>
            </a:r>
          </a:p>
        </p:txBody>
      </p:sp>
    </p:spTree>
    <p:extLst>
      <p:ext uri="{BB962C8B-B14F-4D97-AF65-F5344CB8AC3E}">
        <p14:creationId xmlns:p14="http://schemas.microsoft.com/office/powerpoint/2010/main" val="9583622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858838" y="1047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ER vs. UML Class Diagrams</a:t>
            </a:r>
          </a:p>
        </p:txBody>
      </p:sp>
      <p:sp>
        <p:nvSpPr>
          <p:cNvPr id="84995" name="Text Box 163"/>
          <p:cNvSpPr txBox="1">
            <a:spLocks noChangeArrowheads="1"/>
          </p:cNvSpPr>
          <p:nvPr/>
        </p:nvSpPr>
        <p:spPr bwMode="auto">
          <a:xfrm>
            <a:off x="1376041" y="5493249"/>
            <a:ext cx="62395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 dirty="0">
                <a:solidFill>
                  <a:srgbClr val="002060"/>
                </a:solidFill>
              </a:rPr>
              <a:t>* </a:t>
            </a:r>
            <a:r>
              <a:rPr lang="en-US" altLang="en-US" sz="1800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Note reversal of position in cardinality constraint depiction</a:t>
            </a:r>
          </a:p>
        </p:txBody>
      </p:sp>
      <p:pic>
        <p:nvPicPr>
          <p:cNvPr id="8499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093"/>
          <a:stretch>
            <a:fillRect/>
          </a:stretch>
        </p:blipFill>
        <p:spPr bwMode="auto">
          <a:xfrm>
            <a:off x="1029791" y="1187354"/>
            <a:ext cx="7084418" cy="4017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745635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ER vs. UML Class Diagrams</a:t>
            </a:r>
          </a:p>
        </p:txBody>
      </p:sp>
      <p:sp>
        <p:nvSpPr>
          <p:cNvPr id="86019" name="Text Box 82"/>
          <p:cNvSpPr txBox="1">
            <a:spLocks noChangeArrowheads="1"/>
          </p:cNvSpPr>
          <p:nvPr/>
        </p:nvSpPr>
        <p:spPr bwMode="auto">
          <a:xfrm>
            <a:off x="1402715" y="1058863"/>
            <a:ext cx="2562860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5000" rIns="90000" bIns="45000"/>
          <a:lstStyle>
            <a:lvl1pPr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ct val="104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US" altLang="en-US" sz="1700" b="1" dirty="0">
                <a:solidFill>
                  <a:srgbClr val="000000"/>
                </a:solidFill>
                <a:latin typeface="Arial" panose="020B0604020202020204" pitchFamily="34" charset="0"/>
              </a:rPr>
              <a:t>ER Diagram Notation</a:t>
            </a:r>
          </a:p>
        </p:txBody>
      </p:sp>
      <p:sp>
        <p:nvSpPr>
          <p:cNvPr id="86020" name="Text Box 83"/>
          <p:cNvSpPr txBox="1">
            <a:spLocks noChangeArrowheads="1"/>
          </p:cNvSpPr>
          <p:nvPr/>
        </p:nvSpPr>
        <p:spPr bwMode="auto">
          <a:xfrm>
            <a:off x="5178428" y="1087438"/>
            <a:ext cx="2230436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5000" rIns="90000" bIns="45000"/>
          <a:lstStyle>
            <a:lvl1pPr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ct val="104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US" altLang="en-US" sz="1700" b="1" dirty="0">
                <a:solidFill>
                  <a:srgbClr val="000000"/>
                </a:solidFill>
                <a:latin typeface="Arial" panose="020B0604020202020204" pitchFamily="34" charset="0"/>
              </a:rPr>
              <a:t>Equivalent in UML</a:t>
            </a:r>
          </a:p>
        </p:txBody>
      </p:sp>
      <p:sp>
        <p:nvSpPr>
          <p:cNvPr id="86021" name="Text Box 84"/>
          <p:cNvSpPr txBox="1">
            <a:spLocks noChangeArrowheads="1"/>
          </p:cNvSpPr>
          <p:nvPr/>
        </p:nvSpPr>
        <p:spPr bwMode="auto">
          <a:xfrm>
            <a:off x="1402715" y="5500116"/>
            <a:ext cx="6524543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 dirty="0">
                <a:solidFill>
                  <a:srgbClr val="002060"/>
                </a:solidFill>
              </a:rPr>
              <a:t>*</a:t>
            </a:r>
            <a:r>
              <a:rPr lang="en-US" altLang="en-US" sz="1800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Generalization can use merged or separate arrows independent</a:t>
            </a:r>
          </a:p>
          <a:p>
            <a:r>
              <a:rPr lang="en-US" altLang="en-US" sz="1700" dirty="0"/>
              <a:t>   of disjoint/overlapping</a:t>
            </a:r>
            <a:endParaRPr lang="en-US" altLang="en-US" sz="1700" dirty="0">
              <a:solidFill>
                <a:schemeClr val="tx2"/>
              </a:solidFill>
            </a:endParaRPr>
          </a:p>
        </p:txBody>
      </p:sp>
      <p:pic>
        <p:nvPicPr>
          <p:cNvPr id="8602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12" r="11429"/>
          <a:stretch>
            <a:fillRect/>
          </a:stretch>
        </p:blipFill>
        <p:spPr bwMode="auto">
          <a:xfrm>
            <a:off x="1051287" y="1561683"/>
            <a:ext cx="6875971" cy="3449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7854444"/>
      </p:ext>
    </p:extLst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94517</TotalTime>
  <Words>4805</Words>
  <Application>Microsoft Office PowerPoint</Application>
  <PresentationFormat>如螢幕大小 (4:3)</PresentationFormat>
  <Paragraphs>555</Paragraphs>
  <Slides>77</Slides>
  <Notes>75</Notes>
  <HiddenSlides>0</HiddenSlides>
  <MMClips>0</MMClips>
  <ScaleCrop>false</ScaleCrop>
  <HeadingPairs>
    <vt:vector size="8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77</vt:i4>
      </vt:variant>
      <vt:variant>
        <vt:lpstr>自訂放映</vt:lpstr>
      </vt:variant>
      <vt:variant>
        <vt:i4>1</vt:i4>
      </vt:variant>
    </vt:vector>
  </HeadingPairs>
  <TitlesOfParts>
    <vt:vector size="88" baseType="lpstr">
      <vt:lpstr>Monotype Sorts</vt:lpstr>
      <vt:lpstr>MS PGothic</vt:lpstr>
      <vt:lpstr>MS PGothic</vt:lpstr>
      <vt:lpstr>新細明體</vt:lpstr>
      <vt:lpstr>Arial</vt:lpstr>
      <vt:lpstr>Helvetica</vt:lpstr>
      <vt:lpstr>Symbol</vt:lpstr>
      <vt:lpstr>Times New Roman</vt:lpstr>
      <vt:lpstr>Wingdings</vt:lpstr>
      <vt:lpstr>2_db-5-grey</vt:lpstr>
      <vt:lpstr>Chapter 6: Database Design Using the E-R Model</vt:lpstr>
      <vt:lpstr>Outline</vt:lpstr>
      <vt:lpstr>Design Phases</vt:lpstr>
      <vt:lpstr>Design Phases (Cont.)</vt:lpstr>
      <vt:lpstr>Design Alternatives</vt:lpstr>
      <vt:lpstr>Design Approaches</vt:lpstr>
      <vt:lpstr>Outline of the ER Model</vt:lpstr>
      <vt:lpstr>ER model -- Database Modeling</vt:lpstr>
      <vt:lpstr>Entity Sets</vt:lpstr>
      <vt:lpstr>Representing Entity sets in ER Diagram</vt:lpstr>
      <vt:lpstr>Relationship Sets</vt:lpstr>
      <vt:lpstr>Relationship Sets (Cont.)</vt:lpstr>
      <vt:lpstr>Representing Relationship  Sets via ER Diagrams </vt:lpstr>
      <vt:lpstr>Relationship Sets (Cont.)</vt:lpstr>
      <vt:lpstr>Relationship Sets with Attributes</vt:lpstr>
      <vt:lpstr>Roles</vt:lpstr>
      <vt:lpstr>Degree of a Relationship Set</vt:lpstr>
      <vt:lpstr>Non-binary Relationship Sets</vt:lpstr>
      <vt:lpstr>Complex Attributes</vt:lpstr>
      <vt:lpstr>Composite Attributes</vt:lpstr>
      <vt:lpstr>Representing Complex Attributes  in ER Diagram</vt:lpstr>
      <vt:lpstr>Mapping Cardinality Constraints</vt:lpstr>
      <vt:lpstr>Mapping Cardinalities</vt:lpstr>
      <vt:lpstr>Mapping Cardinalities </vt:lpstr>
      <vt:lpstr>Representing Cardinality Constraints in ER Diagram</vt:lpstr>
      <vt:lpstr>One-to-Many Relationship</vt:lpstr>
      <vt:lpstr>Many-to-One Relationships</vt:lpstr>
      <vt:lpstr>Many-to-Many Relationship</vt:lpstr>
      <vt:lpstr>練習</vt:lpstr>
      <vt:lpstr>Total and Partial Participation</vt:lpstr>
      <vt:lpstr>Notation for Expressing More Complex Constraints</vt:lpstr>
      <vt:lpstr>Primary Key</vt:lpstr>
      <vt:lpstr>Primary key for Entity Sets</vt:lpstr>
      <vt:lpstr>Primary Key for Relationship Sets</vt:lpstr>
      <vt:lpstr>Choice of Primary key for Binary Relationship</vt:lpstr>
      <vt:lpstr>Weak Entity Sets</vt:lpstr>
      <vt:lpstr>Weak Entity Sets (Cont.)</vt:lpstr>
      <vt:lpstr>Weak Entity Sets (Cont.)</vt:lpstr>
      <vt:lpstr>Expressing Weak Entity Sets</vt:lpstr>
      <vt:lpstr>另一個例子</vt:lpstr>
      <vt:lpstr>Redundant Attributes</vt:lpstr>
      <vt:lpstr>E-R Diagram for a University Enterprise</vt:lpstr>
      <vt:lpstr>Reduction to Relation Schemas</vt:lpstr>
      <vt:lpstr>Reduction to Relation Schemas</vt:lpstr>
      <vt:lpstr>Representing Entity Sets</vt:lpstr>
      <vt:lpstr>Representation of Entity Sets with Composite Attributes</vt:lpstr>
      <vt:lpstr>Representation of Entity Sets with Multivalued Attributes</vt:lpstr>
      <vt:lpstr>Representing Relationship Sets</vt:lpstr>
      <vt:lpstr>Redundancy of Schemas</vt:lpstr>
      <vt:lpstr>Redundancy of Schemas (Cont.)</vt:lpstr>
      <vt:lpstr>Redundancy of Schemas (Cont.)</vt:lpstr>
      <vt:lpstr>Extended E-R Features (EER)</vt:lpstr>
      <vt:lpstr>Specialization</vt:lpstr>
      <vt:lpstr>Specialization Example</vt:lpstr>
      <vt:lpstr>Completeness constraint</vt:lpstr>
      <vt:lpstr>Completeness constraint (Cont.)</vt:lpstr>
      <vt:lpstr>Representing Specialization via Schemas</vt:lpstr>
      <vt:lpstr>Representing Specialization as Schemas (Cont.)</vt:lpstr>
      <vt:lpstr>Generalization</vt:lpstr>
      <vt:lpstr>※ Aggregation</vt:lpstr>
      <vt:lpstr>※ Aggregation (Cont.)</vt:lpstr>
      <vt:lpstr>※ Aggregation (Cont.)</vt:lpstr>
      <vt:lpstr>Design Issues</vt:lpstr>
      <vt:lpstr>Common Mistakes in E-R Diagrams</vt:lpstr>
      <vt:lpstr>Common Mistakes in E-R Diagrams (Cont.)</vt:lpstr>
      <vt:lpstr>Entities vs. Attributes</vt:lpstr>
      <vt:lpstr>Entities vs. Relationship sets</vt:lpstr>
      <vt:lpstr>Binary Vs. Non-Binary Relationships</vt:lpstr>
      <vt:lpstr>※Converting Non-Binary Relationships to Binary Form</vt:lpstr>
      <vt:lpstr>E-R Design Decisions</vt:lpstr>
      <vt:lpstr>Summary of Symbols Used in E-R Notation</vt:lpstr>
      <vt:lpstr>Symbols Used in E-R Notation (Cont.)</vt:lpstr>
      <vt:lpstr> Alternative ER Notations</vt:lpstr>
      <vt:lpstr>Alternative ER Notations</vt:lpstr>
      <vt:lpstr>※ UML </vt:lpstr>
      <vt:lpstr>※ ER vs. UML Class Diagrams</vt:lpstr>
      <vt:lpstr>※ ER vs. UML Class Diagrams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張雅惠</cp:lastModifiedBy>
  <cp:revision>514</cp:revision>
  <cp:lastPrinted>1999-06-28T19:27:31Z</cp:lastPrinted>
  <dcterms:created xsi:type="dcterms:W3CDTF">2009-12-21T15:40:22Z</dcterms:created>
  <dcterms:modified xsi:type="dcterms:W3CDTF">2022-12-04T12:45:38Z</dcterms:modified>
</cp:coreProperties>
</file>