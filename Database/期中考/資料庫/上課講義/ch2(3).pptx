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4"/>
  </p:notesMasterIdLst>
  <p:handoutMasterIdLst>
    <p:handoutMasterId r:id="rId35"/>
  </p:handoutMasterIdLst>
  <p:sldIdLst>
    <p:sldId id="335" r:id="rId2"/>
    <p:sldId id="336" r:id="rId3"/>
    <p:sldId id="337" r:id="rId4"/>
    <p:sldId id="338" r:id="rId5"/>
    <p:sldId id="259" r:id="rId6"/>
    <p:sldId id="364" r:id="rId7"/>
    <p:sldId id="340" r:id="rId8"/>
    <p:sldId id="341" r:id="rId9"/>
    <p:sldId id="366" r:id="rId10"/>
    <p:sldId id="342" r:id="rId11"/>
    <p:sldId id="369" r:id="rId12"/>
    <p:sldId id="343" r:id="rId13"/>
    <p:sldId id="344" r:id="rId14"/>
    <p:sldId id="345" r:id="rId15"/>
    <p:sldId id="365" r:id="rId16"/>
    <p:sldId id="347" r:id="rId17"/>
    <p:sldId id="348" r:id="rId18"/>
    <p:sldId id="349" r:id="rId19"/>
    <p:sldId id="350" r:id="rId20"/>
    <p:sldId id="351" r:id="rId21"/>
    <p:sldId id="352" r:id="rId22"/>
    <p:sldId id="353" r:id="rId23"/>
    <p:sldId id="354" r:id="rId24"/>
    <p:sldId id="368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737" autoAdjust="0"/>
  </p:normalViewPr>
  <p:slideViewPr>
    <p:cSldViewPr snapToGrid="0">
      <p:cViewPr>
        <p:scale>
          <a:sx n="80" d="100"/>
          <a:sy n="80" d="100"/>
        </p:scale>
        <p:origin x="748" y="40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240C407C-EE4C-40D5-AD38-2B2E0A560D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5EC99DC-C43E-4663-AFE8-85541B8B5C47}" type="slidenum">
              <a:rPr lang="en-US" altLang="zh-TW" sz="1200"/>
              <a:pPr/>
              <a:t>5</a:t>
            </a:fld>
            <a:endParaRPr lang="en-US" altLang="zh-TW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19CC372A-04BE-4FD9-B9A5-6CF243A893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6F241399-E94B-47B3-9511-7C7E7A1119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209238-363D-4A4D-99AF-38838EDEB568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13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  <a:pPr/>
              <a:t>14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  <a:pPr/>
              <a:t>15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2857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  <a:pPr/>
              <a:t>16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  <a:pPr/>
              <a:t>17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  <a:pPr/>
              <a:t>19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  <a:pPr/>
              <a:t>20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6900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21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23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25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26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51035C-5808-407C-8457-78863416B201}" type="slidenum">
              <a:rPr lang="en-US" altLang="en-US" sz="1300">
                <a:latin typeface="Times New Roman" panose="02020603050405020304" pitchFamily="18" charset="0"/>
              </a:rPr>
              <a:pPr/>
              <a:t>27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4B2C1-B6FF-4E08-B576-E580E4C742E5}" type="slidenum">
              <a:rPr lang="en-US" altLang="en-US" sz="1300">
                <a:latin typeface="Times New Roman" panose="02020603050405020304" pitchFamily="18" charset="0"/>
              </a:rPr>
              <a:pPr/>
              <a:t>28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29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30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31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73084" y="1093788"/>
            <a:ext cx="7702579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2.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2: Intro to Relational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4900"/>
            <a:ext cx="7496760" cy="2772156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Structure of Relational Databases</a:t>
            </a:r>
          </a:p>
          <a:p>
            <a:r>
              <a:rPr lang="en-US" altLang="en-US" sz="1700" dirty="0"/>
              <a:t>Database Schema</a:t>
            </a:r>
          </a:p>
          <a:p>
            <a:r>
              <a:rPr lang="en-US" altLang="en-US" sz="1700" dirty="0"/>
              <a:t>Keys</a:t>
            </a:r>
          </a:p>
          <a:p>
            <a:r>
              <a:rPr lang="en-US" altLang="en-US" sz="1700" dirty="0"/>
              <a:t>Schema Diagrams</a:t>
            </a:r>
          </a:p>
          <a:p>
            <a:r>
              <a:rPr lang="en-US" altLang="en-US" sz="1700" dirty="0"/>
              <a:t>Relational Query Languages</a:t>
            </a:r>
          </a:p>
          <a:p>
            <a:r>
              <a:rPr lang="en-US" altLang="en-US" sz="1700" dirty="0"/>
              <a:t>The Relational Algebra</a:t>
            </a:r>
          </a:p>
          <a:p>
            <a:endParaRPr lang="en-US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</a:t>
            </a: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of an </a:t>
            </a:r>
            <a:r>
              <a:rPr lang="en-US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Instructor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Relation</a:t>
            </a:r>
          </a:p>
        </p:txBody>
      </p:sp>
      <p:pic>
        <p:nvPicPr>
          <p:cNvPr id="5122" name="Picture 3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927225"/>
            <a:ext cx="5291137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7040563" y="1333500"/>
            <a:ext cx="145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attributes</a:t>
            </a:r>
          </a:p>
          <a:p>
            <a:pPr algn="ctr"/>
            <a:r>
              <a:rPr lang="en-US" altLang="en-US" sz="1800"/>
              <a:t>(or columns)</a:t>
            </a:r>
            <a:endParaRPr lang="en-US" altLang="en-US"/>
          </a:p>
        </p:txBody>
      </p:sp>
      <p:sp>
        <p:nvSpPr>
          <p:cNvPr id="5124" name="Line 5"/>
          <p:cNvSpPr>
            <a:spLocks noChangeShapeType="1"/>
          </p:cNvSpPr>
          <p:nvPr/>
        </p:nvSpPr>
        <p:spPr bwMode="auto">
          <a:xfrm flipH="1">
            <a:off x="3238500" y="1538288"/>
            <a:ext cx="3889375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5" name="Line 6"/>
          <p:cNvSpPr>
            <a:spLocks noChangeShapeType="1"/>
          </p:cNvSpPr>
          <p:nvPr/>
        </p:nvSpPr>
        <p:spPr bwMode="auto">
          <a:xfrm flipH="1">
            <a:off x="4608513" y="1592263"/>
            <a:ext cx="2557462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6" name="Line 7"/>
          <p:cNvSpPr>
            <a:spLocks noChangeShapeType="1"/>
          </p:cNvSpPr>
          <p:nvPr/>
        </p:nvSpPr>
        <p:spPr bwMode="auto">
          <a:xfrm flipH="1">
            <a:off x="5819775" y="1565275"/>
            <a:ext cx="13208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6988175" y="2522538"/>
            <a:ext cx="108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tuples</a:t>
            </a:r>
          </a:p>
          <a:p>
            <a:pPr algn="ctr"/>
            <a:r>
              <a:rPr lang="en-US" altLang="en-US" sz="1800"/>
              <a:t>(or rows)</a:t>
            </a:r>
            <a:endParaRPr lang="en-US" altLang="en-US"/>
          </a:p>
        </p:txBody>
      </p:sp>
      <p:sp>
        <p:nvSpPr>
          <p:cNvPr id="5128" name="Line 9"/>
          <p:cNvSpPr>
            <a:spLocks noChangeShapeType="1"/>
          </p:cNvSpPr>
          <p:nvPr/>
        </p:nvSpPr>
        <p:spPr bwMode="auto">
          <a:xfrm flipH="1" flipV="1">
            <a:off x="6742113" y="2487613"/>
            <a:ext cx="369887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9" name="Line 10"/>
          <p:cNvSpPr>
            <a:spLocks noChangeShapeType="1"/>
          </p:cNvSpPr>
          <p:nvPr/>
        </p:nvSpPr>
        <p:spPr bwMode="auto">
          <a:xfrm flipH="1">
            <a:off x="6729413" y="2706688"/>
            <a:ext cx="369887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0" name="Line 11"/>
          <p:cNvSpPr>
            <a:spLocks noChangeShapeType="1"/>
          </p:cNvSpPr>
          <p:nvPr/>
        </p:nvSpPr>
        <p:spPr bwMode="auto">
          <a:xfrm flipH="1">
            <a:off x="6718300" y="2717800"/>
            <a:ext cx="392113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1" name="Line 12"/>
          <p:cNvSpPr>
            <a:spLocks noChangeShapeType="1"/>
          </p:cNvSpPr>
          <p:nvPr/>
        </p:nvSpPr>
        <p:spPr bwMode="auto">
          <a:xfrm flipH="1">
            <a:off x="6729413" y="2727325"/>
            <a:ext cx="38100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Attribute</a:t>
            </a:r>
            <a:r>
              <a:rPr lang="zh-TW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TW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TW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屬性</a:t>
            </a:r>
            <a:r>
              <a:rPr lang="en-US" altLang="zh-TW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0486" y="1219200"/>
            <a:ext cx="8299938" cy="4230624"/>
          </a:xfrm>
        </p:spPr>
        <p:txBody>
          <a:bodyPr/>
          <a:lstStyle/>
          <a:p>
            <a:r>
              <a:rPr lang="zh-TW" altLang="en-US" sz="1700" dirty="0"/>
              <a:t>屬性指物件的特性，或欲處理的資料</a:t>
            </a:r>
            <a:endParaRPr lang="en-US" altLang="en-US" sz="1700" dirty="0"/>
          </a:p>
          <a:p>
            <a:r>
              <a:rPr lang="en-US" altLang="en-US" sz="1700" dirty="0"/>
              <a:t>The set of allowed values for each attribute is called the </a:t>
            </a:r>
            <a:r>
              <a:rPr lang="en-US" altLang="en-US" sz="1700" b="1" dirty="0">
                <a:solidFill>
                  <a:srgbClr val="002060"/>
                </a:solidFill>
              </a:rPr>
              <a:t>domain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of the attribute</a:t>
            </a:r>
          </a:p>
          <a:p>
            <a:pPr lvl="1"/>
            <a:r>
              <a:rPr lang="zh-TW" altLang="en-US" dirty="0">
                <a:ea typeface="ＭＳ Ｐゴシック" panose="020B0600070205080204" pitchFamily="34" charset="-128"/>
              </a:rPr>
              <a:t>例子</a:t>
            </a:r>
            <a:r>
              <a:rPr lang="en-US" altLang="zh-TW" dirty="0">
                <a:ea typeface="ＭＳ Ｐゴシック" panose="020B0600070205080204" pitchFamily="34" charset="-128"/>
              </a:rPr>
              <a:t>: the domain of </a:t>
            </a:r>
            <a:r>
              <a:rPr lang="en-US" altLang="zh-TW" i="1" dirty="0">
                <a:ea typeface="ＭＳ Ｐゴシック" panose="020B0600070205080204" pitchFamily="34" charset="-128"/>
              </a:rPr>
              <a:t>ID</a:t>
            </a:r>
            <a:r>
              <a:rPr lang="en-US" altLang="zh-TW" dirty="0">
                <a:ea typeface="ＭＳ Ｐゴシック" panose="020B0600070205080204" pitchFamily="34" charset="-128"/>
              </a:rPr>
              <a:t> = {11, 12, 13, 14}</a:t>
            </a:r>
            <a:endParaRPr lang="en-US" altLang="en-US" dirty="0"/>
          </a:p>
          <a:p>
            <a:r>
              <a:rPr lang="en-US" altLang="en-US" sz="1700" dirty="0"/>
              <a:t>Attribute values are (normally) required to be </a:t>
            </a:r>
            <a:r>
              <a:rPr lang="en-US" altLang="en-US" sz="1700" b="1" dirty="0">
                <a:solidFill>
                  <a:srgbClr val="002060"/>
                </a:solidFill>
              </a:rPr>
              <a:t>atomic</a:t>
            </a:r>
            <a:r>
              <a:rPr lang="en-US" altLang="en-US" sz="1700" dirty="0"/>
              <a:t>; that is, indivisible</a:t>
            </a:r>
            <a:r>
              <a:rPr lang="zh-TW" altLang="en-US" sz="1700" dirty="0"/>
              <a:t> </a:t>
            </a:r>
            <a:r>
              <a:rPr lang="en-US" altLang="zh-TW" dirty="0">
                <a:ea typeface="ＭＳ Ｐゴシック" panose="020B0600070205080204" pitchFamily="34" charset="-128"/>
              </a:rPr>
              <a:t>(</a:t>
            </a:r>
            <a:r>
              <a:rPr lang="zh-TW" altLang="en-US" dirty="0">
                <a:ea typeface="ＭＳ Ｐゴシック" panose="020B0600070205080204" pitchFamily="34" charset="-128"/>
              </a:rPr>
              <a:t>分割後沒有意義</a:t>
            </a:r>
            <a:r>
              <a:rPr lang="en-US" altLang="zh-TW" dirty="0"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altLang="zh-TW" i="1" dirty="0">
                <a:solidFill>
                  <a:srgbClr val="FF0000"/>
                </a:solidFill>
                <a:ea typeface="新細明體" panose="02020500000000000000" pitchFamily="18" charset="-120"/>
              </a:rPr>
              <a:t>multivalued</a:t>
            </a:r>
            <a:r>
              <a:rPr lang="en-US" altLang="zh-TW" dirty="0">
                <a:ea typeface="新細明體" panose="02020500000000000000" pitchFamily="18" charset="-120"/>
              </a:rPr>
              <a:t> attribute values are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not </a:t>
            </a:r>
            <a:r>
              <a:rPr lang="en-US" altLang="zh-TW" dirty="0">
                <a:ea typeface="新細明體" panose="02020500000000000000" pitchFamily="18" charset="-120"/>
              </a:rPr>
              <a:t>atomic-&gt;</a:t>
            </a:r>
            <a:r>
              <a:rPr lang="zh-TW" altLang="en-US" dirty="0">
                <a:ea typeface="新細明體" panose="02020500000000000000" pitchFamily="18" charset="-120"/>
              </a:rPr>
              <a:t> 每個</a:t>
            </a:r>
            <a:r>
              <a:rPr lang="en-US" altLang="zh-TW" dirty="0">
                <a:ea typeface="新細明體" panose="02020500000000000000" pitchFamily="18" charset="-120"/>
              </a:rPr>
              <a:t>value</a:t>
            </a:r>
            <a:r>
              <a:rPr lang="zh-TW" altLang="en-US" dirty="0">
                <a:ea typeface="新細明體" panose="02020500000000000000" pitchFamily="18" charset="-120"/>
              </a:rPr>
              <a:t>是一個集合 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lvl="1">
              <a:buFont typeface="Monotype Sorts" pitchFamily="2" charset="2"/>
              <a:buNone/>
            </a:pPr>
            <a:r>
              <a:rPr lang="en-US" altLang="zh-TW" dirty="0">
                <a:ea typeface="新細明體" panose="02020500000000000000" pitchFamily="18" charset="-120"/>
              </a:rPr>
              <a:t>	</a:t>
            </a:r>
            <a:r>
              <a:rPr lang="zh-TW" altLang="en-US" dirty="0">
                <a:ea typeface="ＭＳ Ｐゴシック" panose="020B0600070205080204" pitchFamily="34" charset="-128"/>
              </a:rPr>
              <a:t>例子</a:t>
            </a:r>
            <a:r>
              <a:rPr lang="en-US" altLang="zh-TW" dirty="0">
                <a:ea typeface="新細明體" panose="02020500000000000000" pitchFamily="18" charset="-120"/>
              </a:rPr>
              <a:t>: the domain of  </a:t>
            </a:r>
            <a:r>
              <a:rPr lang="en-US" altLang="zh-TW" i="1" dirty="0">
                <a:ea typeface="新細明體" panose="02020500000000000000" pitchFamily="18" charset="-120"/>
              </a:rPr>
              <a:t>phone-number</a:t>
            </a:r>
            <a:r>
              <a:rPr lang="en-US" altLang="zh-TW" dirty="0">
                <a:ea typeface="新細明體" panose="02020500000000000000" pitchFamily="18" charset="-120"/>
              </a:rPr>
              <a:t> = {{6601, 6602}, {6611, 6622}}</a:t>
            </a:r>
          </a:p>
          <a:p>
            <a:pPr lvl="1"/>
            <a:r>
              <a:rPr lang="en-US" altLang="zh-TW" i="1" dirty="0">
                <a:solidFill>
                  <a:srgbClr val="FF0000"/>
                </a:solidFill>
                <a:ea typeface="新細明體" panose="02020500000000000000" pitchFamily="18" charset="-120"/>
              </a:rPr>
              <a:t>composite</a:t>
            </a:r>
            <a:r>
              <a:rPr lang="en-US" altLang="zh-TW" dirty="0">
                <a:ea typeface="新細明體" panose="02020500000000000000" pitchFamily="18" charset="-120"/>
              </a:rPr>
              <a:t> attribute values are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not </a:t>
            </a:r>
            <a:r>
              <a:rPr lang="en-US" altLang="zh-TW" dirty="0">
                <a:ea typeface="新細明體" panose="02020500000000000000" pitchFamily="18" charset="-120"/>
              </a:rPr>
              <a:t>atomic-&gt;</a:t>
            </a:r>
            <a:r>
              <a:rPr lang="zh-TW" altLang="en-US" dirty="0">
                <a:ea typeface="新細明體" panose="02020500000000000000" pitchFamily="18" charset="-120"/>
              </a:rPr>
              <a:t> 每個</a:t>
            </a:r>
            <a:r>
              <a:rPr lang="en-US" altLang="zh-TW" dirty="0">
                <a:ea typeface="新細明體" panose="02020500000000000000" pitchFamily="18" charset="-120"/>
              </a:rPr>
              <a:t>value</a:t>
            </a:r>
            <a:r>
              <a:rPr lang="zh-TW" altLang="en-US" dirty="0">
                <a:ea typeface="新細明體" panose="02020500000000000000" pitchFamily="18" charset="-120"/>
              </a:rPr>
              <a:t>是不同類型資料的組合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lvl="1">
              <a:buFont typeface="Monotype Sorts" pitchFamily="2" charset="2"/>
              <a:buNone/>
            </a:pPr>
            <a:r>
              <a:rPr lang="en-US" altLang="zh-TW" dirty="0">
                <a:ea typeface="新細明體" panose="02020500000000000000" pitchFamily="18" charset="-120"/>
              </a:rPr>
              <a:t>	</a:t>
            </a:r>
            <a:r>
              <a:rPr lang="zh-TW" altLang="en-US" dirty="0">
                <a:ea typeface="ＭＳ Ｐゴシック" panose="020B0600070205080204" pitchFamily="34" charset="-128"/>
              </a:rPr>
              <a:t>例子</a:t>
            </a:r>
            <a:r>
              <a:rPr lang="en-US" altLang="zh-TW" dirty="0">
                <a:ea typeface="新細明體" panose="02020500000000000000" pitchFamily="18" charset="-120"/>
              </a:rPr>
              <a:t>: the domain of </a:t>
            </a:r>
            <a:r>
              <a:rPr lang="en-US" altLang="zh-TW" i="1" dirty="0">
                <a:ea typeface="新細明體" panose="02020500000000000000" pitchFamily="18" charset="-120"/>
              </a:rPr>
              <a:t>phone-number</a:t>
            </a:r>
            <a:r>
              <a:rPr lang="en-US" altLang="zh-TW" dirty="0">
                <a:ea typeface="新細明體" panose="02020500000000000000" pitchFamily="18" charset="-120"/>
              </a:rPr>
              <a:t> = {(02, 24622192)}</a:t>
            </a:r>
            <a:endParaRPr lang="en-US" altLang="en-US" sz="1700" dirty="0"/>
          </a:p>
          <a:p>
            <a:r>
              <a:rPr lang="en-US" altLang="en-US" sz="1700" dirty="0"/>
              <a:t>The special value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b="1" i="1" dirty="0">
                <a:solidFill>
                  <a:srgbClr val="000000"/>
                </a:solidFill>
              </a:rPr>
              <a:t>null</a:t>
            </a:r>
            <a:r>
              <a:rPr lang="en-US" altLang="en-US" sz="1700" dirty="0"/>
              <a:t>  is a member of every domain, indicating that the value is “unknown” or “does not exist”.</a:t>
            </a:r>
          </a:p>
          <a:p>
            <a:r>
              <a:rPr lang="en-US" altLang="en-US" sz="1700" dirty="0"/>
              <a:t>The null value causes complications in the definition of many operations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id="{16C3D0A3-13C6-48AE-8F15-14E42EB42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Relation Schema and Instance</a:t>
            </a:r>
            <a:r>
              <a:rPr lang="zh-TW" altLang="en-US" dirty="0">
                <a:ea typeface="+mj-ea"/>
              </a:rPr>
              <a:t> </a:t>
            </a:r>
            <a:r>
              <a:rPr lang="en-US" altLang="zh-TW" dirty="0">
                <a:ea typeface="+mj-ea"/>
              </a:rPr>
              <a:t>(</a:t>
            </a:r>
            <a:r>
              <a:rPr lang="zh-TW" altLang="en-US" dirty="0">
                <a:ea typeface="+mj-ea"/>
              </a:rPr>
              <a:t>補充正式定義</a:t>
            </a:r>
            <a:r>
              <a:rPr lang="en-US" altLang="zh-TW" dirty="0">
                <a:ea typeface="+mj-ea"/>
              </a:rPr>
              <a:t>)</a:t>
            </a:r>
            <a:endParaRPr lang="en-US" dirty="0">
              <a:ea typeface="+mj-ea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95988FC-D415-41AD-808F-E50C3AD2AC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8513" y="1077913"/>
            <a:ext cx="7848600" cy="4876800"/>
          </a:xfrm>
        </p:spPr>
        <p:txBody>
          <a:bodyPr/>
          <a:lstStyle/>
          <a:p>
            <a:pPr>
              <a:defRPr/>
            </a:pPr>
            <a:r>
              <a:rPr lang="en-US" altLang="zh-TW" i="1" dirty="0"/>
              <a:t>A</a:t>
            </a:r>
            <a:r>
              <a:rPr lang="en-US" altLang="zh-TW" baseline="-25000" dirty="0"/>
              <a:t>1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-25000" dirty="0"/>
              <a:t>2</a:t>
            </a:r>
            <a:r>
              <a:rPr lang="en-US" altLang="zh-TW" dirty="0"/>
              <a:t>, …, </a:t>
            </a:r>
            <a:r>
              <a:rPr lang="en-US" altLang="zh-TW" i="1" dirty="0"/>
              <a:t>A</a:t>
            </a:r>
            <a:r>
              <a:rPr lang="en-US" altLang="zh-TW" i="1" baseline="-25000" dirty="0"/>
              <a:t>n</a:t>
            </a:r>
            <a:r>
              <a:rPr lang="en-US" altLang="zh-TW" i="1" dirty="0"/>
              <a:t> </a:t>
            </a:r>
            <a:r>
              <a:rPr lang="en-US" altLang="zh-TW" dirty="0"/>
              <a:t>are </a:t>
            </a:r>
            <a:r>
              <a:rPr lang="en-US" altLang="zh-TW" i="1" dirty="0"/>
              <a:t>attributes</a:t>
            </a:r>
            <a:endParaRPr lang="en-US" altLang="zh-TW" dirty="0"/>
          </a:p>
          <a:p>
            <a:pPr>
              <a:defRPr/>
            </a:pPr>
            <a:r>
              <a:rPr lang="en-US" altLang="zh-TW" i="1" dirty="0"/>
              <a:t>R</a:t>
            </a:r>
            <a:r>
              <a:rPr lang="en-US" altLang="zh-TW" dirty="0"/>
              <a:t> = (</a:t>
            </a:r>
            <a:r>
              <a:rPr lang="en-US" altLang="zh-TW" i="1" dirty="0"/>
              <a:t>A</a:t>
            </a:r>
            <a:r>
              <a:rPr lang="en-US" altLang="zh-TW" baseline="-25000" dirty="0"/>
              <a:t>1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-25000" dirty="0"/>
              <a:t>2</a:t>
            </a:r>
            <a:r>
              <a:rPr lang="en-US" altLang="zh-TW" dirty="0"/>
              <a:t>, …, </a:t>
            </a:r>
            <a:r>
              <a:rPr lang="en-US" altLang="zh-TW" i="1" dirty="0"/>
              <a:t>A</a:t>
            </a:r>
            <a:r>
              <a:rPr lang="en-US" altLang="zh-TW" i="1" baseline="-25000" dirty="0"/>
              <a:t>n</a:t>
            </a:r>
            <a:r>
              <a:rPr lang="en-US" altLang="zh-TW" dirty="0"/>
              <a:t> ) is a </a:t>
            </a:r>
            <a:r>
              <a:rPr lang="en-US" altLang="zh-TW" b="1" dirty="0">
                <a:solidFill>
                  <a:srgbClr val="000099"/>
                </a:solidFill>
              </a:rPr>
              <a:t>relation schema</a:t>
            </a:r>
          </a:p>
          <a:p>
            <a:pPr>
              <a:lnSpc>
                <a:spcPct val="120000"/>
              </a:lnSpc>
              <a:buFont typeface="Monotype Sorts" pitchFamily="2" charset="2"/>
              <a:buNone/>
              <a:defRPr/>
            </a:pPr>
            <a:r>
              <a:rPr lang="en-US" altLang="zh-TW" dirty="0"/>
              <a:t>	Example:</a:t>
            </a:r>
          </a:p>
          <a:p>
            <a:pPr>
              <a:lnSpc>
                <a:spcPct val="120000"/>
              </a:lnSpc>
              <a:buFont typeface="Monotype Sorts" pitchFamily="2" charset="2"/>
              <a:buNone/>
              <a:defRPr/>
            </a:pPr>
            <a:r>
              <a:rPr lang="en-US" altLang="zh-TW" dirty="0"/>
              <a:t>	</a:t>
            </a:r>
            <a:r>
              <a:rPr lang="en-US" altLang="zh-TW" i="1" dirty="0"/>
              <a:t>     instructor </a:t>
            </a:r>
            <a:r>
              <a:rPr lang="en-US" altLang="zh-TW" dirty="0"/>
              <a:t> = (</a:t>
            </a:r>
            <a:r>
              <a:rPr lang="en-US" altLang="zh-TW" i="1" dirty="0"/>
              <a:t>ID,  name, </a:t>
            </a:r>
            <a:r>
              <a:rPr lang="en-US" altLang="zh-TW" i="1" dirty="0" err="1"/>
              <a:t>dept_name</a:t>
            </a:r>
            <a:r>
              <a:rPr lang="en-US" altLang="zh-TW" i="1" dirty="0"/>
              <a:t>, salary</a:t>
            </a:r>
            <a:r>
              <a:rPr lang="en-US" altLang="zh-TW" dirty="0"/>
              <a:t>)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TW" dirty="0"/>
              <a:t>Formally, given sets </a:t>
            </a:r>
            <a:r>
              <a:rPr lang="en-US" altLang="zh-TW" i="1" dirty="0"/>
              <a:t>D</a:t>
            </a:r>
            <a:r>
              <a:rPr lang="en-US" altLang="zh-TW" baseline="-25000" dirty="0"/>
              <a:t>1</a:t>
            </a:r>
            <a:r>
              <a:rPr lang="en-US" altLang="zh-TW" dirty="0"/>
              <a:t>, </a:t>
            </a:r>
            <a:r>
              <a:rPr lang="en-US" altLang="zh-TW" i="1" dirty="0"/>
              <a:t>D</a:t>
            </a:r>
            <a:r>
              <a:rPr lang="en-US" altLang="zh-TW" baseline="-25000" dirty="0"/>
              <a:t>2</a:t>
            </a:r>
            <a:r>
              <a:rPr lang="en-US" altLang="zh-TW" dirty="0"/>
              <a:t>, …. </a:t>
            </a:r>
            <a:r>
              <a:rPr lang="en-US" altLang="zh-TW" i="1" dirty="0" err="1"/>
              <a:t>D</a:t>
            </a:r>
            <a:r>
              <a:rPr lang="en-US" altLang="zh-TW" i="1" baseline="-25000" dirty="0" err="1"/>
              <a:t>n</a:t>
            </a:r>
            <a:r>
              <a:rPr lang="en-US" altLang="zh-TW" i="1" baseline="-25000" dirty="0"/>
              <a:t>,</a:t>
            </a:r>
            <a:r>
              <a:rPr lang="en-US" altLang="zh-TW" dirty="0"/>
              <a:t> a </a:t>
            </a:r>
            <a:r>
              <a:rPr lang="en-US" altLang="zh-TW" b="1" dirty="0">
                <a:solidFill>
                  <a:srgbClr val="000099"/>
                </a:solidFill>
              </a:rPr>
              <a:t>relation</a:t>
            </a:r>
            <a:r>
              <a:rPr lang="en-US" altLang="zh-TW" i="1" dirty="0">
                <a:solidFill>
                  <a:srgbClr val="008000"/>
                </a:solidFill>
              </a:rPr>
              <a:t> </a:t>
            </a:r>
            <a:r>
              <a:rPr lang="en-US" altLang="zh-TW" b="1" i="1" dirty="0">
                <a:solidFill>
                  <a:srgbClr val="000000"/>
                </a:solidFill>
              </a:rPr>
              <a:t>r</a:t>
            </a:r>
            <a:r>
              <a:rPr lang="en-US" altLang="zh-TW" dirty="0"/>
              <a:t> is </a:t>
            </a:r>
            <a:r>
              <a:rPr lang="en-US" altLang="zh-TW" i="1" dirty="0"/>
              <a:t>a subset of 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        </a:t>
            </a:r>
            <a:r>
              <a:rPr lang="en-US" altLang="zh-TW" i="1" dirty="0"/>
              <a:t>D</a:t>
            </a:r>
            <a:r>
              <a:rPr lang="en-US" altLang="zh-TW" baseline="-25000" dirty="0"/>
              <a:t>1</a:t>
            </a:r>
            <a:r>
              <a:rPr lang="en-US" altLang="zh-TW" dirty="0"/>
              <a:t> x  </a:t>
            </a:r>
            <a:r>
              <a:rPr lang="en-US" altLang="zh-TW" i="1" dirty="0"/>
              <a:t>D</a:t>
            </a:r>
            <a:r>
              <a:rPr lang="en-US" altLang="zh-TW" baseline="-25000" dirty="0"/>
              <a:t>2 </a:t>
            </a:r>
            <a:r>
              <a:rPr lang="en-US" altLang="zh-TW" dirty="0"/>
              <a:t> x … x </a:t>
            </a:r>
            <a:r>
              <a:rPr lang="en-US" altLang="zh-TW" i="1" dirty="0" err="1"/>
              <a:t>D</a:t>
            </a:r>
            <a:r>
              <a:rPr lang="en-US" altLang="zh-TW" i="1" baseline="-25000" dirty="0" err="1"/>
              <a:t>n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Thus, a relation is </a:t>
            </a:r>
            <a:r>
              <a:rPr lang="en-US" altLang="zh-TW" dirty="0">
                <a:solidFill>
                  <a:srgbClr val="FF0000"/>
                </a:solidFill>
              </a:rPr>
              <a:t>a set of </a:t>
            </a:r>
            <a:r>
              <a:rPr lang="en-US" altLang="zh-TW" i="1" dirty="0"/>
              <a:t>n</a:t>
            </a:r>
            <a:r>
              <a:rPr lang="en-US" altLang="zh-TW" dirty="0"/>
              <a:t>-tuples (</a:t>
            </a:r>
            <a:r>
              <a:rPr lang="en-US" altLang="zh-TW" i="1" dirty="0"/>
              <a:t>a</a:t>
            </a:r>
            <a:r>
              <a:rPr lang="en-US" altLang="zh-TW" baseline="-25000" dirty="0"/>
              <a:t>1</a:t>
            </a:r>
            <a:r>
              <a:rPr lang="en-US" altLang="zh-TW" dirty="0"/>
              <a:t>,</a:t>
            </a:r>
            <a:r>
              <a:rPr lang="en-US" altLang="zh-TW" i="1" dirty="0"/>
              <a:t> a</a:t>
            </a:r>
            <a:r>
              <a:rPr lang="en-US" altLang="zh-TW" baseline="-25000" dirty="0"/>
              <a:t>2</a:t>
            </a:r>
            <a:r>
              <a:rPr lang="en-US" altLang="zh-TW" dirty="0"/>
              <a:t>, …, </a:t>
            </a:r>
            <a:r>
              <a:rPr lang="en-US" altLang="zh-TW" i="1" dirty="0"/>
              <a:t>a</a:t>
            </a:r>
            <a:r>
              <a:rPr lang="en-US" altLang="zh-TW" i="1" baseline="-25000" dirty="0"/>
              <a:t>n</a:t>
            </a:r>
            <a:r>
              <a:rPr lang="en-US" altLang="zh-TW" dirty="0"/>
              <a:t>) where each </a:t>
            </a:r>
            <a:r>
              <a:rPr lang="en-US" altLang="zh-TW" i="1" dirty="0" err="1"/>
              <a:t>a</a:t>
            </a:r>
            <a:r>
              <a:rPr lang="en-US" altLang="zh-TW" i="1" baseline="-25000" dirty="0" err="1"/>
              <a:t>i</a:t>
            </a:r>
            <a:r>
              <a:rPr lang="en-US" altLang="zh-TW" dirty="0"/>
              <a:t>  </a:t>
            </a:r>
            <a:r>
              <a:rPr lang="en-US" altLang="zh-TW" dirty="0">
                <a:sym typeface="Symbol" pitchFamily="18" charset="2"/>
              </a:rPr>
              <a:t> </a:t>
            </a:r>
            <a:r>
              <a:rPr lang="en-US" altLang="zh-TW" i="1" dirty="0">
                <a:sym typeface="Symbol" pitchFamily="18" charset="2"/>
              </a:rPr>
              <a:t>D</a:t>
            </a:r>
            <a:r>
              <a:rPr lang="en-US" altLang="zh-TW" i="1" baseline="-25000" dirty="0">
                <a:sym typeface="Symbol" pitchFamily="18" charset="2"/>
              </a:rPr>
              <a:t>i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TW" i="1" dirty="0">
                <a:sym typeface="Symbol" pitchFamily="18" charset="2"/>
              </a:rPr>
              <a:t>Example:</a:t>
            </a:r>
          </a:p>
          <a:p>
            <a:pPr>
              <a:lnSpc>
                <a:spcPct val="120000"/>
              </a:lnSpc>
              <a:buFont typeface="Monotype Sorts" pitchFamily="2" charset="2"/>
              <a:buNone/>
              <a:defRPr/>
            </a:pPr>
            <a:r>
              <a:rPr lang="en-US" altLang="zh-TW" dirty="0">
                <a:sym typeface="Symbol" pitchFamily="18" charset="2"/>
              </a:rPr>
              <a:t>D</a:t>
            </a:r>
            <a:r>
              <a:rPr lang="en-US" altLang="zh-TW" baseline="-25000" dirty="0">
                <a:sym typeface="Symbol" pitchFamily="18" charset="2"/>
              </a:rPr>
              <a:t>1 </a:t>
            </a:r>
            <a:r>
              <a:rPr lang="en-US" altLang="zh-TW" dirty="0">
                <a:sym typeface="Symbol" pitchFamily="18" charset="2"/>
              </a:rPr>
              <a:t>= {a, b, c}, D</a:t>
            </a:r>
            <a:r>
              <a:rPr lang="en-US" altLang="zh-TW" baseline="-25000" dirty="0">
                <a:sym typeface="Symbol" pitchFamily="18" charset="2"/>
              </a:rPr>
              <a:t>2</a:t>
            </a:r>
            <a:r>
              <a:rPr lang="en-US" altLang="zh-TW" dirty="0">
                <a:sym typeface="Symbol" pitchFamily="18" charset="2"/>
              </a:rPr>
              <a:t> = {1, 2}, D</a:t>
            </a:r>
            <a:r>
              <a:rPr lang="en-US" altLang="zh-TW" baseline="-25000" dirty="0">
                <a:sym typeface="Symbol" pitchFamily="18" charset="2"/>
              </a:rPr>
              <a:t>1</a:t>
            </a:r>
            <a:r>
              <a:rPr lang="en-US" altLang="zh-TW" dirty="0">
                <a:sym typeface="Symbol" pitchFamily="18" charset="2"/>
              </a:rPr>
              <a:t>XD</a:t>
            </a:r>
            <a:r>
              <a:rPr lang="en-US" altLang="zh-TW" baseline="-25000" dirty="0">
                <a:sym typeface="Symbol" pitchFamily="18" charset="2"/>
              </a:rPr>
              <a:t>2</a:t>
            </a:r>
            <a:r>
              <a:rPr lang="en-US" altLang="zh-TW" dirty="0">
                <a:sym typeface="Symbol" pitchFamily="18" charset="2"/>
              </a:rPr>
              <a:t> = {(a, 1), (a, 2), (b, 1), (b, 2), (c, 1), (c, 2)}</a:t>
            </a:r>
          </a:p>
          <a:p>
            <a:pPr>
              <a:lnSpc>
                <a:spcPct val="120000"/>
              </a:lnSpc>
              <a:buFont typeface="Monotype Sorts" pitchFamily="2" charset="2"/>
              <a:buNone/>
              <a:defRPr/>
            </a:pPr>
            <a:r>
              <a:rPr lang="en-US" altLang="zh-TW" dirty="0">
                <a:sym typeface="Symbol" pitchFamily="18" charset="2"/>
              </a:rPr>
              <a:t>r =  {(a, 1), (a, 2), (b, 2)} </a:t>
            </a:r>
          </a:p>
          <a:p>
            <a:pPr>
              <a:defRPr/>
            </a:pPr>
            <a:r>
              <a:rPr lang="en-US" altLang="zh-TW" dirty="0"/>
              <a:t>The current values of a relation is called the </a:t>
            </a:r>
            <a:r>
              <a:rPr lang="en-US" altLang="zh-TW" b="1" dirty="0">
                <a:solidFill>
                  <a:srgbClr val="000099"/>
                </a:solidFill>
              </a:rPr>
              <a:t>relation instance</a:t>
            </a:r>
            <a:r>
              <a:rPr lang="en-US" altLang="zh-TW" dirty="0"/>
              <a:t>. </a:t>
            </a:r>
          </a:p>
          <a:p>
            <a:pPr marL="0" indent="0">
              <a:buFont typeface="Monotype Sorts" pitchFamily="2" charset="2"/>
              <a:buNone/>
              <a:defRPr/>
            </a:pPr>
            <a:r>
              <a:rPr lang="en-US" altLang="zh-TW" dirty="0"/>
              <a:t>     A </a:t>
            </a:r>
            <a:r>
              <a:rPr lang="en-US" altLang="zh-TW" b="1" dirty="0">
                <a:solidFill>
                  <a:srgbClr val="000099"/>
                </a:solidFill>
              </a:rPr>
              <a:t>relation </a:t>
            </a:r>
            <a:r>
              <a:rPr lang="en-US" altLang="zh-TW" dirty="0"/>
              <a:t> (</a:t>
            </a:r>
            <a:r>
              <a:rPr lang="en-US" altLang="zh-TW" b="1" dirty="0">
                <a:solidFill>
                  <a:srgbClr val="000099"/>
                </a:solidFill>
              </a:rPr>
              <a:t>instance</a:t>
            </a:r>
            <a:r>
              <a:rPr lang="en-US" altLang="zh-TW" dirty="0"/>
              <a:t>) is represented as a </a:t>
            </a:r>
            <a:r>
              <a:rPr lang="en-US" altLang="zh-TW" b="1" dirty="0">
                <a:solidFill>
                  <a:srgbClr val="000099"/>
                </a:solidFill>
              </a:rPr>
              <a:t>table</a:t>
            </a:r>
            <a:r>
              <a:rPr lang="en-US" altLang="zh-TW" dirty="0"/>
              <a:t>. </a:t>
            </a:r>
          </a:p>
          <a:p>
            <a:pPr lvl="1">
              <a:defRPr/>
            </a:pPr>
            <a:r>
              <a:rPr lang="en-US" altLang="zh-TW" dirty="0"/>
              <a:t>An </a:t>
            </a:r>
            <a:r>
              <a:rPr lang="en-US" altLang="zh-TW" b="1" dirty="0">
                <a:solidFill>
                  <a:srgbClr val="000099"/>
                </a:solidFill>
              </a:rPr>
              <a:t>attribute</a:t>
            </a:r>
            <a:r>
              <a:rPr lang="en-US" altLang="zh-TW" dirty="0"/>
              <a:t> refers to a </a:t>
            </a:r>
            <a:r>
              <a:rPr lang="en-US" altLang="zh-TW" b="1" dirty="0">
                <a:solidFill>
                  <a:srgbClr val="000099"/>
                </a:solidFill>
              </a:rPr>
              <a:t>column</a:t>
            </a:r>
            <a:r>
              <a:rPr lang="en-US" altLang="zh-TW" dirty="0"/>
              <a:t> of a table.</a:t>
            </a:r>
          </a:p>
          <a:p>
            <a:pPr lvl="1">
              <a:defRPr/>
            </a:pPr>
            <a:r>
              <a:rPr lang="en-US" altLang="zh-TW" dirty="0"/>
              <a:t>An element </a:t>
            </a:r>
            <a:r>
              <a:rPr lang="en-US" altLang="zh-TW" b="1" i="1" dirty="0"/>
              <a:t>t</a:t>
            </a:r>
            <a:r>
              <a:rPr lang="en-US" altLang="zh-TW" b="1" dirty="0"/>
              <a:t> </a:t>
            </a:r>
            <a:r>
              <a:rPr lang="en-US" altLang="zh-TW" dirty="0"/>
              <a:t>of</a:t>
            </a:r>
            <a:r>
              <a:rPr lang="en-US" altLang="zh-TW" b="1" dirty="0">
                <a:solidFill>
                  <a:schemeClr val="bg2"/>
                </a:solidFill>
              </a:rPr>
              <a:t> </a:t>
            </a:r>
            <a:r>
              <a:rPr lang="en-US" altLang="zh-TW" b="1" i="1" dirty="0"/>
              <a:t>r</a:t>
            </a:r>
            <a:r>
              <a:rPr lang="en-US" altLang="zh-TW" dirty="0"/>
              <a:t> is a </a:t>
            </a:r>
            <a:r>
              <a:rPr lang="en-US" altLang="zh-TW" b="1" dirty="0">
                <a:solidFill>
                  <a:srgbClr val="000099"/>
                </a:solidFill>
              </a:rPr>
              <a:t>tuple</a:t>
            </a:r>
            <a:r>
              <a:rPr lang="en-US" altLang="zh-TW" dirty="0"/>
              <a:t>, represented by a </a:t>
            </a:r>
            <a:r>
              <a:rPr lang="en-US" altLang="zh-TW" b="1" dirty="0">
                <a:solidFill>
                  <a:srgbClr val="000099"/>
                </a:solidFill>
              </a:rPr>
              <a:t>row</a:t>
            </a:r>
            <a:r>
              <a:rPr lang="en-US" altLang="zh-TW" i="1" dirty="0"/>
              <a:t> </a:t>
            </a:r>
            <a:r>
              <a:rPr lang="en-US" altLang="zh-TW" dirty="0"/>
              <a:t>in a table.</a:t>
            </a:r>
          </a:p>
          <a:p>
            <a:pPr>
              <a:buFont typeface="Monotype Sorts" pitchFamily="2" charset="2"/>
              <a:buNone/>
              <a:defRPr/>
            </a:pPr>
            <a:endParaRPr lang="en-US" altLang="zh-TW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544A6E2-3BE3-4E48-B7B3-0FC6D31F1318}"/>
              </a:ext>
            </a:extLst>
          </p:cNvPr>
          <p:cNvGraphicFramePr>
            <a:graphicFrameLocks noGrp="1"/>
          </p:cNvGraphicFramePr>
          <p:nvPr/>
        </p:nvGraphicFramePr>
        <p:xfrm>
          <a:off x="7710488" y="4678363"/>
          <a:ext cx="1035050" cy="14881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10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A1</a:t>
                      </a:r>
                      <a:endParaRPr lang="zh-TW" altLang="en-US" sz="1800" dirty="0"/>
                    </a:p>
                  </a:txBody>
                  <a:tcPr marL="91328" marR="91328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A2</a:t>
                      </a:r>
                      <a:endParaRPr lang="zh-TW" altLang="en-US" sz="1800" dirty="0"/>
                    </a:p>
                  </a:txBody>
                  <a:tcPr marL="91328" marR="91328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460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</a:t>
                      </a:r>
                      <a:endParaRPr lang="zh-TW" altLang="en-US" sz="1800" dirty="0"/>
                    </a:p>
                  </a:txBody>
                  <a:tcPr marL="91328" marR="91328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91328" marR="91328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460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</a:t>
                      </a:r>
                      <a:endParaRPr lang="zh-TW" altLang="en-US" sz="1800" dirty="0"/>
                    </a:p>
                  </a:txBody>
                  <a:tcPr marL="91328" marR="91328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91328" marR="91328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460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b</a:t>
                      </a:r>
                      <a:endParaRPr lang="zh-TW" altLang="en-US" sz="1800" dirty="0"/>
                    </a:p>
                  </a:txBody>
                  <a:tcPr marL="91328" marR="91328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91328" marR="91328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Relations are Unordered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19200"/>
            <a:ext cx="7621047" cy="1048512"/>
          </a:xfrm>
        </p:spPr>
        <p:txBody>
          <a:bodyPr/>
          <a:lstStyle/>
          <a:p>
            <a:r>
              <a:rPr lang="en-US" altLang="en-US" sz="1700" dirty="0"/>
              <a:t>Order of tuples is irrelevant (tuples may be stored in an arbitrary order)</a:t>
            </a:r>
          </a:p>
          <a:p>
            <a:pPr lvl="1"/>
            <a:r>
              <a:rPr lang="zh-TW" altLang="en-US" sz="1800" dirty="0"/>
              <a:t>資料的排序方式屬</a:t>
            </a:r>
            <a:r>
              <a:rPr lang="en-US" altLang="zh-TW" sz="1800" dirty="0"/>
              <a:t>physical  level, </a:t>
            </a:r>
            <a:r>
              <a:rPr lang="zh-TW" altLang="en-US" sz="1800" dirty="0"/>
              <a:t>非</a:t>
            </a:r>
            <a:r>
              <a:rPr lang="en-US" altLang="zh-TW" sz="1800" dirty="0"/>
              <a:t>logical level</a:t>
            </a:r>
          </a:p>
          <a:p>
            <a:pPr lvl="1"/>
            <a:r>
              <a:rPr lang="zh-TW" altLang="en-US" sz="1800" dirty="0"/>
              <a:t>寫</a:t>
            </a:r>
            <a:r>
              <a:rPr lang="en-US" altLang="zh-TW" sz="1800" dirty="0"/>
              <a:t>query</a:t>
            </a:r>
            <a:r>
              <a:rPr lang="zh-TW" altLang="en-US" sz="1800" dirty="0"/>
              <a:t>時不知資料如何排序</a:t>
            </a:r>
            <a:r>
              <a:rPr lang="en-US" altLang="zh-TW" sz="1800" dirty="0"/>
              <a:t>; </a:t>
            </a:r>
            <a:endParaRPr lang="en-US" altLang="en-US" dirty="0"/>
          </a:p>
          <a:p>
            <a:r>
              <a:rPr lang="en-US" altLang="en-US" sz="1700" dirty="0"/>
              <a:t>Example: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relation with unordered tuples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4" name="Picture 4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883" y="2759837"/>
            <a:ext cx="4456175" cy="3360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 Schema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2297"/>
            <a:ext cx="7594414" cy="2055431"/>
          </a:xfrm>
        </p:spPr>
        <p:txBody>
          <a:bodyPr/>
          <a:lstStyle/>
          <a:p>
            <a:r>
              <a:rPr lang="en-US" altLang="en-US" sz="1700" dirty="0">
                <a:sym typeface="Symbol" panose="05050102010706020507" pitchFamily="18" charset="2"/>
              </a:rPr>
              <a:t>Database schema -- is the logical structure of the database.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Database instance -- is a snapshot of the data in the database at a given instant in time.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Example: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schema: </a:t>
            </a:r>
            <a:r>
              <a:rPr lang="en-US" altLang="en-US" sz="1700" i="1" dirty="0">
                <a:sym typeface="Symbol" panose="05050102010706020507" pitchFamily="18" charset="2"/>
              </a:rPr>
              <a:t>  instructor</a:t>
            </a:r>
            <a:r>
              <a:rPr lang="en-US" altLang="en-US" sz="1700" dirty="0">
                <a:sym typeface="Symbol" panose="05050102010706020507" pitchFamily="18" charset="2"/>
              </a:rPr>
              <a:t> (</a:t>
            </a:r>
            <a:r>
              <a:rPr lang="en-US" altLang="en-US" sz="1700" i="1" dirty="0">
                <a:sym typeface="Symbol" panose="05050102010706020507" pitchFamily="18" charset="2"/>
              </a:rPr>
              <a:t>ID, name, dept_name, salary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Instance:</a:t>
            </a:r>
          </a:p>
        </p:txBody>
      </p:sp>
      <p:pic>
        <p:nvPicPr>
          <p:cNvPr id="5" name="Picture 4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12" y="3254439"/>
            <a:ext cx="3973778" cy="2996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Keys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5439" y="630079"/>
            <a:ext cx="7647680" cy="4896167"/>
          </a:xfrm>
        </p:spPr>
        <p:txBody>
          <a:bodyPr/>
          <a:lstStyle/>
          <a:p>
            <a:r>
              <a:rPr lang="en-US" altLang="en-US" sz="1700" dirty="0"/>
              <a:t>Let K </a:t>
            </a:r>
            <a:r>
              <a:rPr lang="en-US" altLang="en-US" sz="1700" dirty="0">
                <a:sym typeface="Symbol" panose="05050102010706020507" pitchFamily="18" charset="2"/>
              </a:rPr>
              <a:t> R</a:t>
            </a:r>
          </a:p>
          <a:p>
            <a:r>
              <a:rPr lang="en-US" altLang="en-US" sz="1700" i="1" dirty="0">
                <a:sym typeface="Symbol" panose="05050102010706020507" pitchFamily="18" charset="2"/>
              </a:rPr>
              <a:t>K </a:t>
            </a:r>
            <a:r>
              <a:rPr lang="en-US" altLang="en-US" sz="1700" dirty="0">
                <a:sym typeface="Symbol" panose="05050102010706020507" pitchFamily="18" charset="2"/>
              </a:rPr>
              <a:t>is a </a:t>
            </a:r>
            <a:r>
              <a:rPr lang="en-US" altLang="en-US" sz="1700" b="1" dirty="0" err="1">
                <a:solidFill>
                  <a:srgbClr val="002060"/>
                </a:solidFill>
                <a:sym typeface="Symbol" panose="05050102010706020507" pitchFamily="18" charset="2"/>
              </a:rPr>
              <a:t>superkey</a:t>
            </a:r>
            <a:r>
              <a:rPr lang="en-US" altLang="en-US" sz="1700" b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of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 if values for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en-US" sz="1700" i="1" dirty="0">
                <a:sym typeface="Symbol" panose="05050102010706020507" pitchFamily="18" charset="2"/>
              </a:rPr>
              <a:t>r(R)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130000"/>
              </a:lnSpc>
            </a:pPr>
            <a:r>
              <a:rPr lang="en-US" altLang="en-US" sz="1700" dirty="0">
                <a:sym typeface="Symbol" panose="05050102010706020507" pitchFamily="18" charset="2"/>
              </a:rPr>
              <a:t>Example:  {</a:t>
            </a:r>
            <a:r>
              <a:rPr lang="en-US" altLang="en-US" sz="1700" i="1" dirty="0">
                <a:sym typeface="Symbol" panose="05050102010706020507" pitchFamily="18" charset="2"/>
              </a:rPr>
              <a:t>ID</a:t>
            </a:r>
            <a:r>
              <a:rPr lang="en-US" altLang="en-US" sz="1700" dirty="0">
                <a:sym typeface="Symbol" panose="05050102010706020507" pitchFamily="18" charset="2"/>
              </a:rPr>
              <a:t>} and {ID,</a:t>
            </a:r>
            <a:r>
              <a:rPr lang="zh-TW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name} are both </a:t>
            </a:r>
            <a:r>
              <a:rPr lang="en-US" altLang="en-US" sz="1700" dirty="0" err="1">
                <a:sym typeface="Symbol" panose="05050102010706020507" pitchFamily="18" charset="2"/>
              </a:rPr>
              <a:t>superkeys</a:t>
            </a:r>
            <a:r>
              <a:rPr lang="en-US" altLang="en-US" sz="1700" dirty="0">
                <a:sym typeface="Symbol" panose="05050102010706020507" pitchFamily="18" charset="2"/>
              </a:rPr>
              <a:t> of </a:t>
            </a:r>
            <a:r>
              <a:rPr lang="en-US" altLang="en-US" sz="1700" i="1" dirty="0">
                <a:sym typeface="Symbol" panose="05050102010706020507" pitchFamily="18" charset="2"/>
              </a:rPr>
              <a:t>instructor.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1700" dirty="0" err="1">
                <a:sym typeface="Symbol" panose="05050102010706020507" pitchFamily="18" charset="2"/>
              </a:rPr>
              <a:t>Superkey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is a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candidate key</a:t>
            </a:r>
            <a:r>
              <a:rPr lang="en-US" altLang="en-US" sz="1700" dirty="0">
                <a:sym typeface="Symbol" panose="05050102010706020507" pitchFamily="18" charset="2"/>
              </a:rPr>
              <a:t> if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is minimal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Example:  {</a:t>
            </a:r>
            <a:r>
              <a:rPr lang="en-US" altLang="en-US" sz="1700" i="1" dirty="0">
                <a:sym typeface="Symbol" panose="05050102010706020507" pitchFamily="18" charset="2"/>
              </a:rPr>
              <a:t>ID</a:t>
            </a:r>
            <a:r>
              <a:rPr lang="en-US" altLang="en-US" sz="1700" dirty="0">
                <a:sym typeface="Symbol" panose="05050102010706020507" pitchFamily="18" charset="2"/>
              </a:rPr>
              <a:t>} is a candidate key for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1700" dirty="0">
                <a:sym typeface="Symbol" panose="05050102010706020507" pitchFamily="18" charset="2"/>
              </a:rPr>
              <a:t>One of the candidate keys is selected to be the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primary key</a:t>
            </a:r>
            <a:r>
              <a:rPr lang="en-US" altLang="en-US" sz="1700" dirty="0">
                <a:sym typeface="Symbol" panose="05050102010706020507" pitchFamily="18" charset="2"/>
              </a:rPr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en-US" sz="1700" dirty="0">
                <a:sym typeface="Symbol" panose="05050102010706020507" pitchFamily="18" charset="2"/>
              </a:rPr>
              <a:t>which one? 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通常依一般使用習慣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,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找最有代表性的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Another example: {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系別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,</a:t>
            </a:r>
            <a:r>
              <a:rPr lang="zh-TW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年級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,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班級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,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座號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}, {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學號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}, {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身分證字號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}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 都是下面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classmate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表格的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candidate key, 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選 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{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學號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}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做為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PK.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 </a:t>
            </a:r>
            <a:endParaRPr lang="en-US" altLang="zh-TW" dirty="0">
              <a:ea typeface="新細明體" panose="02020500000000000000" pitchFamily="18" charset="-120"/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</a:pPr>
            <a:endParaRPr lang="en-US" altLang="en-US" sz="1700" dirty="0">
              <a:sym typeface="Symbol" panose="05050102010706020507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283870"/>
              </p:ext>
            </p:extLst>
          </p:nvPr>
        </p:nvGraphicFramePr>
        <p:xfrm>
          <a:off x="1170781" y="4284858"/>
          <a:ext cx="7272338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7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0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7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9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9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0514">
                <a:tc>
                  <a:txBody>
                    <a:bodyPr/>
                    <a:lstStyle/>
                    <a:p>
                      <a:r>
                        <a:rPr lang="zh-TW" altLang="en-US" sz="1700" dirty="0"/>
                        <a:t>學號</a:t>
                      </a:r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zh-TW" altLang="en-US" sz="1700" dirty="0"/>
                        <a:t>身分證字號</a:t>
                      </a:r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zh-TW" altLang="en-US" sz="1700" dirty="0"/>
                        <a:t>系別</a:t>
                      </a:r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zh-TW" altLang="en-US" sz="1700" dirty="0"/>
                        <a:t>年級</a:t>
                      </a:r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zh-TW" altLang="en-US" sz="1700" dirty="0"/>
                        <a:t>班級</a:t>
                      </a:r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zh-TW" altLang="en-US" sz="1700" dirty="0"/>
                        <a:t>座號</a:t>
                      </a:r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zh-TW" altLang="en-US" sz="1700" dirty="0"/>
                        <a:t>姓名</a:t>
                      </a:r>
                    </a:p>
                  </a:txBody>
                  <a:tcPr marL="91449" marR="9144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514"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0995701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A123456780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CS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3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A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1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zh-TW" altLang="en-US" sz="1700" dirty="0"/>
                        <a:t>張三</a:t>
                      </a:r>
                    </a:p>
                  </a:txBody>
                  <a:tcPr marL="91449" marR="914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51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700" dirty="0"/>
                        <a:t>0995705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A123456781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CS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3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A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2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zh-TW" altLang="en-US" sz="1700" dirty="0"/>
                        <a:t>李四</a:t>
                      </a:r>
                    </a:p>
                  </a:txBody>
                  <a:tcPr marL="91449" marR="91449"/>
                </a:tc>
                <a:extLst>
                  <a:ext uri="{0D108BD9-81ED-4DB2-BD59-A6C34878D82A}">
                    <a16:rowId xmlns:a16="http://schemas.microsoft.com/office/drawing/2014/main" val="55837706"/>
                  </a:ext>
                </a:extLst>
              </a:tr>
              <a:tr h="33051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700" dirty="0"/>
                        <a:t>0995711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700" dirty="0"/>
                        <a:t>A123456782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CS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3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B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1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zh-TW" altLang="en-US" sz="1700" dirty="0"/>
                        <a:t>王五</a:t>
                      </a:r>
                    </a:p>
                  </a:txBody>
                  <a:tcPr marL="91449" marR="9144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514"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0985701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700" dirty="0"/>
                        <a:t>A123456783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CS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4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A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1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zh-TW" altLang="en-US" sz="1700" dirty="0"/>
                        <a:t>趙六</a:t>
                      </a:r>
                    </a:p>
                  </a:txBody>
                  <a:tcPr marL="91449" marR="9144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51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700" dirty="0"/>
                        <a:t>0995601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700" dirty="0"/>
                        <a:t>A123456784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EE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3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A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1</a:t>
                      </a:r>
                      <a:endParaRPr lang="zh-TW" altLang="en-US" sz="1700" dirty="0"/>
                    </a:p>
                  </a:txBody>
                  <a:tcPr marL="91449" marR="91449"/>
                </a:tc>
                <a:tc>
                  <a:txBody>
                    <a:bodyPr/>
                    <a:lstStyle/>
                    <a:p>
                      <a:r>
                        <a:rPr lang="zh-TW" altLang="en-US" sz="1700" baseline="0" dirty="0"/>
                        <a:t>劉七</a:t>
                      </a:r>
                      <a:endParaRPr lang="zh-TW" altLang="en-US" sz="1700" dirty="0"/>
                    </a:p>
                  </a:txBody>
                  <a:tcPr marL="91449" marR="9144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群組 1"/>
          <p:cNvGrpSpPr>
            <a:grpSpLocks/>
          </p:cNvGrpSpPr>
          <p:nvPr/>
        </p:nvGrpSpPr>
        <p:grpSpPr bwMode="auto">
          <a:xfrm>
            <a:off x="7188200" y="2249488"/>
            <a:ext cx="1814513" cy="1284287"/>
            <a:chOff x="6923088" y="5021263"/>
            <a:chExt cx="1814512" cy="1284287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6923088" y="5021263"/>
              <a:ext cx="1814512" cy="12842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TW"/>
                <a:t>SK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TW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TW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TW"/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7202488" y="5516563"/>
              <a:ext cx="1401762" cy="6667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TW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TW"/>
                <a:t>    CK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TW">
                  <a:solidFill>
                    <a:schemeClr val="tx2"/>
                  </a:solidFill>
                </a:rPr>
                <a:t>PK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TW"/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7559675" y="5949950"/>
              <a:ext cx="90488" cy="889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TW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Foreign keys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20359" y="617173"/>
            <a:ext cx="7707313" cy="2300043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Foreign key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constraint: Value in one relation must appear in another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Referencing</a:t>
            </a:r>
            <a:r>
              <a:rPr lang="en-US" altLang="en-US" dirty="0"/>
              <a:t> relation</a:t>
            </a:r>
            <a:r>
              <a:rPr lang="zh-TW" altLang="en-US" dirty="0"/>
              <a:t>，如下面的</a:t>
            </a:r>
            <a:r>
              <a:rPr lang="en-US" altLang="zh-TW" dirty="0"/>
              <a:t>instructor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Referenced</a:t>
            </a:r>
            <a:r>
              <a:rPr lang="en-US" altLang="en-US" dirty="0"/>
              <a:t> relation</a:t>
            </a:r>
            <a:r>
              <a:rPr lang="zh-TW" altLang="en-US" dirty="0"/>
              <a:t>，如下面的</a:t>
            </a:r>
            <a:r>
              <a:rPr lang="en-US" altLang="zh-TW" dirty="0"/>
              <a:t>department</a:t>
            </a:r>
            <a:endParaRPr lang="en-US" altLang="en-US" dirty="0"/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Example: </a:t>
            </a:r>
            <a:r>
              <a:rPr lang="en-US" altLang="en-US" i="1" dirty="0" err="1">
                <a:sym typeface="Symbol" panose="05050102010706020507" pitchFamily="18" charset="2"/>
              </a:rPr>
              <a:t>dept_name</a:t>
            </a:r>
            <a:r>
              <a:rPr lang="en-US" altLang="en-US" dirty="0">
                <a:sym typeface="Symbol" panose="05050102010706020507" pitchFamily="18" charset="2"/>
              </a:rPr>
              <a:t> in i</a:t>
            </a:r>
            <a:r>
              <a:rPr lang="en-US" altLang="en-US" i="1" dirty="0">
                <a:sym typeface="Symbol" panose="05050102010706020507" pitchFamily="18" charset="2"/>
              </a:rPr>
              <a:t>nstructor</a:t>
            </a:r>
            <a:r>
              <a:rPr lang="en-US" altLang="en-US" dirty="0">
                <a:sym typeface="Symbol" panose="05050102010706020507" pitchFamily="18" charset="2"/>
              </a:rPr>
              <a:t>  is a foreign key from </a:t>
            </a:r>
            <a:r>
              <a:rPr lang="en-US" altLang="en-US" i="1" dirty="0">
                <a:sym typeface="Symbol" panose="05050102010706020507" pitchFamily="18" charset="2"/>
              </a:rPr>
              <a:t>instructor</a:t>
            </a:r>
            <a:r>
              <a:rPr lang="en-US" altLang="en-US" dirty="0">
                <a:sym typeface="Symbol" panose="05050102010706020507" pitchFamily="18" charset="2"/>
              </a:rPr>
              <a:t> referencing </a:t>
            </a:r>
            <a:r>
              <a:rPr lang="en-US" altLang="en-US" i="1" dirty="0">
                <a:sym typeface="Symbol" panose="05050102010706020507" pitchFamily="18" charset="2"/>
              </a:rPr>
              <a:t>department</a:t>
            </a:r>
          </a:p>
          <a:p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注意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: 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屬性值的唯一性會隨表格表示的資料不同而改變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,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如</a:t>
            </a:r>
            <a:r>
              <a:rPr lang="en-US" altLang="zh-TW" dirty="0" err="1">
                <a:ea typeface="新細明體" panose="02020500000000000000" pitchFamily="18" charset="-120"/>
                <a:sym typeface="Symbol" panose="05050102010706020507" pitchFamily="18" charset="2"/>
              </a:rPr>
              <a:t>dept_name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，所以表格的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PK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會變化</a:t>
            </a:r>
            <a:endParaRPr lang="en-US" altLang="zh-TW" dirty="0">
              <a:ea typeface="新細明體" panose="02020500000000000000" pitchFamily="18" charset="-120"/>
              <a:sym typeface="Symbol" panose="05050102010706020507" pitchFamily="18" charset="2"/>
            </a:endParaRPr>
          </a:p>
          <a:p>
            <a:pPr lvl="1"/>
            <a:endParaRPr lang="en-US" altLang="en-US" i="1" dirty="0">
              <a:sym typeface="Symbol" panose="05050102010706020507" pitchFamily="18" charset="2"/>
            </a:endParaRPr>
          </a:p>
          <a:p>
            <a:endParaRPr lang="zh-TW" altLang="en-US" dirty="0"/>
          </a:p>
        </p:txBody>
      </p:sp>
      <p:pic>
        <p:nvPicPr>
          <p:cNvPr id="4" name="Picture 4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14" y="2831245"/>
            <a:ext cx="4953000" cy="373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092" y="3358418"/>
            <a:ext cx="3363913" cy="216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線單箭頭接點 8"/>
          <p:cNvCxnSpPr>
            <a:cxnSpLocks noChangeShapeType="1"/>
          </p:cNvCxnSpPr>
          <p:nvPr/>
        </p:nvCxnSpPr>
        <p:spPr bwMode="auto">
          <a:xfrm flipV="1">
            <a:off x="4009292" y="4095018"/>
            <a:ext cx="1711325" cy="111125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線單箭頭接點 10"/>
          <p:cNvCxnSpPr>
            <a:cxnSpLocks noChangeShapeType="1"/>
          </p:cNvCxnSpPr>
          <p:nvPr/>
        </p:nvCxnSpPr>
        <p:spPr bwMode="auto">
          <a:xfrm flipV="1">
            <a:off x="4009292" y="4163281"/>
            <a:ext cx="1703388" cy="779462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直線單箭頭接點 12"/>
          <p:cNvCxnSpPr>
            <a:cxnSpLocks noChangeShapeType="1"/>
          </p:cNvCxnSpPr>
          <p:nvPr/>
        </p:nvCxnSpPr>
        <p:spPr bwMode="auto">
          <a:xfrm flipV="1">
            <a:off x="4009292" y="4206143"/>
            <a:ext cx="1685925" cy="1319213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內容版面配置區 2"/>
          <p:cNvSpPr txBox="1">
            <a:spLocks/>
          </p:cNvSpPr>
          <p:nvPr/>
        </p:nvSpPr>
        <p:spPr bwMode="auto">
          <a:xfrm>
            <a:off x="6479442" y="5803168"/>
            <a:ext cx="16525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0" name="內容版面配置區 2"/>
          <p:cNvSpPr txBox="1">
            <a:spLocks/>
          </p:cNvSpPr>
          <p:nvPr/>
        </p:nvSpPr>
        <p:spPr bwMode="auto">
          <a:xfrm>
            <a:off x="6642955" y="5529263"/>
            <a:ext cx="1924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 sz="1800" dirty="0">
                <a:ea typeface="新細明體" panose="02020500000000000000" pitchFamily="18" charset="-120"/>
              </a:rPr>
              <a:t>department</a:t>
            </a:r>
            <a:endParaRPr lang="zh-TW" altLang="en-US" sz="1800" dirty="0">
              <a:ea typeface="新細明體" panose="02020500000000000000" pitchFamily="18" charset="-120"/>
            </a:endParaRPr>
          </a:p>
        </p:txBody>
      </p:sp>
      <p:sp>
        <p:nvSpPr>
          <p:cNvPr id="14" name="內容版面配置區 2"/>
          <p:cNvSpPr txBox="1">
            <a:spLocks/>
          </p:cNvSpPr>
          <p:nvPr/>
        </p:nvSpPr>
        <p:spPr bwMode="auto">
          <a:xfrm>
            <a:off x="5207855" y="6033355"/>
            <a:ext cx="16525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 sz="1800" dirty="0">
                <a:ea typeface="新細明體" panose="02020500000000000000" pitchFamily="18" charset="-120"/>
              </a:rPr>
              <a:t>instructor</a:t>
            </a:r>
            <a:endParaRPr lang="zh-TW" altLang="en-US" sz="18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774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Schema Diagram for University Database</a:t>
            </a:r>
          </a:p>
        </p:txBody>
      </p:sp>
      <p:pic>
        <p:nvPicPr>
          <p:cNvPr id="21505" name="Picture 1" descr="C:\Users\as668\Desktop\2_0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8198" y="1290115"/>
            <a:ext cx="7880835" cy="4723824"/>
          </a:xfrm>
          <a:prstGeom prst="rect">
            <a:avLst/>
          </a:prstGeom>
          <a:noFill/>
        </p:spPr>
      </p:pic>
      <p:cxnSp>
        <p:nvCxnSpPr>
          <p:cNvPr id="3" name="直線接點 2"/>
          <p:cNvCxnSpPr/>
          <p:nvPr/>
        </p:nvCxnSpPr>
        <p:spPr bwMode="auto">
          <a:xfrm>
            <a:off x="1081377" y="4993419"/>
            <a:ext cx="779228" cy="795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ea typeface="新細明體" charset="-120"/>
              </a:rPr>
              <a:t>資料綱要常見寫法 </a:t>
            </a:r>
            <a:r>
              <a:rPr lang="en-US" altLang="zh-TW" dirty="0">
                <a:ea typeface="新細明體" charset="-120"/>
              </a:rPr>
              <a:t>(</a:t>
            </a:r>
            <a:r>
              <a:rPr lang="zh-TW" altLang="en-US" dirty="0">
                <a:ea typeface="新細明體" charset="-120"/>
              </a:rPr>
              <a:t>課本圖</a:t>
            </a:r>
            <a:r>
              <a:rPr lang="en-US" altLang="zh-TW" dirty="0">
                <a:ea typeface="新細明體" charset="-120"/>
              </a:rPr>
              <a:t>2.8) </a:t>
            </a:r>
            <a:endParaRPr lang="zh-TW" altLang="en-US" dirty="0">
              <a:ea typeface="新細明體" charset="-120"/>
            </a:endParaRPr>
          </a:p>
        </p:txBody>
      </p:sp>
      <p:sp>
        <p:nvSpPr>
          <p:cNvPr id="2048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800" dirty="0">
                <a:ea typeface="新細明體" panose="02020500000000000000" pitchFamily="18" charset="-120"/>
              </a:rPr>
              <a:t>classroom (</a:t>
            </a:r>
            <a:r>
              <a:rPr lang="en-US" altLang="zh-TW" sz="1800" u="sng" dirty="0">
                <a:ea typeface="新細明體" panose="02020500000000000000" pitchFamily="18" charset="-120"/>
              </a:rPr>
              <a:t>building, 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room_number</a:t>
            </a:r>
            <a:r>
              <a:rPr lang="en-US" altLang="zh-TW" sz="1800" dirty="0">
                <a:ea typeface="新細明體" panose="02020500000000000000" pitchFamily="18" charset="-120"/>
              </a:rPr>
              <a:t>, capacity)</a:t>
            </a:r>
          </a:p>
          <a:p>
            <a:r>
              <a:rPr lang="en-US" altLang="zh-TW" sz="1800" dirty="0">
                <a:ea typeface="新細明體" panose="02020500000000000000" pitchFamily="18" charset="-120"/>
              </a:rPr>
              <a:t>department (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dept_name</a:t>
            </a:r>
            <a:r>
              <a:rPr lang="en-US" altLang="zh-TW" sz="1800" dirty="0">
                <a:ea typeface="新細明體" panose="02020500000000000000" pitchFamily="18" charset="-120"/>
              </a:rPr>
              <a:t>, building, budget)</a:t>
            </a:r>
          </a:p>
          <a:p>
            <a:r>
              <a:rPr lang="en-US" altLang="zh-TW" sz="1800" dirty="0">
                <a:ea typeface="新細明體" panose="02020500000000000000" pitchFamily="18" charset="-120"/>
              </a:rPr>
              <a:t>course (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course_id</a:t>
            </a:r>
            <a:r>
              <a:rPr lang="en-US" altLang="zh-TW" sz="1800" dirty="0">
                <a:ea typeface="新細明體" panose="02020500000000000000" pitchFamily="18" charset="-120"/>
              </a:rPr>
              <a:t>, title, </a:t>
            </a:r>
            <a:r>
              <a:rPr lang="en-US" altLang="zh-TW" sz="1800" dirty="0" err="1">
                <a:ea typeface="新細明體" panose="02020500000000000000" pitchFamily="18" charset="-120"/>
              </a:rPr>
              <a:t>dept_name</a:t>
            </a:r>
            <a:r>
              <a:rPr lang="en-US" altLang="zh-TW" sz="1800" dirty="0">
                <a:ea typeface="新細明體" panose="02020500000000000000" pitchFamily="18" charset="-120"/>
              </a:rPr>
              <a:t>, credits)</a:t>
            </a:r>
          </a:p>
          <a:p>
            <a:r>
              <a:rPr lang="en-US" altLang="zh-TW" sz="1800" dirty="0">
                <a:ea typeface="新細明體" panose="02020500000000000000" pitchFamily="18" charset="-120"/>
              </a:rPr>
              <a:t>instructor (</a:t>
            </a:r>
            <a:r>
              <a:rPr lang="en-US" altLang="zh-TW" sz="1800" u="sng" dirty="0">
                <a:ea typeface="新細明體" panose="02020500000000000000" pitchFamily="18" charset="-120"/>
              </a:rPr>
              <a:t>ID,</a:t>
            </a:r>
            <a:r>
              <a:rPr lang="en-US" altLang="zh-TW" sz="1800" dirty="0">
                <a:ea typeface="新細明體" panose="02020500000000000000" pitchFamily="18" charset="-120"/>
              </a:rPr>
              <a:t> name, </a:t>
            </a:r>
            <a:r>
              <a:rPr lang="en-US" altLang="zh-TW" sz="1800" dirty="0" err="1">
                <a:ea typeface="新細明體" panose="02020500000000000000" pitchFamily="18" charset="-120"/>
              </a:rPr>
              <a:t>dept_name</a:t>
            </a:r>
            <a:r>
              <a:rPr lang="en-US" altLang="zh-TW" sz="1800" dirty="0">
                <a:ea typeface="新細明體" panose="02020500000000000000" pitchFamily="18" charset="-120"/>
              </a:rPr>
              <a:t>, salary)</a:t>
            </a:r>
          </a:p>
          <a:p>
            <a:r>
              <a:rPr lang="en-US" altLang="zh-TW" sz="1800" dirty="0">
                <a:ea typeface="新細明體" panose="02020500000000000000" pitchFamily="18" charset="-120"/>
              </a:rPr>
              <a:t>section (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course_id</a:t>
            </a:r>
            <a:r>
              <a:rPr lang="en-US" altLang="zh-TW" sz="1800" u="sng" dirty="0">
                <a:ea typeface="新細明體" panose="02020500000000000000" pitchFamily="18" charset="-120"/>
              </a:rPr>
              <a:t>, 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sec_id</a:t>
            </a:r>
            <a:r>
              <a:rPr lang="en-US" altLang="zh-TW" sz="1800" u="sng" dirty="0">
                <a:ea typeface="新細明體" panose="02020500000000000000" pitchFamily="18" charset="-120"/>
              </a:rPr>
              <a:t>, semester, year</a:t>
            </a:r>
            <a:r>
              <a:rPr lang="en-US" altLang="zh-TW" sz="1800" dirty="0">
                <a:ea typeface="新細明體" panose="02020500000000000000" pitchFamily="18" charset="-120"/>
              </a:rPr>
              <a:t>, building, </a:t>
            </a:r>
            <a:r>
              <a:rPr lang="en-US" altLang="zh-TW" sz="1800" dirty="0" err="1">
                <a:ea typeface="新細明體" panose="02020500000000000000" pitchFamily="18" charset="-120"/>
              </a:rPr>
              <a:t>room_number</a:t>
            </a:r>
            <a:r>
              <a:rPr lang="en-US" altLang="zh-TW" sz="1800" dirty="0">
                <a:ea typeface="新細明體" panose="02020500000000000000" pitchFamily="18" charset="-120"/>
              </a:rPr>
              <a:t>, </a:t>
            </a:r>
            <a:r>
              <a:rPr lang="en-US" altLang="zh-TW" sz="1800" dirty="0" err="1">
                <a:ea typeface="新細明體" panose="02020500000000000000" pitchFamily="18" charset="-120"/>
              </a:rPr>
              <a:t>time_slot_id</a:t>
            </a:r>
            <a:r>
              <a:rPr lang="en-US" altLang="zh-TW" sz="1800" dirty="0">
                <a:ea typeface="新細明體" panose="02020500000000000000" pitchFamily="18" charset="-120"/>
              </a:rPr>
              <a:t>)</a:t>
            </a:r>
          </a:p>
          <a:p>
            <a:r>
              <a:rPr lang="en-US" altLang="zh-TW" sz="1800" dirty="0">
                <a:ea typeface="新細明體" panose="02020500000000000000" pitchFamily="18" charset="-120"/>
              </a:rPr>
              <a:t>teaches (</a:t>
            </a:r>
            <a:r>
              <a:rPr lang="en-US" altLang="zh-TW" sz="1800" u="sng" dirty="0">
                <a:ea typeface="新細明體" panose="02020500000000000000" pitchFamily="18" charset="-120"/>
              </a:rPr>
              <a:t>ID, 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course_id</a:t>
            </a:r>
            <a:r>
              <a:rPr lang="en-US" altLang="zh-TW" sz="1800" u="sng" dirty="0">
                <a:ea typeface="新細明體" panose="02020500000000000000" pitchFamily="18" charset="-120"/>
              </a:rPr>
              <a:t>, 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sec_id</a:t>
            </a:r>
            <a:r>
              <a:rPr lang="en-US" altLang="zh-TW" sz="1800" u="sng" dirty="0">
                <a:ea typeface="新細明體" panose="02020500000000000000" pitchFamily="18" charset="-120"/>
              </a:rPr>
              <a:t>, semester, year</a:t>
            </a:r>
            <a:r>
              <a:rPr lang="en-US" altLang="zh-TW" sz="1800" dirty="0">
                <a:ea typeface="新細明體" panose="02020500000000000000" pitchFamily="18" charset="-120"/>
              </a:rPr>
              <a:t>)</a:t>
            </a:r>
          </a:p>
          <a:p>
            <a:r>
              <a:rPr lang="en-US" altLang="zh-TW" sz="1800" dirty="0">
                <a:ea typeface="新細明體" panose="02020500000000000000" pitchFamily="18" charset="-120"/>
              </a:rPr>
              <a:t>student (</a:t>
            </a:r>
            <a:r>
              <a:rPr lang="en-US" altLang="zh-TW" sz="1800" u="sng" dirty="0">
                <a:ea typeface="新細明體" panose="02020500000000000000" pitchFamily="18" charset="-120"/>
              </a:rPr>
              <a:t>ID</a:t>
            </a:r>
            <a:r>
              <a:rPr lang="en-US" altLang="zh-TW" sz="1800" dirty="0">
                <a:ea typeface="新細明體" panose="02020500000000000000" pitchFamily="18" charset="-120"/>
              </a:rPr>
              <a:t>, name, </a:t>
            </a:r>
            <a:r>
              <a:rPr lang="en-US" altLang="zh-TW" sz="1800" dirty="0" err="1">
                <a:ea typeface="新細明體" panose="02020500000000000000" pitchFamily="18" charset="-120"/>
              </a:rPr>
              <a:t>dept_name</a:t>
            </a:r>
            <a:r>
              <a:rPr lang="en-US" altLang="zh-TW" sz="1800" dirty="0">
                <a:ea typeface="新細明體" panose="02020500000000000000" pitchFamily="18" charset="-120"/>
              </a:rPr>
              <a:t>, </a:t>
            </a:r>
            <a:r>
              <a:rPr lang="en-US" altLang="zh-TW" sz="1800" dirty="0" err="1">
                <a:ea typeface="新細明體" panose="02020500000000000000" pitchFamily="18" charset="-120"/>
              </a:rPr>
              <a:t>tot_cred</a:t>
            </a:r>
            <a:r>
              <a:rPr lang="en-US" altLang="zh-TW" sz="1800" dirty="0">
                <a:ea typeface="新細明體" panose="02020500000000000000" pitchFamily="18" charset="-120"/>
              </a:rPr>
              <a:t>)</a:t>
            </a:r>
          </a:p>
          <a:p>
            <a:r>
              <a:rPr lang="en-US" altLang="zh-TW" sz="1800" dirty="0">
                <a:ea typeface="新細明體" panose="02020500000000000000" pitchFamily="18" charset="-120"/>
              </a:rPr>
              <a:t>takes (</a:t>
            </a:r>
            <a:r>
              <a:rPr lang="en-US" altLang="zh-TW" sz="1800" u="sng" dirty="0">
                <a:ea typeface="新細明體" panose="02020500000000000000" pitchFamily="18" charset="-120"/>
              </a:rPr>
              <a:t>ID, 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course_id</a:t>
            </a:r>
            <a:r>
              <a:rPr lang="en-US" altLang="zh-TW" sz="1800" u="sng" dirty="0">
                <a:ea typeface="新細明體" panose="02020500000000000000" pitchFamily="18" charset="-120"/>
              </a:rPr>
              <a:t>, 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sec_id</a:t>
            </a:r>
            <a:r>
              <a:rPr lang="en-US" altLang="zh-TW" sz="1800" u="sng" dirty="0">
                <a:ea typeface="新細明體" panose="02020500000000000000" pitchFamily="18" charset="-120"/>
              </a:rPr>
              <a:t>, semester, year</a:t>
            </a:r>
            <a:r>
              <a:rPr lang="en-US" altLang="zh-TW" sz="1800" dirty="0">
                <a:ea typeface="新細明體" panose="02020500000000000000" pitchFamily="18" charset="-120"/>
              </a:rPr>
              <a:t>, grade)</a:t>
            </a:r>
          </a:p>
          <a:p>
            <a:r>
              <a:rPr lang="en-US" altLang="zh-TW" sz="1800" dirty="0">
                <a:ea typeface="新細明體" panose="02020500000000000000" pitchFamily="18" charset="-120"/>
              </a:rPr>
              <a:t>advisor(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s_ID</a:t>
            </a:r>
            <a:r>
              <a:rPr lang="en-US" altLang="zh-TW" sz="1800" dirty="0">
                <a:ea typeface="新細明體" panose="02020500000000000000" pitchFamily="18" charset="-120"/>
              </a:rPr>
              <a:t>, </a:t>
            </a:r>
            <a:r>
              <a:rPr lang="en-US" altLang="zh-TW" sz="1800" dirty="0" err="1">
                <a:ea typeface="新細明體" panose="02020500000000000000" pitchFamily="18" charset="-120"/>
              </a:rPr>
              <a:t>i_ID</a:t>
            </a:r>
            <a:r>
              <a:rPr lang="en-US" altLang="zh-TW" sz="1800" dirty="0">
                <a:ea typeface="新細明體" panose="02020500000000000000" pitchFamily="18" charset="-120"/>
              </a:rPr>
              <a:t>)</a:t>
            </a:r>
          </a:p>
          <a:p>
            <a:r>
              <a:rPr lang="en-US" altLang="zh-TW" sz="1800" dirty="0" err="1">
                <a:ea typeface="新細明體" panose="02020500000000000000" pitchFamily="18" charset="-120"/>
              </a:rPr>
              <a:t>time_slot</a:t>
            </a:r>
            <a:r>
              <a:rPr lang="en-US" altLang="zh-TW" sz="1800" dirty="0">
                <a:ea typeface="新細明體" panose="02020500000000000000" pitchFamily="18" charset="-120"/>
              </a:rPr>
              <a:t> (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time_slot_id</a:t>
            </a:r>
            <a:r>
              <a:rPr lang="en-US" altLang="zh-TW" sz="1800" u="sng" dirty="0">
                <a:ea typeface="新細明體" panose="02020500000000000000" pitchFamily="18" charset="-120"/>
              </a:rPr>
              <a:t>, day, 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start_time</a:t>
            </a:r>
            <a:r>
              <a:rPr lang="en-US" altLang="zh-TW" sz="1800" dirty="0">
                <a:ea typeface="新細明體" panose="02020500000000000000" pitchFamily="18" charset="-120"/>
              </a:rPr>
              <a:t>, </a:t>
            </a:r>
            <a:r>
              <a:rPr lang="en-US" altLang="zh-TW" sz="1800" dirty="0" err="1">
                <a:ea typeface="新細明體" panose="02020500000000000000" pitchFamily="18" charset="-120"/>
              </a:rPr>
              <a:t>end_time</a:t>
            </a:r>
            <a:r>
              <a:rPr lang="en-US" altLang="zh-TW" sz="1800" dirty="0">
                <a:ea typeface="新細明體" panose="02020500000000000000" pitchFamily="18" charset="-120"/>
              </a:rPr>
              <a:t>)</a:t>
            </a:r>
          </a:p>
          <a:p>
            <a:r>
              <a:rPr lang="en-US" altLang="zh-TW" sz="1800" dirty="0" err="1">
                <a:ea typeface="新細明體" panose="02020500000000000000" pitchFamily="18" charset="-120"/>
              </a:rPr>
              <a:t>prereq</a:t>
            </a:r>
            <a:r>
              <a:rPr lang="en-US" altLang="zh-TW" sz="1800" dirty="0">
                <a:ea typeface="新細明體" panose="02020500000000000000" pitchFamily="18" charset="-120"/>
              </a:rPr>
              <a:t> (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course_id</a:t>
            </a:r>
            <a:r>
              <a:rPr lang="en-US" altLang="zh-TW" sz="1800" u="sng" dirty="0">
                <a:ea typeface="新細明體" panose="02020500000000000000" pitchFamily="18" charset="-120"/>
              </a:rPr>
              <a:t>, </a:t>
            </a:r>
            <a:r>
              <a:rPr lang="en-US" altLang="zh-TW" sz="1800" u="sng" dirty="0" err="1">
                <a:ea typeface="新細明體" panose="02020500000000000000" pitchFamily="18" charset="-120"/>
              </a:rPr>
              <a:t>prereq_id</a:t>
            </a:r>
            <a:r>
              <a:rPr lang="en-US" altLang="zh-TW" sz="1800" dirty="0">
                <a:ea typeface="新細明體" panose="02020500000000000000" pitchFamily="18" charset="-120"/>
              </a:rPr>
              <a:t>)</a:t>
            </a:r>
          </a:p>
          <a:p>
            <a:r>
              <a:rPr lang="zh-TW" altLang="en-US" sz="1800" dirty="0">
                <a:ea typeface="新細明體" panose="02020500000000000000" pitchFamily="18" charset="-120"/>
              </a:rPr>
              <a:t>底線表示</a:t>
            </a:r>
            <a:r>
              <a:rPr lang="en-US" altLang="zh-TW" sz="1800" dirty="0">
                <a:ea typeface="新細明體" panose="02020500000000000000" pitchFamily="18" charset="-120"/>
              </a:rPr>
              <a:t>PK</a:t>
            </a:r>
            <a:r>
              <a:rPr lang="zh-TW" altLang="en-US" sz="1800" dirty="0">
                <a:ea typeface="新細明體" panose="02020500000000000000" pitchFamily="18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6482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Relational Query Languages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077913"/>
            <a:ext cx="7692069" cy="3555047"/>
          </a:xfrm>
        </p:spPr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Language in which users request information from the database.</a:t>
            </a:r>
            <a:endParaRPr lang="en-US" altLang="en-US" sz="1700" dirty="0"/>
          </a:p>
          <a:p>
            <a:r>
              <a:rPr lang="en-US" altLang="en-US" sz="1700" dirty="0"/>
              <a:t>Procedural versus non-procedural, or declarative</a:t>
            </a:r>
          </a:p>
          <a:p>
            <a:r>
              <a:rPr lang="en-US" altLang="en-US" sz="1700" dirty="0"/>
              <a:t>“Pure” languages:</a:t>
            </a:r>
          </a:p>
          <a:p>
            <a:pPr lvl="1"/>
            <a:r>
              <a:rPr lang="en-US" altLang="en-US" sz="1700" dirty="0"/>
              <a:t>Relational algebra</a:t>
            </a:r>
          </a:p>
          <a:p>
            <a:pPr lvl="1"/>
            <a:r>
              <a:rPr lang="en-US" altLang="en-US" sz="1700" dirty="0"/>
              <a:t>Tuple relational calculus</a:t>
            </a:r>
          </a:p>
          <a:p>
            <a:pPr lvl="1"/>
            <a:r>
              <a:rPr lang="en-US" altLang="en-US" sz="1700" dirty="0"/>
              <a:t>Domain relational calculus</a:t>
            </a:r>
          </a:p>
          <a:p>
            <a:r>
              <a:rPr lang="en-US" altLang="en-US" sz="1700" dirty="0"/>
              <a:t>The above 3 pure languages are equivalent in computing power</a:t>
            </a:r>
          </a:p>
          <a:p>
            <a:r>
              <a:rPr lang="en-US" altLang="en-US" sz="1700" dirty="0"/>
              <a:t>We will concentrate in this chapter on relational algebra</a:t>
            </a:r>
          </a:p>
          <a:p>
            <a:pPr lvl="1"/>
            <a:r>
              <a:rPr lang="en-US" altLang="en-US" sz="1700" dirty="0"/>
              <a:t>Not turning-machine equivalent</a:t>
            </a:r>
          </a:p>
          <a:p>
            <a:pPr lvl="1"/>
            <a:r>
              <a:rPr lang="en-US" altLang="en-US" sz="1700" dirty="0"/>
              <a:t>Consists of 6 basic operations</a:t>
            </a:r>
          </a:p>
          <a:p>
            <a:r>
              <a:rPr lang="zh-TW" altLang="en-US" dirty="0"/>
              <a:t>算術代數</a:t>
            </a:r>
            <a:r>
              <a:rPr lang="en-US" altLang="zh-TW" dirty="0"/>
              <a:t>: 1+5*3</a:t>
            </a:r>
          </a:p>
          <a:p>
            <a:r>
              <a:rPr lang="zh-TW" altLang="en-US" dirty="0"/>
              <a:t>學習</a:t>
            </a:r>
            <a:r>
              <a:rPr lang="en-US" altLang="zh-TW" dirty="0"/>
              <a:t>relational algebra</a:t>
            </a:r>
            <a:r>
              <a:rPr lang="zh-TW" altLang="en-US" dirty="0"/>
              <a:t>的重點</a:t>
            </a:r>
            <a:endParaRPr lang="en-US" altLang="zh-TW" dirty="0"/>
          </a:p>
          <a:p>
            <a:pPr lvl="1"/>
            <a:r>
              <a:rPr lang="zh-TW" altLang="en-US" dirty="0"/>
              <a:t>使用哪些</a:t>
            </a:r>
            <a:r>
              <a:rPr lang="en-US" altLang="zh-TW" dirty="0"/>
              <a:t>relation</a:t>
            </a:r>
          </a:p>
          <a:p>
            <a:pPr lvl="1"/>
            <a:r>
              <a:rPr lang="zh-TW" altLang="en-US" dirty="0"/>
              <a:t>使用哪些</a:t>
            </a:r>
            <a:r>
              <a:rPr lang="en-US" altLang="zh-TW" dirty="0"/>
              <a:t>operator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Relational Algebra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558903" cy="4876800"/>
          </a:xfrm>
        </p:spPr>
        <p:txBody>
          <a:bodyPr/>
          <a:lstStyle/>
          <a:p>
            <a:r>
              <a:rPr lang="en-US" altLang="en-US" sz="1800" dirty="0"/>
              <a:t>A  procedural language consisting  of a set of operations that take one or two relations as input and produce a new relation as their result. </a:t>
            </a:r>
          </a:p>
          <a:p>
            <a:r>
              <a:rPr lang="en-US" altLang="en-US" sz="1800" dirty="0"/>
              <a:t>Six basic operators</a:t>
            </a:r>
          </a:p>
          <a:p>
            <a:pPr lvl="1"/>
            <a:r>
              <a:rPr lang="en-US" altLang="en-US" sz="1800" dirty="0"/>
              <a:t>select: </a:t>
            </a:r>
            <a:r>
              <a:rPr kumimoji="0" lang="en-US" altLang="en-US" sz="1800" dirty="0">
                <a:sym typeface="Symbol" panose="05050102010706020507" pitchFamily="18" charset="2"/>
              </a:rPr>
              <a:t></a:t>
            </a:r>
            <a:endParaRPr lang="en-US" altLang="en-US" sz="1800" dirty="0"/>
          </a:p>
          <a:p>
            <a:pPr lvl="1"/>
            <a:r>
              <a:rPr lang="en-US" altLang="en-US" sz="1800" dirty="0"/>
              <a:t>project: </a:t>
            </a:r>
            <a:r>
              <a:rPr lang="en-US" altLang="en-US" sz="1800" dirty="0">
                <a:sym typeface="Symbol" panose="05050102010706020507" pitchFamily="18" charset="2"/>
              </a:rPr>
              <a:t></a:t>
            </a:r>
            <a:endParaRPr lang="en-US" altLang="en-US" sz="1800" dirty="0"/>
          </a:p>
          <a:p>
            <a:pPr lvl="1"/>
            <a:r>
              <a:rPr lang="en-US" altLang="en-US" sz="1800" dirty="0"/>
              <a:t>union: </a:t>
            </a:r>
            <a:r>
              <a:rPr lang="en-US" altLang="en-US" sz="1800" dirty="0">
                <a:sym typeface="Symbol" panose="05050102010706020507" pitchFamily="18" charset="2"/>
              </a:rPr>
              <a:t></a:t>
            </a:r>
            <a:endParaRPr lang="en-US" altLang="en-US" sz="1800" dirty="0"/>
          </a:p>
          <a:p>
            <a:pPr lvl="1"/>
            <a:r>
              <a:rPr lang="en-US" altLang="en-US" sz="1800" dirty="0"/>
              <a:t>set difference: </a:t>
            </a:r>
            <a:r>
              <a:rPr lang="en-US" altLang="en-US" sz="1800" i="1" dirty="0"/>
              <a:t>–</a:t>
            </a:r>
            <a:r>
              <a:rPr lang="en-US" altLang="en-US" sz="1800" dirty="0"/>
              <a:t> </a:t>
            </a:r>
          </a:p>
          <a:p>
            <a:pPr lvl="1"/>
            <a:r>
              <a:rPr lang="en-US" altLang="en-US" sz="1800" dirty="0"/>
              <a:t>Cartesian product: x</a:t>
            </a:r>
          </a:p>
          <a:p>
            <a:pPr lvl="1"/>
            <a:r>
              <a:rPr lang="en-US" altLang="en-US" sz="1800" dirty="0"/>
              <a:t>rename: </a:t>
            </a:r>
            <a:r>
              <a:rPr lang="en-US" altLang="en-US" sz="1800" i="1" dirty="0">
                <a:sym typeface="Symbol" panose="05050102010706020507" pitchFamily="18" charset="2"/>
              </a:rPr>
              <a:t>    &lt;- </a:t>
            </a:r>
            <a:r>
              <a:rPr lang="zh-TW" altLang="en-US" sz="1800" i="1" dirty="0">
                <a:sym typeface="Symbol" panose="05050102010706020507" pitchFamily="18" charset="2"/>
              </a:rPr>
              <a:t>上課不會教</a:t>
            </a:r>
            <a:endParaRPr lang="en-US" altLang="en-US" sz="1800" i="1" dirty="0">
              <a:sym typeface="Symbol" panose="05050102010706020507" pitchFamily="18" charset="2"/>
            </a:endParaRPr>
          </a:p>
          <a:p>
            <a:r>
              <a:rPr lang="en-US" altLang="en-US" sz="1800" dirty="0">
                <a:sym typeface="Symbol" panose="05050102010706020507" pitchFamily="18" charset="2"/>
              </a:rPr>
              <a:t>Two additional operators</a:t>
            </a:r>
          </a:p>
          <a:p>
            <a:pPr lvl="1"/>
            <a:r>
              <a:rPr lang="en-US" altLang="zh-TW" sz="1800" dirty="0">
                <a:ea typeface="新細明體" panose="02020500000000000000" pitchFamily="18" charset="-120"/>
                <a:sym typeface="Symbol" panose="05050102010706020507" pitchFamily="18" charset="2"/>
              </a:rPr>
              <a:t> join:  </a:t>
            </a:r>
            <a:endParaRPr lang="en-US" altLang="zh-TW" sz="1800" dirty="0">
              <a:ea typeface="新細明體" panose="02020500000000000000" pitchFamily="18" charset="-120"/>
            </a:endParaRPr>
          </a:p>
          <a:p>
            <a:pPr lvl="1"/>
            <a:r>
              <a:rPr lang="en-US" altLang="zh-TW" sz="1800" dirty="0">
                <a:ea typeface="新細明體" panose="02020500000000000000" pitchFamily="18" charset="-120"/>
                <a:sym typeface="Symbol" panose="05050102010706020507" pitchFamily="18" charset="2"/>
              </a:rPr>
              <a:t>Intersection: </a:t>
            </a:r>
            <a:endParaRPr lang="en-US" altLang="zh-TW" sz="1800" dirty="0">
              <a:ea typeface="新細明體" panose="02020500000000000000" pitchFamily="18" charset="-120"/>
            </a:endParaRPr>
          </a:p>
          <a:p>
            <a:pPr lvl="1"/>
            <a:endParaRPr lang="en-US" altLang="en-US" sz="2000" i="1" dirty="0">
              <a:sym typeface="Symbol" panose="05050102010706020507" pitchFamily="18" charset="2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14CFA5F-1DFD-48DE-A530-4FE864905C6D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2186738" y="5096556"/>
            <a:ext cx="1524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Select Operation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3574"/>
            <a:ext cx="7612170" cy="335030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The 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operation selects tuples that satisfy a given predicate.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Notation: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p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p</a:t>
            </a:r>
            <a:r>
              <a:rPr lang="en-US" altLang="en-US" sz="1700" dirty="0">
                <a:sym typeface="Symbol" panose="05050102010706020507" pitchFamily="18" charset="2"/>
              </a:rPr>
              <a:t> is called the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selection predicate</a:t>
            </a:r>
            <a:r>
              <a:rPr lang="zh-TW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 </a:t>
            </a:r>
            <a:r>
              <a:rPr lang="en-US" altLang="zh-TW" sz="1700" b="1" dirty="0">
                <a:solidFill>
                  <a:srgbClr val="002060"/>
                </a:solidFill>
                <a:sym typeface="Symbol" panose="05050102010706020507" pitchFamily="18" charset="2"/>
              </a:rPr>
              <a:t>(</a:t>
            </a:r>
            <a:r>
              <a:rPr lang="zh-TW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限制式</a:t>
            </a:r>
            <a:r>
              <a:rPr lang="en-US" altLang="zh-TW" sz="1700" b="1" dirty="0">
                <a:solidFill>
                  <a:srgbClr val="002060"/>
                </a:solidFill>
                <a:sym typeface="Symbol" panose="05050102010706020507" pitchFamily="18" charset="2"/>
              </a:rPr>
              <a:t>)</a:t>
            </a:r>
            <a:endParaRPr lang="en-US" altLang="en-US" sz="1700" b="1" dirty="0">
              <a:solidFill>
                <a:srgbClr val="002060"/>
              </a:solidFill>
              <a:sym typeface="Symbol" panose="05050102010706020507" pitchFamily="18" charset="2"/>
            </a:endParaRPr>
          </a:p>
          <a:p>
            <a:pPr lvl="1">
              <a:spcBef>
                <a:spcPct val="50000"/>
              </a:spcBef>
            </a:pPr>
            <a:r>
              <a:rPr lang="zh-TW" altLang="en-US" dirty="0">
                <a:latin typeface="細明體" panose="02020509000000000000" pitchFamily="49" charset="-120"/>
                <a:ea typeface="細明體" panose="02020509000000000000" pitchFamily="49" charset="-120"/>
                <a:sym typeface="Symbol" panose="05050102010706020507" pitchFamily="18" charset="2"/>
              </a:rPr>
              <a:t>兩個屬性值互相比較，或屬性值和常數比較</a:t>
            </a:r>
            <a:endParaRPr lang="en-US" altLang="zh-TW" dirty="0">
              <a:latin typeface="細明體" panose="02020509000000000000" pitchFamily="49" charset="-120"/>
              <a:ea typeface="細明體" panose="02020509000000000000" pitchFamily="49" charset="-120"/>
              <a:sym typeface="Symbol" panose="05050102010706020507" pitchFamily="18" charset="2"/>
            </a:endParaRPr>
          </a:p>
          <a:p>
            <a:pPr lvl="1">
              <a:spcBef>
                <a:spcPct val="50000"/>
              </a:spcBef>
            </a:pPr>
            <a:r>
              <a:rPr lang="zh-TW" altLang="en-US" dirty="0">
                <a:latin typeface="細明體" panose="02020509000000000000" pitchFamily="49" charset="-120"/>
                <a:ea typeface="細明體" panose="02020509000000000000" pitchFamily="49" charset="-120"/>
                <a:sym typeface="Symbol" panose="05050102010706020507" pitchFamily="18" charset="2"/>
              </a:rPr>
              <a:t>多個限制式可用</a:t>
            </a:r>
            <a:r>
              <a:rPr lang="en-US" altLang="zh-TW" dirty="0">
                <a:latin typeface="細明體" panose="02020509000000000000" pitchFamily="49" charset="-120"/>
                <a:ea typeface="細明體" panose="02020509000000000000" pitchFamily="49" charset="-120"/>
                <a:sym typeface="Symbol" panose="05050102010706020507" pitchFamily="18" charset="2"/>
              </a:rPr>
              <a:t>and</a:t>
            </a:r>
            <a:r>
              <a:rPr lang="zh-TW" altLang="en-US" dirty="0">
                <a:latin typeface="細明體" panose="02020509000000000000" pitchFamily="49" charset="-120"/>
                <a:ea typeface="細明體" panose="02020509000000000000" pitchFamily="49" charset="-120"/>
                <a:sym typeface="Symbol" panose="05050102010706020507" pitchFamily="18" charset="2"/>
              </a:rPr>
              <a:t>或</a:t>
            </a:r>
            <a:r>
              <a:rPr lang="en-US" altLang="zh-TW" dirty="0">
                <a:latin typeface="細明體" panose="02020509000000000000" pitchFamily="49" charset="-120"/>
                <a:ea typeface="細明體" panose="02020509000000000000" pitchFamily="49" charset="-120"/>
                <a:sym typeface="Symbol" panose="05050102010706020507" pitchFamily="18" charset="2"/>
              </a:rPr>
              <a:t>or</a:t>
            </a:r>
            <a:r>
              <a:rPr lang="zh-TW" altLang="en-US" dirty="0">
                <a:latin typeface="細明體" panose="02020509000000000000" pitchFamily="49" charset="-120"/>
                <a:ea typeface="細明體" panose="02020509000000000000" pitchFamily="49" charset="-120"/>
                <a:sym typeface="Symbol" panose="05050102010706020507" pitchFamily="18" charset="2"/>
              </a:rPr>
              <a:t>連接起來 </a:t>
            </a:r>
            <a:r>
              <a:rPr lang="en-US" altLang="zh-TW" dirty="0">
                <a:latin typeface="細明體" panose="02020509000000000000" pitchFamily="49" charset="-120"/>
                <a:ea typeface="細明體" panose="02020509000000000000" pitchFamily="49" charset="-120"/>
                <a:sym typeface="Symbol" panose="05050102010706020507" pitchFamily="18" charset="2"/>
              </a:rPr>
              <a:t>(</a:t>
            </a:r>
            <a:r>
              <a:rPr lang="zh-TW" altLang="en-US" dirty="0">
                <a:latin typeface="細明體" panose="02020509000000000000" pitchFamily="49" charset="-120"/>
                <a:ea typeface="細明體" panose="02020509000000000000" pitchFamily="49" charset="-120"/>
                <a:sym typeface="Symbol" panose="05050102010706020507" pitchFamily="18" charset="2"/>
              </a:rPr>
              <a:t>看下一頁</a:t>
            </a:r>
            <a:r>
              <a:rPr lang="en-US" altLang="zh-TW" dirty="0">
                <a:latin typeface="細明體" panose="02020509000000000000" pitchFamily="49" charset="-120"/>
                <a:ea typeface="細明體" panose="02020509000000000000" pitchFamily="49" charset="-120"/>
                <a:sym typeface="Symbol" panose="05050102010706020507" pitchFamily="18" charset="2"/>
              </a:rPr>
              <a:t>)</a:t>
            </a:r>
          </a:p>
          <a:p>
            <a:pPr lvl="1">
              <a:spcBef>
                <a:spcPct val="50000"/>
              </a:spcBef>
            </a:pPr>
            <a:endParaRPr lang="en-US" altLang="en-US" sz="1700" b="1" dirty="0">
              <a:solidFill>
                <a:srgbClr val="002060"/>
              </a:solidFill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Example: select those tuples of the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  relation where the instructor is in the “Physics” department.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Query</a:t>
            </a:r>
          </a:p>
          <a:p>
            <a:pPr marL="457200" lvl="1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/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	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Physics”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Result</a:t>
            </a:r>
          </a:p>
        </p:txBody>
      </p:sp>
      <p:pic>
        <p:nvPicPr>
          <p:cNvPr id="31746" name="Picture 2" descr="C:\Users\as668\Desktop\2_1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56390" y="5119249"/>
            <a:ext cx="4234254" cy="88309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Select Operation (Cont.)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8873"/>
            <a:ext cx="7656559" cy="481082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We allow comparisons using 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              =, , &gt;, </a:t>
            </a:r>
            <a:r>
              <a:rPr lang="en-US" altLang="en-US" sz="1700" dirty="0" smtClean="0">
                <a:sym typeface="Symbol" panose="05050102010706020507" pitchFamily="18" charset="2"/>
              </a:rPr>
              <a:t>, &lt;, </a:t>
            </a:r>
            <a:r>
              <a:rPr lang="en-US" altLang="en-US" sz="1700" dirty="0">
                <a:sym typeface="Symbol" panose="05050102010706020507" pitchFamily="18" charset="2"/>
              </a:rPr>
              <a:t>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in the selection predicate.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We can combine several predicates into a larger predicate by using the connectives: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             (</a:t>
            </a:r>
            <a:r>
              <a:rPr lang="en-US" altLang="en-US" sz="1700" b="1" dirty="0">
                <a:sym typeface="Symbol" panose="05050102010706020507" pitchFamily="18" charset="2"/>
              </a:rPr>
              <a:t>and</a:t>
            </a:r>
            <a:r>
              <a:rPr lang="en-US" altLang="en-US" sz="1700" dirty="0">
                <a:sym typeface="Symbol" panose="05050102010706020507" pitchFamily="18" charset="2"/>
              </a:rPr>
              <a:t>),  (</a:t>
            </a:r>
            <a:r>
              <a:rPr lang="en-US" altLang="en-US" sz="1700" b="1" dirty="0">
                <a:sym typeface="Symbol" panose="05050102010706020507" pitchFamily="18" charset="2"/>
              </a:rPr>
              <a:t>or</a:t>
            </a:r>
            <a:r>
              <a:rPr lang="en-US" altLang="en-US" sz="1700" dirty="0">
                <a:sym typeface="Symbol" panose="05050102010706020507" pitchFamily="18" charset="2"/>
              </a:rPr>
              <a:t>),  (</a:t>
            </a:r>
            <a:r>
              <a:rPr lang="en-US" altLang="en-US" sz="1700" b="1" dirty="0">
                <a:sym typeface="Symbol" panose="05050102010706020507" pitchFamily="18" charset="2"/>
              </a:rPr>
              <a:t>not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Example: Find the instructors in Physics with a salary greater than $90,000, we write:</a:t>
            </a:r>
          </a:p>
          <a:p>
            <a:pPr marL="0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/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en-US" dirty="0">
                <a:sym typeface="Symbol" panose="05050102010706020507" pitchFamily="18" charset="2"/>
              </a:rPr>
              <a:t></a:t>
            </a:r>
            <a:r>
              <a:rPr lang="ja-JP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salary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&gt; 90,000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marL="0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ja-JP" sz="800" i="1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Then select predicate may </a:t>
            </a:r>
            <a:r>
              <a:rPr lang="en-US" altLang="en-US" sz="1700" dirty="0" smtClean="0">
                <a:sym typeface="Symbol" panose="05050102010706020507" pitchFamily="18" charset="2"/>
              </a:rPr>
              <a:t>include </a:t>
            </a:r>
            <a:r>
              <a:rPr lang="en-US" altLang="en-US" sz="1700" dirty="0">
                <a:sym typeface="Symbol" panose="05050102010706020507" pitchFamily="18" charset="2"/>
              </a:rPr>
              <a:t>comparisons between two attributes. 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Example, find all departments whose name is the same as their building name: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building</a:t>
            </a:r>
            <a:r>
              <a:rPr lang="en-US" altLang="ja-JP" sz="1900" i="1" dirty="0">
                <a:sym typeface="Symbol" panose="05050102010706020507" pitchFamily="18" charset="2"/>
              </a:rPr>
              <a:t> 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department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  <a:endParaRPr lang="en-US" altLang="en-US" sz="17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078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Project Operation</a:t>
            </a:r>
          </a:p>
        </p:txBody>
      </p:sp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83192" cy="4876800"/>
          </a:xfrm>
        </p:spPr>
        <p:txBody>
          <a:bodyPr/>
          <a:lstStyle/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altLang="en-US" sz="1700" dirty="0"/>
              <a:t>A unary operation that returns its argument relation, with certain attributes left out.  </a:t>
            </a:r>
          </a:p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altLang="en-US" sz="1700" dirty="0"/>
              <a:t>Notation:</a:t>
            </a:r>
          </a:p>
          <a:p>
            <a:pPr>
              <a:lnSpc>
                <a:spcPct val="120000"/>
              </a:lnSpc>
              <a:buNone/>
              <a:tabLst>
                <a:tab pos="3257550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 </a:t>
            </a:r>
            <a:r>
              <a:rPr lang="en-US" altLang="en-US" i="1" baseline="-25000" dirty="0">
                <a:sym typeface="Symbol" panose="05050102010706020507" pitchFamily="18" charset="2"/>
              </a:rPr>
              <a:t>A</a:t>
            </a:r>
            <a:r>
              <a:rPr lang="en-US" altLang="en-US" i="1" baseline="-50000" dirty="0">
                <a:sym typeface="Symbol" panose="05050102010706020507" pitchFamily="18" charset="2"/>
              </a:rPr>
              <a:t>1</a:t>
            </a:r>
            <a:r>
              <a:rPr lang="en-US" altLang="en-US" i="1" baseline="-25000" dirty="0">
                <a:sym typeface="Symbol" panose="05050102010706020507" pitchFamily="18" charset="2"/>
              </a:rPr>
              <a:t>,A</a:t>
            </a:r>
            <a:r>
              <a:rPr lang="en-US" altLang="en-US" i="1" baseline="-50000" dirty="0">
                <a:sym typeface="Symbol" panose="05050102010706020507" pitchFamily="18" charset="2"/>
              </a:rPr>
              <a:t>2</a:t>
            </a:r>
            <a:r>
              <a:rPr lang="en-US" altLang="en-US" i="1" baseline="-25000" dirty="0">
                <a:sym typeface="Symbol" panose="05050102010706020507" pitchFamily="18" charset="2"/>
              </a:rPr>
              <a:t>,A</a:t>
            </a:r>
            <a:r>
              <a:rPr lang="en-US" altLang="en-US" i="1" baseline="-50000" dirty="0">
                <a:sym typeface="Symbol" panose="05050102010706020507" pitchFamily="18" charset="2"/>
              </a:rPr>
              <a:t>3</a:t>
            </a:r>
            <a:r>
              <a:rPr lang="en-US" altLang="en-US" i="1" baseline="-25000" dirty="0">
                <a:sym typeface="Symbol" panose="05050102010706020507" pitchFamily="18" charset="2"/>
              </a:rPr>
              <a:t> ….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A</a:t>
            </a:r>
            <a:r>
              <a:rPr lang="en-US" altLang="en-US" i="1" baseline="-50000" dirty="0" err="1">
                <a:sym typeface="Symbol" panose="05050102010706020507" pitchFamily="18" charset="2"/>
              </a:rPr>
              <a:t>k</a:t>
            </a:r>
            <a:r>
              <a:rPr lang="en-US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en-US" baseline="-25000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  <a:r>
              <a:rPr lang="en-US" altLang="en-US" sz="1700" dirty="0">
                <a:solidFill>
                  <a:schemeClr val="bg1">
                    <a:lumMod val="50000"/>
                  </a:schemeClr>
                </a:solidFill>
              </a:rPr>
              <a:t>	</a:t>
            </a:r>
          </a:p>
          <a:p>
            <a:pPr>
              <a:lnSpc>
                <a:spcPct val="120000"/>
              </a:lnSpc>
              <a:buFont typeface="Monotype Sorts" charset="2"/>
              <a:buNone/>
              <a:tabLst>
                <a:tab pos="3257550" algn="ctr"/>
              </a:tabLst>
            </a:pPr>
            <a:r>
              <a:rPr lang="en-US" altLang="en-US" sz="1700" dirty="0"/>
              <a:t>	where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1</a:t>
            </a:r>
            <a:r>
              <a:rPr lang="en-US" altLang="en-US" sz="1700" i="1" dirty="0"/>
              <a:t>, A</a:t>
            </a:r>
            <a:r>
              <a:rPr lang="en-US" altLang="en-US" sz="1700" i="1" baseline="-25000" dirty="0"/>
              <a:t>2</a:t>
            </a:r>
            <a:r>
              <a:rPr lang="en-US" altLang="en-US" sz="1700" dirty="0"/>
              <a:t> are attribute names and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a relation name.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The result is defined as the relation of </a:t>
            </a:r>
            <a:r>
              <a:rPr lang="en-US" altLang="en-US" sz="1700" i="1" dirty="0"/>
              <a:t>k</a:t>
            </a:r>
            <a:r>
              <a:rPr lang="en-US" altLang="en-US" sz="1700" dirty="0"/>
              <a:t> columns obtained by erasing the columns that are not listed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Duplicate rows removed from result, since relations are sets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Project Operation (Cont.)</a:t>
            </a:r>
          </a:p>
        </p:txBody>
      </p:sp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77913"/>
            <a:ext cx="7900162" cy="1677479"/>
          </a:xfrm>
        </p:spPr>
        <p:txBody>
          <a:bodyPr/>
          <a:lstStyle/>
          <a:p>
            <a:pPr>
              <a:tabLst>
                <a:tab pos="3257550" algn="ctr"/>
              </a:tabLst>
            </a:pPr>
            <a:r>
              <a:rPr lang="en-US" altLang="en-US" sz="1700" dirty="0"/>
              <a:t>Example: eliminate the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attribute of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Query</a:t>
            </a:r>
            <a:r>
              <a:rPr lang="en-US" altLang="en-US" sz="1700" i="1" dirty="0"/>
              <a:t>: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800" dirty="0"/>
              <a:t> 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         	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/>
              <a:t>ID, name, salary</a:t>
            </a:r>
            <a:r>
              <a:rPr lang="en-US" altLang="en-US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) 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Result:</a:t>
            </a:r>
            <a:br>
              <a:rPr lang="en-US" altLang="en-US" sz="1700" dirty="0"/>
            </a:br>
            <a:endParaRPr lang="en-US" altLang="en-US" sz="1700" dirty="0"/>
          </a:p>
        </p:txBody>
      </p:sp>
      <p:pic>
        <p:nvPicPr>
          <p:cNvPr id="35843" name="Picture 3" descr="C:\Users\as668\Desktop\Figures-for-slides\2_1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9080" y="2755392"/>
            <a:ext cx="2609469" cy="32298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Composition of Relational Operations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42035"/>
            <a:ext cx="7558786" cy="3720109"/>
          </a:xfrm>
        </p:spPr>
        <p:txBody>
          <a:bodyPr/>
          <a:lstStyle/>
          <a:p>
            <a:r>
              <a:rPr lang="en-US" altLang="en-US" sz="1700" dirty="0"/>
              <a:t>The result of a relational-algebra operation is a relation, and therefore relational-algebra operations can be composed together into a </a:t>
            </a:r>
            <a:r>
              <a:rPr lang="en-US" altLang="en-US" sz="1700" b="1" dirty="0"/>
              <a:t>relational-algebra expression</a:t>
            </a:r>
            <a:r>
              <a:rPr lang="en-US" altLang="en-US" sz="1700" dirty="0"/>
              <a:t>.</a:t>
            </a:r>
          </a:p>
          <a:p>
            <a:r>
              <a:rPr lang="en-US" altLang="en-US" sz="1700" dirty="0"/>
              <a:t>Consider </a:t>
            </a:r>
            <a:r>
              <a:rPr lang="en-US" altLang="en-US" sz="1700" dirty="0" smtClean="0"/>
              <a:t>the </a:t>
            </a:r>
            <a:r>
              <a:rPr lang="en-US" altLang="en-US" sz="1700" dirty="0"/>
              <a:t>query -- Find the names of all instructors in the Physics department.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    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>
                <a:sym typeface="Symbol" panose="05050102010706020507" pitchFamily="18" charset="2"/>
              </a:rPr>
              <a:t>name</a:t>
            </a:r>
            <a:r>
              <a:rPr lang="en-US" altLang="en-US" dirty="0"/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Instead of giving the name of a relation as the argument of the projection operation, we give an expression that evaluates to a relation.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Cartesian-Product Operation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5721"/>
            <a:ext cx="7709825" cy="4876800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1700" dirty="0"/>
              <a:t>The Cartesian-product operation (denoted by X)  allows us to combine information from any two relations.  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Example: the Cartesian product of the relations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 is written </a:t>
            </a:r>
            <a:r>
              <a:rPr lang="en-US" altLang="en-US" sz="1700" dirty="0" smtClean="0"/>
              <a:t>as</a:t>
            </a:r>
            <a:r>
              <a:rPr lang="en-US" altLang="en-US" sz="1700" dirty="0"/>
              <a:t>:</a:t>
            </a:r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i="1" dirty="0"/>
              <a:t>                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We construct a tuple of the result out of each possible pair of tuples: one from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 and one from the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 relation (see next slide)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Since the instructor</a:t>
            </a:r>
            <a:r>
              <a:rPr lang="en-US" altLang="en-US" sz="1700" i="1" dirty="0"/>
              <a:t> ID </a:t>
            </a:r>
            <a:r>
              <a:rPr lang="en-US" altLang="en-US" sz="1700" dirty="0"/>
              <a:t>appears in both relations, we distinguish between these attributes by attaching to the attribute the name of the relation from which the attribute originally came.</a:t>
            </a:r>
          </a:p>
          <a:p>
            <a:pPr lvl="1">
              <a:tabLst>
                <a:tab pos="3149600" algn="ctr"/>
              </a:tabLst>
            </a:pPr>
            <a:r>
              <a:rPr lang="en-US" altLang="en-US" sz="1700" i="1" dirty="0"/>
              <a:t>instructor.ID</a:t>
            </a:r>
          </a:p>
          <a:p>
            <a:pPr lvl="1">
              <a:tabLst>
                <a:tab pos="3149600" algn="ctr"/>
              </a:tabLst>
            </a:pPr>
            <a:r>
              <a:rPr lang="en-US" altLang="en-US" sz="1700" i="1" dirty="0"/>
              <a:t>teaches.ID</a:t>
            </a:r>
          </a:p>
          <a:p>
            <a:pPr lvl="1">
              <a:tabLst>
                <a:tab pos="3149600" algn="ctr"/>
              </a:tabLst>
            </a:pPr>
            <a:endParaRPr lang="en-US" altLang="en-US" dirty="0"/>
          </a:p>
          <a:p>
            <a:pPr>
              <a:buNone/>
              <a:tabLst>
                <a:tab pos="3149600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2800" dirty="0"/>
              <a:t>The</a:t>
            </a:r>
            <a:r>
              <a:rPr lang="en-US" altLang="en-US" sz="2800" i="1" dirty="0"/>
              <a:t>  instructor</a:t>
            </a:r>
            <a:r>
              <a:rPr lang="en-US" altLang="en-US" sz="2800" dirty="0"/>
              <a:t>  </a:t>
            </a:r>
            <a:r>
              <a:rPr lang="en-US" altLang="en-US" sz="2400" dirty="0"/>
              <a:t>X</a:t>
            </a:r>
            <a:r>
              <a:rPr lang="en-US" altLang="en-US" sz="2800" dirty="0"/>
              <a:t>  </a:t>
            </a:r>
            <a:r>
              <a:rPr lang="en-US" altLang="en-US" sz="2800" i="1" dirty="0"/>
              <a:t>teaches  table</a:t>
            </a:r>
            <a:endParaRPr lang="en-US" alt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67" y="847093"/>
            <a:ext cx="4844455" cy="5709058"/>
          </a:xfrm>
          <a:prstGeom prst="rect">
            <a:avLst/>
          </a:prstGeom>
        </p:spPr>
      </p:pic>
      <p:sp>
        <p:nvSpPr>
          <p:cNvPr id="5" name="內容版面配置區 2"/>
          <p:cNvSpPr txBox="1">
            <a:spLocks/>
          </p:cNvSpPr>
          <p:nvPr/>
        </p:nvSpPr>
        <p:spPr bwMode="auto">
          <a:xfrm>
            <a:off x="6403609" y="5662246"/>
            <a:ext cx="16525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 sz="1800" dirty="0">
                <a:ea typeface="新細明體" panose="02020500000000000000" pitchFamily="18" charset="-120"/>
              </a:rPr>
              <a:t>teaches</a:t>
            </a:r>
            <a:endParaRPr lang="zh-TW" altLang="en-US" sz="1800" dirty="0">
              <a:ea typeface="新細明體" panose="02020500000000000000" pitchFamily="18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692" y="2306593"/>
            <a:ext cx="3357020" cy="330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6681"/>
            <a:ext cx="7631938" cy="4664519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1700" dirty="0"/>
              <a:t>The Cartesian-Product </a:t>
            </a:r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i="1" dirty="0"/>
              <a:t>                    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  <a:endParaRPr lang="en-US" altLang="en-US" sz="1700" dirty="0"/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dirty="0"/>
              <a:t>      associates every </a:t>
            </a:r>
            <a:r>
              <a:rPr lang="en-US" altLang="en-US" sz="1700" dirty="0" smtClean="0"/>
              <a:t>tuple </a:t>
            </a:r>
            <a:r>
              <a:rPr lang="en-US" altLang="en-US" sz="1700" dirty="0"/>
              <a:t>of </a:t>
            </a:r>
            <a:r>
              <a:rPr lang="en-US" altLang="en-US" sz="1700" i="1" dirty="0" smtClean="0"/>
              <a:t>instructor</a:t>
            </a:r>
            <a:r>
              <a:rPr lang="en-US" altLang="en-US" sz="1700" dirty="0" smtClean="0"/>
              <a:t> </a:t>
            </a:r>
            <a:r>
              <a:rPr lang="en-US" altLang="en-US" sz="1700" dirty="0"/>
              <a:t>with every tuple of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.</a:t>
            </a:r>
          </a:p>
          <a:p>
            <a:pPr lvl="1"/>
            <a:r>
              <a:rPr lang="en-US" altLang="en-US" sz="1700" dirty="0"/>
              <a:t>Most of the resulting rows have information about instructors who did NOT teach a particular course. </a:t>
            </a:r>
          </a:p>
          <a:p>
            <a:r>
              <a:rPr lang="en-US" altLang="en-US" sz="1700" dirty="0"/>
              <a:t>To get only those tuples of  “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 “ that pertain to</a:t>
            </a:r>
            <a:r>
              <a:rPr lang="en-US" altLang="zh-TW" dirty="0">
                <a:sym typeface="Symbol" panose="05050102010706020507" pitchFamily="18" charset="2"/>
              </a:rPr>
              <a:t> (</a:t>
            </a:r>
            <a:r>
              <a:rPr lang="zh-TW" altLang="en-US" dirty="0">
                <a:sym typeface="Symbol" panose="05050102010706020507" pitchFamily="18" charset="2"/>
              </a:rPr>
              <a:t>關於</a:t>
            </a:r>
            <a:r>
              <a:rPr lang="en-US" altLang="zh-TW" dirty="0">
                <a:sym typeface="Symbol" panose="05050102010706020507" pitchFamily="18" charset="2"/>
              </a:rPr>
              <a:t>)</a:t>
            </a:r>
            <a:r>
              <a:rPr lang="en-US" altLang="en-US" sz="1700" dirty="0"/>
              <a:t> instructors and the courses that they taught, we write:</a:t>
            </a:r>
          </a:p>
          <a:p>
            <a:pPr>
              <a:buNone/>
            </a:pPr>
            <a:r>
              <a:rPr lang="en-US" altLang="en-US" sz="1700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  </a:t>
            </a:r>
            <a:r>
              <a:rPr lang="en-US" altLang="ja-JP" sz="1700" dirty="0">
                <a:sym typeface="Symbol" panose="05050102010706020507" pitchFamily="18" charset="2"/>
              </a:rPr>
              <a:t>x</a:t>
            </a:r>
            <a:r>
              <a:rPr lang="en-US" altLang="ja-JP" sz="1700" i="1" dirty="0">
                <a:sym typeface="Symbol" panose="05050102010706020507" pitchFamily="18" charset="2"/>
              </a:rPr>
              <a:t> teaches 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r>
              <a:rPr lang="en-US" altLang="ja-JP" sz="1700" dirty="0" smtClean="0">
                <a:sym typeface="Symbol" panose="05050102010706020507" pitchFamily="18" charset="2"/>
              </a:rPr>
              <a:t>The </a:t>
            </a:r>
            <a:r>
              <a:rPr lang="en-US" altLang="ja-JP" sz="1700" dirty="0">
                <a:sym typeface="Symbol" panose="05050102010706020507" pitchFamily="18" charset="2"/>
              </a:rPr>
              <a:t>result of this expression, shown in the next slide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 (Cont.)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77913"/>
            <a:ext cx="7436866" cy="848423"/>
          </a:xfrm>
        </p:spPr>
        <p:txBody>
          <a:bodyPr/>
          <a:lstStyle/>
          <a:p>
            <a:r>
              <a:rPr lang="en-US" altLang="en-US" sz="1700" dirty="0"/>
              <a:t>The</a:t>
            </a:r>
            <a:r>
              <a:rPr lang="en-US" altLang="en-US" sz="1700" dirty="0">
                <a:sym typeface="Symbol" panose="05050102010706020507" pitchFamily="18" charset="2"/>
              </a:rPr>
              <a:t>  table corresponding to:</a:t>
            </a:r>
          </a:p>
          <a:p>
            <a:pPr>
              <a:buNone/>
            </a:pPr>
            <a:r>
              <a:rPr lang="en-US" altLang="en-US" sz="1700" i="1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  </a:t>
            </a:r>
            <a:r>
              <a:rPr lang="en-US" altLang="ja-JP" sz="1700" dirty="0">
                <a:sym typeface="Symbol" panose="05050102010706020507" pitchFamily="18" charset="2"/>
              </a:rPr>
              <a:t>x</a:t>
            </a:r>
            <a:r>
              <a:rPr lang="en-US" altLang="ja-JP" sz="1700" i="1" dirty="0">
                <a:sym typeface="Symbol" panose="05050102010706020507" pitchFamily="18" charset="2"/>
              </a:rPr>
              <a:t> teaches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  <a:r>
              <a:rPr lang="en-US" altLang="en-US" sz="1700" dirty="0"/>
              <a:t> </a:t>
            </a:r>
          </a:p>
          <a:p>
            <a:pPr>
              <a:buNone/>
            </a:pPr>
            <a:endParaRPr lang="en-US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74" y="1926336"/>
            <a:ext cx="7256819" cy="41257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 (Cont.)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50" y="1138873"/>
                <a:ext cx="7644131" cy="4823015"/>
              </a:xfrm>
            </p:spPr>
            <p:txBody>
              <a:bodyPr/>
              <a:lstStyle/>
              <a:p>
                <a:pPr>
                  <a:tabLst>
                    <a:tab pos="3149600" algn="ctr"/>
                  </a:tabLst>
                </a:pPr>
                <a:r>
                  <a:rPr lang="en-US" altLang="en-US" sz="1700" dirty="0"/>
                  <a:t>The </a:t>
                </a:r>
                <a:r>
                  <a:rPr lang="en-US" altLang="en-US" sz="1700" b="1" dirty="0"/>
                  <a:t>join </a:t>
                </a:r>
                <a:r>
                  <a:rPr lang="en-US" altLang="en-US" sz="1700" dirty="0"/>
                  <a:t>operation allows us to combine </a:t>
                </a:r>
                <a:r>
                  <a:rPr lang="en-US" altLang="en-US" sz="1700" dirty="0" smtClean="0"/>
                  <a:t>a </a:t>
                </a:r>
                <a:r>
                  <a:rPr lang="en-US" altLang="en-US" sz="1700" dirty="0"/>
                  <a:t>select operation and a  </a:t>
                </a:r>
                <a:r>
                  <a:rPr lang="en-US" altLang="en-US" sz="1700" b="1" dirty="0"/>
                  <a:t> </a:t>
                </a:r>
                <a:r>
                  <a:rPr lang="en-US" altLang="en-US" sz="1700" dirty="0"/>
                  <a:t>Cartesian-Product  operation into a single operation.</a:t>
                </a:r>
              </a:p>
              <a:p>
                <a:pPr>
                  <a:tabLst>
                    <a:tab pos="3149600" algn="ctr"/>
                  </a:tabLst>
                </a:pPr>
                <a:r>
                  <a:rPr lang="en-US" altLang="en-US" sz="1700" dirty="0"/>
                  <a:t>Consider relations </a:t>
                </a:r>
                <a:r>
                  <a:rPr lang="en-US" altLang="en-US" sz="1700" i="1" dirty="0"/>
                  <a:t>r </a:t>
                </a:r>
                <a:r>
                  <a:rPr lang="en-US" altLang="en-US" sz="1700" dirty="0"/>
                  <a:t>(</a:t>
                </a:r>
                <a:r>
                  <a:rPr lang="en-US" altLang="en-US" sz="1700" i="1" dirty="0"/>
                  <a:t>R</a:t>
                </a:r>
                <a:r>
                  <a:rPr lang="en-US" altLang="en-US" sz="1700" dirty="0"/>
                  <a:t>) and </a:t>
                </a:r>
                <a:r>
                  <a:rPr lang="en-US" altLang="en-US" sz="1700" i="1" dirty="0"/>
                  <a:t> s </a:t>
                </a:r>
                <a:r>
                  <a:rPr lang="en-US" altLang="en-US" sz="1700" dirty="0"/>
                  <a:t>(</a:t>
                </a:r>
                <a:r>
                  <a:rPr lang="en-US" altLang="en-US" sz="1700" i="1" dirty="0"/>
                  <a:t>S</a:t>
                </a:r>
                <a:r>
                  <a:rPr lang="en-US" altLang="en-US" sz="1700" dirty="0"/>
                  <a:t>)</a:t>
                </a:r>
              </a:p>
              <a:p>
                <a:r>
                  <a:rPr lang="en-US" altLang="en-US" sz="1700" dirty="0"/>
                  <a:t>Let  “theta” be a predicate on attributes in the schema R “union” S. The join operation  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en-US" sz="1700" dirty="0"/>
                  <a:t> s is defined as follows:</a:t>
                </a:r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sz="1700" dirty="0"/>
                  <a:t>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dirty="0">
                  <a:sym typeface="Symbol" panose="05050102010706020507" pitchFamily="18" charset="2"/>
                </a:endParaRPr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ja-JP" sz="1700" dirty="0">
                    <a:sym typeface="Symbol" panose="05050102010706020507" pitchFamily="18" charset="2"/>
                  </a:rPr>
                  <a:t>Thus</a:t>
                </a:r>
              </a:p>
              <a:p>
                <a:pPr marL="0" indent="0"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       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instructor.id =  teaches.id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(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instructor 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x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 teaches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ja-JP" sz="1700" dirty="0">
                    <a:sym typeface="Symbol" panose="05050102010706020507" pitchFamily="18" charset="2"/>
                  </a:rPr>
                  <a:t>Can equivalently be written as </a:t>
                </a:r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          instructor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</a:t>
                </a:r>
                <a:r>
                  <a:rPr lang="en-US" sz="1700" dirty="0"/>
                  <a:t>.</a:t>
                </a:r>
              </a:p>
              <a:p>
                <a:r>
                  <a:rPr lang="en-US" altLang="zh-TW" sz="1600" dirty="0">
                    <a:ea typeface="新細明體" panose="02020500000000000000" pitchFamily="18" charset="-120"/>
                    <a:sym typeface="Symbol" panose="05050102010706020507" pitchFamily="18" charset="2"/>
                  </a:rPr>
                  <a:t>Natural join</a:t>
                </a:r>
                <a:r>
                  <a:rPr lang="zh-TW" altLang="en-US" sz="1600" dirty="0">
                    <a:ea typeface="新細明體" panose="02020500000000000000" pitchFamily="18" charset="-120"/>
                    <a:sym typeface="Symbol" panose="05050102010706020507" pitchFamily="18" charset="2"/>
                  </a:rPr>
                  <a:t> 要求兩個表格共同屬性其值相等的資料列才能配對輸出，寫法為</a:t>
                </a:r>
                <a:endParaRPr lang="en-US" altLang="zh-TW" sz="1600" dirty="0">
                  <a:ea typeface="新細明體" panose="02020500000000000000" pitchFamily="18" charset="-120"/>
                  <a:sym typeface="Symbol" panose="05050102010706020507" pitchFamily="18" charset="2"/>
                </a:endParaRPr>
              </a:p>
              <a:p>
                <a:pPr marL="0" indent="0" algn="ctr">
                  <a:buNone/>
                </a:pPr>
                <a:r>
                  <a:rPr lang="en-US" altLang="en-US" i="1" dirty="0">
                    <a:sym typeface="Symbol" panose="05050102010706020507" pitchFamily="18" charset="2"/>
                  </a:rPr>
                  <a:t>instructor</a:t>
                </a:r>
                <a:r>
                  <a:rPr lang="en-US" altLang="en-US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zh-TW" i="1" dirty="0"/>
                  <a:t>teaches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sz="1600" dirty="0"/>
                  <a:t>      第四章會再做進一步說明</a:t>
                </a:r>
                <a:endParaRPr lang="en-US" altLang="zh-TW" sz="1600" dirty="0"/>
              </a:p>
              <a:p>
                <a:pPr marL="0" indent="0">
                  <a:buNone/>
                </a:pPr>
                <a:endParaRPr lang="en-US" sz="1700" dirty="0"/>
              </a:p>
              <a:p>
                <a:endParaRPr lang="en-US" sz="1700" dirty="0"/>
              </a:p>
              <a:p>
                <a:pPr>
                  <a:buNone/>
                </a:pPr>
                <a:endParaRPr lang="en-US" altLang="ja-JP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1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50" y="1138873"/>
                <a:ext cx="7644131" cy="4823015"/>
              </a:xfrm>
              <a:blipFill>
                <a:blip r:embed="rId3"/>
                <a:stretch>
                  <a:fillRect l="-558" t="-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/>
              <a:t>練習</a:t>
            </a:r>
            <a:endParaRPr lang="zh-TW" altLang="en-US" dirty="0"/>
          </a:p>
        </p:txBody>
      </p:sp>
      <p:sp>
        <p:nvSpPr>
          <p:cNvPr id="2253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Find the titles of courses in the Comp. Sci. department</a:t>
            </a:r>
          </a:p>
          <a:p>
            <a:pPr>
              <a:buFont typeface="Monotype Sorts" pitchFamily="2" charset="2"/>
              <a:buNone/>
            </a:pPr>
            <a:r>
              <a:rPr lang="en-US" altLang="zh-TW" dirty="0">
                <a:ea typeface="新細明體" panose="02020500000000000000" pitchFamily="18" charset="-120"/>
              </a:rPr>
              <a:t>Answer:</a:t>
            </a:r>
          </a:p>
          <a:p>
            <a:endParaRPr lang="en-US" altLang="zh-TW" dirty="0">
              <a:ea typeface="新細明體" panose="02020500000000000000" pitchFamily="18" charset="-120"/>
            </a:endParaRPr>
          </a:p>
          <a:p>
            <a:endParaRPr lang="en-US" altLang="zh-TW" dirty="0">
              <a:ea typeface="新細明體" panose="02020500000000000000" pitchFamily="18" charset="-120"/>
            </a:endParaRPr>
          </a:p>
          <a:p>
            <a:endParaRPr lang="en-US" altLang="zh-TW" dirty="0">
              <a:ea typeface="新細明體" panose="02020500000000000000" pitchFamily="18" charset="-120"/>
            </a:endParaRPr>
          </a:p>
          <a:p>
            <a:endParaRPr lang="en-US" altLang="zh-TW" dirty="0">
              <a:ea typeface="新細明體" panose="02020500000000000000" pitchFamily="18" charset="-120"/>
            </a:endParaRPr>
          </a:p>
          <a:p>
            <a:r>
              <a:rPr lang="en-US" altLang="zh-TW" sz="1600" dirty="0"/>
              <a:t>Output the attributes ID and building of  instructors.</a:t>
            </a:r>
          </a:p>
          <a:p>
            <a:pPr marL="0" indent="0">
              <a:buNone/>
            </a:pPr>
            <a:r>
              <a:rPr kumimoji="0" lang="zh-TW" altLang="en-US" sz="1600" dirty="0">
                <a:ea typeface="新細明體" panose="02020500000000000000" pitchFamily="18" charset="-120"/>
              </a:rPr>
              <a:t>      </a:t>
            </a:r>
            <a:r>
              <a:rPr kumimoji="0" lang="en-US" altLang="zh-TW" sz="1600" dirty="0">
                <a:ea typeface="新細明體" panose="02020500000000000000" pitchFamily="18" charset="-120"/>
              </a:rPr>
              <a:t>(</a:t>
            </a:r>
            <a:r>
              <a:rPr kumimoji="0" lang="zh-TW" altLang="en-US" sz="1600" dirty="0">
                <a:ea typeface="新細明體" panose="02020500000000000000" pitchFamily="18" charset="-120"/>
              </a:rPr>
              <a:t>老師的編號和辦公室所在的建築物名稱</a:t>
            </a:r>
            <a:r>
              <a:rPr kumimoji="0" lang="en-US" altLang="zh-TW" sz="1600" dirty="0">
                <a:ea typeface="新細明體" panose="02020500000000000000" pitchFamily="18" charset="-120"/>
              </a:rPr>
              <a:t>)</a:t>
            </a:r>
            <a:endParaRPr kumimoji="0" lang="en-US" altLang="zh-TW" dirty="0">
              <a:ea typeface="新細明體" panose="02020500000000000000" pitchFamily="18" charset="-120"/>
            </a:endParaRPr>
          </a:p>
          <a:p>
            <a:pPr>
              <a:buFont typeface="Monotype Sorts" pitchFamily="2" charset="2"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Answer:</a:t>
            </a:r>
            <a:endParaRPr lang="zh-TW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315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Union Operation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4489"/>
            <a:ext cx="7683191" cy="4688903"/>
          </a:xfrm>
        </p:spPr>
        <p:txBody>
          <a:bodyPr/>
          <a:lstStyle/>
          <a:p>
            <a:pPr>
              <a:tabLst>
                <a:tab pos="2965450" algn="ctr"/>
              </a:tabLst>
            </a:pPr>
            <a:r>
              <a:rPr lang="en-US" altLang="en-US" sz="1700" dirty="0"/>
              <a:t>The union operation </a:t>
            </a:r>
            <a:r>
              <a:rPr lang="en-US" altLang="en-US" sz="1700" dirty="0">
                <a:sym typeface="Symbol" panose="05050102010706020507" pitchFamily="18" charset="2"/>
              </a:rPr>
              <a:t>allows us to combine two relations </a:t>
            </a:r>
            <a:endParaRPr lang="en-US" altLang="en-US" sz="1700" dirty="0"/>
          </a:p>
          <a:p>
            <a:pPr>
              <a:tabLst>
                <a:tab pos="2965450" algn="ctr"/>
              </a:tabLst>
            </a:pPr>
            <a:r>
              <a:rPr lang="en-US" altLang="en-US" sz="1700" dirty="0"/>
              <a:t>Notation:  </a:t>
            </a:r>
            <a:r>
              <a:rPr lang="en-US" altLang="en-US" sz="1700" i="1" dirty="0"/>
              <a:t>r 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For </a:t>
            </a:r>
            <a:r>
              <a:rPr lang="en-US" altLang="en-US" sz="1700" i="1" dirty="0"/>
              <a:t>r</a:t>
            </a:r>
            <a:r>
              <a:rPr lang="en-US" altLang="en-US" sz="1700" dirty="0"/>
              <a:t> 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r>
              <a:rPr lang="en-US" altLang="en-US" sz="1700" dirty="0">
                <a:sym typeface="Symbol" panose="05050102010706020507" pitchFamily="18" charset="2"/>
              </a:rPr>
              <a:t> to be valid.</a:t>
            </a:r>
          </a:p>
          <a:p>
            <a:pPr>
              <a:buFont typeface="Monotype Sorts" charset="2"/>
              <a:buNone/>
              <a:tabLst>
                <a:tab pos="2965450" algn="ctr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	</a:t>
            </a:r>
            <a:r>
              <a:rPr lang="en-US" altLang="en-US" sz="1700" dirty="0">
                <a:sym typeface="Symbol" panose="05050102010706020507" pitchFamily="18" charset="2"/>
              </a:rPr>
              <a:t>1.   </a:t>
            </a:r>
            <a:r>
              <a:rPr lang="en-US" altLang="en-US" sz="1700" i="1" dirty="0">
                <a:sym typeface="Symbol" panose="05050102010706020507" pitchFamily="18" charset="2"/>
              </a:rPr>
              <a:t>r,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r>
              <a:rPr lang="en-US" altLang="en-US" sz="1700" dirty="0">
                <a:sym typeface="Symbol" panose="05050102010706020507" pitchFamily="18" charset="2"/>
              </a:rPr>
              <a:t> must have the </a:t>
            </a:r>
            <a:r>
              <a:rPr lang="en-US" altLang="en-US" sz="1700" i="1" dirty="0">
                <a:sym typeface="Symbol" panose="05050102010706020507" pitchFamily="18" charset="2"/>
              </a:rPr>
              <a:t>same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arity</a:t>
            </a:r>
            <a:r>
              <a:rPr lang="en-US" altLang="en-US" sz="1700" dirty="0">
                <a:sym typeface="Symbol" panose="05050102010706020507" pitchFamily="18" charset="2"/>
              </a:rPr>
              <a:t> (same number of attributes)</a:t>
            </a:r>
          </a:p>
          <a:p>
            <a:pPr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	2.   The attribute domains must be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compatible</a:t>
            </a:r>
            <a:r>
              <a:rPr lang="en-US" altLang="en-US" sz="1700" dirty="0">
                <a:sym typeface="Symbol" panose="05050102010706020507" pitchFamily="18" charset="2"/>
              </a:rPr>
              <a:t> (example: 2</a:t>
            </a:r>
            <a:r>
              <a:rPr lang="en-US" altLang="en-US" sz="1700" baseline="30000" dirty="0">
                <a:sym typeface="Symbol" panose="05050102010706020507" pitchFamily="18" charset="2"/>
              </a:rPr>
              <a:t>nd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</a:p>
          <a:p>
            <a:pPr lvl="1"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     column of </a:t>
            </a:r>
            <a:r>
              <a:rPr lang="en-US" altLang="en-US" sz="1600" i="1" dirty="0">
                <a:sym typeface="Symbol" panose="05050102010706020507" pitchFamily="18" charset="2"/>
              </a:rPr>
              <a:t>r</a:t>
            </a:r>
            <a:r>
              <a:rPr lang="en-US" altLang="en-US" sz="1600" dirty="0">
                <a:sym typeface="Symbol" panose="05050102010706020507" pitchFamily="18" charset="2"/>
              </a:rPr>
              <a:t> deals with the same type of values as does the 2</a:t>
            </a:r>
            <a:r>
              <a:rPr lang="en-US" altLang="en-US" sz="1600" baseline="30000" dirty="0">
                <a:sym typeface="Symbol" panose="05050102010706020507" pitchFamily="18" charset="2"/>
              </a:rPr>
              <a:t>nd </a:t>
            </a:r>
            <a:r>
              <a:rPr lang="en-US" altLang="en-US" sz="1600" dirty="0">
                <a:sym typeface="Symbol" panose="05050102010706020507" pitchFamily="18" charset="2"/>
              </a:rPr>
              <a:t>column of </a:t>
            </a:r>
            <a:r>
              <a:rPr lang="en-US" altLang="en-US" sz="1600" i="1" dirty="0">
                <a:sym typeface="Symbol" panose="05050102010706020507" pitchFamily="18" charset="2"/>
              </a:rPr>
              <a:t>s</a:t>
            </a:r>
            <a:r>
              <a:rPr lang="en-US" altLang="en-US" sz="16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altLang="en-US" sz="1700" dirty="0"/>
              <a:t>Example: to find all courses taught in the Fall 2017 semester, or in the Spring 2018 semester, or in both</a:t>
            </a:r>
            <a:br>
              <a:rPr lang="en-US" altLang="en-US" sz="1700" dirty="0"/>
            </a:br>
            <a:r>
              <a:rPr lang="en-US" altLang="en-US" dirty="0"/>
              <a:t>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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</a:t>
            </a:r>
            <a:r>
              <a:rPr lang="en-US" altLang="ja-JP" dirty="0">
                <a:sym typeface="Symbol" panose="05050102010706020507" pitchFamily="18" charset="2"/>
              </a:rPr>
              <a:t>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sz="1700" dirty="0"/>
          </a:p>
          <a:p>
            <a:pPr>
              <a:lnSpc>
                <a:spcPct val="140000"/>
              </a:lnSpc>
              <a:buFont typeface="Monotype Sorts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Union Operation (Cont.)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41338"/>
            <a:ext cx="7680706" cy="1372678"/>
          </a:xfrm>
        </p:spPr>
        <p:txBody>
          <a:bodyPr/>
          <a:lstStyle/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altLang="en-US" sz="1700" dirty="0"/>
              <a:t>Result of: 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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dirty="0">
                <a:sym typeface="Symbol" panose="05050102010706020507" pitchFamily="18" charset="2"/>
              </a:rPr>
              <a:t>   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dirty="0"/>
          </a:p>
          <a:p>
            <a:pPr>
              <a:lnSpc>
                <a:spcPct val="140000"/>
              </a:lnSpc>
              <a:buFont typeface="Monotype Sorts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  <p:pic>
        <p:nvPicPr>
          <p:cNvPr id="54273" name="Picture 1" descr="W:\db-book\db7\slide-dir\KEEP\Tables-ch2\2_1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64473" y="2294274"/>
            <a:ext cx="982978" cy="2406913"/>
          </a:xfrm>
          <a:prstGeom prst="rect">
            <a:avLst/>
          </a:prstGeom>
          <a:noFill/>
        </p:spPr>
      </p:pic>
      <p:sp>
        <p:nvSpPr>
          <p:cNvPr id="6" name="內容版面配置區 2"/>
          <p:cNvSpPr txBox="1">
            <a:spLocks/>
          </p:cNvSpPr>
          <p:nvPr/>
        </p:nvSpPr>
        <p:spPr bwMode="auto">
          <a:xfrm>
            <a:off x="5761771" y="5870713"/>
            <a:ext cx="16525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 sz="1800" dirty="0">
                <a:ea typeface="新細明體" panose="02020500000000000000" pitchFamily="18" charset="-120"/>
              </a:rPr>
              <a:t>section</a:t>
            </a:r>
            <a:endParaRPr lang="zh-TW" altLang="en-US" sz="1800" dirty="0">
              <a:ea typeface="新細明體" panose="02020500000000000000" pitchFamily="18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769" y="2212091"/>
            <a:ext cx="5872003" cy="36586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Set-Intersection Operation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12169" cy="3932999"/>
          </a:xfrm>
        </p:spPr>
        <p:txBody>
          <a:bodyPr/>
          <a:lstStyle/>
          <a:p>
            <a:r>
              <a:rPr lang="en-US" altLang="en-US" sz="1700" dirty="0"/>
              <a:t>The  </a:t>
            </a:r>
            <a:r>
              <a:rPr lang="en-US" altLang="en-US" sz="1700"/>
              <a:t>set-intersection </a:t>
            </a:r>
            <a:r>
              <a:rPr lang="en-US" altLang="en-US" sz="1700" smtClean="0"/>
              <a:t>operation </a:t>
            </a:r>
            <a:r>
              <a:rPr lang="en-US" altLang="en-US" sz="1700" smtClean="0">
                <a:sym typeface="Symbol" panose="05050102010706020507" pitchFamily="18" charset="2"/>
              </a:rPr>
              <a:t>allows </a:t>
            </a:r>
            <a:r>
              <a:rPr lang="en-US" altLang="en-US" sz="1700" dirty="0">
                <a:sym typeface="Symbol" panose="05050102010706020507" pitchFamily="18" charset="2"/>
              </a:rPr>
              <a:t>us to find tuples that are in both the input relations.</a:t>
            </a:r>
            <a:endParaRPr lang="en-US" altLang="en-US" sz="1700" dirty="0"/>
          </a:p>
          <a:p>
            <a:r>
              <a:rPr lang="en-US" altLang="en-US" sz="1700" dirty="0"/>
              <a:t>Notation: </a:t>
            </a:r>
            <a:r>
              <a:rPr lang="en-US" altLang="en-US" sz="1700" i="1" dirty="0"/>
              <a:t>r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r>
              <a:rPr lang="en-US" altLang="en-US" sz="1700" i="1" dirty="0"/>
              <a:t>s</a:t>
            </a:r>
            <a:endParaRPr lang="en-US" altLang="en-US" sz="1700" dirty="0"/>
          </a:p>
          <a:p>
            <a:r>
              <a:rPr lang="en-US" altLang="en-US" sz="1700" dirty="0"/>
              <a:t>Assume: </a:t>
            </a:r>
          </a:p>
          <a:p>
            <a:pPr lvl="1"/>
            <a:r>
              <a:rPr lang="en-US" altLang="en-US" sz="1700" i="1" dirty="0"/>
              <a:t>r</a:t>
            </a:r>
            <a:r>
              <a:rPr lang="en-US" altLang="en-US" sz="1700" dirty="0"/>
              <a:t>, </a:t>
            </a:r>
            <a:r>
              <a:rPr lang="en-US" altLang="en-US" sz="1700" i="1" dirty="0"/>
              <a:t>s</a:t>
            </a:r>
            <a:r>
              <a:rPr lang="en-US" altLang="en-US" sz="1700" dirty="0"/>
              <a:t> have the </a:t>
            </a:r>
            <a:r>
              <a:rPr lang="en-US" altLang="en-US" sz="1700" i="1" dirty="0"/>
              <a:t>same </a:t>
            </a:r>
            <a:r>
              <a:rPr lang="en-US" altLang="en-US" sz="1700" i="1" dirty="0" err="1"/>
              <a:t>arity</a:t>
            </a:r>
            <a:r>
              <a:rPr lang="en-US" altLang="en-US" sz="1700" dirty="0"/>
              <a:t> </a:t>
            </a:r>
          </a:p>
          <a:p>
            <a:pPr lvl="1"/>
            <a:r>
              <a:rPr lang="en-US" altLang="en-US" sz="1700" dirty="0"/>
              <a:t>attributes of </a:t>
            </a:r>
            <a:r>
              <a:rPr lang="en-US" altLang="en-US" sz="1700" i="1" dirty="0"/>
              <a:t>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</a:t>
            </a:r>
            <a:r>
              <a:rPr lang="en-US" altLang="en-US" sz="1700" dirty="0"/>
              <a:t> are compatible</a:t>
            </a:r>
          </a:p>
          <a:p>
            <a:r>
              <a:rPr lang="en-US" altLang="en-US" sz="1700" dirty="0"/>
              <a:t>Example: Find the set of all courses taught in both the Fall 2017 and the Spring 2018 semesters.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  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r>
              <a:rPr lang="en-US" altLang="ja-JP" sz="1700" dirty="0">
                <a:sym typeface="Symbol" panose="05050102010706020507" pitchFamily="18" charset="2"/>
              </a:rPr>
              <a:t/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  </a:t>
            </a:r>
            <a:r>
              <a:rPr lang="en-US" altLang="ja-JP" dirty="0">
                <a:sym typeface="Symbol" panose="05050102010706020507" pitchFamily="18" charset="2"/>
              </a:rPr>
              <a:t>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Result</a:t>
            </a:r>
            <a:endParaRPr lang="en-US" altLang="en-US" sz="1700" dirty="0"/>
          </a:p>
          <a:p>
            <a:pPr>
              <a:buNone/>
            </a:pPr>
            <a:endParaRPr lang="en-US" altLang="en-US" dirty="0"/>
          </a:p>
        </p:txBody>
      </p:sp>
      <p:pic>
        <p:nvPicPr>
          <p:cNvPr id="98306" name="Picture 2" descr="W:\db-book\db7\slide-dir\KEEP\Tables-ch2\2_1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8318" y="4894643"/>
            <a:ext cx="1000083" cy="60799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Difference Operation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77913"/>
            <a:ext cx="7754212" cy="3737927"/>
          </a:xfrm>
        </p:spPr>
        <p:txBody>
          <a:bodyPr/>
          <a:lstStyle/>
          <a:p>
            <a:pPr>
              <a:spcBef>
                <a:spcPct val="60000"/>
              </a:spcBef>
            </a:pPr>
            <a:r>
              <a:rPr lang="en-US" altLang="en-US" sz="1700" dirty="0"/>
              <a:t>The set-difference operation allows us to find tuples that are in one relation but are not in another. </a:t>
            </a:r>
          </a:p>
          <a:p>
            <a:pPr>
              <a:spcBef>
                <a:spcPct val="60000"/>
              </a:spcBef>
            </a:pPr>
            <a:r>
              <a:rPr lang="en-US" altLang="en-US" sz="1700" dirty="0"/>
              <a:t>Notation </a:t>
            </a:r>
            <a:r>
              <a:rPr lang="en-US" altLang="en-US" sz="1700" i="1" dirty="0"/>
              <a:t>r – s</a:t>
            </a:r>
          </a:p>
          <a:p>
            <a:r>
              <a:rPr lang="en-US" altLang="en-US" sz="1700" dirty="0"/>
              <a:t>Set differences must be taken between </a:t>
            </a:r>
            <a:r>
              <a:rPr lang="en-US" altLang="en-US" sz="1700" b="1" dirty="0">
                <a:solidFill>
                  <a:srgbClr val="002060"/>
                </a:solidFill>
              </a:rPr>
              <a:t>compatible</a:t>
            </a:r>
            <a:r>
              <a:rPr lang="en-US" altLang="en-US" sz="1700" dirty="0"/>
              <a:t> relations.</a:t>
            </a:r>
          </a:p>
          <a:p>
            <a:pPr lvl="1"/>
            <a:r>
              <a:rPr lang="en-US" altLang="en-US" sz="1700" i="1" dirty="0"/>
              <a:t>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</a:t>
            </a:r>
            <a:r>
              <a:rPr lang="en-US" altLang="en-US" sz="1700" dirty="0"/>
              <a:t> must have the </a:t>
            </a:r>
            <a:r>
              <a:rPr lang="en-US" altLang="en-US" sz="1700" dirty="0">
                <a:solidFill>
                  <a:srgbClr val="002060"/>
                </a:solidFill>
              </a:rPr>
              <a:t>same</a:t>
            </a:r>
            <a:r>
              <a:rPr lang="en-US" altLang="en-US" sz="1700" dirty="0"/>
              <a:t> </a:t>
            </a:r>
            <a:r>
              <a:rPr lang="en-US" altLang="en-US" sz="1700" dirty="0" err="1"/>
              <a:t>arity</a:t>
            </a:r>
            <a:endParaRPr lang="en-US" altLang="en-US" sz="1700" dirty="0"/>
          </a:p>
          <a:p>
            <a:pPr lvl="1"/>
            <a:r>
              <a:rPr lang="en-US" altLang="en-US" sz="1700" dirty="0"/>
              <a:t>attribute domains of </a:t>
            </a:r>
            <a:r>
              <a:rPr lang="en-US" altLang="en-US" sz="1700" i="1" dirty="0"/>
              <a:t>r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s </a:t>
            </a:r>
            <a:r>
              <a:rPr lang="en-US" altLang="en-US" sz="1700" dirty="0"/>
              <a:t>must be compatible</a:t>
            </a:r>
          </a:p>
          <a:p>
            <a:pPr>
              <a:lnSpc>
                <a:spcPct val="140000"/>
              </a:lnSpc>
            </a:pPr>
            <a:r>
              <a:rPr lang="en-US" altLang="en-US" sz="1700" dirty="0"/>
              <a:t>Example: to find all courses taught in the Fall 2017 semester, but not in the Spring 2018 semester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sz="1700" dirty="0">
                <a:sym typeface="Symbol" panose="05050102010706020507" pitchFamily="18" charset="2"/>
              </a:rPr>
              <a:t></a:t>
            </a:r>
            <a:r>
              <a:rPr lang="en-US" altLang="en-US" sz="1700" i="1" baseline="-25000" dirty="0" err="1"/>
              <a:t>course_id</a:t>
            </a:r>
            <a:r>
              <a:rPr lang="en-US" altLang="en-US" sz="1700" dirty="0"/>
              <a:t> (</a:t>
            </a:r>
            <a:r>
              <a:rPr lang="en-US" altLang="en-US" sz="1700" i="1" dirty="0">
                <a:sym typeface="Symbol" panose="05050102010706020507" pitchFamily="18" charset="2"/>
              </a:rPr>
              <a:t>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−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</a:t>
            </a:r>
            <a:r>
              <a:rPr lang="en-US" altLang="ja-JP" sz="1700" i="1" baseline="-25000" dirty="0" err="1"/>
              <a:t>course_id</a:t>
            </a:r>
            <a:r>
              <a:rPr lang="en-US" altLang="ja-JP" sz="1700" dirty="0"/>
              <a:t> (</a:t>
            </a:r>
            <a:r>
              <a:rPr lang="en-US" altLang="ja-JP" sz="1700" i="1" dirty="0">
                <a:sym typeface="Symbol" panose="05050102010706020507" pitchFamily="18" charset="2"/>
              </a:rPr>
              <a:t></a:t>
            </a:r>
            <a:r>
              <a:rPr lang="en-US" altLang="ja-JP" sz="1700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</p:txBody>
      </p:sp>
      <p:pic>
        <p:nvPicPr>
          <p:cNvPr id="4" name="Picture 1" descr="C:\Users\as668\Desktop\Figures-for-slides\2_1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4963752"/>
            <a:ext cx="1011628" cy="86854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sz="2800" dirty="0"/>
              <a:t>The Assignment  Operation 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56322" cy="4835207"/>
          </a:xfrm>
        </p:spPr>
        <p:txBody>
          <a:bodyPr/>
          <a:lstStyle/>
          <a:p>
            <a:r>
              <a:rPr lang="en-US" altLang="en-US" sz="1700" dirty="0"/>
              <a:t>It is convenient at times to write a relational-algebra expression by assigning parts of it to temporary relation variables.  </a:t>
            </a:r>
          </a:p>
          <a:p>
            <a:r>
              <a:rPr lang="en-US" altLang="en-US" sz="1700" dirty="0"/>
              <a:t>The assignment  operation is  denoted by </a:t>
            </a:r>
            <a:r>
              <a:rPr lang="en-US" altLang="en-US" sz="1700" dirty="0">
                <a:sym typeface="Symbol" panose="05050102010706020507" pitchFamily="18" charset="2"/>
              </a:rPr>
              <a:t></a:t>
            </a:r>
            <a:r>
              <a:rPr lang="en-US" altLang="en-US" sz="1700" dirty="0">
                <a:sym typeface="Wingdings" pitchFamily="2" charset="2"/>
              </a:rPr>
              <a:t> and </a:t>
            </a:r>
            <a:r>
              <a:rPr lang="en-US" altLang="en-US" sz="1700" dirty="0"/>
              <a:t>works like assignment in a programming language.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Example: Find all </a:t>
            </a:r>
            <a:r>
              <a:rPr lang="en-US" altLang="en-US" sz="1700" dirty="0">
                <a:sym typeface="Symbol" panose="05050102010706020507" pitchFamily="18" charset="2"/>
              </a:rPr>
              <a:t>instructor in the “Physics” and Music department.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/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</a:t>
            </a:r>
            <a:r>
              <a:rPr lang="en-US" altLang="en-US" sz="1700" i="1" dirty="0">
                <a:sym typeface="Symbol" panose="05050102010706020507" pitchFamily="18" charset="2"/>
              </a:rPr>
              <a:t>Physics</a:t>
            </a:r>
            <a:r>
              <a:rPr lang="en-US" altLang="en-US" sz="1700" dirty="0">
                <a:sym typeface="Symbol" panose="05050102010706020507" pitchFamily="18" charset="2"/>
              </a:rPr>
              <a:t> </a:t>
            </a:r>
            <a:r>
              <a:rPr lang="en-US" altLang="en-US" sz="1700" b="1" dirty="0">
                <a:sym typeface="Wingdings" pitchFamily="2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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</a:t>
            </a:r>
            <a:r>
              <a:rPr lang="en-US" altLang="en-US" sz="1700" i="1" dirty="0">
                <a:sym typeface="Symbol" panose="05050102010706020507" pitchFamily="18" charset="2"/>
              </a:rPr>
              <a:t>Music</a:t>
            </a:r>
            <a:r>
              <a:rPr lang="en-US" altLang="en-US" sz="1700" dirty="0">
                <a:sym typeface="Symbol" panose="05050102010706020507" pitchFamily="18" charset="2"/>
              </a:rPr>
              <a:t> </a:t>
            </a:r>
            <a:r>
              <a:rPr lang="en-US" altLang="en-US" sz="1700" b="1" dirty="0">
                <a:sym typeface="Wingdings" pitchFamily="2" charset="2"/>
              </a:rPr>
              <a:t> 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Music”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</a:t>
            </a:r>
            <a:r>
              <a:rPr lang="en-US" altLang="en-US" sz="1700" i="1" dirty="0">
                <a:sym typeface="Symbol" panose="05050102010706020507" pitchFamily="18" charset="2"/>
              </a:rPr>
              <a:t>Physics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Music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With the assignment operation, a query can be written as a sequential program consisting of a series of assignments followed by an expression whose value is displayed as the result of the query. 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 </a:t>
            </a:r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sz="2800" dirty="0"/>
              <a:t>The Rename Operation 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83191" cy="3201479"/>
          </a:xfrm>
        </p:spPr>
        <p:txBody>
          <a:bodyPr/>
          <a:lstStyle/>
          <a:p>
            <a:r>
              <a:rPr lang="en-US" altLang="en-US" sz="1700" dirty="0"/>
              <a:t>The results of relational-algebra expressions do not have a name that we can use to refer to them.  The  rename operator,  </a:t>
            </a:r>
            <a:r>
              <a:rPr lang="en-US" altLang="en-US" sz="1700" i="1" dirty="0">
                <a:sym typeface="Symbol" panose="05050102010706020507" pitchFamily="18" charset="2"/>
              </a:rPr>
              <a:t> ,</a:t>
            </a:r>
            <a:r>
              <a:rPr lang="en-US" altLang="en-US" sz="1700" dirty="0">
                <a:sym typeface="Symbol" panose="05050102010706020507" pitchFamily="18" charset="2"/>
              </a:rPr>
              <a:t>  is provided 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for that purpose</a:t>
            </a:r>
          </a:p>
          <a:p>
            <a:r>
              <a:rPr lang="en-US" altLang="en-US" sz="1700" dirty="0"/>
              <a:t>The expression:</a:t>
            </a:r>
          </a:p>
          <a:p>
            <a:pPr>
              <a:buNone/>
            </a:pPr>
            <a:r>
              <a:rPr lang="en-US" altLang="en-US" sz="1700" dirty="0"/>
              <a:t>                 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  <a:r>
              <a:rPr lang="en-US" altLang="en-US" i="1" baseline="-25000" dirty="0">
                <a:sym typeface="Symbol" panose="05050102010706020507" pitchFamily="18" charset="2"/>
              </a:rPr>
              <a:t>x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returns the result of expression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 under the name </a:t>
            </a:r>
            <a:r>
              <a:rPr lang="en-US" altLang="en-US" sz="1700" i="1" dirty="0">
                <a:sym typeface="Symbol" panose="05050102010706020507" pitchFamily="18" charset="2"/>
              </a:rPr>
              <a:t>x</a:t>
            </a:r>
            <a:endParaRPr lang="en-US" altLang="en-US" sz="1700" i="1" dirty="0"/>
          </a:p>
          <a:p>
            <a:r>
              <a:rPr lang="en-US" altLang="en-US" sz="1700" dirty="0"/>
              <a:t>Another form of the rename operation:</a:t>
            </a:r>
          </a:p>
          <a:p>
            <a:pPr>
              <a:buNone/>
            </a:pPr>
            <a:r>
              <a:rPr lang="en-US" altLang="en-US" sz="1700" dirty="0"/>
              <a:t>                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  <a:r>
              <a:rPr lang="en-US" altLang="en-US" i="1" baseline="-25000" dirty="0">
                <a:sym typeface="Symbol" panose="05050102010706020507" pitchFamily="18" charset="2"/>
              </a:rPr>
              <a:t>x(A1,A2, .. An)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  <a:endParaRPr lang="en-US" altLang="en-US" sz="1700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Equivalent Queries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6740"/>
            <a:ext cx="7683192" cy="4664519"/>
          </a:xfrm>
        </p:spPr>
        <p:txBody>
          <a:bodyPr/>
          <a:lstStyle/>
          <a:p>
            <a:r>
              <a:rPr lang="en-US" altLang="en-US" sz="1700" dirty="0"/>
              <a:t>There is more than one way to write a query in relational algebra. </a:t>
            </a:r>
          </a:p>
          <a:p>
            <a:r>
              <a:rPr lang="en-US" altLang="en-US" sz="1700" dirty="0"/>
              <a:t>Example:  Find information about instructors in the Physics department with salary greater than 90,000</a:t>
            </a:r>
          </a:p>
          <a:p>
            <a:r>
              <a:rPr lang="en-US" altLang="en-US" sz="1700" dirty="0"/>
              <a:t>Query 1</a:t>
            </a:r>
          </a:p>
          <a:p>
            <a:pPr>
              <a:buNone/>
            </a:pPr>
            <a:r>
              <a:rPr lang="en-US" altLang="en-US" sz="1700" i="1" dirty="0">
                <a:sym typeface="Symbol" panose="05050102010706020507" pitchFamily="18" charset="2"/>
              </a:rPr>
              <a:t>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en-US" dirty="0">
                <a:sym typeface="Symbol" panose="05050102010706020507" pitchFamily="18" charset="2"/>
              </a:rPr>
              <a:t></a:t>
            </a:r>
            <a:r>
              <a:rPr lang="ja-JP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salary &gt; </a:t>
            </a:r>
            <a:r>
              <a:rPr lang="en-US" altLang="ja-JP" baseline="-25000" dirty="0">
                <a:sym typeface="Symbol" panose="05050102010706020507" pitchFamily="18" charset="2"/>
              </a:rPr>
              <a:t>90,000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Query 2</a:t>
            </a:r>
            <a:endParaRPr lang="en-US" altLang="en-US" sz="1700" dirty="0"/>
          </a:p>
          <a:p>
            <a:pPr>
              <a:buNone/>
            </a:pPr>
            <a:r>
              <a:rPr lang="en-US" altLang="en-US" sz="1700" i="1" dirty="0">
                <a:sym typeface="Symbol" panose="05050102010706020507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</a:t>
            </a:r>
            <a:r>
              <a:rPr lang="en-US" altLang="ja-JP" i="1" baseline="-25000" dirty="0">
                <a:sym typeface="Symbol" panose="05050102010706020507" pitchFamily="18" charset="2"/>
              </a:rPr>
              <a:t>alary </a:t>
            </a:r>
            <a:r>
              <a:rPr lang="en-US" altLang="ja-JP" i="1" baseline="-25000">
                <a:sym typeface="Symbol" panose="05050102010706020507" pitchFamily="18" charset="2"/>
              </a:rPr>
              <a:t>&gt; 90</a:t>
            </a:r>
            <a:r>
              <a:rPr lang="en-US" altLang="zh-TW" i="1" baseline="-25000">
                <a:sym typeface="Symbol" panose="05050102010706020507" pitchFamily="18" charset="2"/>
              </a:rPr>
              <a:t>,</a:t>
            </a:r>
            <a:r>
              <a:rPr lang="en-US" altLang="ja-JP" i="1" baseline="-25000">
                <a:sym typeface="Symbol" panose="05050102010706020507" pitchFamily="18" charset="2"/>
              </a:rPr>
              <a:t>000</a:t>
            </a:r>
            <a:r>
              <a:rPr lang="en-US" altLang="ja-JP" i="1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two queries are not identical; they are, however, equivalent -- they give the same result on any database.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Equivalent </a:t>
            </a:r>
            <a:r>
              <a:rPr lang="en-US" altLang="en-US" dirty="0"/>
              <a:t>Queries (Cont.)</a:t>
            </a:r>
            <a:endParaRPr lang="en-US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49" y="1138873"/>
                <a:ext cx="7638803" cy="4506023"/>
              </a:xfrm>
            </p:spPr>
            <p:txBody>
              <a:bodyPr/>
              <a:lstStyle/>
              <a:p>
                <a:r>
                  <a:rPr lang="en-US" altLang="en-US" sz="1700" dirty="0"/>
                  <a:t>Example:  Find information about instructors in the Physics department</a:t>
                </a:r>
              </a:p>
              <a:p>
                <a:r>
                  <a:rPr lang="en-US" altLang="en-US" sz="1700" dirty="0"/>
                  <a:t>Query 1</a:t>
                </a:r>
              </a:p>
              <a:p>
                <a:pPr marL="0" indent="0"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1700" i="1" dirty="0">
                    <a:sym typeface="Symbol" panose="05050102010706020507" pitchFamily="18" charset="2"/>
                  </a:rPr>
                  <a:t>nstructor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teaches)</a:t>
                </a:r>
                <a:endParaRPr lang="en-US" altLang="en-US" sz="1700" dirty="0"/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en-US" sz="1700" dirty="0">
                    <a:sym typeface="Symbol" panose="05050102010706020507" pitchFamily="18" charset="2"/>
                  </a:rPr>
                  <a:t>Query 2</a:t>
                </a:r>
                <a:endParaRPr lang="en-US" altLang="en-US" sz="1700" dirty="0"/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1700" i="1" dirty="0">
                    <a:sym typeface="Symbol" panose="05050102010706020507" pitchFamily="18" charset="2"/>
                  </a:rPr>
                  <a:t>nstructor))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</a:t>
                </a:r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r>
                  <a:rPr lang="en-US" altLang="en-US" sz="1700" dirty="0">
                    <a:sym typeface="Symbol" panose="05050102010706020507" pitchFamily="18" charset="2"/>
                  </a:rPr>
                  <a:t>The two queries are not identical; they are, however, equivalent -- they give the same result on any database.</a:t>
                </a: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1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49" y="1138873"/>
                <a:ext cx="7638803" cy="4506023"/>
              </a:xfrm>
              <a:blipFill>
                <a:blip r:embed="rId3"/>
                <a:stretch>
                  <a:fillRect l="-559" t="-6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92843</TotalTime>
  <Words>1731</Words>
  <Application>Microsoft Office PowerPoint</Application>
  <PresentationFormat>如螢幕大小 (4:3)</PresentationFormat>
  <Paragraphs>343</Paragraphs>
  <Slides>32</Slides>
  <Notes>28</Notes>
  <HiddenSlides>0</HiddenSlides>
  <MMClips>0</MMClips>
  <ScaleCrop>false</ScaleCrop>
  <HeadingPairs>
    <vt:vector size="8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  <vt:variant>
        <vt:lpstr>自訂放映</vt:lpstr>
      </vt:variant>
      <vt:variant>
        <vt:i4>1</vt:i4>
      </vt:variant>
    </vt:vector>
  </HeadingPairs>
  <TitlesOfParts>
    <vt:vector size="46" baseType="lpstr">
      <vt:lpstr>Monotype Sorts</vt:lpstr>
      <vt:lpstr>MS PGothic</vt:lpstr>
      <vt:lpstr>MS PGothic</vt:lpstr>
      <vt:lpstr>細明體</vt:lpstr>
      <vt:lpstr>新細明體</vt:lpstr>
      <vt:lpstr>Arial</vt:lpstr>
      <vt:lpstr>Cambria Math</vt:lpstr>
      <vt:lpstr>Helvetica</vt:lpstr>
      <vt:lpstr>Symbol</vt:lpstr>
      <vt:lpstr>Times New Roman</vt:lpstr>
      <vt:lpstr>Webdings</vt:lpstr>
      <vt:lpstr>Wingdings</vt:lpstr>
      <vt:lpstr>2_db-5-grey</vt:lpstr>
      <vt:lpstr>Chapter 2: Intro to Relational Model</vt:lpstr>
      <vt:lpstr>Outline</vt:lpstr>
      <vt:lpstr>Example of an Instructor  Relation</vt:lpstr>
      <vt:lpstr>Attribute (屬性)</vt:lpstr>
      <vt:lpstr>Relation Schema and Instance (補充正式定義)</vt:lpstr>
      <vt:lpstr>Relations are Unordered</vt:lpstr>
      <vt:lpstr>Database Schema</vt:lpstr>
      <vt:lpstr>Keys</vt:lpstr>
      <vt:lpstr>Foreign keys </vt:lpstr>
      <vt:lpstr>Schema Diagram for University Database</vt:lpstr>
      <vt:lpstr>資料綱要常見寫法 (課本圖2.8) </vt:lpstr>
      <vt:lpstr>Relational Query Languages</vt:lpstr>
      <vt:lpstr>Relational Algebra</vt:lpstr>
      <vt:lpstr>Select Operation</vt:lpstr>
      <vt:lpstr>Select Operation (Cont.)</vt:lpstr>
      <vt:lpstr>Project Operation</vt:lpstr>
      <vt:lpstr>Project Operation (Cont.)</vt:lpstr>
      <vt:lpstr>Composition of Relational Operations</vt:lpstr>
      <vt:lpstr>Cartesian-Product Operation</vt:lpstr>
      <vt:lpstr>The  instructor  X  teaches  table</vt:lpstr>
      <vt:lpstr>Join Operation</vt:lpstr>
      <vt:lpstr>Join Operation (Cont.)</vt:lpstr>
      <vt:lpstr>Join Operation (Cont.)</vt:lpstr>
      <vt:lpstr>練習</vt:lpstr>
      <vt:lpstr>Union Operation</vt:lpstr>
      <vt:lpstr>Union Operation (Cont.)</vt:lpstr>
      <vt:lpstr>Set-Intersection Operation</vt:lpstr>
      <vt:lpstr>Set Difference Operation</vt:lpstr>
      <vt:lpstr>※ The Assignment  Operation </vt:lpstr>
      <vt:lpstr> ※ The Rename Operation </vt:lpstr>
      <vt:lpstr>Equivalent Queries</vt:lpstr>
      <vt:lpstr>Equivalent Queries (Cont.)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user</cp:lastModifiedBy>
  <cp:revision>494</cp:revision>
  <cp:lastPrinted>1999-06-28T19:27:31Z</cp:lastPrinted>
  <dcterms:created xsi:type="dcterms:W3CDTF">2009-12-21T15:40:22Z</dcterms:created>
  <dcterms:modified xsi:type="dcterms:W3CDTF">2023-09-23T13:06:29Z</dcterms:modified>
</cp:coreProperties>
</file>