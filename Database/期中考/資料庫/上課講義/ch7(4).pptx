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9"/>
  </p:notesMasterIdLst>
  <p:handoutMasterIdLst>
    <p:handoutMasterId r:id="rId60"/>
  </p:handoutMasterIdLst>
  <p:sldIdLst>
    <p:sldId id="438" r:id="rId2"/>
    <p:sldId id="439" r:id="rId3"/>
    <p:sldId id="441" r:id="rId4"/>
    <p:sldId id="443" r:id="rId5"/>
    <p:sldId id="444" r:id="rId6"/>
    <p:sldId id="445" r:id="rId7"/>
    <p:sldId id="446" r:id="rId8"/>
    <p:sldId id="447" r:id="rId9"/>
    <p:sldId id="448" r:id="rId10"/>
    <p:sldId id="450" r:id="rId11"/>
    <p:sldId id="452" r:id="rId12"/>
    <p:sldId id="453" r:id="rId13"/>
    <p:sldId id="451" r:id="rId14"/>
    <p:sldId id="454" r:id="rId15"/>
    <p:sldId id="455" r:id="rId16"/>
    <p:sldId id="456" r:id="rId17"/>
    <p:sldId id="457" r:id="rId18"/>
    <p:sldId id="458" r:id="rId19"/>
    <p:sldId id="473" r:id="rId20"/>
    <p:sldId id="374" r:id="rId21"/>
    <p:sldId id="375" r:id="rId22"/>
    <p:sldId id="376" r:id="rId23"/>
    <p:sldId id="378" r:id="rId24"/>
    <p:sldId id="379" r:id="rId25"/>
    <p:sldId id="380" r:id="rId26"/>
    <p:sldId id="459" r:id="rId27"/>
    <p:sldId id="460" r:id="rId28"/>
    <p:sldId id="461" r:id="rId29"/>
    <p:sldId id="462" r:id="rId30"/>
    <p:sldId id="463" r:id="rId31"/>
    <p:sldId id="390" r:id="rId32"/>
    <p:sldId id="465" r:id="rId33"/>
    <p:sldId id="466" r:id="rId34"/>
    <p:sldId id="467" r:id="rId35"/>
    <p:sldId id="468" r:id="rId36"/>
    <p:sldId id="469" r:id="rId37"/>
    <p:sldId id="394" r:id="rId38"/>
    <p:sldId id="395" r:id="rId39"/>
    <p:sldId id="396" r:id="rId40"/>
    <p:sldId id="397" r:id="rId41"/>
    <p:sldId id="398" r:id="rId42"/>
    <p:sldId id="399" r:id="rId43"/>
    <p:sldId id="475" r:id="rId44"/>
    <p:sldId id="400" r:id="rId45"/>
    <p:sldId id="402" r:id="rId46"/>
    <p:sldId id="407" r:id="rId47"/>
    <p:sldId id="408" r:id="rId48"/>
    <p:sldId id="421" r:id="rId49"/>
    <p:sldId id="423" r:id="rId50"/>
    <p:sldId id="424" r:id="rId51"/>
    <p:sldId id="425" r:id="rId52"/>
    <p:sldId id="426" r:id="rId53"/>
    <p:sldId id="435" r:id="rId54"/>
    <p:sldId id="436" r:id="rId55"/>
    <p:sldId id="489" r:id="rId56"/>
    <p:sldId id="490" r:id="rId57"/>
    <p:sldId id="491" r:id="rId58"/>
  </p:sldIdLst>
  <p:sldSz cx="9144000" cy="6858000" type="screen4x3"/>
  <p:notesSz cx="6799263" cy="9929813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4" autoAdjust="0"/>
    <p:restoredTop sz="94737" autoAdjust="0"/>
  </p:normalViewPr>
  <p:slideViewPr>
    <p:cSldViewPr snapToGrid="0">
      <p:cViewPr varScale="1">
        <p:scale>
          <a:sx n="76" d="100"/>
          <a:sy n="76" d="100"/>
        </p:scale>
        <p:origin x="876" y="4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1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3122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3122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5670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3122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438" y="4717001"/>
            <a:ext cx="4988389" cy="4467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122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2124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C98366-10B6-4C97-9C68-1B8DAD89E8AC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796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844FD9B-FA56-471A-AC29-AFD38B132615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589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1C07DE-DA20-4217-B91C-55FA724E7BD2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83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17C4D0E-10BE-41E0-A0AF-FD2B0011F8A3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494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15C7E4C-29A1-4ED6-8D81-6DB7BB775B79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558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AEC5DC-5E4F-4639-8D2D-6BB23BF9650E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5988" y="741363"/>
            <a:ext cx="4965700" cy="3725862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977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904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A450BD-08BE-4C06-8125-BBFA1D5AB413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339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701DF6-0095-49A6-9538-0F4E1D04D191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379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B50642-8067-4638-B2FE-15C691E00756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91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601A597-9366-4E98-91B3-EC7AD41AF343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08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0684B9-9744-4E13-BCE3-67E4D5AC52B7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507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FCC9CF2-4998-4C05-A98D-CC655C386950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2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911C6D-C523-432C-89F4-406A63F7E4F9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338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954D0A1-F669-443E-ADD7-EBEE7996BBA6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589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4B0E9C-818B-4892-804B-8736909E539A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569" y="4717340"/>
            <a:ext cx="4986127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099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205F84-2065-4332-B0FA-E582A1DD7231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328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AA862FF-AA55-4048-85C2-DAA9D3A35A69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313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B2ED6F9-53BE-4CD9-8D10-83BD677C8535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121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7E239C7-4B01-4ACB-AC64-19B9EB42973F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015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AC0A48C-B033-4AC9-8924-4B331051E00D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54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7999FEA-463D-4EC2-9BE5-4E48B7E10B51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787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8F86710-0453-46DF-9A04-3F5F631C00F1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32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5BC543-30D6-4AA8-90B4-22C339D46936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432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020452C-B463-4E95-A665-2B99AA28B79B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732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C79F51-599B-4731-9C05-59A4A5345ABF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25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AFCC4C7-9321-4F85-AC15-C96C02999C1E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782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F539C29-DF58-4677-B4D9-0CC127174E2D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1396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2CACEA-96F7-41D9-A638-F44E853DC1F9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7073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678A41-D873-4EFC-8823-1C9E9A3093FE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569" y="4717340"/>
            <a:ext cx="4986127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894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1C0C611-501B-4334-8DD9-2D5A8FF01FE8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1866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6443853-1DD4-4877-B587-65D98B968857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1008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8B56BC-BF26-4697-801E-84F2929930E3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8482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19163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A4DCD6-4990-4088-8EFB-FAD2F8B84679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569" y="4717340"/>
            <a:ext cx="4986127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029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B97D8D-6A75-4AFA-8548-85396391880A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1417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6DB8CD2-F9D8-4BCF-90A1-A8E625EDFB97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7918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96B17E-EA99-4BE4-8109-8D7786A8AC53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6289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7F53DE-0A03-40E0-A2C9-F027B409EFB7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0549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BA1292-271E-4250-9539-FFC50DBCE514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741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027822-1DA4-45D6-8B4A-F0F2C0E9336B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5343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F5AE4C2-505E-4B52-AE25-D384F1F0AFC8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2308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749D456-034E-4195-8672-8080BB49D1C9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1841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fld id="{F8185441-6102-4CE3-8CC6-FDD196A2A646}" type="slidenum">
              <a:rPr lang="en-US" altLang="zh-TW" sz="1200"/>
              <a:pPr/>
              <a:t>43</a:t>
            </a:fld>
            <a:endParaRPr lang="en-US" altLang="zh-TW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1988" y="790575"/>
            <a:ext cx="5281612" cy="39624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216" y="5017545"/>
            <a:ext cx="4848023" cy="47543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4130481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5C975C-CA24-4F0D-85AD-F6146BCF0205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5781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9301218-705C-4D04-BB0F-53A85D1868AA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8772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84E881-A958-4B68-ADE6-2B7C0AFAFFC8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8724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4A4D597-B539-4990-B3B7-C5878BB257C4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92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BE18E-95C0-4077-93A4-3B3170CA9954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404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8DF86E-0385-4E7C-82B3-654758E8AEBF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9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DB39A99-E879-404A-858C-3AE1BF5F92CA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4787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D9CE7-351F-48CE-967A-358B845A4695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8441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029BB9-2A89-4B67-AE42-9DB9D32BF98D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946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A4B368-5493-43AB-83D2-FB2745DC6257}" type="slidenum">
              <a:rPr lang="en-US" altLang="en-US" sz="1200"/>
              <a:pPr/>
              <a:t>53</a:t>
            </a:fld>
            <a:endParaRPr lang="en-US" altLang="en-US" sz="1200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6672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26C2D1-1E1E-42BD-85B4-1BCC855514C0}" type="slidenum">
              <a:rPr lang="en-US" altLang="en-US" sz="1200"/>
              <a:pPr/>
              <a:t>54</a:t>
            </a:fld>
            <a:endParaRPr lang="en-US" altLang="en-US" sz="1200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4589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9040D4-3005-4847-ABB3-16A2B4BDF1CE}" type="slidenum">
              <a:rPr lang="en-US" altLang="en-US" sz="1200"/>
              <a:pPr/>
              <a:t>55</a:t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06733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9B7593E-E541-408E-B62F-DEA0E60392EA}" type="slidenum">
              <a:rPr lang="en-US" altLang="en-US" sz="1200"/>
              <a:pPr/>
              <a:t>56</a:t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38654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03737A-222D-46BE-B7A9-3EA09C13F967}" type="slidenum">
              <a:rPr lang="en-US" altLang="en-US" sz="1200"/>
              <a:pPr/>
              <a:t>57</a:t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01" y="4717340"/>
            <a:ext cx="4989262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389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127" y="582136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7.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D0E67A-7F0B-46D5-BCFA-1287AF4962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Chapter 7:  Normalization</a:t>
            </a:r>
          </a:p>
        </p:txBody>
      </p:sp>
    </p:spTree>
    <p:extLst>
      <p:ext uri="{BB962C8B-B14F-4D97-AF65-F5344CB8AC3E}">
        <p14:creationId xmlns:p14="http://schemas.microsoft.com/office/powerpoint/2010/main" val="339923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09625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113" y="1163638"/>
            <a:ext cx="6920103" cy="1847786"/>
          </a:xfrm>
        </p:spPr>
        <p:txBody>
          <a:bodyPr/>
          <a:lstStyle/>
          <a:p>
            <a:r>
              <a:rPr lang="en-US" altLang="en-US" sz="1700" dirty="0"/>
              <a:t>Features of Good Relational Design</a:t>
            </a:r>
          </a:p>
          <a:p>
            <a:r>
              <a:rPr lang="en-US" altLang="en-US" sz="1700" dirty="0"/>
              <a:t>Functional Dependencies</a:t>
            </a:r>
          </a:p>
          <a:p>
            <a:r>
              <a:rPr lang="en-US" altLang="en-US" dirty="0"/>
              <a:t>Functional Dependency Theory</a:t>
            </a:r>
          </a:p>
          <a:p>
            <a:r>
              <a:rPr lang="en-US" altLang="en-US" dirty="0"/>
              <a:t>Normal Forms</a:t>
            </a:r>
            <a:endParaRPr lang="en-US" altLang="en-US" sz="1700" dirty="0"/>
          </a:p>
          <a:p>
            <a:r>
              <a:rPr lang="en-US" altLang="en-US" sz="1700" dirty="0"/>
              <a:t>Algorithms for Decomposition using Functional Dependencies</a:t>
            </a:r>
          </a:p>
          <a:p>
            <a:r>
              <a:rPr lang="en-US" altLang="en-US"/>
              <a:t>Database</a:t>
            </a:r>
            <a:r>
              <a:rPr lang="en-US" altLang="en-US" dirty="0"/>
              <a:t>-</a:t>
            </a:r>
            <a:r>
              <a:rPr lang="en-US" altLang="en-US"/>
              <a:t>design </a:t>
            </a:r>
            <a:r>
              <a:rPr lang="en-US" altLang="en-US" dirty="0"/>
              <a:t>process </a:t>
            </a:r>
            <a:r>
              <a:rPr lang="en-US" altLang="en-US" sz="1700" dirty="0"/>
              <a:t>and First Normal Form</a:t>
            </a:r>
          </a:p>
          <a:p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/>
              <a:t>More Normal Form: 4NF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2852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Features of Good Relational Designs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0261" y="1104831"/>
            <a:ext cx="7661585" cy="5020788"/>
          </a:xfrm>
        </p:spPr>
        <p:txBody>
          <a:bodyPr/>
          <a:lstStyle/>
          <a:p>
            <a:r>
              <a:rPr lang="en-US" altLang="en-US" sz="1700" dirty="0"/>
              <a:t>Suppose we combine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department </a:t>
            </a:r>
            <a:r>
              <a:rPr lang="en-US" altLang="en-US" sz="1700" dirty="0"/>
              <a:t>into </a:t>
            </a:r>
            <a:r>
              <a:rPr lang="en-US" altLang="en-US" sz="1700" i="1" dirty="0"/>
              <a:t>in_dep, </a:t>
            </a:r>
            <a:r>
              <a:rPr lang="en-US" altLang="en-US" sz="1700" dirty="0"/>
              <a:t>which represents the natural join on the relations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department</a:t>
            </a:r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endParaRPr lang="en-US" altLang="en-US" sz="1700" i="1" dirty="0"/>
          </a:p>
          <a:p>
            <a:r>
              <a:rPr lang="en-US" altLang="en-US" sz="1700" dirty="0"/>
              <a:t>There is repetition of information (</a:t>
            </a:r>
            <a:r>
              <a:rPr lang="zh-TW" altLang="en-US" sz="1700" dirty="0"/>
              <a:t>建築物和預算</a:t>
            </a:r>
            <a:r>
              <a:rPr lang="en-US" altLang="zh-TW" sz="1700" dirty="0"/>
              <a:t>)</a:t>
            </a:r>
            <a:endParaRPr lang="en-US" altLang="en-US" sz="1700" dirty="0"/>
          </a:p>
          <a:p>
            <a:r>
              <a:rPr lang="en-US" altLang="en-US" sz="1700" dirty="0"/>
              <a:t>Need to use null values (if we add a new department with no instructors) </a:t>
            </a:r>
          </a:p>
          <a:p>
            <a:endParaRPr lang="en-US" altLang="en-US" sz="2000" dirty="0"/>
          </a:p>
          <a:p>
            <a:endParaRPr lang="en-US" altLang="en-US" sz="2000" i="1" dirty="0"/>
          </a:p>
        </p:txBody>
      </p:sp>
      <p:pic>
        <p:nvPicPr>
          <p:cNvPr id="8196" name="Picture 5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314" y="1889599"/>
            <a:ext cx="4553982" cy="273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887104" y="5882184"/>
            <a:ext cx="76615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</a:pPr>
            <a:endParaRPr lang="en-US" altLang="en-US" sz="2000" dirty="0"/>
          </a:p>
        </p:txBody>
      </p:sp>
      <p:cxnSp>
        <p:nvCxnSpPr>
          <p:cNvPr id="6" name="直線單箭頭接點 5"/>
          <p:cNvCxnSpPr>
            <a:cxnSpLocks noChangeShapeType="1"/>
          </p:cNvCxnSpPr>
          <p:nvPr/>
        </p:nvCxnSpPr>
        <p:spPr bwMode="auto">
          <a:xfrm flipH="1">
            <a:off x="6856290" y="3134579"/>
            <a:ext cx="388938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7286503" y="2982179"/>
            <a:ext cx="16906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b="1" dirty="0">
                <a:solidFill>
                  <a:srgbClr val="000099"/>
                </a:solidFill>
                <a:ea typeface="新細明體" panose="02020500000000000000" pitchFamily="18" charset="-120"/>
              </a:rPr>
              <a:t>刪掉就無</a:t>
            </a:r>
            <a:r>
              <a:rPr kumimoji="0" lang="en-US" altLang="zh-TW" b="1" dirty="0">
                <a:solidFill>
                  <a:srgbClr val="000099"/>
                </a:solidFill>
                <a:ea typeface="新細明體" panose="02020500000000000000" pitchFamily="18" charset="-120"/>
              </a:rPr>
              <a:t>EE</a:t>
            </a:r>
            <a:r>
              <a:rPr kumimoji="0" lang="zh-TW" altLang="en-US" b="1" dirty="0">
                <a:solidFill>
                  <a:srgbClr val="000099"/>
                </a:solidFill>
                <a:ea typeface="新細明體" panose="02020500000000000000" pitchFamily="18" charset="-120"/>
              </a:rPr>
              <a:t>資訊</a:t>
            </a:r>
          </a:p>
        </p:txBody>
      </p:sp>
      <p:cxnSp>
        <p:nvCxnSpPr>
          <p:cNvPr id="8" name="直線單箭頭接點 9"/>
          <p:cNvCxnSpPr>
            <a:cxnSpLocks noChangeShapeType="1"/>
          </p:cNvCxnSpPr>
          <p:nvPr/>
        </p:nvCxnSpPr>
        <p:spPr bwMode="auto">
          <a:xfrm flipH="1">
            <a:off x="6811868" y="3770491"/>
            <a:ext cx="506413" cy="1476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文字方塊 6"/>
          <p:cNvSpPr txBox="1">
            <a:spLocks noChangeArrowheads="1"/>
          </p:cNvSpPr>
          <p:nvPr/>
        </p:nvSpPr>
        <p:spPr bwMode="auto">
          <a:xfrm>
            <a:off x="7369053" y="3506173"/>
            <a:ext cx="16906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b="1" dirty="0">
                <a:solidFill>
                  <a:srgbClr val="000099"/>
                </a:solidFill>
                <a:ea typeface="新細明體" panose="02020500000000000000" pitchFamily="18" charset="-120"/>
              </a:rPr>
              <a:t>重複</a:t>
            </a:r>
          </a:p>
        </p:txBody>
      </p:sp>
      <p:cxnSp>
        <p:nvCxnSpPr>
          <p:cNvPr id="10" name="直線單箭頭接點 9"/>
          <p:cNvCxnSpPr>
            <a:cxnSpLocks noChangeShapeType="1"/>
          </p:cNvCxnSpPr>
          <p:nvPr/>
        </p:nvCxnSpPr>
        <p:spPr bwMode="auto">
          <a:xfrm flipH="1" flipV="1">
            <a:off x="6811868" y="3506173"/>
            <a:ext cx="506413" cy="10905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2320119" y="3036627"/>
            <a:ext cx="4380932" cy="219312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401403" y="3425588"/>
            <a:ext cx="2299648" cy="18963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401403" y="3784874"/>
            <a:ext cx="2299648" cy="22074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24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Decomposition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594414" cy="5178425"/>
          </a:xfrm>
        </p:spPr>
        <p:txBody>
          <a:bodyPr/>
          <a:lstStyle/>
          <a:p>
            <a:r>
              <a:rPr lang="en-US" altLang="en-US" sz="1700" dirty="0"/>
              <a:t>The only way to avoid the repetition-of-information problem in the </a:t>
            </a:r>
            <a:r>
              <a:rPr lang="en-US" altLang="en-US" sz="1700" dirty="0" err="1"/>
              <a:t>i</a:t>
            </a:r>
            <a:r>
              <a:rPr lang="en-US" altLang="en-US" sz="1700" i="1" dirty="0" err="1"/>
              <a:t>n_dep</a:t>
            </a:r>
            <a:r>
              <a:rPr lang="en-US" altLang="en-US" sz="1700" dirty="0"/>
              <a:t> schema is to decompose it into two schemas – instructor and </a:t>
            </a:r>
            <a:r>
              <a:rPr lang="en-US" altLang="en-US" sz="1700" i="1" dirty="0"/>
              <a:t>department </a:t>
            </a:r>
            <a:r>
              <a:rPr lang="en-US" altLang="en-US" sz="1700" dirty="0"/>
              <a:t>schemas.</a:t>
            </a:r>
          </a:p>
          <a:p>
            <a:r>
              <a:rPr lang="en-US" altLang="en-US" sz="1700" dirty="0"/>
              <a:t>Not all decompositions are good.  Suppose we decompose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/>
            </a:r>
            <a:br>
              <a:rPr lang="en-US" altLang="en-US" sz="1700" dirty="0"/>
            </a:br>
            <a:r>
              <a:rPr lang="en-US" altLang="en-US" sz="1700" dirty="0"/>
              <a:t>       </a:t>
            </a:r>
            <a:r>
              <a:rPr lang="en-US" altLang="en-US" sz="1700" i="1" dirty="0"/>
              <a:t>employee(ID, name, street, city, salary)</a:t>
            </a:r>
            <a:r>
              <a:rPr lang="en-US" altLang="en-US" sz="1700" dirty="0"/>
              <a:t> 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into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	       </a:t>
            </a:r>
            <a:r>
              <a:rPr lang="en-US" altLang="en-US" sz="1700" i="1" dirty="0"/>
              <a:t>employee1</a:t>
            </a:r>
            <a:r>
              <a:rPr lang="en-US" altLang="en-US" sz="1700" dirty="0"/>
              <a:t> (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	       </a:t>
            </a:r>
            <a:r>
              <a:rPr lang="en-US" altLang="en-US" sz="1700" i="1" dirty="0"/>
              <a:t>employee2</a:t>
            </a:r>
            <a:r>
              <a:rPr lang="en-US" altLang="en-US" sz="1700" dirty="0"/>
              <a:t> (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street, city, salary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endParaRPr lang="en-US" altLang="en-US" sz="1700" dirty="0"/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The problem arises when we have two employees with the same name</a:t>
            </a:r>
          </a:p>
          <a:p>
            <a:r>
              <a:rPr lang="en-US" altLang="en-US" sz="1700" dirty="0"/>
              <a:t>The next slide shows how we lose information -- we cannot reconstruct the original </a:t>
            </a:r>
            <a:r>
              <a:rPr lang="en-US" altLang="en-US" sz="1700" i="1" dirty="0"/>
              <a:t>employee</a:t>
            </a:r>
            <a:r>
              <a:rPr lang="en-US" altLang="en-US" sz="1700" dirty="0"/>
              <a:t> relation -- and so, this is a </a:t>
            </a:r>
            <a:r>
              <a:rPr lang="en-US" altLang="en-US" sz="1700" b="1" dirty="0">
                <a:solidFill>
                  <a:srgbClr val="002060"/>
                </a:solidFill>
              </a:rPr>
              <a:t>lossy decomposition</a:t>
            </a:r>
            <a:r>
              <a:rPr lang="en-US" altLang="en-US" sz="1700" dirty="0"/>
              <a:t>.</a:t>
            </a:r>
          </a:p>
          <a:p>
            <a:pPr lvl="1">
              <a:buFont typeface="Monotype Sorts" pitchFamily="-84" charset="2"/>
              <a:buNone/>
            </a:pPr>
            <a:endParaRPr lang="en-US" altLang="en-US" sz="2000" i="1" dirty="0"/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320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A Lossy Decomposition</a:t>
            </a:r>
          </a:p>
        </p:txBody>
      </p:sp>
      <p:pic>
        <p:nvPicPr>
          <p:cNvPr id="11267" name="Picture 5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184" y="1093475"/>
            <a:ext cx="5716016" cy="523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644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Lossless Decomposition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522210" cy="4160964"/>
          </a:xfrm>
        </p:spPr>
        <p:txBody>
          <a:bodyPr/>
          <a:lstStyle/>
          <a:p>
            <a:r>
              <a:rPr lang="en-US" altLang="en-US" sz="1700" dirty="0"/>
              <a:t>Let </a:t>
            </a:r>
            <a:r>
              <a:rPr lang="en-US" altLang="en-US" sz="1700" i="1" dirty="0"/>
              <a:t>R</a:t>
            </a:r>
            <a:r>
              <a:rPr lang="en-US" altLang="en-US" sz="1700" dirty="0"/>
              <a:t> be a relation schema and let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1 </a:t>
            </a:r>
            <a:r>
              <a:rPr lang="en-US" altLang="en-US" sz="1700" dirty="0"/>
              <a:t>and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2 </a:t>
            </a:r>
            <a:r>
              <a:rPr lang="en-US" altLang="en-US" sz="1700" dirty="0"/>
              <a:t>form a decomposition of R . That is R =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1 </a:t>
            </a:r>
            <a:r>
              <a:rPr lang="en-US" altLang="en-US" sz="1700" dirty="0"/>
              <a:t> U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2</a:t>
            </a:r>
            <a:endParaRPr lang="en-US" altLang="en-US" sz="1700" dirty="0"/>
          </a:p>
          <a:p>
            <a:r>
              <a:rPr lang="en-US" altLang="en-US" sz="1700" dirty="0"/>
              <a:t>We say that the decomposition is a </a:t>
            </a:r>
            <a:r>
              <a:rPr lang="en-US" altLang="en-US" sz="1700" b="1" dirty="0">
                <a:solidFill>
                  <a:srgbClr val="002060"/>
                </a:solidFill>
              </a:rPr>
              <a:t>lossless decomposition  </a:t>
            </a:r>
            <a:r>
              <a:rPr lang="en-US" altLang="en-US" sz="1700" dirty="0"/>
              <a:t>if there is no loss of information by replacing  R with the two relation schemas</a:t>
            </a:r>
            <a:r>
              <a:rPr lang="en-US" altLang="en-US" sz="1700" i="1" dirty="0"/>
              <a:t> R</a:t>
            </a:r>
            <a:r>
              <a:rPr lang="en-US" altLang="en-US" sz="1700" i="1" baseline="-25000" dirty="0"/>
              <a:t>1 </a:t>
            </a:r>
            <a:r>
              <a:rPr lang="en-US" altLang="en-US" sz="1700" dirty="0"/>
              <a:t> U </a:t>
            </a:r>
            <a:r>
              <a:rPr lang="en-US" altLang="en-US" sz="1700" i="1" dirty="0"/>
              <a:t>R</a:t>
            </a:r>
            <a:r>
              <a:rPr lang="en-US" altLang="en-US" sz="1700" i="1" baseline="-25000" dirty="0"/>
              <a:t>2</a:t>
            </a:r>
            <a:r>
              <a:rPr lang="en-US" altLang="en-US" sz="1700" dirty="0"/>
              <a:t> 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Formally,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 </a:t>
            </a:r>
            <a:r>
              <a:rPr lang="en-US" altLang="en-US" sz="17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17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latin typeface="Times New Roman" panose="02020603050405020304" pitchFamily="18" charset="0"/>
                <a:sym typeface="Symbol" panose="05050102010706020507" pitchFamily="18" charset="2"/>
              </a:rPr>
              <a:t> (r)      </a:t>
            </a:r>
            <a:r>
              <a:rPr lang="en-US" altLang="en-US" sz="17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17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latin typeface="Times New Roman" panose="02020603050405020304" pitchFamily="18" charset="0"/>
                <a:sym typeface="Symbol" panose="05050102010706020507" pitchFamily="18" charset="2"/>
              </a:rPr>
              <a:t> (r) = </a:t>
            </a:r>
            <a:r>
              <a:rPr lang="en-US" altLang="en-US" sz="1700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And,  conversely a decomposition is lossy if</a:t>
            </a:r>
            <a:endParaRPr lang="en-US" altLang="en-US" sz="1700" i="1" dirty="0"/>
          </a:p>
          <a:p>
            <a:pPr lvl="1">
              <a:buFont typeface="Monotype Sorts" pitchFamily="-84" charset="2"/>
              <a:buNone/>
            </a:pPr>
            <a:r>
              <a:rPr lang="en-US" altLang="en-US" sz="1700" dirty="0">
                <a:latin typeface="Times New Roman" panose="02020603050405020304" pitchFamily="18" charset="0"/>
                <a:sym typeface="Symbol" panose="05050102010706020507" pitchFamily="18" charset="2"/>
              </a:rPr>
              <a:t>     r     </a:t>
            </a:r>
            <a:r>
              <a:rPr lang="en-US" altLang="en-US" sz="17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17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latin typeface="Times New Roman" panose="02020603050405020304" pitchFamily="18" charset="0"/>
                <a:sym typeface="Symbol" panose="05050102010706020507" pitchFamily="18" charset="2"/>
              </a:rPr>
              <a:t> (r)      </a:t>
            </a:r>
            <a:r>
              <a:rPr lang="en-US" altLang="en-US" sz="17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1700" baseline="-5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latin typeface="Times New Roman" panose="02020603050405020304" pitchFamily="18" charset="0"/>
                <a:sym typeface="Symbol" panose="05050102010706020507" pitchFamily="18" charset="2"/>
              </a:rPr>
              <a:t> (r) </a:t>
            </a:r>
            <a:endParaRPr lang="en-US" altLang="en-US" sz="1700" dirty="0"/>
          </a:p>
        </p:txBody>
      </p:sp>
      <p:sp>
        <p:nvSpPr>
          <p:cNvPr id="12292" name="Freeform 19"/>
          <p:cNvSpPr>
            <a:spLocks/>
          </p:cNvSpPr>
          <p:nvPr/>
        </p:nvSpPr>
        <p:spPr bwMode="auto">
          <a:xfrm>
            <a:off x="2289585" y="3039061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Freeform 19"/>
          <p:cNvSpPr>
            <a:spLocks/>
          </p:cNvSpPr>
          <p:nvPr/>
        </p:nvSpPr>
        <p:spPr bwMode="auto">
          <a:xfrm>
            <a:off x="2763951" y="3736955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80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52413"/>
            <a:ext cx="853440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 of Lossless Decomposition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095375"/>
            <a:ext cx="7541522" cy="830961"/>
          </a:xfrm>
        </p:spPr>
        <p:txBody>
          <a:bodyPr/>
          <a:lstStyle/>
          <a:p>
            <a:pPr>
              <a:tabLst>
                <a:tab pos="2336800" algn="l"/>
                <a:tab pos="3765550" algn="l"/>
              </a:tabLst>
            </a:pPr>
            <a:r>
              <a:rPr lang="en-US" altLang="en-US" sz="1700" dirty="0"/>
              <a:t>Decomposition of </a:t>
            </a:r>
            <a:r>
              <a:rPr lang="en-US" altLang="en-US" sz="1700" i="1" dirty="0"/>
              <a:t>R = (A, B, C)</a:t>
            </a:r>
            <a:br>
              <a:rPr lang="en-US" altLang="en-US" sz="1700" i="1" dirty="0"/>
            </a:br>
            <a:r>
              <a:rPr lang="en-US" altLang="en-US" sz="1700" i="1" dirty="0"/>
              <a:t>	R</a:t>
            </a:r>
            <a:r>
              <a:rPr lang="en-US" altLang="en-US" sz="1700" i="1" baseline="-25000" dirty="0"/>
              <a:t>1</a:t>
            </a:r>
            <a:r>
              <a:rPr lang="en-US" altLang="en-US" sz="1700" i="1" dirty="0"/>
              <a:t> = (A, B)	R</a:t>
            </a:r>
            <a:r>
              <a:rPr lang="en-US" altLang="en-US" sz="1700" baseline="-25000" dirty="0"/>
              <a:t>2</a:t>
            </a:r>
            <a:r>
              <a:rPr lang="en-US" altLang="en-US" sz="1700" i="1" dirty="0"/>
              <a:t> = (B, C)</a:t>
            </a:r>
            <a:endParaRPr lang="en-US" altLang="en-US" sz="1700" dirty="0"/>
          </a:p>
        </p:txBody>
      </p:sp>
      <p:pic>
        <p:nvPicPr>
          <p:cNvPr id="13316" name="Picture 30" descr="C:\Users\as668\Desktop\Judi\7_02 figu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008" y="2015512"/>
            <a:ext cx="4100004" cy="2723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40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71525" y="185738"/>
            <a:ext cx="8372475" cy="598487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Normalization Theory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1525" y="1105980"/>
            <a:ext cx="7537974" cy="3124643"/>
          </a:xfrm>
        </p:spPr>
        <p:txBody>
          <a:bodyPr/>
          <a:lstStyle/>
          <a:p>
            <a:r>
              <a:rPr lang="en-US" altLang="en-US" sz="1700" dirty="0"/>
              <a:t>Decide whether a particular relation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</a:t>
            </a:r>
            <a:r>
              <a:rPr lang="ja-JP" altLang="en-US" sz="1700" dirty="0">
                <a:latin typeface="Arial" panose="020B0604020202020204" pitchFamily="34" charset="0"/>
              </a:rPr>
              <a:t>“</a:t>
            </a:r>
            <a:r>
              <a:rPr lang="en-US" altLang="ja-JP" sz="1700" dirty="0"/>
              <a:t>good</a:t>
            </a:r>
            <a:r>
              <a:rPr lang="ja-JP" altLang="en-US" sz="1700" dirty="0">
                <a:latin typeface="Arial" panose="020B0604020202020204" pitchFamily="34" charset="0"/>
              </a:rPr>
              <a:t>”</a:t>
            </a:r>
            <a:r>
              <a:rPr lang="en-US" altLang="ja-JP" sz="1700" dirty="0"/>
              <a:t> form.</a:t>
            </a:r>
          </a:p>
          <a:p>
            <a:r>
              <a:rPr lang="en-US" altLang="en-US" sz="1700" dirty="0"/>
              <a:t>In the case that a relation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not in </a:t>
            </a:r>
            <a:r>
              <a:rPr lang="ja-JP" altLang="en-US" sz="1700" dirty="0">
                <a:latin typeface="Arial" panose="020B0604020202020204" pitchFamily="34" charset="0"/>
              </a:rPr>
              <a:t>“</a:t>
            </a:r>
            <a:r>
              <a:rPr lang="en-US" altLang="ja-JP" sz="1700" dirty="0"/>
              <a:t>good</a:t>
            </a:r>
            <a:r>
              <a:rPr lang="ja-JP" altLang="en-US" sz="1700" dirty="0">
                <a:latin typeface="Arial" panose="020B0604020202020204" pitchFamily="34" charset="0"/>
              </a:rPr>
              <a:t>”</a:t>
            </a:r>
            <a:r>
              <a:rPr lang="en-US" altLang="ja-JP" sz="1700" dirty="0"/>
              <a:t> form, decompose it into set of relations {</a:t>
            </a:r>
            <a:r>
              <a:rPr lang="en-US" altLang="ja-JP" sz="1700" i="1" dirty="0"/>
              <a:t>R</a:t>
            </a:r>
            <a:r>
              <a:rPr lang="en-US" altLang="ja-JP" sz="1700" baseline="-25000" dirty="0"/>
              <a:t>1</a:t>
            </a:r>
            <a:r>
              <a:rPr lang="en-US" altLang="ja-JP" sz="1700" i="1" dirty="0"/>
              <a:t>, R</a:t>
            </a:r>
            <a:r>
              <a:rPr lang="en-US" altLang="ja-JP" sz="1700" baseline="-25000" dirty="0"/>
              <a:t>2</a:t>
            </a:r>
            <a:r>
              <a:rPr lang="en-US" altLang="ja-JP" sz="1700" i="1" dirty="0"/>
              <a:t>, ..., R</a:t>
            </a:r>
            <a:r>
              <a:rPr lang="en-US" altLang="ja-JP" sz="1700" i="1" baseline="-25000" dirty="0"/>
              <a:t>n</a:t>
            </a:r>
            <a:r>
              <a:rPr lang="en-US" altLang="ja-JP" sz="1700" dirty="0"/>
              <a:t>} such that </a:t>
            </a:r>
          </a:p>
          <a:p>
            <a:pPr lvl="1"/>
            <a:r>
              <a:rPr lang="en-US" altLang="en-US" sz="1700" dirty="0"/>
              <a:t>Each relation is in good form </a:t>
            </a:r>
          </a:p>
          <a:p>
            <a:pPr lvl="1"/>
            <a:r>
              <a:rPr lang="en-US" altLang="en-US" sz="1700" dirty="0"/>
              <a:t>The decomposition is a lossless decomposition</a:t>
            </a:r>
          </a:p>
          <a:p>
            <a:r>
              <a:rPr lang="en-US" altLang="en-US" sz="1700" dirty="0"/>
              <a:t>Our theory is based on:</a:t>
            </a:r>
          </a:p>
          <a:p>
            <a:pPr lvl="1"/>
            <a:r>
              <a:rPr lang="en-US" altLang="en-US" sz="1700" dirty="0"/>
              <a:t>Functional dependencies</a:t>
            </a:r>
          </a:p>
          <a:p>
            <a:pPr lvl="1"/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1700" dirty="0"/>
              <a:t>Multivalued dependencies</a:t>
            </a:r>
          </a:p>
        </p:txBody>
      </p:sp>
    </p:spTree>
    <p:extLst>
      <p:ext uri="{BB962C8B-B14F-4D97-AF65-F5344CB8AC3E}">
        <p14:creationId xmlns:p14="http://schemas.microsoft.com/office/powerpoint/2010/main" val="525494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98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Functional Dependencies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24"/>
            <a:ext cx="7461250" cy="3855720"/>
          </a:xfrm>
        </p:spPr>
        <p:txBody>
          <a:bodyPr/>
          <a:lstStyle/>
          <a:p>
            <a:pPr>
              <a:defRPr/>
            </a:pPr>
            <a:r>
              <a:rPr lang="en-US" altLang="en-US" sz="1700" dirty="0">
                <a:ea typeface="ＭＳ Ｐゴシック" pitchFamily="34" charset="-128"/>
              </a:rPr>
              <a:t>There are usually a variety of constraints (rules) on the data in the real world.</a:t>
            </a:r>
            <a:endParaRPr lang="en-US" altLang="en-US" sz="1700" i="1" dirty="0">
              <a:ea typeface="ＭＳ Ｐゴシック" pitchFamily="34" charset="-128"/>
            </a:endParaRPr>
          </a:p>
          <a:p>
            <a:pPr>
              <a:defRPr/>
            </a:pPr>
            <a:r>
              <a:rPr lang="en-US" altLang="en-US" sz="1700" dirty="0">
                <a:ea typeface="ＭＳ Ｐゴシック" pitchFamily="34" charset="-128"/>
              </a:rPr>
              <a:t>For example, some of the constraints that are expected to hold in a university database are:</a:t>
            </a:r>
          </a:p>
          <a:p>
            <a:pPr lvl="1">
              <a:defRPr/>
            </a:pPr>
            <a:r>
              <a:rPr lang="en-US" altLang="en-US" sz="1700" dirty="0">
                <a:ea typeface="ＭＳ Ｐゴシック" charset="-128"/>
              </a:rPr>
              <a:t>Students and instructors are uniquely identified by their ID.</a:t>
            </a:r>
          </a:p>
          <a:p>
            <a:pPr lvl="1">
              <a:defRPr/>
            </a:pPr>
            <a:r>
              <a:rPr lang="en-US" altLang="en-US" sz="1700" dirty="0">
                <a:ea typeface="ＭＳ Ｐゴシック" charset="-128"/>
              </a:rPr>
              <a:t>Each student and instructor has only one name.</a:t>
            </a:r>
          </a:p>
          <a:p>
            <a:pPr lvl="1">
              <a:defRPr/>
            </a:pPr>
            <a:r>
              <a:rPr lang="en-US" altLang="en-US" sz="1700" dirty="0">
                <a:ea typeface="ＭＳ Ｐゴシック" charset="-128"/>
              </a:rPr>
              <a:t>Each instructor and student is (primarily) associated with only one department.</a:t>
            </a:r>
          </a:p>
          <a:p>
            <a:pPr lvl="1">
              <a:defRPr/>
            </a:pPr>
            <a:r>
              <a:rPr lang="en-US" altLang="en-US" sz="1700" dirty="0">
                <a:ea typeface="ＭＳ Ｐゴシック" charset="-128"/>
              </a:rPr>
              <a:t>Each department has only one value for its budget, and only one associated building.</a:t>
            </a:r>
          </a:p>
          <a:p>
            <a:r>
              <a:rPr lang="en-US" altLang="en-US" dirty="0"/>
              <a:t>functional dependency</a:t>
            </a:r>
          </a:p>
          <a:p>
            <a:pPr lvl="1"/>
            <a:r>
              <a:rPr lang="en-US" altLang="en-US" dirty="0"/>
              <a:t>require that the value for a certain set of attributes </a:t>
            </a:r>
            <a:r>
              <a:rPr lang="en-US" altLang="en-US" dirty="0">
                <a:solidFill>
                  <a:srgbClr val="FF0000"/>
                </a:solidFill>
              </a:rPr>
              <a:t>determines uniquely </a:t>
            </a:r>
            <a:r>
              <a:rPr lang="en-US" altLang="en-US" dirty="0"/>
              <a:t>the value for another set of attributes.</a:t>
            </a:r>
          </a:p>
          <a:p>
            <a:pPr lvl="1"/>
            <a:r>
              <a:rPr lang="en-US" altLang="en-US" dirty="0"/>
              <a:t>is a generalization of the notion of a </a:t>
            </a:r>
            <a:r>
              <a:rPr lang="en-US" altLang="en-US" i="1" dirty="0"/>
              <a:t>key.</a:t>
            </a:r>
            <a:endParaRPr lang="en-US" altLang="en-US" dirty="0"/>
          </a:p>
          <a:p>
            <a:pPr lvl="1">
              <a:defRPr/>
            </a:pPr>
            <a:endParaRPr lang="en-US" altLang="en-US" sz="170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862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Functional Dependencies Definition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5320"/>
            <a:ext cx="7839202" cy="521356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/>
              <a:t>Let </a:t>
            </a:r>
            <a:r>
              <a:rPr lang="en-US" altLang="en-US" sz="1700" i="1" dirty="0"/>
              <a:t>R</a:t>
            </a:r>
            <a:r>
              <a:rPr lang="en-US" altLang="en-US" sz="1700" dirty="0"/>
              <a:t> be a relation schema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r>
              <a:rPr lang="en-US" altLang="en-US" sz="1700" dirty="0"/>
              <a:t>		</a:t>
            </a:r>
            <a:r>
              <a:rPr lang="en-US" altLang="en-US" sz="1700" dirty="0">
                <a:sym typeface="Symbol" panose="05050102010706020507" pitchFamily="18" charset="2"/>
              </a:rPr>
              <a:t>  </a:t>
            </a:r>
            <a:r>
              <a:rPr lang="en-US" altLang="en-US" sz="1700" i="1" dirty="0">
                <a:sym typeface="Symbol" panose="05050102010706020507" pitchFamily="18" charset="2"/>
              </a:rPr>
              <a:t>R  and   </a:t>
            </a:r>
            <a:r>
              <a:rPr lang="en-US" altLang="en-US" sz="1700" dirty="0">
                <a:sym typeface="Symbol" panose="05050102010706020507" pitchFamily="18" charset="2"/>
              </a:rPr>
              <a:t>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functional dependency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r>
              <a:rPr lang="en-US" altLang="en-US" sz="1700" i="1" dirty="0">
                <a:solidFill>
                  <a:srgbClr val="002060"/>
                </a:solidFill>
                <a:sym typeface="Symbol" panose="05050102010706020507" pitchFamily="18" charset="2"/>
              </a:rPr>
              <a:t>		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 </a:t>
            </a:r>
            <a:r>
              <a:rPr lang="en-US" altLang="en-US" sz="1700" b="1" dirty="0">
                <a:solidFill>
                  <a:srgbClr val="002060"/>
                </a:solidFill>
                <a:sym typeface="Monotype Sorts" pitchFamily="-84" charset="2"/>
              </a:rPr>
              <a:t> </a:t>
            </a:r>
            <a:r>
              <a:rPr lang="en-US" altLang="en-US" sz="1700" b="1" i="1" dirty="0">
                <a:solidFill>
                  <a:srgbClr val="002060"/>
                </a:solidFill>
                <a:sym typeface="Symbol" panose="05050102010706020507" pitchFamily="18" charset="2"/>
              </a:rPr>
              <a:t></a:t>
            </a:r>
            <a:endParaRPr lang="en-US" altLang="en-US" sz="900" b="1" i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r>
              <a:rPr lang="en-US" altLang="en-US" sz="900" b="1" i="1" dirty="0">
                <a:solidFill>
                  <a:srgbClr val="000099"/>
                </a:solidFill>
                <a:sym typeface="Symbol" panose="05050102010706020507" pitchFamily="18" charset="2"/>
              </a:rPr>
              <a:t/>
            </a:r>
            <a:br>
              <a:rPr lang="en-US" altLang="en-US" sz="900" b="1" i="1" dirty="0">
                <a:solidFill>
                  <a:srgbClr val="000099"/>
                </a:solidFill>
                <a:sym typeface="Symbol" panose="05050102010706020507" pitchFamily="18" charset="2"/>
              </a:rPr>
            </a:b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holds on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and only if for any legal relations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(R), whenever any two tuples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and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2</a:t>
            </a:r>
            <a:r>
              <a:rPr lang="en-US" altLang="en-US" sz="1700" dirty="0">
                <a:sym typeface="Symbol" panose="05050102010706020507" pitchFamily="18" charset="2"/>
              </a:rPr>
              <a:t> of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agree on the attributes , they also agree on the attributes </a:t>
            </a:r>
            <a:r>
              <a:rPr lang="en-US" altLang="en-US" sz="1700" i="1" dirty="0">
                <a:sym typeface="Symbol" panose="05050102010706020507" pitchFamily="18" charset="2"/>
              </a:rPr>
              <a:t>. </a:t>
            </a:r>
            <a:r>
              <a:rPr lang="en-US" altLang="en-US" sz="1700" dirty="0">
                <a:sym typeface="Symbol" panose="05050102010706020507" pitchFamily="18" charset="2"/>
              </a:rPr>
              <a:t> That is, </a:t>
            </a: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		 t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[] =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2 </a:t>
            </a:r>
            <a:r>
              <a:rPr lang="en-US" altLang="en-US" sz="1700" dirty="0">
                <a:sym typeface="Symbol" panose="05050102010706020507" pitchFamily="18" charset="2"/>
              </a:rPr>
              <a:t>[]     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1</a:t>
            </a:r>
            <a:r>
              <a:rPr lang="en-US" altLang="en-US" sz="1700" dirty="0">
                <a:sym typeface="Symbol" panose="05050102010706020507" pitchFamily="18" charset="2"/>
              </a:rPr>
              <a:t>[</a:t>
            </a: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]  = </a:t>
            </a:r>
            <a:r>
              <a:rPr lang="en-US" altLang="en-US" sz="1700" i="1" dirty="0">
                <a:sym typeface="Symbol" panose="05050102010706020507" pitchFamily="18" charset="2"/>
              </a:rPr>
              <a:t>t</a:t>
            </a:r>
            <a:r>
              <a:rPr lang="en-US" altLang="en-US" sz="1700" baseline="-25000" dirty="0">
                <a:sym typeface="Symbol" panose="05050102010706020507" pitchFamily="18" charset="2"/>
              </a:rPr>
              <a:t>2 </a:t>
            </a:r>
            <a:r>
              <a:rPr lang="en-US" altLang="en-US" sz="1700" dirty="0">
                <a:sym typeface="Symbol" panose="05050102010706020507" pitchFamily="18" charset="2"/>
              </a:rPr>
              <a:t>[</a:t>
            </a: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] </a:t>
            </a: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endParaRPr lang="en-US" altLang="en-US" sz="9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/>
              <a:t>Example:  Consider </a:t>
            </a:r>
            <a:r>
              <a:rPr lang="en-US" altLang="en-US" sz="1700" i="1" dirty="0"/>
              <a:t>r</a:t>
            </a:r>
            <a:r>
              <a:rPr lang="en-US" altLang="en-US" sz="1700" dirty="0"/>
              <a:t>(A</a:t>
            </a:r>
            <a:r>
              <a:rPr lang="en-US" altLang="en-US" sz="1700" i="1" dirty="0"/>
              <a:t>,B </a:t>
            </a:r>
            <a:r>
              <a:rPr lang="en-US" altLang="en-US" sz="1700" dirty="0"/>
              <a:t>) with the following instance of </a:t>
            </a:r>
            <a:r>
              <a:rPr lang="en-US" altLang="en-US" sz="1700" i="1" dirty="0"/>
              <a:t>r.</a:t>
            </a:r>
            <a:endParaRPr lang="en-US" altLang="en-US" sz="1700" dirty="0"/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917825" algn="ctr"/>
              </a:tabLst>
            </a:pPr>
            <a:endParaRPr lang="en-US" altLang="en-US" sz="1700" dirty="0"/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r>
              <a:rPr lang="en-US" altLang="en-US" sz="1700" dirty="0"/>
              <a:t>On this instance, </a:t>
            </a:r>
            <a:r>
              <a:rPr lang="en-US" altLang="en-US" sz="1700" i="1" dirty="0"/>
              <a:t>B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/>
              <a:t> </a:t>
            </a:r>
            <a:r>
              <a:rPr lang="en-US" altLang="en-US" sz="1700" i="1" dirty="0"/>
              <a:t>A</a:t>
            </a:r>
            <a:r>
              <a:rPr lang="en-US" altLang="en-US" sz="1700" dirty="0"/>
              <a:t> hold;  </a:t>
            </a:r>
            <a:r>
              <a:rPr lang="en-US" altLang="en-US" sz="1700" i="1" dirty="0"/>
              <a:t>A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/>
              <a:t>B</a:t>
            </a:r>
            <a:r>
              <a:rPr lang="en-US" altLang="en-US" sz="1700" dirty="0"/>
              <a:t> does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 hold, </a:t>
            </a:r>
          </a:p>
          <a:p>
            <a:pPr>
              <a:lnSpc>
                <a:spcPct val="90000"/>
              </a:lnSpc>
              <a:tabLst>
                <a:tab pos="2917825" algn="ctr"/>
              </a:tabLst>
            </a:pPr>
            <a:endParaRPr lang="en-US" altLang="en-US" i="1" dirty="0">
              <a:sym typeface="Symbol" panose="05050102010706020507" pitchFamily="18" charset="2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789363" y="4424234"/>
            <a:ext cx="998537" cy="922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AutoNum type="arabicPlain"/>
            </a:pPr>
            <a:r>
              <a:rPr lang="en-US" altLang="en-US" sz="1800" dirty="0"/>
              <a:t>4</a:t>
            </a:r>
          </a:p>
          <a:p>
            <a:r>
              <a:rPr lang="en-US" altLang="en-US" sz="1800" dirty="0"/>
              <a:t>1     5</a:t>
            </a:r>
          </a:p>
          <a:p>
            <a:r>
              <a:rPr lang="en-US" altLang="en-US" sz="1800" dirty="0"/>
              <a:t>3     7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7904162" y="2082082"/>
            <a:ext cx="29527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b="1">
                <a:solidFill>
                  <a:srgbClr val="000099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</a:t>
            </a:r>
            <a:endParaRPr lang="zh-TW" altLang="en-US" b="1" dirty="0">
              <a:solidFill>
                <a:srgbClr val="000099"/>
              </a:solidFill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cxnSp>
        <p:nvCxnSpPr>
          <p:cNvPr id="14" name="直線接點 12"/>
          <p:cNvCxnSpPr>
            <a:cxnSpLocks noChangeShapeType="1"/>
          </p:cNvCxnSpPr>
          <p:nvPr/>
        </p:nvCxnSpPr>
        <p:spPr bwMode="auto">
          <a:xfrm rot="16200000" flipH="1">
            <a:off x="5803900" y="1803400"/>
            <a:ext cx="635000" cy="25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線接點 14"/>
          <p:cNvCxnSpPr>
            <a:cxnSpLocks noChangeShapeType="1"/>
          </p:cNvCxnSpPr>
          <p:nvPr/>
        </p:nvCxnSpPr>
        <p:spPr bwMode="auto">
          <a:xfrm>
            <a:off x="6146800" y="2120900"/>
            <a:ext cx="7112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直線接點 16"/>
          <p:cNvCxnSpPr>
            <a:cxnSpLocks noChangeShapeType="1"/>
          </p:cNvCxnSpPr>
          <p:nvPr/>
        </p:nvCxnSpPr>
        <p:spPr bwMode="auto">
          <a:xfrm>
            <a:off x="6223000" y="1790700"/>
            <a:ext cx="5715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線接點 17"/>
          <p:cNvCxnSpPr>
            <a:cxnSpLocks noChangeShapeType="1"/>
          </p:cNvCxnSpPr>
          <p:nvPr/>
        </p:nvCxnSpPr>
        <p:spPr bwMode="auto">
          <a:xfrm rot="16200000" flipH="1">
            <a:off x="6908800" y="1790700"/>
            <a:ext cx="635000" cy="25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線接點 18"/>
          <p:cNvCxnSpPr>
            <a:cxnSpLocks noChangeShapeType="1"/>
          </p:cNvCxnSpPr>
          <p:nvPr/>
        </p:nvCxnSpPr>
        <p:spPr bwMode="auto">
          <a:xfrm>
            <a:off x="7251700" y="2108200"/>
            <a:ext cx="7112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線接點 19"/>
          <p:cNvCxnSpPr>
            <a:cxnSpLocks noChangeShapeType="1"/>
          </p:cNvCxnSpPr>
          <p:nvPr/>
        </p:nvCxnSpPr>
        <p:spPr bwMode="auto">
          <a:xfrm rot="16200000" flipV="1">
            <a:off x="7385050" y="1835150"/>
            <a:ext cx="533400" cy="127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6702425" y="2063750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1" dirty="0">
                <a:solidFill>
                  <a:srgbClr val="000099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</a:t>
            </a:r>
            <a:endParaRPr lang="zh-TW" altLang="en-US" b="1" dirty="0">
              <a:solidFill>
                <a:srgbClr val="000099"/>
              </a:solidFill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5711825" y="1289050"/>
            <a:ext cx="2952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1" i="1" dirty="0">
                <a:solidFill>
                  <a:srgbClr val="000099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</a:t>
            </a:r>
            <a:br>
              <a:rPr lang="en-US" altLang="zh-TW" b="1" i="1" dirty="0">
                <a:solidFill>
                  <a:srgbClr val="000099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</a:br>
            <a:endParaRPr lang="zh-TW" altLang="en-US" b="1" i="1" dirty="0">
              <a:solidFill>
                <a:srgbClr val="000099"/>
              </a:solidFill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775BA7E-01C0-4863-87AD-5B8AA47B6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63303"/>
              </p:ext>
            </p:extLst>
          </p:nvPr>
        </p:nvGraphicFramePr>
        <p:xfrm>
          <a:off x="3807069" y="4141177"/>
          <a:ext cx="993531" cy="365760"/>
        </p:xfrm>
        <a:graphic>
          <a:graphicData uri="http://schemas.openxmlformats.org/drawingml/2006/table">
            <a:tbl>
              <a:tblPr/>
              <a:tblGrid>
                <a:gridCol w="993531">
                  <a:extLst>
                    <a:ext uri="{9D8B030D-6E8A-4147-A177-3AD203B41FA5}">
                      <a16:colId xmlns:a16="http://schemas.microsoft.com/office/drawing/2014/main" val="2743951887"/>
                    </a:ext>
                  </a:extLst>
                </a:gridCol>
              </a:tblGrid>
              <a:tr h="283057">
                <a:tc>
                  <a:txBody>
                    <a:bodyPr/>
                    <a:lstStyle/>
                    <a:p>
                      <a:r>
                        <a:rPr lang="en-US" altLang="zh-TW" dirty="0"/>
                        <a:t>A    B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219601"/>
                  </a:ext>
                </a:extLst>
              </a:tr>
            </a:tbl>
          </a:graphicData>
        </a:graphic>
      </p:graphicFrame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0537B206-DFFF-4805-BCE1-2F1D26B50A28}"/>
              </a:ext>
            </a:extLst>
          </p:cNvPr>
          <p:cNvCxnSpPr/>
          <p:nvPr/>
        </p:nvCxnSpPr>
        <p:spPr bwMode="auto">
          <a:xfrm>
            <a:off x="4202723" y="4176346"/>
            <a:ext cx="0" cy="11702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 Box 17">
            <a:extLst>
              <a:ext uri="{FF2B5EF4-FFF2-40B4-BE49-F238E27FC236}">
                <a16:creationId xmlns:a16="http://schemas.microsoft.com/office/drawing/2014/main" id="{CD310CB1-17CD-47E5-9CB5-49EB49954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400" y="1260475"/>
            <a:ext cx="2952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1" i="1" dirty="0">
                <a:solidFill>
                  <a:srgbClr val="000099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  <a:t></a:t>
            </a:r>
            <a:br>
              <a:rPr lang="en-US" altLang="zh-TW" b="1" i="1" dirty="0">
                <a:solidFill>
                  <a:srgbClr val="000099"/>
                </a:solidFill>
                <a:ea typeface="新細明體" panose="02020500000000000000" pitchFamily="18" charset="-120"/>
                <a:sym typeface="Symbol" panose="05050102010706020507" pitchFamily="18" charset="2"/>
              </a:rPr>
            </a:br>
            <a:endParaRPr lang="zh-TW" altLang="en-US" b="1" i="1" dirty="0">
              <a:solidFill>
                <a:srgbClr val="000099"/>
              </a:solidFill>
              <a:ea typeface="新細明體" panose="02020500000000000000" pitchFamily="18" charset="-12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1575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Keys and Functional Dependencies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876074"/>
            <a:ext cx="7776935" cy="4648644"/>
          </a:xfrm>
        </p:spPr>
        <p:txBody>
          <a:bodyPr/>
          <a:lstStyle/>
          <a:p>
            <a:pPr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i="1" dirty="0">
                <a:sym typeface="Symbol" panose="05050102010706020507" pitchFamily="18" charset="2"/>
              </a:rPr>
              <a:t>K</a:t>
            </a:r>
            <a:r>
              <a:rPr lang="en-US" altLang="en-US" sz="1700" dirty="0">
                <a:sym typeface="Symbol" panose="05050102010706020507" pitchFamily="18" charset="2"/>
              </a:rPr>
              <a:t> is a </a:t>
            </a:r>
            <a:r>
              <a:rPr lang="en-US" altLang="en-US" sz="1700" dirty="0" err="1">
                <a:sym typeface="Symbol" panose="05050102010706020507" pitchFamily="18" charset="2"/>
              </a:rPr>
              <a:t>superkey</a:t>
            </a:r>
            <a:r>
              <a:rPr lang="en-US" altLang="en-US" sz="1700" dirty="0">
                <a:sym typeface="Symbol" panose="05050102010706020507" pitchFamily="18" charset="2"/>
              </a:rPr>
              <a:t> for relation schema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if and only if </a:t>
            </a:r>
            <a:r>
              <a:rPr lang="en-US" altLang="en-US" sz="1700" i="1" dirty="0">
                <a:sym typeface="Symbol" panose="05050102010706020507" pitchFamily="18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endParaRPr lang="en-US" altLang="en-US" sz="1700" dirty="0">
              <a:sym typeface="Monotype Sorts" pitchFamily="-84" charset="2"/>
            </a:endParaRPr>
          </a:p>
          <a:p>
            <a:pPr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i="1" dirty="0">
                <a:sym typeface="Monotype Sorts" pitchFamily="-84" charset="2"/>
              </a:rPr>
              <a:t>K</a:t>
            </a:r>
            <a:r>
              <a:rPr lang="en-US" altLang="en-US" sz="1700" dirty="0">
                <a:sym typeface="Monotype Sorts" pitchFamily="-84" charset="2"/>
              </a:rPr>
              <a:t> is a candidate key for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dirty="0">
                <a:sym typeface="Monotype Sorts" pitchFamily="-84" charset="2"/>
              </a:rPr>
              <a:t> if and only if </a:t>
            </a:r>
          </a:p>
          <a:p>
            <a:pPr lvl="1"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i="1" dirty="0">
                <a:sym typeface="Monotype Sorts" pitchFamily="-84" charset="2"/>
              </a:rPr>
              <a:t>K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dirty="0">
                <a:sym typeface="Monotype Sorts" pitchFamily="-84" charset="2"/>
              </a:rPr>
              <a:t>, and</a:t>
            </a:r>
          </a:p>
          <a:p>
            <a:pPr lvl="1"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dirty="0">
                <a:sym typeface="Monotype Sorts" pitchFamily="-84" charset="2"/>
              </a:rPr>
              <a:t>for no </a:t>
            </a:r>
            <a:r>
              <a:rPr lang="en-US" altLang="en-US" sz="1700" dirty="0">
                <a:sym typeface="Symbol" panose="05050102010706020507" pitchFamily="18" charset="2"/>
              </a:rPr>
              <a:t>  </a:t>
            </a:r>
            <a:r>
              <a:rPr lang="en-US" altLang="en-US" sz="1700" i="1" dirty="0">
                <a:sym typeface="Symbol" panose="05050102010706020507" pitchFamily="18" charset="2"/>
              </a:rPr>
              <a:t>K, </a:t>
            </a:r>
            <a:r>
              <a:rPr lang="en-US" altLang="en-US" sz="1700" dirty="0">
                <a:sym typeface="Symbol" panose="05050102010706020507" pitchFamily="18" charset="2"/>
              </a:rPr>
              <a:t> 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</a:p>
          <a:p>
            <a:pPr>
              <a:lnSpc>
                <a:spcPct val="90000"/>
              </a:lnSpc>
              <a:tabLst>
                <a:tab pos="1250950" algn="l"/>
                <a:tab pos="2173288" algn="l"/>
                <a:tab pos="3378200" algn="l"/>
              </a:tabLst>
            </a:pPr>
            <a:r>
              <a:rPr lang="zh-TW" altLang="en-US" dirty="0">
                <a:ea typeface="新細明體" panose="02020500000000000000" pitchFamily="18" charset="-120"/>
                <a:sym typeface="Monotype Sorts" charset="2"/>
              </a:rPr>
              <a:t>範例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: </a:t>
            </a: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employee = (ID, name, street, city, salary), </a:t>
            </a:r>
          </a:p>
          <a:p>
            <a:pPr lvl="1">
              <a:lnSpc>
                <a:spcPct val="90000"/>
              </a:lnSpc>
              <a:tabLst>
                <a:tab pos="1250950" algn="l"/>
                <a:tab pos="2173288" algn="l"/>
                <a:tab pos="3378200" algn="l"/>
              </a:tabLst>
            </a:pP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 {ID} 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is a </a:t>
            </a:r>
            <a:r>
              <a:rPr lang="en-US" altLang="zh-TW" dirty="0" err="1">
                <a:ea typeface="新細明體" panose="02020500000000000000" pitchFamily="18" charset="-120"/>
                <a:sym typeface="Monotype Sorts" charset="2"/>
              </a:rPr>
              <a:t>superkey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  </a:t>
            </a:r>
            <a:r>
              <a:rPr lang="en-US" altLang="zh-TW" dirty="0" err="1">
                <a:ea typeface="新細明體" panose="02020500000000000000" pitchFamily="18" charset="-120"/>
                <a:sym typeface="Monotype Sorts" charset="2"/>
              </a:rPr>
              <a:t>iff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  </a:t>
            </a: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ID-&gt; ID, name, street, city, salary </a:t>
            </a:r>
          </a:p>
          <a:p>
            <a:pPr lvl="1">
              <a:lnSpc>
                <a:spcPct val="90000"/>
              </a:lnSpc>
              <a:tabLst>
                <a:tab pos="1250950" algn="l"/>
                <a:tab pos="2173288" algn="l"/>
                <a:tab pos="3378200" algn="l"/>
              </a:tabLst>
            </a:pP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{ID,</a:t>
            </a:r>
            <a:r>
              <a:rPr lang="zh-TW" altLang="en-US" i="1" dirty="0">
                <a:ea typeface="新細明體" panose="02020500000000000000" pitchFamily="18" charset="-120"/>
                <a:sym typeface="Monotype Sorts" charset="2"/>
              </a:rPr>
              <a:t> </a:t>
            </a: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name}  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is a </a:t>
            </a:r>
            <a:r>
              <a:rPr lang="en-US" altLang="zh-TW" dirty="0" err="1">
                <a:ea typeface="新細明體" panose="02020500000000000000" pitchFamily="18" charset="-120"/>
                <a:sym typeface="Monotype Sorts" charset="2"/>
              </a:rPr>
              <a:t>superkey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 </a:t>
            </a:r>
            <a:r>
              <a:rPr lang="en-US" altLang="zh-TW" dirty="0" err="1">
                <a:ea typeface="新細明體" panose="02020500000000000000" pitchFamily="18" charset="-120"/>
                <a:sym typeface="Monotype Sorts" charset="2"/>
              </a:rPr>
              <a:t>iff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  </a:t>
            </a: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ID, name -&gt; ID, name, street, city, salary</a:t>
            </a:r>
          </a:p>
          <a:p>
            <a:pPr lvl="1">
              <a:lnSpc>
                <a:spcPct val="90000"/>
              </a:lnSpc>
              <a:tabLst>
                <a:tab pos="1250950" algn="l"/>
                <a:tab pos="2173288" algn="l"/>
                <a:tab pos="3378200" algn="l"/>
              </a:tabLst>
            </a:pP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{ID} 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is a candidate key, but </a:t>
            </a: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{ID,</a:t>
            </a:r>
            <a:r>
              <a:rPr lang="zh-TW" altLang="en-US" i="1" dirty="0">
                <a:ea typeface="新細明體" panose="02020500000000000000" pitchFamily="18" charset="-120"/>
                <a:sym typeface="Monotype Sorts" charset="2"/>
              </a:rPr>
              <a:t> </a:t>
            </a:r>
            <a:r>
              <a:rPr lang="en-US" altLang="zh-TW" i="1" dirty="0">
                <a:ea typeface="新細明體" panose="02020500000000000000" pitchFamily="18" charset="-120"/>
                <a:sym typeface="Monotype Sorts" charset="2"/>
              </a:rPr>
              <a:t>name}  is NOT. </a:t>
            </a:r>
            <a:endParaRPr lang="en-US" altLang="en-US" sz="1700" i="1" dirty="0">
              <a:sym typeface="Monotype Sorts" pitchFamily="-84" charset="2"/>
            </a:endParaRPr>
          </a:p>
          <a:p>
            <a:pPr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dirty="0"/>
              <a:t>Functional dependencies allow us to express constraints that cannot be expressed using </a:t>
            </a:r>
            <a:r>
              <a:rPr lang="en-US" altLang="en-US" sz="1700" dirty="0" err="1"/>
              <a:t>superkeys</a:t>
            </a:r>
            <a:r>
              <a:rPr lang="en-US" altLang="en-US" sz="1700" dirty="0"/>
              <a:t>.  Consider the schema: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dirty="0"/>
              <a:t>	      </a:t>
            </a:r>
            <a:r>
              <a:rPr lang="en-US" altLang="en-US" sz="1700" i="1" dirty="0" err="1"/>
              <a:t>in_dep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u="sng" dirty="0"/>
              <a:t>ID, </a:t>
            </a:r>
            <a:r>
              <a:rPr lang="en-US" altLang="en-US" sz="1700" i="1" dirty="0"/>
              <a:t>name, salary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dept_name</a:t>
            </a:r>
            <a:r>
              <a:rPr lang="en-US" altLang="en-US" sz="1700" i="1" u="sng" dirty="0"/>
              <a:t>, </a:t>
            </a:r>
            <a:r>
              <a:rPr lang="en-US" altLang="en-US" sz="1700" i="1" dirty="0"/>
              <a:t>building, budget </a:t>
            </a:r>
            <a:r>
              <a:rPr lang="en-US" altLang="en-US" sz="1700" dirty="0"/>
              <a:t>)</a:t>
            </a:r>
            <a:r>
              <a:rPr lang="en-US" altLang="en-US" sz="1700" i="1" dirty="0"/>
              <a:t>.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We expect these functional dependencies to hold: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dirty="0"/>
              <a:t>	                          </a:t>
            </a:r>
            <a:r>
              <a:rPr lang="en-US" altLang="en-US" sz="1700" i="1" dirty="0" err="1"/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building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i="1" dirty="0">
                <a:sym typeface="Monotype Sorts" pitchFamily="-84" charset="2"/>
              </a:rPr>
              <a:t>                               ID </a:t>
            </a:r>
            <a:r>
              <a:rPr lang="en-US" altLang="en-US" sz="1700" dirty="0">
                <a:sym typeface="Wingdings" panose="05000000000000000000" pitchFamily="2" charset="2"/>
              </a:rPr>
              <a:t></a:t>
            </a:r>
            <a:r>
              <a:rPr lang="en-US" altLang="en-US" sz="1700" i="1" dirty="0">
                <a:sym typeface="Wingdings" panose="05000000000000000000" pitchFamily="2" charset="2"/>
              </a:rPr>
              <a:t> building</a:t>
            </a:r>
            <a:endParaRPr lang="en-US" altLang="en-US" sz="1700" i="1" dirty="0">
              <a:sym typeface="Monotype Sorts" pitchFamily="-84" charset="2"/>
            </a:endParaRP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i="1" dirty="0">
                <a:sym typeface="Monotype Sorts" pitchFamily="-84" charset="2"/>
              </a:rPr>
              <a:t>	</a:t>
            </a:r>
            <a:r>
              <a:rPr lang="en-US" altLang="en-US" sz="1700" dirty="0">
                <a:sym typeface="Monotype Sorts" pitchFamily="-84" charset="2"/>
              </a:rPr>
              <a:t>but would not expect the following to hold: 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r>
              <a:rPr lang="en-US" altLang="en-US" sz="1700" dirty="0">
                <a:sym typeface="Monotype Sorts" pitchFamily="-84" charset="2"/>
              </a:rPr>
              <a:t>			</a:t>
            </a:r>
            <a:r>
              <a:rPr lang="en-US" altLang="en-US" sz="1700" i="1" dirty="0" err="1">
                <a:sym typeface="Monotype Sorts" pitchFamily="-84" charset="2"/>
              </a:rPr>
              <a:t>dept_name</a:t>
            </a:r>
            <a:r>
              <a:rPr lang="en-US" altLang="en-US" sz="1700" i="1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salary</a:t>
            </a:r>
          </a:p>
          <a:p>
            <a:pPr>
              <a:buFont typeface="Monotype Sorts" pitchFamily="-84" charset="2"/>
              <a:buNone/>
              <a:tabLst>
                <a:tab pos="1250950" algn="l"/>
                <a:tab pos="2173288" algn="l"/>
                <a:tab pos="3378200" algn="l"/>
              </a:tabLst>
            </a:pPr>
            <a:endParaRPr lang="en-US" altLang="en-US" i="1" dirty="0">
              <a:sym typeface="Monotype Sorts" pitchFamily="-84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78473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Use 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of Functional Dependencies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7403"/>
            <a:ext cx="7567782" cy="4210501"/>
          </a:xfrm>
        </p:spPr>
        <p:txBody>
          <a:bodyPr/>
          <a:lstStyle/>
          <a:p>
            <a:r>
              <a:rPr lang="en-US" altLang="en-US" sz="1700" dirty="0"/>
              <a:t>We use functional dependencies to:</a:t>
            </a:r>
          </a:p>
          <a:p>
            <a:pPr lvl="1"/>
            <a:r>
              <a:rPr lang="en-US" altLang="en-US" sz="1700" dirty="0"/>
              <a:t>To test relations to see if they are legal under a given set of functional dependencies. </a:t>
            </a:r>
          </a:p>
          <a:p>
            <a:pPr lvl="2"/>
            <a:r>
              <a:rPr lang="en-US" altLang="en-US" sz="1700" dirty="0"/>
              <a:t> If a relation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legal under a set </a:t>
            </a:r>
            <a:r>
              <a:rPr lang="en-US" altLang="en-US" sz="1700" i="1" dirty="0"/>
              <a:t>F</a:t>
            </a:r>
            <a:r>
              <a:rPr lang="en-US" altLang="en-US" sz="1700" dirty="0"/>
              <a:t> of functional dependencies, we say that </a:t>
            </a:r>
            <a:r>
              <a:rPr lang="en-US" altLang="en-US" sz="1700" i="1" dirty="0"/>
              <a:t>r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satisfies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i="1" dirty="0"/>
              <a:t>F.</a:t>
            </a:r>
            <a:endParaRPr lang="en-US" altLang="en-US" sz="1700" dirty="0"/>
          </a:p>
          <a:p>
            <a:pPr lvl="1"/>
            <a:r>
              <a:rPr lang="en-US" altLang="en-US" sz="1700" dirty="0"/>
              <a:t>To specify constraints on the set of legal relations</a:t>
            </a:r>
          </a:p>
          <a:p>
            <a:pPr lvl="2"/>
            <a:r>
              <a:rPr lang="en-US" altLang="en-US" sz="1700" dirty="0"/>
              <a:t>We say that </a:t>
            </a:r>
            <a:r>
              <a:rPr lang="en-US" altLang="en-US" sz="1700" i="1" dirty="0"/>
              <a:t>F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holds on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if all legal relations on </a:t>
            </a:r>
            <a:r>
              <a:rPr lang="en-US" altLang="en-US" sz="1700" i="1" dirty="0"/>
              <a:t>R</a:t>
            </a:r>
            <a:r>
              <a:rPr lang="en-US" altLang="en-US" sz="1700" dirty="0"/>
              <a:t> satisfy the set of functional dependencies </a:t>
            </a:r>
            <a:r>
              <a:rPr lang="en-US" altLang="en-US" sz="1700" i="1" dirty="0"/>
              <a:t>F.</a:t>
            </a:r>
          </a:p>
          <a:p>
            <a:r>
              <a:rPr lang="en-US" altLang="en-US" sz="1700" dirty="0"/>
              <a:t>Note:  A specific instance of a relation schema may satisfy a functional dependency even if the functional dependency does not hold on all legal instances.  </a:t>
            </a:r>
          </a:p>
          <a:p>
            <a:pPr lvl="1"/>
            <a:r>
              <a:rPr lang="en-US" altLang="en-US" sz="1700" dirty="0"/>
              <a:t>For example, a specific instance of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may, by chance, satisfy 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ID.</a:t>
            </a:r>
          </a:p>
        </p:txBody>
      </p:sp>
    </p:spTree>
    <p:extLst>
      <p:ext uri="{BB962C8B-B14F-4D97-AF65-F5344CB8AC3E}">
        <p14:creationId xmlns:p14="http://schemas.microsoft.com/office/powerpoint/2010/main" val="882395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55866" y="266700"/>
            <a:ext cx="792480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Closure of a Set of Functional Dependencies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4" y="1217613"/>
            <a:ext cx="7546019" cy="2720403"/>
          </a:xfrm>
        </p:spPr>
        <p:txBody>
          <a:bodyPr/>
          <a:lstStyle/>
          <a:p>
            <a:r>
              <a:rPr lang="en-US" altLang="en-US" sz="1700" dirty="0"/>
              <a:t>Given a set </a:t>
            </a:r>
            <a:r>
              <a:rPr lang="en-US" altLang="en-US" sz="1700" i="1" dirty="0"/>
              <a:t>F</a:t>
            </a:r>
            <a:r>
              <a:rPr lang="en-US" altLang="en-US" sz="1700" dirty="0"/>
              <a:t> of functional dependencies, there are certain other functional dependencies that are logically implied by </a:t>
            </a:r>
            <a:r>
              <a:rPr lang="en-US" altLang="en-US" sz="1700" i="1" dirty="0"/>
              <a:t>F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dirty="0"/>
              <a:t> If  </a:t>
            </a:r>
            <a:r>
              <a:rPr lang="en-US" altLang="en-US" sz="1700" i="1" dirty="0"/>
              <a:t>A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</a:t>
            </a:r>
            <a:r>
              <a:rPr lang="en-US" altLang="en-US" sz="1700" dirty="0">
                <a:sym typeface="Monotype Sorts" pitchFamily="-84" charset="2"/>
              </a:rPr>
              <a:t> and  </a:t>
            </a:r>
            <a:r>
              <a:rPr lang="en-US" altLang="en-US" sz="1700" i="1" dirty="0">
                <a:sym typeface="Monotype Sorts" pitchFamily="-84" charset="2"/>
              </a:rPr>
              <a:t>B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C</a:t>
            </a:r>
            <a:r>
              <a:rPr lang="en-US" altLang="en-US" sz="1700" dirty="0">
                <a:sym typeface="Monotype Sorts" pitchFamily="-84" charset="2"/>
              </a:rPr>
              <a:t>,  then we can infer that </a:t>
            </a:r>
            <a:r>
              <a:rPr lang="en-US" altLang="en-US" sz="1700" i="1" dirty="0">
                <a:sym typeface="Monotype Sorts" pitchFamily="-84" charset="2"/>
              </a:rPr>
              <a:t>A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C</a:t>
            </a:r>
          </a:p>
          <a:p>
            <a:pPr lvl="1"/>
            <a:r>
              <a:rPr lang="en-US" altLang="en-US" sz="1700" dirty="0">
                <a:sym typeface="Monotype Sorts" pitchFamily="-84" charset="2"/>
              </a:rPr>
              <a:t>etc.</a:t>
            </a:r>
            <a:endParaRPr lang="en-US" altLang="en-US" sz="1700" dirty="0"/>
          </a:p>
          <a:p>
            <a:r>
              <a:rPr lang="en-US" altLang="en-US" sz="1700" dirty="0"/>
              <a:t>The set of </a:t>
            </a:r>
            <a:r>
              <a:rPr lang="en-US" altLang="en-US" sz="1700" b="1" dirty="0">
                <a:solidFill>
                  <a:srgbClr val="002060"/>
                </a:solidFill>
              </a:rPr>
              <a:t>all</a:t>
            </a:r>
            <a:r>
              <a:rPr lang="en-US" altLang="en-US" sz="1700" dirty="0"/>
              <a:t> functional dependencies logically implied by </a:t>
            </a:r>
            <a:r>
              <a:rPr lang="en-US" altLang="en-US" sz="1700" i="1" dirty="0"/>
              <a:t>F</a:t>
            </a:r>
            <a:r>
              <a:rPr lang="en-US" altLang="en-US" sz="1700" dirty="0"/>
              <a:t> is the </a:t>
            </a:r>
            <a:r>
              <a:rPr lang="en-US" altLang="en-US" sz="1700" b="1" dirty="0">
                <a:solidFill>
                  <a:srgbClr val="002060"/>
                </a:solidFill>
              </a:rPr>
              <a:t>closure</a:t>
            </a:r>
            <a:r>
              <a:rPr lang="en-US" altLang="en-US" sz="1700" dirty="0"/>
              <a:t> of </a:t>
            </a:r>
            <a:r>
              <a:rPr lang="en-US" altLang="en-US" sz="1700" i="1" dirty="0"/>
              <a:t>F</a:t>
            </a:r>
            <a:r>
              <a:rPr lang="en-US" altLang="en-US" sz="1700" dirty="0"/>
              <a:t>.</a:t>
            </a:r>
          </a:p>
          <a:p>
            <a:r>
              <a:rPr lang="en-US" altLang="en-US" sz="1700" dirty="0"/>
              <a:t>We denote the </a:t>
            </a:r>
            <a:r>
              <a:rPr lang="en-US" altLang="en-US" sz="1700" i="1" dirty="0"/>
              <a:t>closure </a:t>
            </a:r>
            <a:r>
              <a:rPr lang="en-US" altLang="en-US" sz="1700" dirty="0"/>
              <a:t>of </a:t>
            </a:r>
            <a:r>
              <a:rPr lang="en-US" altLang="en-US" sz="1700" i="1" dirty="0"/>
              <a:t>F</a:t>
            </a:r>
            <a:r>
              <a:rPr lang="en-US" altLang="en-US" sz="1700" dirty="0"/>
              <a:t> by </a:t>
            </a:r>
            <a:r>
              <a:rPr lang="en-US" altLang="en-US" sz="1700" b="1" i="1" dirty="0">
                <a:solidFill>
                  <a:srgbClr val="002060"/>
                </a:solidFill>
              </a:rPr>
              <a:t>F</a:t>
            </a:r>
            <a:r>
              <a:rPr lang="en-US" altLang="en-US" sz="1700" b="1" i="1" baseline="44000" dirty="0">
                <a:solidFill>
                  <a:srgbClr val="002060"/>
                </a:solidFill>
              </a:rPr>
              <a:t>+</a:t>
            </a:r>
            <a:r>
              <a:rPr lang="en-US" altLang="en-US" sz="1700" i="1" dirty="0">
                <a:solidFill>
                  <a:srgbClr val="000099"/>
                </a:solidFill>
              </a:rPr>
              <a:t>.</a:t>
            </a:r>
          </a:p>
          <a:p>
            <a:endParaRPr lang="en-US" altLang="en-US" dirty="0">
              <a:sym typeface="Greek Symbols"/>
            </a:endParaRPr>
          </a:p>
        </p:txBody>
      </p:sp>
    </p:spTree>
    <p:extLst>
      <p:ext uri="{BB962C8B-B14F-4D97-AF65-F5344CB8AC3E}">
        <p14:creationId xmlns:p14="http://schemas.microsoft.com/office/powerpoint/2010/main" val="4251414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Trivial Functional Dependencies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5247"/>
            <a:ext cx="7452372" cy="2374069"/>
          </a:xfrm>
        </p:spPr>
        <p:txBody>
          <a:bodyPr/>
          <a:lstStyle/>
          <a:p>
            <a:r>
              <a:rPr lang="en-US" altLang="en-US" sz="1700" i="1" dirty="0">
                <a:sym typeface="Monotype Sorts" pitchFamily="-84" charset="2"/>
              </a:rPr>
              <a:t>A </a:t>
            </a:r>
            <a:r>
              <a:rPr lang="en-US" altLang="en-US" sz="1700" dirty="0">
                <a:sym typeface="Monotype Sorts" pitchFamily="-84" charset="2"/>
              </a:rPr>
              <a:t>functional dependency is </a:t>
            </a:r>
            <a:r>
              <a:rPr lang="en-US" altLang="en-US" sz="1700" b="1" dirty="0">
                <a:solidFill>
                  <a:srgbClr val="002060"/>
                </a:solidFill>
                <a:sym typeface="Monotype Sorts" pitchFamily="-84" charset="2"/>
              </a:rPr>
              <a:t>trivial</a:t>
            </a:r>
            <a:r>
              <a:rPr lang="en-US" altLang="en-US" sz="1700" dirty="0">
                <a:sym typeface="Monotype Sorts" pitchFamily="-84" charset="2"/>
              </a:rPr>
              <a:t> if it is satisfied by all instances of a relation</a:t>
            </a:r>
          </a:p>
          <a:p>
            <a:r>
              <a:rPr lang="en-US" altLang="en-US" sz="1800" dirty="0">
                <a:sym typeface="Monotype Sorts" pitchFamily="-84" charset="2"/>
              </a:rPr>
              <a:t>Example</a:t>
            </a:r>
            <a:r>
              <a:rPr lang="en-US" altLang="en-US" sz="1800" i="1" dirty="0">
                <a:sym typeface="Monotype Sorts" pitchFamily="-84" charset="2"/>
              </a:rPr>
              <a:t>: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 ID, name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ID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 name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name</a:t>
            </a:r>
          </a:p>
          <a:p>
            <a:r>
              <a:rPr lang="en-US" altLang="en-US" sz="1800" dirty="0">
                <a:sym typeface="Monotype Sorts" pitchFamily="-84" charset="2"/>
              </a:rPr>
              <a:t>In general, </a:t>
            </a:r>
            <a:r>
              <a:rPr lang="en-US" altLang="en-US" sz="1800" dirty="0">
                <a:sym typeface="Symbol" panose="05050102010706020507" pitchFamily="18" charset="2"/>
              </a:rPr>
              <a:t> </a:t>
            </a:r>
            <a:r>
              <a:rPr lang="en-US" altLang="en-US" sz="1800" dirty="0">
                <a:sym typeface="Monotype Sorts" pitchFamily="-84" charset="2"/>
              </a:rPr>
              <a:t> </a:t>
            </a:r>
            <a:r>
              <a:rPr lang="en-US" altLang="en-US" sz="1800" i="1" dirty="0">
                <a:sym typeface="Symbol" panose="05050102010706020507" pitchFamily="18" charset="2"/>
              </a:rPr>
              <a:t> </a:t>
            </a:r>
            <a:r>
              <a:rPr lang="en-US" altLang="en-US" sz="1800" dirty="0">
                <a:sym typeface="Symbol" panose="05050102010706020507" pitchFamily="18" charset="2"/>
              </a:rPr>
              <a:t>is trivial if</a:t>
            </a:r>
            <a:r>
              <a:rPr lang="en-US" altLang="en-US" sz="1800" i="1" dirty="0">
                <a:sym typeface="Symbol" panose="05050102010706020507" pitchFamily="18" charset="2"/>
              </a:rPr>
              <a:t> </a:t>
            </a:r>
            <a:r>
              <a:rPr lang="en-US" altLang="en-US" sz="1800" dirty="0">
                <a:sym typeface="Symbol" panose="05050102010706020507" pitchFamily="18" charset="2"/>
              </a:rPr>
              <a:t>   </a:t>
            </a:r>
            <a:r>
              <a:rPr lang="en-US" altLang="en-US" i="1" dirty="0">
                <a:sym typeface="Symbol" panose="05050102010706020507" pitchFamily="18" charset="2"/>
              </a:rPr>
              <a:t/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1806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Lossless Decomposition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8875"/>
            <a:ext cx="7603293" cy="4937125"/>
          </a:xfrm>
        </p:spPr>
        <p:txBody>
          <a:bodyPr/>
          <a:lstStyle/>
          <a:p>
            <a:pPr>
              <a:tabLst>
                <a:tab pos="2292350" algn="l"/>
                <a:tab pos="2976563" algn="l"/>
              </a:tabLst>
            </a:pPr>
            <a:r>
              <a:rPr lang="en-US" altLang="en-US" sz="1700" dirty="0"/>
              <a:t>We can use functional dependencies to show when certain decomposition are lossless.  </a:t>
            </a:r>
          </a:p>
          <a:p>
            <a:pPr>
              <a:tabLst>
                <a:tab pos="2292350" algn="l"/>
                <a:tab pos="2976563" algn="l"/>
              </a:tabLst>
            </a:pPr>
            <a:r>
              <a:rPr lang="en-US" altLang="en-US" sz="1700" dirty="0"/>
              <a:t>For the case of</a:t>
            </a:r>
            <a:r>
              <a:rPr lang="en-US" altLang="en-US" sz="1700" i="1" dirty="0"/>
              <a:t> R</a:t>
            </a:r>
            <a:r>
              <a:rPr lang="en-US" altLang="en-US" sz="1700" dirty="0"/>
              <a:t> = (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i="1" dirty="0"/>
              <a:t>, 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)</a:t>
            </a:r>
            <a:r>
              <a:rPr lang="en-US" altLang="en-US" sz="1700" i="1" dirty="0"/>
              <a:t>,</a:t>
            </a:r>
            <a:r>
              <a:rPr lang="en-US" altLang="en-US" sz="1700" dirty="0"/>
              <a:t> we require that for all possible relations </a:t>
            </a:r>
            <a:r>
              <a:rPr lang="en-US" altLang="en-US" sz="1700" i="1" dirty="0"/>
              <a:t>r</a:t>
            </a:r>
            <a:r>
              <a:rPr lang="en-US" altLang="en-US" sz="1700" dirty="0"/>
              <a:t> on schema </a:t>
            </a:r>
            <a:r>
              <a:rPr lang="en-US" altLang="en-US" sz="1700" i="1" dirty="0"/>
              <a:t>R</a:t>
            </a:r>
          </a:p>
          <a:p>
            <a:pPr>
              <a:buFont typeface="Monotype Sorts" pitchFamily="-84" charset="2"/>
              <a:buNone/>
              <a:tabLst>
                <a:tab pos="2292350" algn="l"/>
                <a:tab pos="2976563" algn="l"/>
              </a:tabLst>
            </a:pPr>
            <a:r>
              <a:rPr lang="en-US" altLang="en-US" sz="1700" baseline="-25000" dirty="0"/>
              <a:t>		</a:t>
            </a:r>
            <a:r>
              <a:rPr lang="en-US" altLang="en-US" sz="1700" i="1" dirty="0"/>
              <a:t>r = </a:t>
            </a:r>
            <a:r>
              <a:rPr lang="en-US" altLang="en-US" sz="1700" dirty="0">
                <a:sym typeface="Symbol" panose="05050102010706020507" pitchFamily="18" charset="2"/>
              </a:rPr>
              <a:t>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R1</a:t>
            </a:r>
            <a:r>
              <a:rPr lang="en-US" altLang="en-US" sz="1700" baseline="-25000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)    </a:t>
            </a:r>
            <a:r>
              <a:rPr lang="en-US" altLang="en-US" sz="1700" i="1" baseline="-25000" dirty="0">
                <a:sym typeface="Symbol" panose="05050102010706020507" pitchFamily="18" charset="2"/>
              </a:rPr>
              <a:t>R2</a:t>
            </a:r>
            <a:r>
              <a:rPr lang="en-US" altLang="en-US" sz="1700" baseline="-25000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) </a:t>
            </a:r>
          </a:p>
          <a:p>
            <a:pPr>
              <a:tabLst>
                <a:tab pos="2292350" algn="l"/>
                <a:tab pos="2976563" algn="l"/>
              </a:tabLst>
            </a:pPr>
            <a:r>
              <a:rPr lang="en-US" altLang="en-US" sz="1700" dirty="0"/>
              <a:t>A decomposition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into </a:t>
            </a:r>
            <a:r>
              <a:rPr kumimoji="0" lang="en-US" altLang="en-US" sz="1700" i="1" dirty="0"/>
              <a:t>R</a:t>
            </a:r>
            <a:r>
              <a:rPr kumimoji="0" lang="en-US" altLang="en-US" sz="1700" baseline="-25000" dirty="0"/>
              <a:t>1</a:t>
            </a:r>
            <a:r>
              <a:rPr kumimoji="0" lang="en-US" altLang="en-US" sz="1700" dirty="0"/>
              <a:t> and </a:t>
            </a:r>
            <a:r>
              <a:rPr kumimoji="0" lang="en-US" altLang="en-US" sz="1700" i="1" dirty="0"/>
              <a:t>R</a:t>
            </a:r>
            <a:r>
              <a:rPr kumimoji="0" lang="en-US" altLang="en-US" sz="1700" baseline="-25000" dirty="0"/>
              <a:t>2</a:t>
            </a:r>
            <a:r>
              <a:rPr kumimoji="0" lang="en-US" altLang="en-US" sz="1700" dirty="0"/>
              <a:t> is lossless decomposition  if at</a:t>
            </a:r>
            <a:r>
              <a:rPr lang="en-US" altLang="en-US" sz="1700" dirty="0"/>
              <a:t> least one of the following dependencies is in </a:t>
            </a:r>
            <a:r>
              <a:rPr lang="en-US" altLang="en-US" sz="1700" i="1" dirty="0"/>
              <a:t>F</a:t>
            </a:r>
            <a:r>
              <a:rPr lang="en-US" altLang="en-US" sz="1700" baseline="30000" dirty="0"/>
              <a:t>+</a:t>
            </a:r>
            <a:r>
              <a:rPr lang="en-US" altLang="en-US" sz="1700" dirty="0"/>
              <a:t>:</a:t>
            </a:r>
          </a:p>
          <a:p>
            <a:pPr lvl="1">
              <a:tabLst>
                <a:tab pos="2292350" algn="l"/>
                <a:tab pos="2976563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</a:p>
          <a:p>
            <a:pPr lvl="1">
              <a:tabLst>
                <a:tab pos="2292350" algn="l"/>
                <a:tab pos="2976563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endParaRPr lang="en-US" altLang="en-US" sz="1700" dirty="0"/>
          </a:p>
        </p:txBody>
      </p:sp>
      <p:sp>
        <p:nvSpPr>
          <p:cNvPr id="22532" name="Freeform 4"/>
          <p:cNvSpPr>
            <a:spLocks/>
          </p:cNvSpPr>
          <p:nvPr/>
        </p:nvSpPr>
        <p:spPr bwMode="auto">
          <a:xfrm>
            <a:off x="4192247" y="2517228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99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ＭＳ Ｐゴシック" pitchFamily="34" charset="-128"/>
              </a:rPr>
              <a:t>Example</a:t>
            </a:r>
          </a:p>
        </p:txBody>
      </p:sp>
      <p:sp>
        <p:nvSpPr>
          <p:cNvPr id="92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6910896" cy="4522787"/>
          </a:xfrm>
        </p:spPr>
        <p:txBody>
          <a:bodyPr/>
          <a:lstStyle/>
          <a:p>
            <a:pPr>
              <a:tabLst>
                <a:tab pos="2054225" algn="l"/>
              </a:tabLst>
            </a:pPr>
            <a:r>
              <a:rPr lang="en-US" altLang="en-US" sz="1700" i="1" dirty="0"/>
              <a:t>R = (A, B, C)</a:t>
            </a:r>
            <a:br>
              <a:rPr lang="en-US" altLang="en-US" sz="1700" i="1" dirty="0"/>
            </a:br>
            <a:r>
              <a:rPr lang="en-US" altLang="en-US" sz="1700" i="1" dirty="0"/>
              <a:t>F = {A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B, 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C)</a:t>
            </a:r>
          </a:p>
          <a:p>
            <a:pPr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</a:t>
            </a:r>
            <a:r>
              <a:rPr lang="en-US" altLang="en-US" sz="1700" i="1" dirty="0">
                <a:sym typeface="Monotype Sorts" pitchFamily="-84" charset="2"/>
              </a:rPr>
              <a:t> = (A, B),   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(B, C)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Lossless decomposition:</a:t>
            </a:r>
          </a:p>
          <a:p>
            <a:pPr lvl="1">
              <a:buFont typeface="Monotype Sorts" pitchFamily="-84" charset="2"/>
              <a:buNone/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	       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 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</a:t>
            </a:r>
            <a:r>
              <a:rPr lang="en-US" altLang="en-US" sz="1700" dirty="0">
                <a:sym typeface="Monotype Sorts" pitchFamily="-84" charset="2"/>
              </a:rPr>
              <a:t>{</a:t>
            </a:r>
            <a:r>
              <a:rPr lang="en-US" altLang="en-US" sz="1700" i="1" dirty="0">
                <a:sym typeface="Monotype Sorts" pitchFamily="-84" charset="2"/>
              </a:rPr>
              <a:t>B</a:t>
            </a:r>
            <a:r>
              <a:rPr lang="en-US" altLang="en-US" sz="1700" dirty="0">
                <a:sym typeface="Monotype Sorts" pitchFamily="-84" charset="2"/>
              </a:rPr>
              <a:t>}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BC</a:t>
            </a:r>
          </a:p>
          <a:p>
            <a:pPr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i="1" baseline="-25000" dirty="0">
                <a:sym typeface="Monotype Sorts" pitchFamily="-84" charset="2"/>
              </a:rPr>
              <a:t>1 </a:t>
            </a:r>
            <a:r>
              <a:rPr lang="en-US" altLang="en-US" sz="1700" i="1" dirty="0">
                <a:sym typeface="Monotype Sorts" pitchFamily="-84" charset="2"/>
              </a:rPr>
              <a:t>= (A, B),   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(A, C)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Lossless decomposition:</a:t>
            </a:r>
          </a:p>
          <a:p>
            <a:pPr lvl="1">
              <a:buFont typeface="Monotype Sorts" pitchFamily="-84" charset="2"/>
              <a:buNone/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            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 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</a:t>
            </a:r>
            <a:r>
              <a:rPr lang="en-US" altLang="en-US" sz="1700" dirty="0">
                <a:sym typeface="Monotype Sorts" pitchFamily="-84" charset="2"/>
              </a:rPr>
              <a:t> {</a:t>
            </a:r>
            <a:r>
              <a:rPr lang="en-US" altLang="en-US" sz="1700" i="1" dirty="0">
                <a:sym typeface="Monotype Sorts" pitchFamily="-84" charset="2"/>
              </a:rPr>
              <a:t>A</a:t>
            </a:r>
            <a:r>
              <a:rPr lang="en-US" altLang="en-US" sz="1700" dirty="0">
                <a:sym typeface="Monotype Sorts" pitchFamily="-84" charset="2"/>
              </a:rPr>
              <a:t>}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A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A</a:t>
            </a:r>
            <a:r>
              <a:rPr lang="en-US" altLang="en-US" sz="1700" i="1" dirty="0">
                <a:sym typeface="Monotype Sorts" pitchFamily="-84" charset="2"/>
              </a:rPr>
              <a:t>B</a:t>
            </a:r>
          </a:p>
          <a:p>
            <a:pPr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Note: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 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BC </a:t>
            </a:r>
          </a:p>
          <a:p>
            <a:pPr lvl="1">
              <a:buFont typeface="Monotype Sorts" pitchFamily="-84" charset="2"/>
              <a:buNone/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         </a:t>
            </a:r>
            <a:r>
              <a:rPr lang="en-US" altLang="en-US" sz="1700" dirty="0">
                <a:sym typeface="Monotype Sorts" pitchFamily="-84" charset="2"/>
              </a:rPr>
              <a:t>is a shorthand notation for 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 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{</a:t>
            </a:r>
            <a:r>
              <a:rPr lang="en-US" altLang="en-US" sz="1700" i="1" dirty="0">
                <a:sym typeface="Monotype Sorts" pitchFamily="-84" charset="2"/>
              </a:rPr>
              <a:t>B, C</a:t>
            </a:r>
            <a:r>
              <a:rPr lang="en-US" altLang="en-US" sz="1700" dirty="0">
                <a:sym typeface="Monotype Sorts" pitchFamily="-84" charset="2"/>
              </a:rPr>
              <a:t>}</a:t>
            </a:r>
            <a:endParaRPr lang="en-US" altLang="en-US" sz="1700" i="1" dirty="0">
              <a:sym typeface="Monotype Sorts" pitchFamily="-84" charset="2"/>
            </a:endParaRPr>
          </a:p>
          <a:p>
            <a:pPr lvl="1">
              <a:tabLst>
                <a:tab pos="2054225" algn="l"/>
              </a:tabLst>
            </a:pPr>
            <a:endParaRPr lang="en-US" altLang="en-US" sz="2000" i="1" dirty="0">
              <a:sym typeface="Monotype Sorts" pitchFamily="-84" charset="2"/>
            </a:endParaRPr>
          </a:p>
          <a:p>
            <a:pPr lvl="1">
              <a:tabLst>
                <a:tab pos="2054225" algn="l"/>
              </a:tabLst>
            </a:pPr>
            <a:endParaRPr lang="en-US" altLang="en-US" sz="2000" i="1" dirty="0">
              <a:sym typeface="Monotype Sorts" pitchFamily="-84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8134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96949"/>
            <a:ext cx="7993062" cy="441325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Dependency Preservation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8"/>
            <a:ext cx="7396283" cy="3539172"/>
          </a:xfrm>
        </p:spPr>
        <p:txBody>
          <a:bodyPr/>
          <a:lstStyle/>
          <a:p>
            <a:pPr>
              <a:defRPr/>
            </a:pPr>
            <a:r>
              <a:rPr lang="en-US" altLang="en-US" sz="1700" dirty="0"/>
              <a:t>Testing functional dependency constraints each time the database is updated can be costly</a:t>
            </a:r>
          </a:p>
          <a:p>
            <a:pPr>
              <a:defRPr/>
            </a:pPr>
            <a:r>
              <a:rPr lang="en-US" altLang="en-US" sz="1700" dirty="0"/>
              <a:t>It is useful to design the database in a way that constraints can be tested efficiently.  </a:t>
            </a:r>
          </a:p>
          <a:p>
            <a:pPr>
              <a:defRPr/>
            </a:pPr>
            <a:r>
              <a:rPr lang="en-US" altLang="en-US" sz="1700" dirty="0"/>
              <a:t>If testing a functional dependency can be done by considering just one relation, then the cost of testing this constraint is low</a:t>
            </a:r>
          </a:p>
          <a:p>
            <a:pPr>
              <a:defRPr/>
            </a:pPr>
            <a:r>
              <a:rPr lang="en-US" altLang="en-US" sz="1700" dirty="0"/>
              <a:t>When decomposing a relation it is possible that it is no longer possible to do the testing without having to perform a Cartesian Produced.</a:t>
            </a:r>
          </a:p>
          <a:p>
            <a:pPr>
              <a:defRPr/>
            </a:pPr>
            <a:r>
              <a:rPr lang="en-US" altLang="en-US" sz="1700" dirty="0"/>
              <a:t>A decomposition that makes it computationally hard to enforce functional dependency is said to be NOT </a:t>
            </a:r>
            <a:r>
              <a:rPr lang="en-US" altLang="en-US" sz="1700" b="1" dirty="0">
                <a:solidFill>
                  <a:srgbClr val="002060"/>
                </a:solidFill>
              </a:rPr>
              <a:t>dependency preserving</a:t>
            </a:r>
            <a:r>
              <a:rPr lang="en-US" alt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025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64699"/>
            <a:ext cx="7993062" cy="497639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Dependency Preservation Example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8"/>
            <a:ext cx="7472749" cy="4526724"/>
          </a:xfrm>
        </p:spPr>
        <p:txBody>
          <a:bodyPr/>
          <a:lstStyle/>
          <a:p>
            <a:pPr>
              <a:defRPr/>
            </a:pPr>
            <a:r>
              <a:rPr lang="en-US" altLang="en-US" sz="1700" dirty="0"/>
              <a:t>Consider a schema: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700" dirty="0"/>
              <a:t>         </a:t>
            </a:r>
            <a:r>
              <a:rPr lang="en-US" altLang="en-US" sz="1700" i="1" dirty="0"/>
              <a:t>dept_advisor(s_ID, i_ID,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</a:p>
          <a:p>
            <a:pPr>
              <a:defRPr/>
            </a:pPr>
            <a:r>
              <a:rPr lang="en-US" altLang="en-US" sz="1700" dirty="0"/>
              <a:t>With function dependencies:</a:t>
            </a:r>
          </a:p>
          <a:p>
            <a:pPr lvl="1">
              <a:defRPr/>
            </a:pPr>
            <a:r>
              <a:rPr lang="en-US" altLang="en-US" dirty="0"/>
              <a:t> </a:t>
            </a:r>
            <a:r>
              <a:rPr lang="en-US" altLang="en-US" i="1" dirty="0" err="1"/>
              <a:t>i_ID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dept_name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ea typeface="新細明體" panose="02020500000000000000" pitchFamily="18" charset="-120"/>
                <a:sym typeface="Symbol" pitchFamily="18" charset="2"/>
              </a:rPr>
              <a:t>(</a:t>
            </a:r>
            <a:r>
              <a:rPr lang="zh-TW" altLang="en-US" dirty="0">
                <a:ea typeface="新細明體" panose="02020500000000000000" pitchFamily="18" charset="-120"/>
                <a:sym typeface="Symbol" pitchFamily="18" charset="2"/>
              </a:rPr>
              <a:t>一個</a:t>
            </a:r>
            <a:r>
              <a:rPr lang="zh-TW" altLang="en-US" dirty="0">
                <a:ea typeface="新細明體" panose="02020500000000000000" pitchFamily="18" charset="-120"/>
              </a:rPr>
              <a:t>老師只能在一系</a:t>
            </a:r>
            <a:r>
              <a:rPr lang="en-US" altLang="en-US" i="1" dirty="0">
                <a:sym typeface="Symbol" pitchFamily="18" charset="2"/>
              </a:rPr>
              <a:t>)</a:t>
            </a:r>
          </a:p>
          <a:p>
            <a:pPr lvl="1">
              <a:defRPr/>
            </a:pPr>
            <a:r>
              <a:rPr lang="en-US" altLang="en-US" dirty="0"/>
              <a:t> </a:t>
            </a:r>
            <a:r>
              <a:rPr lang="en-US" altLang="en-US" i="1" dirty="0"/>
              <a:t>s_ID, </a:t>
            </a:r>
            <a:r>
              <a:rPr lang="en-US" altLang="en-US" i="1" dirty="0">
                <a:sym typeface="Symbol" pitchFamily="18" charset="2"/>
              </a:rPr>
              <a:t>dept_name</a:t>
            </a:r>
            <a:r>
              <a:rPr lang="en-US" altLang="en-US" i="1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i_ID</a:t>
            </a:r>
            <a:r>
              <a:rPr lang="en-US" altLang="en-US" i="1" dirty="0">
                <a:sym typeface="Symbol" pitchFamily="18" charset="2"/>
              </a:rPr>
              <a:t> (</a:t>
            </a:r>
            <a:r>
              <a:rPr lang="zh-TW" altLang="en-US" dirty="0">
                <a:ea typeface="新細明體" panose="02020500000000000000" pitchFamily="18" charset="-120"/>
              </a:rPr>
              <a:t>學生可以在多系，但在一個系只有一個指</a:t>
            </a:r>
            <a:r>
              <a:rPr lang="en-US" altLang="zh-TW" dirty="0">
                <a:ea typeface="新細明體" panose="02020500000000000000" pitchFamily="18" charset="-120"/>
              </a:rPr>
              <a:t>			</a:t>
            </a:r>
            <a:r>
              <a:rPr lang="zh-TW" altLang="en-US" dirty="0">
                <a:ea typeface="新細明體" panose="02020500000000000000" pitchFamily="18" charset="-120"/>
              </a:rPr>
              <a:t>         導老師 </a:t>
            </a:r>
            <a:r>
              <a:rPr lang="en-US" altLang="en-US" i="1" dirty="0">
                <a:sym typeface="Symbol" pitchFamily="18" charset="2"/>
              </a:rPr>
              <a:t>)</a:t>
            </a:r>
          </a:p>
          <a:p>
            <a:pPr>
              <a:defRPr/>
            </a:pPr>
            <a:r>
              <a:rPr lang="en-US" altLang="en-US" sz="1700" dirty="0">
                <a:sym typeface="Symbol" pitchFamily="18" charset="2"/>
              </a:rPr>
              <a:t>In the above design we are forced to repeat the department name once for each time an instructor participates in a </a:t>
            </a:r>
            <a:r>
              <a:rPr lang="en-US" altLang="en-US" sz="1700" i="1" dirty="0">
                <a:sym typeface="Symbol" pitchFamily="18" charset="2"/>
              </a:rPr>
              <a:t>dept_advisor</a:t>
            </a:r>
            <a:r>
              <a:rPr lang="en-US" altLang="en-US" sz="1700" dirty="0">
                <a:sym typeface="Symbol" pitchFamily="18" charset="2"/>
              </a:rPr>
              <a:t> relationship.  </a:t>
            </a:r>
          </a:p>
          <a:p>
            <a:pPr>
              <a:defRPr/>
            </a:pPr>
            <a:r>
              <a:rPr lang="en-US" altLang="en-US" sz="1700" dirty="0">
                <a:sym typeface="Symbol" pitchFamily="18" charset="2"/>
              </a:rPr>
              <a:t>To fix this, we need to decompose </a:t>
            </a:r>
            <a:r>
              <a:rPr lang="en-US" altLang="en-US" sz="1700" i="1" dirty="0"/>
              <a:t>dept_advisor</a:t>
            </a:r>
          </a:p>
          <a:p>
            <a:pPr>
              <a:defRPr/>
            </a:pPr>
            <a:r>
              <a:rPr lang="en-US" altLang="en-US" sz="1700" dirty="0">
                <a:sym typeface="Symbol" pitchFamily="18" charset="2"/>
              </a:rPr>
              <a:t>Any decomposition will not include all the attributes in</a:t>
            </a:r>
          </a:p>
          <a:p>
            <a:pPr>
              <a:buFont typeface="Monotype Sorts" pitchFamily="-84" charset="2"/>
              <a:buNone/>
              <a:defRPr/>
            </a:pPr>
            <a:r>
              <a:rPr lang="en-US" altLang="en-US" sz="1700" dirty="0">
                <a:sym typeface="Symbol" pitchFamily="18" charset="2"/>
              </a:rPr>
              <a:t>            </a:t>
            </a:r>
            <a:r>
              <a:rPr lang="en-US" altLang="en-US" sz="1700" i="1" dirty="0"/>
              <a:t>s_ID, </a:t>
            </a:r>
            <a:r>
              <a:rPr lang="en-US" altLang="en-US" sz="1700" i="1" dirty="0">
                <a:sym typeface="Symbol" pitchFamily="18" charset="2"/>
              </a:rPr>
              <a:t>dept_name</a:t>
            </a:r>
            <a:r>
              <a:rPr lang="en-US" altLang="en-US" sz="1700" i="1" dirty="0"/>
              <a:t> </a:t>
            </a:r>
            <a:r>
              <a:rPr lang="en-US" altLang="en-US" sz="1700" i="1" dirty="0">
                <a:sym typeface="Symbol" pitchFamily="18" charset="2"/>
              </a:rPr>
              <a:t> i_ID</a:t>
            </a:r>
          </a:p>
          <a:p>
            <a:pPr>
              <a:defRPr/>
            </a:pPr>
            <a:r>
              <a:rPr lang="en-US" altLang="en-US" sz="1700" dirty="0">
                <a:sym typeface="Symbol" pitchFamily="18" charset="2"/>
              </a:rPr>
              <a:t>Thus, the composition NOT </a:t>
            </a:r>
          </a:p>
          <a:p>
            <a:pPr marL="0" indent="0">
              <a:buNone/>
              <a:defRPr/>
            </a:pPr>
            <a:r>
              <a:rPr lang="zh-TW" altLang="en-US" dirty="0">
                <a:sym typeface="Symbol" pitchFamily="18" charset="2"/>
              </a:rPr>
              <a:t>     </a:t>
            </a:r>
            <a:r>
              <a:rPr lang="en-US" altLang="en-US" sz="1700" dirty="0">
                <a:sym typeface="Symbol" pitchFamily="18" charset="2"/>
              </a:rPr>
              <a:t>be</a:t>
            </a:r>
            <a:r>
              <a:rPr lang="en-US" altLang="en-US" sz="1700" b="1" dirty="0">
                <a:solidFill>
                  <a:schemeClr val="bg1">
                    <a:lumMod val="25000"/>
                  </a:schemeClr>
                </a:solidFill>
              </a:rPr>
              <a:t> </a:t>
            </a:r>
            <a:r>
              <a:rPr lang="en-US" altLang="en-US" sz="1700" dirty="0">
                <a:sym typeface="Symbol" pitchFamily="18" charset="2"/>
              </a:rPr>
              <a:t>dependency preserving 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sz="1700" dirty="0">
              <a:sym typeface="Symbol" pitchFamily="18" charset="2"/>
            </a:endParaRPr>
          </a:p>
          <a:p>
            <a:pPr>
              <a:defRPr/>
            </a:pPr>
            <a:endParaRPr lang="en-US" altLang="en-US" sz="20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74556"/>
              </p:ext>
            </p:extLst>
          </p:nvPr>
        </p:nvGraphicFramePr>
        <p:xfrm>
          <a:off x="4593515" y="4550485"/>
          <a:ext cx="354916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83053">
                  <a:extLst>
                    <a:ext uri="{9D8B030D-6E8A-4147-A177-3AD203B41FA5}">
                      <a16:colId xmlns:a16="http://schemas.microsoft.com/office/drawing/2014/main" val="3738649695"/>
                    </a:ext>
                  </a:extLst>
                </a:gridCol>
                <a:gridCol w="907554">
                  <a:extLst>
                    <a:ext uri="{9D8B030D-6E8A-4147-A177-3AD203B41FA5}">
                      <a16:colId xmlns:a16="http://schemas.microsoft.com/office/drawing/2014/main" val="762580016"/>
                    </a:ext>
                  </a:extLst>
                </a:gridCol>
                <a:gridCol w="1458553">
                  <a:extLst>
                    <a:ext uri="{9D8B030D-6E8A-4147-A177-3AD203B41FA5}">
                      <a16:colId xmlns:a16="http://schemas.microsoft.com/office/drawing/2014/main" val="2216019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dept_name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5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58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87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Mary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329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08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0067" y="2927700"/>
            <a:ext cx="6364461" cy="60798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Functional-Dependency Theory</a:t>
            </a:r>
          </a:p>
        </p:txBody>
      </p:sp>
    </p:spTree>
    <p:extLst>
      <p:ext uri="{BB962C8B-B14F-4D97-AF65-F5344CB8AC3E}">
        <p14:creationId xmlns:p14="http://schemas.microsoft.com/office/powerpoint/2010/main" val="3093098257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36228" y="304800"/>
            <a:ext cx="8466472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Closure 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of a Set of Functional Dependencies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24904"/>
            <a:ext cx="7741327" cy="3105654"/>
          </a:xfrm>
        </p:spPr>
        <p:txBody>
          <a:bodyPr/>
          <a:lstStyle/>
          <a:p>
            <a:r>
              <a:rPr lang="en-US" altLang="en-US" dirty="0"/>
              <a:t>We can compute F</a:t>
            </a:r>
            <a:r>
              <a:rPr lang="en-US" altLang="en-US" i="1" baseline="30000" dirty="0"/>
              <a:t>+</a:t>
            </a:r>
            <a:r>
              <a:rPr lang="en-US" altLang="en-US" i="1" dirty="0"/>
              <a:t>,</a:t>
            </a:r>
            <a:r>
              <a:rPr lang="en-US" altLang="en-US" dirty="0"/>
              <a:t> the closure of F, by repeatedly applying </a:t>
            </a:r>
            <a:r>
              <a:rPr lang="en-US" altLang="en-US" b="1" dirty="0">
                <a:solidFill>
                  <a:srgbClr val="002060"/>
                </a:solidFill>
              </a:rPr>
              <a:t>Armstrong</a:t>
            </a:r>
            <a:r>
              <a:rPr lang="en-US" altLang="en-US" b="1" dirty="0">
                <a:solidFill>
                  <a:srgbClr val="002060"/>
                </a:solidFill>
                <a:latin typeface="Arial" panose="020B0604020202020204" pitchFamily="34" charset="0"/>
              </a:rPr>
              <a:t>’</a:t>
            </a:r>
            <a:r>
              <a:rPr lang="en-US" altLang="ja-JP" b="1" dirty="0">
                <a:solidFill>
                  <a:srgbClr val="002060"/>
                </a:solidFill>
              </a:rPr>
              <a:t>s Axioms</a:t>
            </a:r>
            <a:r>
              <a:rPr lang="en-US" altLang="ja-JP" b="1" dirty="0">
                <a:solidFill>
                  <a:srgbClr val="000099"/>
                </a:solidFill>
              </a:rPr>
              <a:t>:</a:t>
            </a:r>
          </a:p>
          <a:p>
            <a:pPr lvl="1"/>
            <a:r>
              <a:rPr lang="en-US" altLang="en-US" b="1" dirty="0">
                <a:sym typeface="Symbol" panose="05050102010706020507" pitchFamily="18" charset="2"/>
              </a:rPr>
              <a:t>Reflexive rule:</a:t>
            </a:r>
            <a:r>
              <a:rPr lang="en-US" altLang="en-US" dirty="0"/>
              <a:t> if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dirty="0">
                <a:sym typeface="Symbol" panose="05050102010706020507" pitchFamily="18" charset="2"/>
              </a:rPr>
              <a:t>  , then 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. </a:t>
            </a:r>
            <a:r>
              <a:rPr lang="zh-TW" altLang="en-US" i="1" dirty="0">
                <a:sym typeface="Symbol" panose="05050102010706020507" pitchFamily="18" charset="2"/>
              </a:rPr>
              <a:t>譬如</a:t>
            </a:r>
            <a:r>
              <a:rPr lang="en-US" altLang="zh-TW" i="1" dirty="0">
                <a:sym typeface="Symbol" panose="05050102010706020507" pitchFamily="18" charset="2"/>
              </a:rPr>
              <a:t>:</a:t>
            </a:r>
            <a:r>
              <a:rPr lang="zh-TW" altLang="en-US" i="1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AB-&gt;A.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b="1" dirty="0">
                <a:sym typeface="Symbol" panose="05050102010706020507" pitchFamily="18" charset="2"/>
              </a:rPr>
              <a:t>Augmentation  rule</a:t>
            </a:r>
            <a:r>
              <a:rPr lang="en-US" altLang="en-US" b="1" dirty="0">
                <a:solidFill>
                  <a:srgbClr val="000099"/>
                </a:solidFill>
                <a:sym typeface="Symbol" panose="05050102010706020507" pitchFamily="18" charset="2"/>
              </a:rPr>
              <a:t>: </a:t>
            </a:r>
            <a:r>
              <a:rPr lang="en-US" altLang="en-US" dirty="0">
                <a:sym typeface="Symbol" panose="05050102010706020507" pitchFamily="18" charset="2"/>
              </a:rPr>
              <a:t>if 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, </a:t>
            </a:r>
            <a:r>
              <a:rPr lang="en-US" altLang="en-US" dirty="0">
                <a:sym typeface="Symbol" panose="05050102010706020507" pitchFamily="18" charset="2"/>
              </a:rPr>
              <a:t>then 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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.</a:t>
            </a:r>
          </a:p>
          <a:p>
            <a:pPr marL="457200" lvl="1" indent="0">
              <a:buNone/>
            </a:pPr>
            <a:r>
              <a:rPr lang="en-US" altLang="zh-TW" i="1" dirty="0">
                <a:sym typeface="Symbol" panose="05050102010706020507" pitchFamily="18" charset="2"/>
              </a:rPr>
              <a:t>	</a:t>
            </a:r>
            <a:r>
              <a:rPr lang="zh-TW" altLang="en-US" i="1" dirty="0">
                <a:sym typeface="Symbol" panose="05050102010706020507" pitchFamily="18" charset="2"/>
              </a:rPr>
              <a:t>譬如</a:t>
            </a:r>
            <a:r>
              <a:rPr lang="en-US" altLang="zh-TW" i="1" dirty="0">
                <a:sym typeface="Symbol" panose="05050102010706020507" pitchFamily="18" charset="2"/>
              </a:rPr>
              <a:t>:</a:t>
            </a:r>
            <a:r>
              <a:rPr lang="zh-TW" altLang="en-US" i="1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A-&gt;B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zh-TW" altLang="en-US" dirty="0">
                <a:sym typeface="Symbol" panose="05050102010706020507" pitchFamily="18" charset="2"/>
              </a:rPr>
              <a:t>則 </a:t>
            </a:r>
            <a:r>
              <a:rPr lang="en-US" altLang="zh-TW" dirty="0">
                <a:sym typeface="Symbol" panose="05050102010706020507" pitchFamily="18" charset="2"/>
              </a:rPr>
              <a:t>DA-&gt; DB.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b="1" dirty="0">
                <a:sym typeface="Symbol" panose="05050102010706020507" pitchFamily="18" charset="2"/>
              </a:rPr>
              <a:t>Transitivity rule</a:t>
            </a:r>
            <a:r>
              <a:rPr lang="en-US" altLang="en-US" b="1" dirty="0">
                <a:solidFill>
                  <a:srgbClr val="000099"/>
                </a:solidFill>
                <a:sym typeface="Symbol" panose="05050102010706020507" pitchFamily="18" charset="2"/>
              </a:rPr>
              <a:t>:  </a:t>
            </a:r>
            <a:r>
              <a:rPr lang="en-US" altLang="en-US" dirty="0">
                <a:sym typeface="Symbol" panose="05050102010706020507" pitchFamily="18" charset="2"/>
              </a:rPr>
              <a:t>if 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, </a:t>
            </a:r>
            <a:r>
              <a:rPr lang="en-US" altLang="en-US" dirty="0">
                <a:sym typeface="Symbol" panose="05050102010706020507" pitchFamily="18" charset="2"/>
              </a:rPr>
              <a:t>and </a:t>
            </a:r>
            <a:r>
              <a:rPr lang="en-US" altLang="en-US" i="1" dirty="0">
                <a:sym typeface="Symbol" panose="05050102010706020507" pitchFamily="18" charset="2"/>
              </a:rPr>
              <a:t> </a:t>
            </a:r>
            <a:r>
              <a:rPr lang="en-US" altLang="en-US" dirty="0">
                <a:sym typeface="Symbol" panose="05050102010706020507" pitchFamily="18" charset="2"/>
              </a:rPr>
              <a:t> </a:t>
            </a:r>
            <a:r>
              <a:rPr lang="en-US" altLang="en-US" dirty="0">
                <a:sym typeface="Monotype Sorts" pitchFamily="-84" charset="2"/>
              </a:rPr>
              <a:t>, then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</a:t>
            </a:r>
          </a:p>
          <a:p>
            <a:pPr marL="457200" lvl="1" indent="0">
              <a:buNone/>
            </a:pPr>
            <a:r>
              <a:rPr lang="en-US" altLang="zh-TW" i="1" dirty="0">
                <a:sym typeface="Symbol" panose="05050102010706020507" pitchFamily="18" charset="2"/>
              </a:rPr>
              <a:t>	</a:t>
            </a:r>
            <a:r>
              <a:rPr lang="zh-TW" altLang="en-US" i="1" dirty="0">
                <a:sym typeface="Symbol" panose="05050102010706020507" pitchFamily="18" charset="2"/>
              </a:rPr>
              <a:t>譬如</a:t>
            </a:r>
            <a:r>
              <a:rPr lang="en-US" altLang="zh-TW" i="1" dirty="0">
                <a:sym typeface="Symbol" panose="05050102010706020507" pitchFamily="18" charset="2"/>
              </a:rPr>
              <a:t>:</a:t>
            </a:r>
            <a:r>
              <a:rPr lang="zh-TW" altLang="en-US" i="1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A-&gt;B, B-&gt;C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zh-TW" altLang="en-US" dirty="0">
                <a:sym typeface="Symbol" panose="05050102010706020507" pitchFamily="18" charset="2"/>
              </a:rPr>
              <a:t>則 </a:t>
            </a:r>
            <a:r>
              <a:rPr lang="en-US" altLang="zh-TW" dirty="0">
                <a:sym typeface="Symbol" panose="05050102010706020507" pitchFamily="18" charset="2"/>
              </a:rPr>
              <a:t>A-&gt; C.</a:t>
            </a:r>
            <a:endParaRPr lang="en-US" altLang="en-US" b="1" dirty="0">
              <a:sym typeface="Greek Symbols"/>
            </a:endParaRPr>
          </a:p>
          <a:p>
            <a:r>
              <a:rPr lang="en-US" altLang="en-US" dirty="0">
                <a:sym typeface="Greek Symbols"/>
              </a:rPr>
              <a:t>These rules are  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sym typeface="Greek Symbols"/>
              </a:rPr>
              <a:t>Sound</a:t>
            </a:r>
            <a:r>
              <a:rPr lang="en-US" altLang="en-US" dirty="0">
                <a:solidFill>
                  <a:srgbClr val="002060"/>
                </a:solidFill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-- generate only functional dependencies that actually hold,  and 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sym typeface="Greek Symbols"/>
              </a:rPr>
              <a:t>Complete</a:t>
            </a:r>
            <a:r>
              <a:rPr lang="en-US" altLang="en-US" dirty="0">
                <a:sym typeface="Greek Symbols"/>
              </a:rPr>
              <a:t>  -- generate all functional dependencies that hold.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1595021" y="4807174"/>
          <a:ext cx="609600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33836761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461976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81777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3276678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364583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32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e1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e2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82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a2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b2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d2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e3</a:t>
                      </a:r>
                      <a:endParaRPr lang="zh-TW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347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451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 ※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 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of </a:t>
            </a:r>
            <a:r>
              <a:rPr lang="en-US" altLang="en-US" dirty="0">
                <a:sym typeface="MS LineDraw"/>
              </a:rPr>
              <a:t> </a:t>
            </a:r>
            <a:r>
              <a:rPr lang="en-US" altLang="en-US" i="1" dirty="0">
                <a:sym typeface="MS LineDraw"/>
              </a:rPr>
              <a:t>F</a:t>
            </a:r>
            <a:r>
              <a:rPr lang="en-US" altLang="en-US" baseline="30000" dirty="0">
                <a:sym typeface="MS LineDraw"/>
              </a:rPr>
              <a:t>+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7803"/>
            <a:ext cx="7873858" cy="4975225"/>
          </a:xfrm>
        </p:spPr>
        <p:txBody>
          <a:bodyPr/>
          <a:lstStyle/>
          <a:p>
            <a:pPr>
              <a:tabLst>
                <a:tab pos="803275" algn="l"/>
              </a:tabLst>
            </a:pPr>
            <a:r>
              <a:rPr lang="en-US" altLang="en-US" i="1" dirty="0"/>
              <a:t>R = (A, B, C, G, H, I)</a:t>
            </a:r>
            <a:br>
              <a:rPr lang="en-US" altLang="en-US" i="1" dirty="0"/>
            </a:br>
            <a:r>
              <a:rPr lang="en-US" altLang="en-US" i="1" dirty="0"/>
              <a:t>F = </a:t>
            </a:r>
            <a:r>
              <a:rPr lang="en-US" altLang="en-US" dirty="0"/>
              <a:t>{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B</a:t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	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C</a:t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	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H</a:t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	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I</a:t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	 </a:t>
            </a:r>
            <a:r>
              <a:rPr lang="en-US" altLang="en-US" i="1" dirty="0">
                <a:sym typeface="Iconic Symbols Ext"/>
              </a:rPr>
              <a:t>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H</a:t>
            </a:r>
            <a:r>
              <a:rPr lang="en-US" altLang="en-US" dirty="0">
                <a:sym typeface="Monotype Sorts" pitchFamily="-84" charset="2"/>
              </a:rPr>
              <a:t>}</a:t>
            </a:r>
            <a:endParaRPr lang="en-US" altLang="en-US" dirty="0">
              <a:sym typeface="MS LineDraw"/>
            </a:endParaRPr>
          </a:p>
          <a:p>
            <a:pPr>
              <a:tabLst>
                <a:tab pos="803275" algn="l"/>
              </a:tabLst>
            </a:pPr>
            <a:r>
              <a:rPr lang="en-US" altLang="en-US" dirty="0">
                <a:sym typeface="MS LineDraw"/>
              </a:rPr>
              <a:t>Some members of </a:t>
            </a:r>
            <a:r>
              <a:rPr lang="en-US" altLang="en-US" i="1" dirty="0">
                <a:sym typeface="MS LineDraw"/>
              </a:rPr>
              <a:t>F</a:t>
            </a:r>
            <a:r>
              <a:rPr lang="en-US" altLang="en-US" baseline="30000" dirty="0">
                <a:sym typeface="MS LineDraw"/>
              </a:rPr>
              <a:t>+</a:t>
            </a:r>
            <a:endParaRPr lang="en-US" altLang="en-US" dirty="0">
              <a:sym typeface="MS LineDraw"/>
            </a:endParaRPr>
          </a:p>
          <a:p>
            <a:pPr lvl="1">
              <a:tabLst>
                <a:tab pos="803275" algn="l"/>
              </a:tabLst>
            </a:pPr>
            <a:r>
              <a:rPr lang="en-US" altLang="en-US" i="1" dirty="0">
                <a:sym typeface="Monotype Sorts" pitchFamily="-84" charset="2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H        </a:t>
            </a:r>
          </a:p>
          <a:p>
            <a:pPr lvl="2">
              <a:tabLst>
                <a:tab pos="803275" algn="l"/>
              </a:tabLst>
            </a:pPr>
            <a:r>
              <a:rPr lang="en-US" altLang="en-US" dirty="0">
                <a:sym typeface="Monotype Sorts" pitchFamily="-84" charset="2"/>
              </a:rPr>
              <a:t>by transitivity from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B and </a:t>
            </a:r>
            <a:r>
              <a:rPr lang="en-US" altLang="en-US" i="1" dirty="0">
                <a:sym typeface="Iconic Symbols Ext"/>
              </a:rPr>
              <a:t>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H</a:t>
            </a:r>
          </a:p>
          <a:p>
            <a:pPr lvl="1">
              <a:tabLst>
                <a:tab pos="803275" algn="l"/>
              </a:tabLst>
            </a:pPr>
            <a:r>
              <a:rPr lang="en-US" altLang="en-US" i="1" dirty="0">
                <a:sym typeface="Monotype Sorts" pitchFamily="-84" charset="2"/>
              </a:rPr>
              <a:t>AG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I       </a:t>
            </a:r>
            <a:endParaRPr lang="en-US" altLang="en-US" dirty="0">
              <a:sym typeface="Monotype Sorts" pitchFamily="-84" charset="2"/>
            </a:endParaRPr>
          </a:p>
          <a:p>
            <a:pPr lvl="2">
              <a:tabLst>
                <a:tab pos="803275" algn="l"/>
              </a:tabLst>
            </a:pPr>
            <a:r>
              <a:rPr lang="en-US" altLang="en-US" dirty="0">
                <a:sym typeface="Monotype Sorts" pitchFamily="-84" charset="2"/>
              </a:rPr>
              <a:t>by augmenting </a:t>
            </a:r>
            <a:r>
              <a:rPr lang="en-US" altLang="en-US" i="1" dirty="0">
                <a:sym typeface="Iconic Symbols Ext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C </a:t>
            </a:r>
            <a:r>
              <a:rPr lang="en-US" altLang="en-US" dirty="0">
                <a:sym typeface="Monotype Sorts" pitchFamily="-84" charset="2"/>
              </a:rPr>
              <a:t>with G, to get </a:t>
            </a:r>
            <a:r>
              <a:rPr lang="en-US" altLang="en-US" i="1" dirty="0">
                <a:sym typeface="Iconic Symbols Ext"/>
              </a:rPr>
              <a:t>AG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CG </a:t>
            </a:r>
            <a:br>
              <a:rPr lang="en-US" altLang="en-US" i="1" dirty="0">
                <a:sym typeface="Monotype Sorts" pitchFamily="-84" charset="2"/>
              </a:rPr>
            </a:br>
            <a:r>
              <a:rPr lang="en-US" altLang="en-US" i="1" dirty="0">
                <a:sym typeface="Monotype Sorts" pitchFamily="-84" charset="2"/>
              </a:rPr>
              <a:t>                   </a:t>
            </a:r>
            <a:r>
              <a:rPr lang="en-US" altLang="en-US" dirty="0">
                <a:sym typeface="Monotype Sorts" pitchFamily="-84" charset="2"/>
              </a:rPr>
              <a:t>and then transitivity with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I </a:t>
            </a:r>
          </a:p>
          <a:p>
            <a:pPr lvl="1">
              <a:tabLst>
                <a:tab pos="803275" algn="l"/>
              </a:tabLst>
            </a:pPr>
            <a:r>
              <a:rPr lang="en-US" altLang="en-US" i="1" dirty="0">
                <a:sym typeface="Monotype Sorts" pitchFamily="-84" charset="2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HI     </a:t>
            </a:r>
            <a:endParaRPr lang="en-US" altLang="en-US" dirty="0">
              <a:sym typeface="Monotype Sorts" pitchFamily="-84" charset="2"/>
            </a:endParaRPr>
          </a:p>
          <a:p>
            <a:pPr lvl="2">
              <a:tabLst>
                <a:tab pos="803275" algn="l"/>
              </a:tabLst>
            </a:pPr>
            <a:r>
              <a:rPr lang="en-US" altLang="en-US" dirty="0">
                <a:sym typeface="Monotype Sorts" pitchFamily="-84" charset="2"/>
              </a:rPr>
              <a:t>by augmenting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I </a:t>
            </a:r>
            <a:r>
              <a:rPr lang="en-US" altLang="en-US" dirty="0">
                <a:sym typeface="Monotype Sorts" pitchFamily="-84" charset="2"/>
              </a:rPr>
              <a:t>to infer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CG</a:t>
            </a:r>
            <a:r>
              <a:rPr lang="en-US" altLang="en-US" i="1" dirty="0">
                <a:sym typeface="Monotype Sorts" pitchFamily="-84" charset="2"/>
              </a:rPr>
              <a:t>I, </a:t>
            </a:r>
          </a:p>
          <a:p>
            <a:pPr lvl="2">
              <a:buFont typeface="Webdings" panose="05030102010509060703" pitchFamily="18" charset="2"/>
              <a:buNone/>
              <a:tabLst>
                <a:tab pos="803275" algn="l"/>
              </a:tabLst>
            </a:pPr>
            <a:r>
              <a:rPr lang="en-US" altLang="en-US" dirty="0">
                <a:sym typeface="Monotype Sorts" pitchFamily="-84" charset="2"/>
              </a:rPr>
              <a:t>    and augmenting of </a:t>
            </a:r>
            <a:r>
              <a:rPr lang="en-US" altLang="en-US" i="1" dirty="0">
                <a:sym typeface="Iconic Symbols Ext"/>
              </a:rPr>
              <a:t>CG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H </a:t>
            </a:r>
            <a:r>
              <a:rPr lang="en-US" altLang="en-US" dirty="0">
                <a:sym typeface="Monotype Sorts" pitchFamily="-84" charset="2"/>
              </a:rPr>
              <a:t>to infer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Iconic Symbols Ext"/>
              </a:rPr>
              <a:t>CGI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HI, </a:t>
            </a:r>
          </a:p>
          <a:p>
            <a:pPr lvl="2">
              <a:buFont typeface="Webdings" panose="05030102010509060703" pitchFamily="18" charset="2"/>
              <a:buNone/>
              <a:tabLst>
                <a:tab pos="803275" algn="l"/>
              </a:tabLst>
            </a:pPr>
            <a:r>
              <a:rPr lang="en-US" altLang="en-US" i="1" dirty="0">
                <a:sym typeface="Monotype Sorts" pitchFamily="-84" charset="2"/>
              </a:rPr>
              <a:t>                         </a:t>
            </a:r>
            <a:r>
              <a:rPr lang="en-US" altLang="en-US" dirty="0">
                <a:sym typeface="Monotype Sorts" pitchFamily="-84" charset="2"/>
              </a:rPr>
              <a:t>and then transitivity</a:t>
            </a:r>
          </a:p>
        </p:txBody>
      </p:sp>
    </p:spTree>
    <p:extLst>
      <p:ext uri="{BB962C8B-B14F-4D97-AF65-F5344CB8AC3E}">
        <p14:creationId xmlns:p14="http://schemas.microsoft.com/office/powerpoint/2010/main" val="57787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3" grpId="0" build="p" bldLvl="3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619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Closure 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of Functional Dependencies (Cont.)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18694"/>
            <a:ext cx="7285646" cy="2466477"/>
          </a:xfrm>
        </p:spPr>
        <p:txBody>
          <a:bodyPr/>
          <a:lstStyle/>
          <a:p>
            <a:r>
              <a:rPr lang="en-US" altLang="en-US" dirty="0"/>
              <a:t>Additional rules:</a:t>
            </a:r>
          </a:p>
          <a:p>
            <a:pPr lvl="1"/>
            <a:r>
              <a:rPr lang="en-US" altLang="en-US" b="1" dirty="0" smtClean="0">
                <a:sym typeface="Symbol" panose="05050102010706020507" pitchFamily="18" charset="2"/>
              </a:rPr>
              <a:t>Union </a:t>
            </a:r>
            <a:r>
              <a:rPr lang="en-US" altLang="en-US" b="1" dirty="0">
                <a:sym typeface="Symbol" panose="05050102010706020507" pitchFamily="18" charset="2"/>
              </a:rPr>
              <a:t>rule</a:t>
            </a:r>
            <a:r>
              <a:rPr lang="en-US" altLang="en-US" dirty="0">
                <a:sym typeface="Symbol" panose="05050102010706020507" pitchFamily="18" charset="2"/>
              </a:rPr>
              <a:t>: If 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</a:t>
            </a:r>
            <a:r>
              <a:rPr lang="en-US" altLang="en-US" dirty="0">
                <a:sym typeface="Symbol" panose="05050102010706020507" pitchFamily="18" charset="2"/>
              </a:rPr>
              <a:t>holds</a:t>
            </a:r>
            <a:r>
              <a:rPr lang="en-US" altLang="en-US" i="1" dirty="0">
                <a:sym typeface="Symbol" panose="05050102010706020507" pitchFamily="18" charset="2"/>
              </a:rPr>
              <a:t> a</a:t>
            </a:r>
            <a:r>
              <a:rPr lang="en-US" altLang="en-US" dirty="0">
                <a:sym typeface="Symbol" panose="05050102010706020507" pitchFamily="18" charset="2"/>
              </a:rPr>
              <a:t>nd 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</a:t>
            </a:r>
            <a:r>
              <a:rPr lang="en-US" altLang="en-US" dirty="0">
                <a:sym typeface="Monotype Sorts" pitchFamily="-84" charset="2"/>
              </a:rPr>
              <a:t> holds,  then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</a:t>
            </a:r>
            <a:r>
              <a:rPr lang="en-US" altLang="en-US" dirty="0">
                <a:sym typeface="Symbol" panose="05050102010706020507" pitchFamily="18" charset="2"/>
              </a:rPr>
              <a:t></a:t>
            </a:r>
            <a:r>
              <a:rPr lang="en-US" altLang="en-US" dirty="0">
                <a:sym typeface="Greek Symbols"/>
              </a:rPr>
              <a:t> holds.</a:t>
            </a:r>
          </a:p>
          <a:p>
            <a:pPr lvl="1"/>
            <a:r>
              <a:rPr lang="en-US" altLang="en-US" b="1" dirty="0" smtClean="0">
                <a:sym typeface="Monotype Sorts" pitchFamily="-84" charset="2"/>
              </a:rPr>
              <a:t>Decomposition </a:t>
            </a:r>
            <a:r>
              <a:rPr lang="en-US" altLang="en-US" b="1" dirty="0">
                <a:sym typeface="Monotype Sorts" pitchFamily="-84" charset="2"/>
              </a:rPr>
              <a:t>rule</a:t>
            </a:r>
            <a:r>
              <a:rPr lang="en-US" altLang="en-US" dirty="0">
                <a:sym typeface="Monotype Sorts" pitchFamily="-84" charset="2"/>
              </a:rPr>
              <a:t>:</a:t>
            </a:r>
            <a:r>
              <a:rPr lang="en-US" altLang="en-US" b="1" dirty="0">
                <a:sym typeface="Monotype Sorts" pitchFamily="-84" charset="2"/>
              </a:rPr>
              <a:t> </a:t>
            </a:r>
            <a:r>
              <a:rPr lang="en-US" altLang="en-US" dirty="0">
                <a:sym typeface="Greek Symbols"/>
              </a:rPr>
              <a:t>If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</a:t>
            </a:r>
            <a:r>
              <a:rPr lang="en-US" altLang="en-US" dirty="0">
                <a:sym typeface="Symbol" panose="05050102010706020507" pitchFamily="18" charset="2"/>
              </a:rPr>
              <a:t></a:t>
            </a:r>
            <a:r>
              <a:rPr lang="en-US" altLang="en-US" dirty="0">
                <a:sym typeface="Monotype Sorts" pitchFamily="-84" charset="2"/>
              </a:rPr>
              <a:t> holds, then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 </a:t>
            </a:r>
            <a:r>
              <a:rPr lang="en-US" altLang="en-US" dirty="0">
                <a:sym typeface="Symbol" panose="05050102010706020507" pitchFamily="18" charset="2"/>
              </a:rPr>
              <a:t>holds and 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</a:t>
            </a:r>
            <a:r>
              <a:rPr lang="en-US" altLang="en-US" dirty="0">
                <a:sym typeface="Monotype Sorts" pitchFamily="-84" charset="2"/>
              </a:rPr>
              <a:t> holds.</a:t>
            </a:r>
          </a:p>
          <a:p>
            <a:pPr lvl="1"/>
            <a:r>
              <a:rPr lang="en-US" altLang="en-US" b="1" dirty="0" err="1">
                <a:sym typeface="Greek Symbols"/>
              </a:rPr>
              <a:t>Pseudotransitivity</a:t>
            </a:r>
            <a:r>
              <a:rPr lang="en-US" altLang="en-US" b="1" dirty="0">
                <a:sym typeface="Greek Symbols"/>
              </a:rPr>
              <a:t> rule</a:t>
            </a:r>
            <a:r>
              <a:rPr lang="en-US" altLang="en-US" dirty="0">
                <a:sym typeface="Greek Symbols"/>
              </a:rPr>
              <a:t>: </a:t>
            </a:r>
            <a:r>
              <a:rPr lang="en-US" altLang="en-US" dirty="0">
                <a:sym typeface="Monotype Sorts" pitchFamily="-84" charset="2"/>
              </a:rPr>
              <a:t>If </a:t>
            </a:r>
            <a:r>
              <a:rPr lang="en-US" altLang="en-US" dirty="0">
                <a:sym typeface="Symbol" panose="05050102010706020507" pitchFamily="18" charset="2"/>
              </a:rPr>
              <a:t> 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 </a:t>
            </a:r>
            <a:r>
              <a:rPr lang="en-US" altLang="en-US" dirty="0">
                <a:sym typeface="Symbol" panose="05050102010706020507" pitchFamily="18" charset="2"/>
              </a:rPr>
              <a:t>holds</a:t>
            </a:r>
            <a:r>
              <a:rPr lang="en-US" altLang="en-US" i="1" dirty="0">
                <a:sym typeface="Symbol" panose="05050102010706020507" pitchFamily="18" charset="2"/>
              </a:rPr>
              <a:t> a</a:t>
            </a:r>
            <a:r>
              <a:rPr lang="en-US" altLang="en-US" dirty="0">
                <a:sym typeface="Symbol" panose="05050102010706020507" pitchFamily="18" charset="2"/>
              </a:rPr>
              <a:t>nd 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</a:t>
            </a:r>
            <a:r>
              <a:rPr lang="en-US" altLang="en-US" dirty="0">
                <a:sym typeface="Greek Symbols"/>
              </a:rPr>
              <a:t> holds, then </a:t>
            </a:r>
            <a:r>
              <a:rPr lang="en-US" altLang="en-US" dirty="0">
                <a:sym typeface="Symbol" panose="05050102010706020507" pitchFamily="18" charset="2"/>
              </a:rPr>
              <a:t> 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</a:t>
            </a:r>
            <a:r>
              <a:rPr lang="en-US" altLang="en-US" dirty="0">
                <a:sym typeface="Greek Symbols"/>
              </a:rPr>
              <a:t> holds</a:t>
            </a:r>
            <a:r>
              <a:rPr lang="en-US" altLang="en-US" b="1" dirty="0">
                <a:sym typeface="Greek Symbols"/>
              </a:rPr>
              <a:t>.</a:t>
            </a:r>
          </a:p>
          <a:p>
            <a:pPr lvl="1"/>
            <a:r>
              <a:rPr lang="zh-TW" altLang="en-US" b="1" dirty="0">
                <a:sym typeface="Greek Symbols"/>
              </a:rPr>
              <a:t>例子</a:t>
            </a:r>
            <a:r>
              <a:rPr lang="en-US" altLang="zh-TW" b="1" dirty="0">
                <a:sym typeface="Greek Symbols"/>
              </a:rPr>
              <a:t>: </a:t>
            </a:r>
            <a:r>
              <a:rPr lang="zh-TW" altLang="en-US" b="1" dirty="0">
                <a:sym typeface="Greek Symbols"/>
              </a:rPr>
              <a:t>如上頁 </a:t>
            </a:r>
            <a:r>
              <a:rPr lang="en-US" altLang="zh-TW" b="1" dirty="0">
                <a:sym typeface="Greek Symbols"/>
              </a:rPr>
              <a:t>A-&gt;</a:t>
            </a:r>
            <a:r>
              <a:rPr lang="zh-TW" altLang="en-US" b="1" dirty="0">
                <a:sym typeface="Greek Symbols"/>
              </a:rPr>
              <a:t> </a:t>
            </a:r>
            <a:r>
              <a:rPr lang="en-US" altLang="zh-TW" b="1" dirty="0">
                <a:sym typeface="Greek Symbols"/>
              </a:rPr>
              <a:t>C,</a:t>
            </a:r>
            <a:r>
              <a:rPr lang="zh-TW" altLang="en-US" b="1" dirty="0">
                <a:sym typeface="Greek Symbols"/>
              </a:rPr>
              <a:t> </a:t>
            </a:r>
            <a:r>
              <a:rPr lang="en-US" altLang="zh-TW" b="1" dirty="0">
                <a:sym typeface="Greek Symbols"/>
              </a:rPr>
              <a:t>CG-&gt;</a:t>
            </a:r>
            <a:r>
              <a:rPr lang="zh-TW" altLang="en-US" b="1" dirty="0">
                <a:sym typeface="Greek Symbols"/>
              </a:rPr>
              <a:t> </a:t>
            </a:r>
            <a:r>
              <a:rPr lang="en-US" altLang="zh-TW" b="1" dirty="0">
                <a:sym typeface="Greek Symbols"/>
              </a:rPr>
              <a:t>I</a:t>
            </a:r>
            <a:r>
              <a:rPr lang="zh-TW" altLang="en-US" b="1" dirty="0">
                <a:sym typeface="Greek Symbols"/>
              </a:rPr>
              <a:t> </a:t>
            </a:r>
            <a:r>
              <a:rPr lang="en-US" altLang="zh-TW" b="1" dirty="0">
                <a:sym typeface="Greek Symbols"/>
              </a:rPr>
              <a:t>=&gt;</a:t>
            </a:r>
            <a:r>
              <a:rPr lang="zh-TW" altLang="en-US" b="1" dirty="0">
                <a:sym typeface="Greek Symbols"/>
              </a:rPr>
              <a:t> </a:t>
            </a:r>
            <a:r>
              <a:rPr lang="en-US" altLang="zh-TW" b="1" dirty="0">
                <a:sym typeface="Greek Symbols"/>
              </a:rPr>
              <a:t>AG-&gt;I</a:t>
            </a:r>
            <a:endParaRPr lang="en-US" altLang="en-US" dirty="0">
              <a:sym typeface="Greek Symbols"/>
            </a:endParaRPr>
          </a:p>
          <a:p>
            <a:r>
              <a:rPr lang="en-US" altLang="en-US" dirty="0">
                <a:sym typeface="Greek Symbols"/>
              </a:rPr>
              <a:t>The above rules can be inferred from Armstrong</a:t>
            </a:r>
            <a:r>
              <a:rPr lang="ja-JP" altLang="en-US" dirty="0">
                <a:latin typeface="Arial" panose="020B0604020202020204" pitchFamily="34" charset="0"/>
                <a:sym typeface="Greek Symbols"/>
              </a:rPr>
              <a:t>’</a:t>
            </a:r>
            <a:r>
              <a:rPr lang="en-US" altLang="ja-JP" dirty="0">
                <a:sym typeface="Greek Symbols"/>
              </a:rPr>
              <a:t>s axioms.</a:t>
            </a:r>
            <a:endParaRPr lang="en-US" altLang="en-US" dirty="0">
              <a:sym typeface="Greek Symbols"/>
            </a:endParaRPr>
          </a:p>
        </p:txBody>
      </p:sp>
    </p:spTree>
    <p:extLst>
      <p:ext uri="{BB962C8B-B14F-4D97-AF65-F5344CB8AC3E}">
        <p14:creationId xmlns:p14="http://schemas.microsoft.com/office/powerpoint/2010/main" val="1795451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Closure of Attribute Sets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2525"/>
            <a:ext cx="7674313" cy="3580839"/>
          </a:xfrm>
        </p:spPr>
        <p:txBody>
          <a:bodyPr/>
          <a:lstStyle/>
          <a:p>
            <a:pPr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r>
              <a:rPr lang="en-US" altLang="en-US" dirty="0"/>
              <a:t>Given a set of attributes </a:t>
            </a:r>
            <a:r>
              <a:rPr lang="en-US" altLang="en-US" dirty="0">
                <a:latin typeface="Symbol" panose="05050102010706020507" pitchFamily="18" charset="2"/>
                <a:sym typeface="Greek Symbols"/>
              </a:rPr>
              <a:t>a,</a:t>
            </a:r>
            <a:r>
              <a:rPr lang="en-US" altLang="en-US" dirty="0"/>
              <a:t> define the </a:t>
            </a:r>
            <a:r>
              <a:rPr lang="en-US" altLang="en-US" b="1" i="1" dirty="0">
                <a:solidFill>
                  <a:srgbClr val="002060"/>
                </a:solidFill>
              </a:rPr>
              <a:t>closure</a:t>
            </a:r>
            <a:r>
              <a:rPr lang="en-US" altLang="en-US" i="1" dirty="0"/>
              <a:t> </a:t>
            </a:r>
            <a:r>
              <a:rPr lang="en-US" altLang="en-US" dirty="0"/>
              <a:t>of </a:t>
            </a:r>
            <a:r>
              <a:rPr lang="en-US" altLang="en-US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sym typeface="Greek Symbols"/>
              </a:rPr>
              <a:t>under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i="1" dirty="0">
                <a:sym typeface="Greek Symbols"/>
              </a:rPr>
              <a:t>F</a:t>
            </a:r>
            <a:r>
              <a:rPr lang="en-US" altLang="en-US" dirty="0">
                <a:sym typeface="Greek Symbols"/>
              </a:rPr>
              <a:t> (denoted by </a:t>
            </a:r>
            <a:r>
              <a:rPr lang="en-US" altLang="en-US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baseline="30000" dirty="0">
                <a:sym typeface="Greek Symbols"/>
              </a:rPr>
              <a:t>+</a:t>
            </a:r>
            <a:r>
              <a:rPr lang="en-US" altLang="en-US" dirty="0">
                <a:sym typeface="Greek Symbols"/>
              </a:rPr>
              <a:t>) as the set of attributes that are functionally determined by </a:t>
            </a:r>
            <a:r>
              <a:rPr lang="en-US" altLang="en-US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dirty="0">
                <a:sym typeface="Greek Symbols"/>
              </a:rPr>
              <a:t> under </a:t>
            </a:r>
            <a:r>
              <a:rPr lang="en-US" altLang="en-US" i="1" dirty="0">
                <a:sym typeface="Greek Symbols"/>
              </a:rPr>
              <a:t>F</a:t>
            </a:r>
          </a:p>
          <a:p>
            <a:pPr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r>
              <a:rPr lang="en-US" altLang="en-US" dirty="0">
                <a:sym typeface="Greek Symbols"/>
              </a:rPr>
              <a:t> Algorithm to compute </a:t>
            </a:r>
            <a:r>
              <a:rPr lang="en-US" altLang="en-US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baseline="30000" dirty="0">
                <a:sym typeface="Greek Symbols"/>
              </a:rPr>
              <a:t>+</a:t>
            </a:r>
            <a:r>
              <a:rPr lang="en-US" altLang="en-US" dirty="0">
                <a:sym typeface="Greek Symbols"/>
              </a:rPr>
              <a:t>, the closure of </a:t>
            </a:r>
            <a:r>
              <a:rPr lang="en-US" altLang="en-US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dirty="0">
                <a:sym typeface="Greek Symbols"/>
              </a:rPr>
              <a:t> under </a:t>
            </a:r>
            <a:r>
              <a:rPr lang="en-US" altLang="en-US" i="1" dirty="0">
                <a:sym typeface="Greek Symbols"/>
              </a:rPr>
              <a:t>F</a:t>
            </a:r>
          </a:p>
          <a:p>
            <a:pPr>
              <a:buFont typeface="Monotype Sorts" pitchFamily="-84" charset="2"/>
              <a:buNone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r>
              <a:rPr lang="en-US" altLang="en-US" i="1" dirty="0">
                <a:sym typeface="Greek Symbols"/>
              </a:rPr>
              <a:t>      	result </a:t>
            </a:r>
            <a:r>
              <a:rPr lang="en-US" altLang="en-US" dirty="0">
                <a:sym typeface="Greek Symbols"/>
              </a:rPr>
              <a:t>:= </a:t>
            </a:r>
            <a:r>
              <a:rPr lang="en-US" altLang="en-US" dirty="0">
                <a:latin typeface="Symbol" panose="05050102010706020507" pitchFamily="18" charset="2"/>
                <a:sym typeface="Greek Symbols"/>
              </a:rPr>
              <a:t>a</a:t>
            </a:r>
            <a:r>
              <a:rPr lang="en-US" altLang="en-US" dirty="0">
                <a:sym typeface="Greek Symbols"/>
              </a:rPr>
              <a:t>;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</a:t>
            </a:r>
            <a:r>
              <a:rPr lang="en-US" altLang="en-US" b="1" dirty="0">
                <a:sym typeface="Greek Symbols"/>
              </a:rPr>
              <a:t>while</a:t>
            </a:r>
            <a:r>
              <a:rPr lang="en-US" altLang="en-US" dirty="0">
                <a:sym typeface="Greek Symbols"/>
              </a:rPr>
              <a:t> (changes to </a:t>
            </a:r>
            <a:r>
              <a:rPr lang="en-US" altLang="en-US" i="1" dirty="0">
                <a:sym typeface="Greek Symbols"/>
              </a:rPr>
              <a:t>result</a:t>
            </a:r>
            <a:r>
              <a:rPr lang="en-US" altLang="en-US" dirty="0">
                <a:sym typeface="Greek Symbols"/>
              </a:rPr>
              <a:t>) </a:t>
            </a:r>
            <a:r>
              <a:rPr lang="en-US" altLang="en-US" b="1" dirty="0">
                <a:sym typeface="Greek Symbols"/>
              </a:rPr>
              <a:t>do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		for each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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b="1" dirty="0">
                <a:sym typeface="Greek Symbols"/>
              </a:rPr>
              <a:t>in</a:t>
            </a:r>
            <a:r>
              <a:rPr lang="en-US" altLang="en-US" i="1" dirty="0">
                <a:sym typeface="Greek Symbols"/>
              </a:rPr>
              <a:t> F</a:t>
            </a:r>
            <a:r>
              <a:rPr lang="en-US" altLang="en-US" b="1" dirty="0">
                <a:sym typeface="Greek Symbols"/>
              </a:rPr>
              <a:t> do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			begin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				if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 </a:t>
            </a:r>
            <a:r>
              <a:rPr lang="en-US" altLang="en-US" i="1" dirty="0">
                <a:sym typeface="Symbol" panose="05050102010706020507" pitchFamily="18" charset="2"/>
              </a:rPr>
              <a:t>result</a:t>
            </a:r>
            <a:r>
              <a:rPr lang="en-US" altLang="en-US" b="1" dirty="0">
                <a:sym typeface="Symbol" panose="05050102010706020507" pitchFamily="18" charset="2"/>
              </a:rPr>
              <a:t> then </a:t>
            </a:r>
            <a:r>
              <a:rPr lang="en-US" altLang="en-US" i="1" dirty="0">
                <a:sym typeface="Symbol" panose="05050102010706020507" pitchFamily="18" charset="2"/>
              </a:rPr>
              <a:t> result </a:t>
            </a:r>
            <a:r>
              <a:rPr lang="en-US" altLang="en-US" dirty="0">
                <a:sym typeface="Symbol" panose="05050102010706020507" pitchFamily="18" charset="2"/>
              </a:rPr>
              <a:t>:= </a:t>
            </a:r>
            <a:r>
              <a:rPr lang="en-US" altLang="en-US" i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</a:t>
            </a:r>
            <a:r>
              <a:rPr lang="en-US" altLang="en-US" dirty="0">
                <a:sym typeface="Greek Symbols"/>
              </a:rPr>
              <a:t>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			</a:t>
            </a:r>
            <a:r>
              <a:rPr lang="en-US" altLang="en-US" b="1" dirty="0">
                <a:sym typeface="Greek Symbols"/>
              </a:rPr>
              <a:t>end</a:t>
            </a:r>
          </a:p>
          <a:p>
            <a:pPr>
              <a:buFont typeface="Monotype Sorts" pitchFamily="-84" charset="2"/>
              <a:buNone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endParaRPr lang="en-US" altLang="en-US" b="1" dirty="0">
              <a:sym typeface="Greek Symbols"/>
            </a:endParaRPr>
          </a:p>
          <a:p>
            <a:pPr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r>
              <a:rPr lang="zh-TW" altLang="en-US" b="1" dirty="0">
                <a:ea typeface="新細明體" panose="02020500000000000000" pitchFamily="18" charset="-120"/>
                <a:sym typeface="Greek Symbols" pitchFamily="18" charset="2"/>
              </a:rPr>
              <a:t>補充說明</a:t>
            </a:r>
            <a:r>
              <a:rPr lang="en-US" altLang="zh-TW" b="1" dirty="0">
                <a:ea typeface="新細明體" panose="02020500000000000000" pitchFamily="18" charset="-120"/>
                <a:sym typeface="Greek Symbols" pitchFamily="18" charset="2"/>
              </a:rPr>
              <a:t>: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</a:t>
            </a:r>
            <a:r>
              <a:rPr lang="en-US" altLang="zh-TW" dirty="0">
                <a:latin typeface="Symbol" panose="05050102010706020507" pitchFamily="18" charset="2"/>
                <a:ea typeface="新細明體" panose="02020500000000000000" pitchFamily="18" charset="-120"/>
                <a:sym typeface="Greek Symbols" pitchFamily="18" charset="2"/>
              </a:rPr>
              <a:t>a</a:t>
            </a:r>
            <a:r>
              <a:rPr lang="en-US" altLang="zh-TW" i="1" dirty="0">
                <a:ea typeface="新細明體" panose="02020500000000000000" pitchFamily="18" charset="-120"/>
                <a:sym typeface="Greek Symbols" pitchFamily="18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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 result,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result</a:t>
            </a:r>
            <a:r>
              <a:rPr lang="en-US" altLang="zh-TW" i="1" dirty="0">
                <a:ea typeface="新細明體" panose="02020500000000000000" pitchFamily="18" charset="-120"/>
                <a:sym typeface="Greek Symbols" pitchFamily="18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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,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</a:t>
            </a:r>
            <a:r>
              <a:rPr lang="en-US" altLang="zh-TW" i="1" dirty="0">
                <a:ea typeface="新細明體" panose="02020500000000000000" pitchFamily="18" charset="-120"/>
                <a:sym typeface="Greek Symbols" pitchFamily="18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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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 =&gt; </a:t>
            </a:r>
            <a:r>
              <a:rPr lang="en-US" altLang="zh-TW" dirty="0">
                <a:latin typeface="Symbol" panose="05050102010706020507" pitchFamily="18" charset="2"/>
                <a:ea typeface="新細明體" panose="02020500000000000000" pitchFamily="18" charset="-120"/>
                <a:sym typeface="Greek Symbols" pitchFamily="18" charset="2"/>
              </a:rPr>
              <a:t>a</a:t>
            </a:r>
            <a:r>
              <a:rPr lang="en-US" altLang="zh-TW" i="1" dirty="0">
                <a:ea typeface="新細明體" panose="02020500000000000000" pitchFamily="18" charset="-120"/>
                <a:sym typeface="Greek Symbols" pitchFamily="18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</a:t>
            </a:r>
            <a:r>
              <a:rPr lang="en-US" altLang="zh-TW" dirty="0">
                <a:ea typeface="新細明體" panose="02020500000000000000" pitchFamily="18" charset="-120"/>
                <a:sym typeface="Monotype Sorts" charset="2"/>
              </a:rPr>
              <a:t> 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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 </a:t>
            </a:r>
            <a:endParaRPr lang="en-US" altLang="zh-TW" b="1" dirty="0">
              <a:ea typeface="新細明體" panose="02020500000000000000" pitchFamily="18" charset="-120"/>
              <a:sym typeface="Greek Symbols" pitchFamily="18" charset="2"/>
            </a:endParaRPr>
          </a:p>
          <a:p>
            <a:pPr>
              <a:buFont typeface="Monotype Sorts" pitchFamily="-84" charset="2"/>
              <a:buNone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endParaRPr lang="en-US" altLang="en-US" b="1" dirty="0">
              <a:sym typeface="Greek Symbols"/>
            </a:endParaRPr>
          </a:p>
          <a:p>
            <a:pPr>
              <a:buFont typeface="Monotype Sorts" pitchFamily="-84" charset="2"/>
              <a:buNone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endParaRPr lang="en-US" altLang="en-US" b="1" dirty="0">
              <a:sym typeface="Greek Symbols"/>
            </a:endParaRPr>
          </a:p>
          <a:p>
            <a:pPr>
              <a:buFont typeface="Monotype Sorts" pitchFamily="-84" charset="2"/>
              <a:buNone/>
              <a:tabLst>
                <a:tab pos="1027113" algn="l"/>
                <a:tab pos="1547813" algn="l"/>
                <a:tab pos="1771650" algn="l"/>
                <a:tab pos="2054225" algn="l"/>
                <a:tab pos="3140075" algn="ctr"/>
              </a:tabLst>
            </a:pPr>
            <a:endParaRPr lang="en-US" altLang="en-US" b="1" dirty="0">
              <a:sym typeface="Greek Symbols"/>
            </a:endParaRPr>
          </a:p>
        </p:txBody>
      </p:sp>
    </p:spTree>
    <p:extLst>
      <p:ext uri="{BB962C8B-B14F-4D97-AF65-F5344CB8AC3E}">
        <p14:creationId xmlns:p14="http://schemas.microsoft.com/office/powerpoint/2010/main" val="178965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 of Attribute Set Closure</a:t>
            </a: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56443"/>
            <a:ext cx="7136402" cy="5296231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i="1" dirty="0"/>
              <a:t>R = (A, B, C, G, H, I)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i="1" dirty="0"/>
              <a:t>F = </a:t>
            </a:r>
            <a:r>
              <a:rPr lang="en-US" altLang="en-US" sz="1600" dirty="0"/>
              <a:t>{</a:t>
            </a:r>
            <a:r>
              <a:rPr lang="en-US" altLang="en-US" sz="1600" i="1" dirty="0">
                <a:sym typeface="Iconic Symbols Ext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B</a:t>
            </a:r>
            <a:br>
              <a:rPr lang="en-US" altLang="en-US" sz="1600" i="1" dirty="0">
                <a:sym typeface="Monotype Sorts" pitchFamily="-84" charset="2"/>
              </a:rPr>
            </a:br>
            <a:r>
              <a:rPr lang="en-US" altLang="en-US" sz="1600" i="1" dirty="0">
                <a:sym typeface="Monotype Sorts" pitchFamily="-84" charset="2"/>
              </a:rPr>
              <a:t>	</a:t>
            </a:r>
            <a:r>
              <a:rPr lang="en-US" altLang="en-US" sz="1600" i="1" dirty="0">
                <a:sym typeface="Iconic Symbols Ext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C </a:t>
            </a:r>
            <a:br>
              <a:rPr lang="en-US" altLang="en-US" sz="1600" i="1" dirty="0">
                <a:sym typeface="Monotype Sorts" pitchFamily="-84" charset="2"/>
              </a:rPr>
            </a:br>
            <a:r>
              <a:rPr lang="en-US" altLang="en-US" sz="1600" i="1" dirty="0">
                <a:sym typeface="Monotype Sorts" pitchFamily="-84" charset="2"/>
              </a:rPr>
              <a:t>	</a:t>
            </a:r>
            <a:r>
              <a:rPr lang="en-US" altLang="en-US" sz="1600" i="1" dirty="0">
                <a:sym typeface="Iconic Symbols Ext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H</a:t>
            </a:r>
            <a:br>
              <a:rPr lang="en-US" altLang="en-US" sz="1600" i="1" dirty="0">
                <a:sym typeface="Monotype Sorts" pitchFamily="-84" charset="2"/>
              </a:rPr>
            </a:br>
            <a:r>
              <a:rPr lang="en-US" altLang="en-US" sz="1600" i="1" dirty="0">
                <a:sym typeface="Monotype Sorts" pitchFamily="-84" charset="2"/>
              </a:rPr>
              <a:t>	</a:t>
            </a:r>
            <a:r>
              <a:rPr lang="en-US" altLang="en-US" sz="1600" i="1" dirty="0">
                <a:sym typeface="Iconic Symbols Ext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I</a:t>
            </a:r>
            <a:br>
              <a:rPr lang="en-US" altLang="en-US" sz="1600" i="1" dirty="0">
                <a:sym typeface="Monotype Sorts" pitchFamily="-84" charset="2"/>
              </a:rPr>
            </a:br>
            <a:r>
              <a:rPr lang="en-US" altLang="en-US" sz="1600" i="1" dirty="0">
                <a:sym typeface="Monotype Sorts" pitchFamily="-84" charset="2"/>
              </a:rPr>
              <a:t>	</a:t>
            </a:r>
            <a:r>
              <a:rPr lang="en-US" altLang="en-US" sz="1600" i="1" dirty="0">
                <a:sym typeface="Iconic Symbols Ext"/>
              </a:rPr>
              <a:t>B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H</a:t>
            </a:r>
            <a:r>
              <a:rPr lang="en-US" altLang="en-US" sz="1600" dirty="0">
                <a:sym typeface="Monotype Sorts" pitchFamily="-84" charset="2"/>
              </a:rPr>
              <a:t>}</a:t>
            </a:r>
            <a:endParaRPr lang="en-US" altLang="en-US" sz="1600" dirty="0">
              <a:sym typeface="MS LineDraw"/>
            </a:endParaRP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MS LineDraw"/>
              </a:rPr>
              <a:t>(</a:t>
            </a:r>
            <a:r>
              <a:rPr lang="en-US" altLang="en-US" sz="1600" i="1" dirty="0">
                <a:sym typeface="MS LineDraw"/>
              </a:rPr>
              <a:t>AG)</a:t>
            </a:r>
            <a:r>
              <a:rPr lang="en-US" altLang="en-US" sz="1600" baseline="30000" dirty="0">
                <a:sym typeface="MS LineDraw"/>
              </a:rPr>
              <a:t>+</a:t>
            </a:r>
            <a:endParaRPr lang="en-US" altLang="en-US" sz="1600" dirty="0">
              <a:sym typeface="MS LineDraw"/>
            </a:endParaRPr>
          </a:p>
          <a:p>
            <a:pPr marL="762000" lvl="1" indent="-304800">
              <a:lnSpc>
                <a:spcPct val="90000"/>
              </a:lnSpc>
              <a:buFont typeface="Monotype Sorts" pitchFamily="-84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MS LineDraw"/>
              </a:rPr>
              <a:t>1.	</a:t>
            </a:r>
            <a:r>
              <a:rPr lang="en-US" altLang="en-US" sz="1600" i="1" dirty="0">
                <a:sym typeface="MS LineDraw"/>
              </a:rPr>
              <a:t>result = AG</a:t>
            </a:r>
            <a:endParaRPr lang="en-US" altLang="en-US" sz="1600" dirty="0">
              <a:sym typeface="MS LineDraw"/>
            </a:endParaRPr>
          </a:p>
          <a:p>
            <a:pPr marL="762000" lvl="1" indent="-304800">
              <a:lnSpc>
                <a:spcPct val="90000"/>
              </a:lnSpc>
              <a:buFont typeface="Monotype Sorts" pitchFamily="-84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MS LineDraw"/>
              </a:rPr>
              <a:t>2.	</a:t>
            </a:r>
            <a:r>
              <a:rPr lang="en-US" altLang="en-US" sz="1600" i="1" dirty="0">
                <a:sym typeface="MS LineDraw"/>
              </a:rPr>
              <a:t>result = ABCG	(A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C </a:t>
            </a:r>
            <a:r>
              <a:rPr lang="en-US" altLang="en-US" sz="1600" dirty="0">
                <a:sym typeface="Monotype Sorts" pitchFamily="-84" charset="2"/>
              </a:rPr>
              <a:t>and </a:t>
            </a:r>
            <a:r>
              <a:rPr lang="en-US" altLang="en-US" sz="1600" i="1" dirty="0">
                <a:sym typeface="Monotype Sorts" pitchFamily="-84" charset="2"/>
              </a:rPr>
              <a:t>A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i="1" dirty="0">
                <a:sym typeface="Symbol" panose="05050102010706020507" pitchFamily="18" charset="2"/>
              </a:rPr>
              <a:t> B)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-84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3.	</a:t>
            </a:r>
            <a:r>
              <a:rPr lang="en-US" altLang="en-US" sz="1600" i="1" dirty="0">
                <a:sym typeface="MS LineDraw"/>
              </a:rPr>
              <a:t>result = ABCG</a:t>
            </a:r>
            <a:r>
              <a:rPr lang="en-US" altLang="en-US" sz="1600" i="1" dirty="0">
                <a:sym typeface="Monotype Sorts" pitchFamily="-84" charset="2"/>
              </a:rPr>
              <a:t>H	(CG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H</a:t>
            </a:r>
            <a:r>
              <a:rPr lang="en-US" altLang="en-US" sz="1600" dirty="0">
                <a:sym typeface="Monotype Sorts" pitchFamily="-84" charset="2"/>
              </a:rPr>
              <a:t> and </a:t>
            </a:r>
            <a:r>
              <a:rPr lang="en-US" altLang="en-US" sz="1600" i="1" dirty="0">
                <a:sym typeface="Monotype Sorts" pitchFamily="-84" charset="2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 </a:t>
            </a:r>
            <a:r>
              <a:rPr lang="en-US" altLang="en-US" sz="1600" i="1" dirty="0">
                <a:sym typeface="Symbol" panose="05050102010706020507" pitchFamily="18" charset="2"/>
              </a:rPr>
              <a:t>AGBC)</a:t>
            </a:r>
          </a:p>
          <a:p>
            <a:pPr marL="762000" lvl="1" indent="-304800">
              <a:lnSpc>
                <a:spcPct val="90000"/>
              </a:lnSpc>
              <a:buFont typeface="Monotype Sorts" pitchFamily="-84" charset="2"/>
              <a:buNone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4.	</a:t>
            </a:r>
            <a:r>
              <a:rPr lang="en-US" altLang="en-US" sz="1600" i="1" dirty="0">
                <a:sym typeface="MS LineDraw"/>
              </a:rPr>
              <a:t>result = ABCG</a:t>
            </a:r>
            <a:r>
              <a:rPr lang="en-US" altLang="en-US" sz="1600" i="1" dirty="0">
                <a:sym typeface="Monotype Sorts" pitchFamily="-84" charset="2"/>
              </a:rPr>
              <a:t>HI	(CG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I</a:t>
            </a:r>
            <a:r>
              <a:rPr lang="en-US" altLang="en-US" sz="1600" dirty="0">
                <a:sym typeface="Monotype Sorts" pitchFamily="-84" charset="2"/>
              </a:rPr>
              <a:t> and </a:t>
            </a:r>
            <a:r>
              <a:rPr lang="en-US" altLang="en-US" sz="1600" i="1" dirty="0">
                <a:sym typeface="Monotype Sorts" pitchFamily="-84" charset="2"/>
              </a:rPr>
              <a:t>CG </a:t>
            </a:r>
            <a:r>
              <a:rPr lang="en-US" altLang="en-US" sz="1600" dirty="0">
                <a:sym typeface="Symbol" panose="05050102010706020507" pitchFamily="18" charset="2"/>
              </a:rPr>
              <a:t> </a:t>
            </a:r>
            <a:r>
              <a:rPr lang="en-US" altLang="en-US" sz="1600" i="1" dirty="0">
                <a:sym typeface="Symbol" panose="05050102010706020507" pitchFamily="18" charset="2"/>
              </a:rPr>
              <a:t>AGBCH)</a:t>
            </a:r>
          </a:p>
          <a:p>
            <a:pPr>
              <a:lnSpc>
                <a:spcPct val="90000"/>
              </a:lnSpc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Is </a:t>
            </a:r>
            <a:r>
              <a:rPr lang="en-US" altLang="en-US" sz="1600" i="1" dirty="0">
                <a:sym typeface="Symbol" panose="05050102010706020507" pitchFamily="18" charset="2"/>
              </a:rPr>
              <a:t>AG</a:t>
            </a:r>
            <a:r>
              <a:rPr lang="en-US" altLang="en-US" sz="1600" dirty="0">
                <a:sym typeface="Symbol" panose="05050102010706020507" pitchFamily="18" charset="2"/>
              </a:rPr>
              <a:t> a candidate key?  (</a:t>
            </a:r>
            <a:r>
              <a:rPr lang="zh-TW" altLang="en-US" sz="1600" dirty="0">
                <a:sym typeface="Symbol" panose="05050102010706020507" pitchFamily="18" charset="2"/>
              </a:rPr>
              <a:t>參考</a:t>
            </a:r>
            <a:r>
              <a:rPr lang="en-US" altLang="zh-TW" sz="1600" dirty="0" smtClean="0">
                <a:sym typeface="Symbol" panose="05050102010706020507" pitchFamily="18" charset="2"/>
              </a:rPr>
              <a:t>p7.11 </a:t>
            </a:r>
            <a:r>
              <a:rPr lang="en-US" altLang="zh-TW" sz="1600" dirty="0">
                <a:sym typeface="Symbol" panose="05050102010706020507" pitchFamily="18" charset="2"/>
              </a:rPr>
              <a:t>candidate key</a:t>
            </a:r>
            <a:r>
              <a:rPr lang="zh-TW" altLang="en-US" sz="1600" dirty="0">
                <a:sym typeface="Symbol" panose="05050102010706020507" pitchFamily="18" charset="2"/>
              </a:rPr>
              <a:t>的定義</a:t>
            </a:r>
            <a:r>
              <a:rPr lang="en-US" altLang="zh-TW" sz="1600" dirty="0">
                <a:sym typeface="Symbol" panose="05050102010706020507" pitchFamily="18" charset="2"/>
              </a:rPr>
              <a:t>)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-84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Is AG a super key?</a:t>
            </a:r>
          </a:p>
          <a:p>
            <a:pPr marL="1163638" lvl="2" indent="-304800">
              <a:lnSpc>
                <a:spcPct val="90000"/>
              </a:lnSpc>
              <a:buFont typeface="Monotype Sorts" pitchFamily="-84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Symbol" panose="05050102010706020507" pitchFamily="18" charset="2"/>
              </a:rPr>
              <a:t>Does </a:t>
            </a:r>
            <a:r>
              <a:rPr lang="en-US" altLang="en-US" sz="1600" i="1" dirty="0">
                <a:sym typeface="Symbol" panose="05050102010706020507" pitchFamily="18" charset="2"/>
              </a:rPr>
              <a:t>AG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R? == </a:t>
            </a:r>
            <a:r>
              <a:rPr lang="en-US" altLang="en-US" sz="1600" dirty="0">
                <a:sym typeface="Monotype Sorts" pitchFamily="-84" charset="2"/>
              </a:rPr>
              <a:t>Is </a:t>
            </a:r>
            <a:r>
              <a:rPr lang="en-US" altLang="en-US" sz="1600" dirty="0">
                <a:sym typeface="Symbol" panose="05050102010706020507" pitchFamily="18" charset="2"/>
              </a:rPr>
              <a:t>R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= </a:t>
            </a:r>
            <a:r>
              <a:rPr lang="en-US" altLang="en-US" sz="1600" dirty="0">
                <a:sym typeface="Monotype Sorts" pitchFamily="-84" charset="2"/>
              </a:rPr>
              <a:t>(AG)</a:t>
            </a:r>
            <a:r>
              <a:rPr lang="en-US" altLang="en-US" sz="1600" baseline="30000" dirty="0">
                <a:sym typeface="Monotype Sorts" pitchFamily="-84" charset="2"/>
              </a:rPr>
              <a:t>+ </a:t>
            </a:r>
            <a:endParaRPr lang="en-US" altLang="en-US" sz="1600" i="1" dirty="0">
              <a:sym typeface="Monotype Sorts" pitchFamily="-84" charset="2"/>
            </a:endParaRPr>
          </a:p>
          <a:p>
            <a:pPr marL="762000" lvl="1" indent="-304800">
              <a:lnSpc>
                <a:spcPct val="90000"/>
              </a:lnSpc>
              <a:buFont typeface="Monotype Sorts" pitchFamily="-84" charset="2"/>
              <a:buAutoNum type="arabicPeriod" startAt="2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Monotype Sorts" pitchFamily="-84" charset="2"/>
              </a:rPr>
              <a:t>Is any subset of AG a </a:t>
            </a:r>
            <a:r>
              <a:rPr lang="en-US" altLang="en-US" sz="1600" dirty="0" err="1">
                <a:sym typeface="Monotype Sorts" pitchFamily="-84" charset="2"/>
              </a:rPr>
              <a:t>superkey</a:t>
            </a:r>
            <a:r>
              <a:rPr lang="en-US" altLang="en-US" sz="1600" dirty="0">
                <a:sym typeface="Monotype Sorts" pitchFamily="-84" charset="2"/>
              </a:rPr>
              <a:t>?</a:t>
            </a:r>
          </a:p>
          <a:p>
            <a:pPr marL="1163638" lvl="2" indent="-304800">
              <a:lnSpc>
                <a:spcPct val="90000"/>
              </a:lnSpc>
              <a:buFont typeface="Monotype Sorts" pitchFamily="-84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Monotype Sorts" pitchFamily="-84" charset="2"/>
              </a:rPr>
              <a:t>Does </a:t>
            </a:r>
            <a:r>
              <a:rPr lang="en-US" altLang="en-US" sz="1600" i="1" dirty="0">
                <a:sym typeface="Monotype Sorts" pitchFamily="-84" charset="2"/>
              </a:rPr>
              <a:t>A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R</a:t>
            </a:r>
            <a:r>
              <a:rPr lang="en-US" altLang="en-US" sz="1600" dirty="0">
                <a:sym typeface="Monotype Sorts" pitchFamily="-84" charset="2"/>
              </a:rPr>
              <a:t>? </a:t>
            </a:r>
            <a:r>
              <a:rPr lang="en-US" altLang="en-US" sz="1600" i="1" dirty="0">
                <a:sym typeface="Monotype Sorts" pitchFamily="-84" charset="2"/>
              </a:rPr>
              <a:t>== </a:t>
            </a:r>
            <a:r>
              <a:rPr lang="en-US" altLang="en-US" sz="1600" dirty="0">
                <a:sym typeface="Monotype Sorts" pitchFamily="-84" charset="2"/>
              </a:rPr>
              <a:t>Is </a:t>
            </a:r>
            <a:r>
              <a:rPr lang="en-US" altLang="en-US" sz="1600" dirty="0">
                <a:sym typeface="Symbol" panose="05050102010706020507" pitchFamily="18" charset="2"/>
              </a:rPr>
              <a:t>R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 = </a:t>
            </a:r>
            <a:r>
              <a:rPr lang="en-US" altLang="en-US" sz="1600" dirty="0">
                <a:sym typeface="Monotype Sorts" pitchFamily="-84" charset="2"/>
              </a:rPr>
              <a:t>(A)</a:t>
            </a:r>
            <a:r>
              <a:rPr lang="en-US" altLang="en-US" sz="1600" baseline="30000" dirty="0">
                <a:sym typeface="Monotype Sorts" pitchFamily="-84" charset="2"/>
              </a:rPr>
              <a:t>+   </a:t>
            </a:r>
            <a:endParaRPr lang="en-US" altLang="en-US" sz="1600" dirty="0">
              <a:sym typeface="Monotype Sorts" pitchFamily="-84" charset="2"/>
            </a:endParaRPr>
          </a:p>
          <a:p>
            <a:pPr marL="1163638" lvl="2" indent="-304800">
              <a:lnSpc>
                <a:spcPct val="90000"/>
              </a:lnSpc>
              <a:buFont typeface="Monotype Sorts" pitchFamily="-84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Monotype Sorts" pitchFamily="-84" charset="2"/>
              </a:rPr>
              <a:t>Does </a:t>
            </a:r>
            <a:r>
              <a:rPr lang="en-US" altLang="en-US" sz="1600" i="1" dirty="0">
                <a:sym typeface="Monotype Sorts" pitchFamily="-84" charset="2"/>
              </a:rPr>
              <a:t>G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</a:t>
            </a:r>
            <a:r>
              <a:rPr lang="en-US" altLang="en-US" sz="1600" dirty="0">
                <a:sym typeface="Monotype Sorts" pitchFamily="-84" charset="2"/>
              </a:rPr>
              <a:t> </a:t>
            </a:r>
            <a:r>
              <a:rPr lang="en-US" altLang="en-US" sz="1600" i="1" dirty="0">
                <a:sym typeface="Monotype Sorts" pitchFamily="-84" charset="2"/>
              </a:rPr>
              <a:t>R</a:t>
            </a:r>
            <a:r>
              <a:rPr lang="en-US" altLang="en-US" sz="1600" dirty="0">
                <a:sym typeface="Monotype Sorts" pitchFamily="-84" charset="2"/>
              </a:rPr>
              <a:t>? == Is </a:t>
            </a:r>
            <a:r>
              <a:rPr lang="en-US" altLang="en-US" sz="1600" dirty="0">
                <a:sym typeface="Symbol" panose="05050102010706020507" pitchFamily="18" charset="2"/>
              </a:rPr>
              <a:t>R = </a:t>
            </a:r>
            <a:r>
              <a:rPr lang="en-US" altLang="en-US" sz="1600" dirty="0">
                <a:sym typeface="Monotype Sorts" pitchFamily="-84" charset="2"/>
              </a:rPr>
              <a:t>(G)</a:t>
            </a:r>
            <a:r>
              <a:rPr lang="en-US" altLang="en-US" sz="1600" baseline="30000" dirty="0">
                <a:sym typeface="Monotype Sorts" pitchFamily="-84" charset="2"/>
              </a:rPr>
              <a:t>+ </a:t>
            </a:r>
          </a:p>
          <a:p>
            <a:pPr marL="1163638" lvl="2" indent="-304800">
              <a:lnSpc>
                <a:spcPct val="90000"/>
              </a:lnSpc>
              <a:buFont typeface="Monotype Sorts" pitchFamily="-84" charset="2"/>
              <a:buAutoNum type="arabicPeriod"/>
              <a:tabLst>
                <a:tab pos="803275" algn="l"/>
                <a:tab pos="2633663" algn="l"/>
                <a:tab pos="3140075" algn="l"/>
              </a:tabLst>
            </a:pPr>
            <a:r>
              <a:rPr lang="en-US" altLang="en-US" sz="1600" dirty="0">
                <a:sym typeface="Monotype Sorts" pitchFamily="-84" charset="2"/>
              </a:rPr>
              <a:t>In general: check for each subset of size </a:t>
            </a:r>
            <a:r>
              <a:rPr lang="en-US" altLang="en-US" sz="1600" i="1" dirty="0">
                <a:sym typeface="Monotype Sorts" pitchFamily="-84" charset="2"/>
              </a:rPr>
              <a:t>n-1</a:t>
            </a:r>
            <a:endParaRPr lang="en-US" altLang="en-US" sz="1600" i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864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5" grpId="0" build="p" bldLvl="2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0" y="1539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Uses of Attribute Closure</a:t>
            </a:r>
          </a:p>
        </p:txBody>
      </p:sp>
      <p:sp>
        <p:nvSpPr>
          <p:cNvPr id="71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0114" y="1093788"/>
            <a:ext cx="7563774" cy="448886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There are several uses of the attribute closure algorithm: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Testing for </a:t>
            </a:r>
            <a:r>
              <a:rPr lang="en-US" altLang="en-US" dirty="0" err="1"/>
              <a:t>superkey</a:t>
            </a:r>
            <a:r>
              <a:rPr lang="en-US" altLang="en-US" dirty="0"/>
              <a:t>: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/>
              <a:t>To test if </a:t>
            </a:r>
            <a:r>
              <a:rPr lang="en-US" altLang="en-US" dirty="0">
                <a:sym typeface="Symbol" panose="05050102010706020507" pitchFamily="18" charset="2"/>
              </a:rPr>
              <a:t> is a </a:t>
            </a:r>
            <a:r>
              <a:rPr lang="en-US" altLang="en-US" dirty="0" err="1">
                <a:sym typeface="Symbol" panose="05050102010706020507" pitchFamily="18" charset="2"/>
              </a:rPr>
              <a:t>superkey</a:t>
            </a:r>
            <a:r>
              <a:rPr lang="en-US" altLang="en-US" dirty="0">
                <a:sym typeface="Symbol" panose="05050102010706020507" pitchFamily="18" charset="2"/>
              </a:rPr>
              <a:t>, we compute </a:t>
            </a:r>
            <a:r>
              <a:rPr lang="en-US" altLang="en-US" baseline="30000" dirty="0">
                <a:sym typeface="Symbol" panose="05050102010706020507" pitchFamily="18" charset="2"/>
              </a:rPr>
              <a:t>+,</a:t>
            </a:r>
            <a:r>
              <a:rPr lang="en-US" altLang="en-US" dirty="0">
                <a:sym typeface="Symbol" panose="05050102010706020507" pitchFamily="18" charset="2"/>
              </a:rPr>
              <a:t> and check if </a:t>
            </a:r>
            <a:r>
              <a:rPr lang="en-US" altLang="en-US" baseline="30000" dirty="0">
                <a:sym typeface="Symbol" panose="05050102010706020507" pitchFamily="18" charset="2"/>
              </a:rPr>
              <a:t>+ </a:t>
            </a:r>
            <a:r>
              <a:rPr lang="en-US" altLang="en-US" dirty="0">
                <a:sym typeface="Symbol" panose="05050102010706020507" pitchFamily="18" charset="2"/>
              </a:rPr>
              <a:t>contains all attributes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sym typeface="Symbol" panose="05050102010706020507" pitchFamily="18" charset="2"/>
              </a:rPr>
              <a:t>Testing functional dependencies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To check if a functional dependency    holds (or, in other words, is in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), just check if   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That is, we compute </a:t>
            </a:r>
            <a:r>
              <a:rPr lang="en-US" altLang="en-US" baseline="30000" dirty="0">
                <a:sym typeface="Symbol" panose="05050102010706020507" pitchFamily="18" charset="2"/>
              </a:rPr>
              <a:t>+ </a:t>
            </a:r>
            <a:r>
              <a:rPr lang="en-US" altLang="en-US" dirty="0">
                <a:sym typeface="Symbol" panose="05050102010706020507" pitchFamily="18" charset="2"/>
              </a:rPr>
              <a:t>by using attribute closure, and then check if it contains .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Is a simple and cheap test, and very useful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>
                <a:sym typeface="Symbol" panose="05050102010706020507" pitchFamily="18" charset="2"/>
              </a:rPr>
              <a:t>Computing closure of F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For each   </a:t>
            </a:r>
            <a:r>
              <a:rPr lang="en-US" altLang="en-US" i="1" dirty="0">
                <a:sym typeface="Symbol" panose="05050102010706020507" pitchFamily="18" charset="2"/>
              </a:rPr>
              <a:t>R, </a:t>
            </a:r>
            <a:r>
              <a:rPr lang="en-US" altLang="en-US" dirty="0">
                <a:sym typeface="Symbol" panose="05050102010706020507" pitchFamily="18" charset="2"/>
              </a:rPr>
              <a:t>we find the closure 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, and for each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 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, we output a functional dependency   </a:t>
            </a:r>
            <a:r>
              <a:rPr lang="en-US" altLang="en-US" i="1" dirty="0">
                <a:sym typeface="Symbol" panose="05050102010706020507" pitchFamily="18" charset="2"/>
              </a:rPr>
              <a:t>S.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404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85243" y="2286000"/>
            <a:ext cx="3901320" cy="147955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Normal Forms</a:t>
            </a:r>
          </a:p>
        </p:txBody>
      </p:sp>
    </p:spTree>
    <p:extLst>
      <p:ext uri="{BB962C8B-B14F-4D97-AF65-F5344CB8AC3E}">
        <p14:creationId xmlns:p14="http://schemas.microsoft.com/office/powerpoint/2010/main" val="201582762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Boyce-Codd Normal Form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541149" cy="319064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A relation schema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BCNF with respect to a set </a:t>
            </a:r>
            <a:r>
              <a:rPr lang="en-US" altLang="en-US" sz="1700" i="1" dirty="0"/>
              <a:t>F</a:t>
            </a:r>
            <a:r>
              <a:rPr lang="en-US" altLang="en-US" sz="1700" dirty="0"/>
              <a:t> of functional  dependencies if for all functional dependencies in </a:t>
            </a:r>
            <a:r>
              <a:rPr lang="en-US" altLang="en-US" sz="1700" i="1" dirty="0"/>
              <a:t>F</a:t>
            </a:r>
            <a:r>
              <a:rPr lang="en-US" altLang="en-US" sz="1700" baseline="30000" dirty="0"/>
              <a:t>+</a:t>
            </a:r>
            <a:r>
              <a:rPr lang="en-US" altLang="en-US" sz="1700" dirty="0"/>
              <a:t> of the form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>
                <a:sym typeface="Symbol" panose="05050102010706020507" pitchFamily="18" charset="2"/>
              </a:rPr>
              <a:t>                 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endParaRPr lang="en-US" altLang="en-US" sz="1700" i="1" dirty="0">
              <a:sym typeface="Greek Symbols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700" i="1" dirty="0">
                <a:sym typeface="Greek Symbols"/>
              </a:rPr>
              <a:t>      </a:t>
            </a:r>
            <a:r>
              <a:rPr lang="en-US" altLang="en-US" sz="1700" dirty="0">
                <a:sym typeface="Greek Symbols"/>
              </a:rPr>
              <a:t>where 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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 and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 </a:t>
            </a:r>
            <a:r>
              <a:rPr lang="en-US" altLang="en-US" sz="1700" i="1" dirty="0">
                <a:sym typeface="Symbol" panose="05050102010706020507" pitchFamily="18" charset="2"/>
              </a:rPr>
              <a:t>R</a:t>
            </a:r>
            <a:r>
              <a:rPr lang="en-US" altLang="en-US" sz="1700" dirty="0">
                <a:sym typeface="Symbol" panose="05050102010706020507" pitchFamily="18" charset="2"/>
              </a:rPr>
              <a:t>,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at least one of the following holds: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 </a:t>
            </a:r>
            <a:r>
              <a:rPr lang="en-US" altLang="en-US" sz="1700" dirty="0">
                <a:sym typeface="Greek Symbols"/>
              </a:rPr>
              <a:t>is trivial (i.e.,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 </a:t>
            </a:r>
            <a:r>
              <a:rPr lang="en-US" altLang="en-US" sz="1700" dirty="0">
                <a:sym typeface="Greek Symbols"/>
              </a:rPr>
              <a:t>)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is a </a:t>
            </a:r>
            <a:r>
              <a:rPr lang="en-US" altLang="en-US" sz="1700" dirty="0" err="1">
                <a:sym typeface="Greek Symbols"/>
              </a:rPr>
              <a:t>superkey</a:t>
            </a:r>
            <a:r>
              <a:rPr lang="en-US" altLang="en-US" sz="1700" dirty="0">
                <a:sym typeface="Greek Symbols"/>
              </a:rPr>
              <a:t> for </a:t>
            </a:r>
            <a:r>
              <a:rPr lang="en-US" altLang="en-US" sz="1700" i="1" dirty="0">
                <a:sym typeface="Greek Symbols"/>
              </a:rPr>
              <a:t>R</a:t>
            </a:r>
          </a:p>
          <a:p>
            <a:endParaRPr lang="en-US" altLang="en-US" i="1" dirty="0">
              <a:sym typeface="Greek Symbols"/>
            </a:endParaRPr>
          </a:p>
          <a:p>
            <a:r>
              <a:rPr lang="zh-TW" altLang="en-US" dirty="0">
                <a:sym typeface="Greek Symbols"/>
              </a:rPr>
              <a:t>在後續的討論中，有時為了簡化起見，我們會直接使用</a:t>
            </a:r>
            <a:r>
              <a:rPr lang="en-US" altLang="zh-TW" dirty="0">
                <a:sym typeface="Greek Symbols"/>
              </a:rPr>
              <a:t>F</a:t>
            </a:r>
            <a:r>
              <a:rPr lang="zh-TW" altLang="en-US" dirty="0">
                <a:sym typeface="Greek Symbols"/>
              </a:rPr>
              <a:t>而不是</a:t>
            </a:r>
            <a:r>
              <a:rPr lang="en-US" altLang="en-US" dirty="0"/>
              <a:t>F</a:t>
            </a:r>
            <a:r>
              <a:rPr lang="en-US" altLang="en-US" baseline="30000" dirty="0"/>
              <a:t>+</a:t>
            </a:r>
            <a:endParaRPr lang="en-US" altLang="en-US" dirty="0">
              <a:sym typeface="Greek Symbols"/>
            </a:endParaRPr>
          </a:p>
          <a:p>
            <a:endParaRPr lang="en-US" altLang="en-US" sz="2000" i="1" dirty="0">
              <a:sym typeface="Greek Symbols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5138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Boyce-Codd Normal Form (Cont.)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774928" cy="372535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Example schema  that is </a:t>
            </a:r>
            <a:r>
              <a:rPr lang="en-US" altLang="en-US" sz="1700" b="1" i="1" dirty="0"/>
              <a:t>not</a:t>
            </a:r>
            <a:r>
              <a:rPr lang="en-US" altLang="en-US" sz="1700" dirty="0"/>
              <a:t>  in BCNF: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 </a:t>
            </a:r>
            <a:r>
              <a:rPr lang="en-US" altLang="en-US" sz="1700" i="1" dirty="0" err="1"/>
              <a:t>in_dep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u="sng" dirty="0"/>
              <a:t>ID, </a:t>
            </a:r>
            <a:r>
              <a:rPr lang="en-US" altLang="en-US" sz="1700" i="1" dirty="0"/>
              <a:t>name, salary</a:t>
            </a:r>
            <a:r>
              <a:rPr lang="en-US" altLang="en-US" sz="1700" i="1" u="sng" dirty="0"/>
              <a:t>, </a:t>
            </a:r>
            <a:r>
              <a:rPr lang="en-US" altLang="en-US" sz="1700" i="1" u="sng" dirty="0" err="1"/>
              <a:t>dept_name</a:t>
            </a:r>
            <a:r>
              <a:rPr lang="en-US" altLang="en-US" sz="1700" i="1" u="sng" dirty="0"/>
              <a:t>, </a:t>
            </a:r>
            <a:r>
              <a:rPr lang="en-US" altLang="en-US" sz="1700" i="1" dirty="0"/>
              <a:t>building, budget 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because :</a:t>
            </a:r>
          </a:p>
          <a:p>
            <a:pPr lvl="1"/>
            <a:r>
              <a:rPr lang="en-US" altLang="en-US" sz="1700" i="1" dirty="0" err="1"/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building, budget  </a:t>
            </a:r>
          </a:p>
          <a:p>
            <a:pPr lvl="2"/>
            <a:r>
              <a:rPr lang="en-US" altLang="en-US" sz="1700" dirty="0">
                <a:sym typeface="Monotype Sorts" pitchFamily="-84" charset="2"/>
              </a:rPr>
              <a:t>holds on </a:t>
            </a:r>
            <a:r>
              <a:rPr lang="en-US" altLang="en-US" sz="1700" i="1" dirty="0" err="1">
                <a:sym typeface="Monotype Sorts" pitchFamily="-84" charset="2"/>
              </a:rPr>
              <a:t>in_dep</a:t>
            </a:r>
            <a:endParaRPr lang="en-US" altLang="en-US" sz="1700" i="1" dirty="0">
              <a:sym typeface="Monotype Sorts" pitchFamily="-84" charset="2"/>
            </a:endParaRPr>
          </a:p>
          <a:p>
            <a:pPr lvl="2"/>
            <a:r>
              <a:rPr lang="en-US" altLang="en-US" sz="1700" dirty="0">
                <a:sym typeface="Monotype Sorts" pitchFamily="-84" charset="2"/>
              </a:rPr>
              <a:t>but </a:t>
            </a:r>
          </a:p>
          <a:p>
            <a:pPr lvl="1"/>
            <a:r>
              <a:rPr lang="en-US" altLang="en-US" sz="1700" i="1" dirty="0" err="1">
                <a:sym typeface="Monotype Sorts" pitchFamily="-84" charset="2"/>
              </a:rPr>
              <a:t>dept_name</a:t>
            </a:r>
            <a:r>
              <a:rPr lang="en-US" altLang="en-US" sz="1700" dirty="0">
                <a:sym typeface="Monotype Sorts" pitchFamily="-84" charset="2"/>
              </a:rPr>
              <a:t> is not a </a:t>
            </a:r>
            <a:r>
              <a:rPr lang="en-US" altLang="en-US" sz="1700" dirty="0" err="1">
                <a:sym typeface="Monotype Sorts" pitchFamily="-84" charset="2"/>
              </a:rPr>
              <a:t>superkey</a:t>
            </a:r>
            <a:endParaRPr lang="en-US" altLang="en-US" sz="1700" dirty="0">
              <a:sym typeface="Monotype Sorts" pitchFamily="-84" charset="2"/>
            </a:endParaRPr>
          </a:p>
          <a:p>
            <a:r>
              <a:rPr lang="en-US" altLang="en-US" sz="1700" dirty="0">
                <a:sym typeface="Monotype Sorts" pitchFamily="-84" charset="2"/>
              </a:rPr>
              <a:t>When decompose  </a:t>
            </a:r>
            <a:r>
              <a:rPr lang="en-US" altLang="en-US" sz="1700" i="1" dirty="0" err="1">
                <a:sym typeface="Monotype Sorts" pitchFamily="-84" charset="2"/>
              </a:rPr>
              <a:t>in_dept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Monotype Sorts" pitchFamily="-84" charset="2"/>
              </a:rPr>
              <a:t>into</a:t>
            </a:r>
            <a:r>
              <a:rPr lang="en-US" altLang="en-US" sz="1700" i="1" dirty="0">
                <a:sym typeface="Monotype Sorts" pitchFamily="-84" charset="2"/>
              </a:rPr>
              <a:t> instructor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department 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instructor</a:t>
            </a:r>
            <a:r>
              <a:rPr lang="en-US" altLang="en-US" sz="1700" dirty="0">
                <a:sym typeface="Monotype Sorts" pitchFamily="-84" charset="2"/>
              </a:rPr>
              <a:t>  is in BCNF</a:t>
            </a:r>
          </a:p>
          <a:p>
            <a:pPr lvl="1"/>
            <a:r>
              <a:rPr lang="en-US" altLang="en-US" sz="1700" i="1" dirty="0">
                <a:sym typeface="Monotype Sorts" pitchFamily="-84" charset="2"/>
              </a:rPr>
              <a:t>department </a:t>
            </a:r>
            <a:r>
              <a:rPr lang="en-US" altLang="en-US" sz="1700" dirty="0">
                <a:sym typeface="Monotype Sorts" pitchFamily="-84" charset="2"/>
              </a:rPr>
              <a:t>is in BCNF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Monotype Sorts" pitchFamily="-84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Monotype Sorts" pitchFamily="-84" charset="2"/>
            </a:endParaRPr>
          </a:p>
          <a:p>
            <a:endParaRPr lang="en-US" altLang="en-US" sz="2000" i="1" dirty="0">
              <a:sym typeface="Greek Symbols"/>
            </a:endParaRPr>
          </a:p>
          <a:p>
            <a:endParaRPr lang="en-US" altLang="en-US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2074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Decomposing a Schema into BCNF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9"/>
            <a:ext cx="7590342" cy="433495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Let  R be a schema </a:t>
            </a:r>
            <a:r>
              <a:rPr lang="en-US" altLang="en-US" sz="1700" i="1" dirty="0"/>
              <a:t>R  </a:t>
            </a:r>
            <a:r>
              <a:rPr lang="en-US" altLang="en-US" sz="1700" dirty="0"/>
              <a:t>that is not in BCNF.  Let 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kumimoji="0"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  </a:t>
            </a:r>
            <a:r>
              <a:rPr lang="en-US" altLang="en-US" sz="1700" dirty="0">
                <a:sym typeface="Greek Symbols"/>
              </a:rPr>
              <a:t>be the FD that </a:t>
            </a:r>
            <a:r>
              <a:rPr lang="en-US" altLang="en-US" sz="1700" dirty="0"/>
              <a:t>causes a violation of BCNF.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We decompose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into:</a:t>
            </a:r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1700" dirty="0"/>
              <a:t>(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U </a:t>
            </a:r>
            <a:r>
              <a:rPr lang="en-US" altLang="en-US" sz="1700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)</a:t>
            </a:r>
            <a:endParaRPr lang="en-US" altLang="en-US" sz="1700" dirty="0"/>
          </a:p>
          <a:p>
            <a:pPr lvl="1">
              <a:lnSpc>
                <a:spcPct val="90000"/>
              </a:lnSpc>
              <a:buFont typeface="Times" panose="02020603050405020304" pitchFamily="18" charset="0"/>
              <a:buChar char="•"/>
            </a:pPr>
            <a:r>
              <a:rPr lang="en-US" altLang="en-US" sz="1700" dirty="0"/>
              <a:t>( </a:t>
            </a:r>
            <a:r>
              <a:rPr lang="en-US" altLang="en-US" sz="1700" i="1" dirty="0"/>
              <a:t>R</a:t>
            </a:r>
            <a:r>
              <a:rPr lang="en-US" altLang="en-US" sz="1700" dirty="0"/>
              <a:t> - </a:t>
            </a: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 )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In our example of </a:t>
            </a:r>
            <a:r>
              <a:rPr lang="en-US" altLang="en-US" sz="1700" i="1" dirty="0" err="1"/>
              <a:t>in_dep</a:t>
            </a:r>
            <a:r>
              <a:rPr lang="en-US" altLang="en-US" sz="1700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>
                <a:sym typeface="Symbol" panose="05050102010706020507" pitchFamily="18" charset="2"/>
              </a:rPr>
              <a:t> =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endParaRPr lang="en-US" altLang="en-US" sz="17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=</a:t>
            </a:r>
            <a:r>
              <a:rPr lang="en-US" altLang="en-US" sz="1700" i="1" dirty="0">
                <a:sym typeface="Symbol" panose="05050102010706020507" pitchFamily="18" charset="2"/>
              </a:rPr>
              <a:t> building, budget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700" dirty="0"/>
              <a:t>and </a:t>
            </a:r>
            <a:r>
              <a:rPr lang="en-US" altLang="en-US" sz="1700" i="1" dirty="0" err="1"/>
              <a:t>in_dep</a:t>
            </a:r>
            <a:r>
              <a:rPr lang="en-US" altLang="en-US" sz="1700" i="1" dirty="0"/>
              <a:t> </a:t>
            </a:r>
            <a:r>
              <a:rPr lang="en-US" altLang="en-US" sz="1700" dirty="0"/>
              <a:t>is replaced by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 (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U </a:t>
            </a:r>
            <a:r>
              <a:rPr lang="en-US" altLang="en-US" sz="1700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) = (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Symbol" panose="05050102010706020507" pitchFamily="18" charset="2"/>
              </a:rPr>
              <a:t>, building, budget</a:t>
            </a:r>
            <a:r>
              <a:rPr lang="en-US" altLang="en-US" sz="1700" dirty="0">
                <a:sym typeface="Symbol" panose="05050102010706020507" pitchFamily="18" charset="2"/>
              </a:rPr>
              <a:t> )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 &lt;- </a:t>
            </a:r>
            <a:r>
              <a:rPr lang="en-US" altLang="zh-TW" u="sng" dirty="0">
                <a:ea typeface="新細明體" pitchFamily="18" charset="-120"/>
                <a:sym typeface="Symbol" pitchFamily="18" charset="2"/>
              </a:rPr>
              <a:t>department relation</a:t>
            </a:r>
            <a:endParaRPr lang="en-US" altLang="en-US" sz="1700" u="sng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( </a:t>
            </a:r>
            <a:r>
              <a:rPr lang="en-US" altLang="en-US" sz="1700" i="1" dirty="0"/>
              <a:t>R</a:t>
            </a:r>
            <a:r>
              <a:rPr lang="en-US" altLang="en-US" sz="1700" dirty="0"/>
              <a:t> - </a:t>
            </a:r>
            <a:r>
              <a:rPr lang="en-US" altLang="en-US" sz="1700" i="1" dirty="0">
                <a:sym typeface="Symbol" panose="05050102010706020507" pitchFamily="18" charset="2"/>
              </a:rPr>
              <a:t> </a:t>
            </a:r>
            <a:r>
              <a:rPr lang="en-US" altLang="en-US" sz="1700" dirty="0">
                <a:sym typeface="Symbol" panose="05050102010706020507" pitchFamily="18" charset="2"/>
              </a:rPr>
              <a:t> ) = ( </a:t>
            </a:r>
            <a:r>
              <a:rPr lang="en-US" altLang="en-US" sz="1700" i="1" dirty="0">
                <a:sym typeface="Symbol" panose="05050102010706020507" pitchFamily="18" charset="2"/>
              </a:rPr>
              <a:t>ID, name,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Symbol" panose="05050102010706020507" pitchFamily="18" charset="2"/>
              </a:rPr>
              <a:t>, salary</a:t>
            </a:r>
            <a:r>
              <a:rPr lang="en-US" altLang="en-US" sz="1700" dirty="0">
                <a:sym typeface="Symbol" panose="05050102010706020507" pitchFamily="18" charset="2"/>
              </a:rPr>
              <a:t> )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 &lt;- </a:t>
            </a:r>
            <a:r>
              <a:rPr lang="en-US" altLang="zh-TW" u="sng" dirty="0">
                <a:ea typeface="新細明體" pitchFamily="18" charset="-120"/>
                <a:sym typeface="Symbol" pitchFamily="18" charset="2"/>
              </a:rPr>
              <a:t>instructor relation</a:t>
            </a:r>
            <a:endParaRPr lang="en-US" altLang="en-US" sz="1700" u="sng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6254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a typeface="ＭＳ Ｐゴシック" pitchFamily="34" charset="-128"/>
              </a:rPr>
              <a:t>Example</a:t>
            </a:r>
          </a:p>
        </p:txBody>
      </p:sp>
      <p:sp>
        <p:nvSpPr>
          <p:cNvPr id="92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9"/>
            <a:ext cx="7607554" cy="4502340"/>
          </a:xfrm>
        </p:spPr>
        <p:txBody>
          <a:bodyPr/>
          <a:lstStyle/>
          <a:p>
            <a:pPr>
              <a:tabLst>
                <a:tab pos="2054225" algn="l"/>
              </a:tabLst>
            </a:pPr>
            <a:r>
              <a:rPr lang="en-US" altLang="en-US" sz="1700" i="1" dirty="0"/>
              <a:t>R = (A, B, C)</a:t>
            </a:r>
            <a:br>
              <a:rPr lang="en-US" altLang="en-US" sz="1700" i="1" dirty="0"/>
            </a:br>
            <a:r>
              <a:rPr lang="en-US" altLang="en-US" sz="1700" i="1" dirty="0"/>
              <a:t>F = {A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B, 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C</a:t>
            </a:r>
            <a:r>
              <a:rPr lang="en-US" altLang="zh-TW" i="1" dirty="0">
                <a:sym typeface="Monotype Sorts" pitchFamily="-84" charset="2"/>
              </a:rPr>
              <a:t>}</a:t>
            </a:r>
            <a:endParaRPr lang="en-US" altLang="en-US" sz="1700" i="1" dirty="0">
              <a:sym typeface="Monotype Sorts" pitchFamily="-84" charset="2"/>
            </a:endParaRPr>
          </a:p>
          <a:p>
            <a:pPr marL="0" indent="0">
              <a:buNone/>
              <a:tabLst>
                <a:tab pos="2054225" algn="l"/>
              </a:tabLst>
            </a:pPr>
            <a:r>
              <a:rPr lang="zh-TW" altLang="en-US" i="1" dirty="0">
                <a:sym typeface="Monotype Sorts" pitchFamily="-84" charset="2"/>
              </a:rPr>
              <a:t>      </a:t>
            </a:r>
            <a:r>
              <a:rPr lang="en-US" altLang="zh-TW" i="1" dirty="0">
                <a:sym typeface="Monotype Sorts" pitchFamily="-84" charset="2"/>
              </a:rPr>
              <a:t>=&gt;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A</a:t>
            </a:r>
            <a:r>
              <a:rPr lang="en-US" altLang="zh-TW" i="1" baseline="30000" dirty="0">
                <a:sym typeface="Monotype Sorts" pitchFamily="-84" charset="2"/>
              </a:rPr>
              <a:t>+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=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ABC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=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R,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B</a:t>
            </a:r>
            <a:r>
              <a:rPr lang="en-US" altLang="zh-TW" i="1" baseline="30000" dirty="0">
                <a:sym typeface="Monotype Sorts" pitchFamily="-84" charset="2"/>
              </a:rPr>
              <a:t>+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=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BC</a:t>
            </a:r>
            <a:r>
              <a:rPr lang="zh-TW" altLang="en-US" i="1" dirty="0">
                <a:sym typeface="Monotype Sorts" pitchFamily="-84" charset="2"/>
              </a:rPr>
              <a:t> 非 </a:t>
            </a:r>
            <a:r>
              <a:rPr lang="en-US" altLang="zh-TW" i="1" dirty="0">
                <a:sym typeface="Monotype Sorts" pitchFamily="-84" charset="2"/>
              </a:rPr>
              <a:t>R.</a:t>
            </a:r>
            <a:endParaRPr lang="en-US" altLang="en-US" i="1" dirty="0">
              <a:sym typeface="Monotype Sorts" pitchFamily="-84" charset="2"/>
            </a:endParaRPr>
          </a:p>
          <a:p>
            <a:pPr marL="0" indent="0">
              <a:buNone/>
              <a:tabLst>
                <a:tab pos="2054225" algn="l"/>
              </a:tabLst>
            </a:pPr>
            <a:r>
              <a:rPr lang="zh-TW" altLang="en-US" i="1" dirty="0">
                <a:sym typeface="Monotype Sorts" pitchFamily="-84" charset="2"/>
              </a:rPr>
              <a:t>      </a:t>
            </a:r>
            <a:r>
              <a:rPr lang="en-US" altLang="zh-TW" i="1" dirty="0">
                <a:sym typeface="Monotype Sorts" pitchFamily="-84" charset="2"/>
              </a:rPr>
              <a:t>=&gt;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B</a:t>
            </a:r>
            <a:r>
              <a:rPr lang="zh-TW" altLang="en-US" dirty="0">
                <a:sym typeface="Monotype Sorts" pitchFamily="-84" charset="2"/>
              </a:rPr>
              <a:t>不是</a:t>
            </a:r>
            <a:r>
              <a:rPr lang="en-US" altLang="zh-TW" dirty="0" err="1">
                <a:sym typeface="Monotype Sorts" pitchFamily="-84" charset="2"/>
              </a:rPr>
              <a:t>superkey</a:t>
            </a:r>
            <a:endParaRPr lang="en-US" altLang="zh-TW" dirty="0">
              <a:sym typeface="Monotype Sorts" pitchFamily="-84" charset="2"/>
            </a:endParaRPr>
          </a:p>
          <a:p>
            <a:pPr marL="0" indent="0">
              <a:buNone/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      =&gt; B-&gt;C </a:t>
            </a:r>
            <a:r>
              <a:rPr lang="zh-TW" altLang="en-US" sz="1700" dirty="0">
                <a:sym typeface="Monotype Sorts" pitchFamily="-84" charset="2"/>
              </a:rPr>
              <a:t>使得</a:t>
            </a:r>
            <a:r>
              <a:rPr lang="en-US" altLang="zh-TW" sz="1700" i="1" dirty="0">
                <a:sym typeface="Monotype Sorts" pitchFamily="-84" charset="2"/>
              </a:rPr>
              <a:t>R</a:t>
            </a:r>
            <a:r>
              <a:rPr lang="zh-TW" altLang="en-US" sz="1700" i="1" dirty="0">
                <a:sym typeface="Monotype Sorts" pitchFamily="-84" charset="2"/>
              </a:rPr>
              <a:t>不</a:t>
            </a:r>
            <a:r>
              <a:rPr lang="zh-TW" altLang="en-US" sz="1700" dirty="0">
                <a:sym typeface="Monotype Sorts" pitchFamily="-84" charset="2"/>
              </a:rPr>
              <a:t>符合</a:t>
            </a:r>
            <a:r>
              <a:rPr lang="en-US" altLang="zh-TW" sz="1700" dirty="0">
                <a:sym typeface="Monotype Sorts" pitchFamily="-84" charset="2"/>
              </a:rPr>
              <a:t>BCNF</a:t>
            </a:r>
            <a:endParaRPr lang="en-US" altLang="en-US" sz="1700" dirty="0">
              <a:sym typeface="Monotype Sorts" pitchFamily="-84" charset="2"/>
            </a:endParaRPr>
          </a:p>
          <a:p>
            <a:pPr>
              <a:tabLst>
                <a:tab pos="2054225" algn="l"/>
              </a:tabLst>
            </a:pP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</a:t>
            </a:r>
            <a:r>
              <a:rPr lang="en-US" altLang="en-US" sz="1700" i="1" dirty="0">
                <a:sym typeface="Monotype Sorts" pitchFamily="-84" charset="2"/>
              </a:rPr>
              <a:t> = (A, B),   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(B, C)</a:t>
            </a: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R1</a:t>
            </a:r>
            <a:r>
              <a:rPr lang="zh-TW" altLang="en-US" sz="1700" dirty="0">
                <a:sym typeface="Monotype Sorts" pitchFamily="-84" charset="2"/>
              </a:rPr>
              <a:t>和</a:t>
            </a:r>
            <a:r>
              <a:rPr lang="en-US" altLang="zh-TW" sz="1700" dirty="0">
                <a:sym typeface="Monotype Sorts" pitchFamily="-84" charset="2"/>
              </a:rPr>
              <a:t>R2</a:t>
            </a:r>
            <a:r>
              <a:rPr lang="zh-TW" altLang="en-US" sz="1700" dirty="0">
                <a:sym typeface="Monotype Sorts" pitchFamily="-84" charset="2"/>
              </a:rPr>
              <a:t>都符合</a:t>
            </a:r>
            <a:r>
              <a:rPr lang="en-US" altLang="zh-TW" sz="1700" dirty="0">
                <a:sym typeface="Monotype Sorts" pitchFamily="-84" charset="2"/>
              </a:rPr>
              <a:t>BCNF</a:t>
            </a:r>
            <a:endParaRPr lang="en-US" altLang="en-US" sz="1700" dirty="0">
              <a:sym typeface="Monotype Sorts" pitchFamily="-84" charset="2"/>
            </a:endParaRPr>
          </a:p>
          <a:p>
            <a:pPr lvl="1"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Lossless-join decomposition:</a:t>
            </a:r>
          </a:p>
          <a:p>
            <a:pPr lvl="1">
              <a:buFont typeface="Monotype Sorts" pitchFamily="-84" charset="2"/>
              <a:buNone/>
              <a:tabLst>
                <a:tab pos="2054225" algn="l"/>
              </a:tabLst>
            </a:pPr>
            <a:r>
              <a:rPr lang="en-US" altLang="en-US" sz="1700" dirty="0">
                <a:sym typeface="Monotype Sorts" pitchFamily="-84" charset="2"/>
              </a:rPr>
              <a:t>		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1  </a:t>
            </a:r>
            <a:r>
              <a:rPr lang="en-US" altLang="en-US" sz="1700" dirty="0">
                <a:sym typeface="Symbol" panose="05050102010706020507" pitchFamily="18" charset="2"/>
              </a:rPr>
              <a:t> </a:t>
            </a:r>
            <a:r>
              <a:rPr lang="en-US" altLang="en-US" sz="1700" i="1" dirty="0">
                <a:sym typeface="Monotype Sorts" pitchFamily="-84" charset="2"/>
              </a:rPr>
              <a:t>R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i="1" dirty="0">
                <a:sym typeface="Monotype Sorts" pitchFamily="-84" charset="2"/>
              </a:rPr>
              <a:t> = </a:t>
            </a:r>
            <a:r>
              <a:rPr lang="en-US" altLang="en-US" sz="1700" dirty="0">
                <a:sym typeface="Monotype Sorts" pitchFamily="-84" charset="2"/>
              </a:rPr>
              <a:t>{</a:t>
            </a:r>
            <a:r>
              <a:rPr lang="en-US" altLang="en-US" sz="1700" i="1" dirty="0">
                <a:sym typeface="Monotype Sorts" pitchFamily="-84" charset="2"/>
              </a:rPr>
              <a:t>B</a:t>
            </a:r>
            <a:r>
              <a:rPr lang="en-US" altLang="en-US" sz="1700" dirty="0">
                <a:sym typeface="Monotype Sorts" pitchFamily="-84" charset="2"/>
              </a:rPr>
              <a:t>}</a:t>
            </a:r>
            <a:r>
              <a:rPr lang="en-US" altLang="en-US" sz="1700" i="1" dirty="0">
                <a:sym typeface="Monotype Sorts" pitchFamily="-84" charset="2"/>
              </a:rPr>
              <a:t>   </a:t>
            </a:r>
            <a:r>
              <a:rPr lang="en-US" altLang="en-US" sz="1700" dirty="0">
                <a:sym typeface="Monotype Sorts" pitchFamily="-84" charset="2"/>
              </a:rPr>
              <a:t>and </a:t>
            </a:r>
            <a:r>
              <a:rPr lang="en-US" altLang="en-US" sz="1700" i="1" dirty="0">
                <a:sym typeface="Monotype Sorts" pitchFamily="-84" charset="2"/>
              </a:rPr>
              <a:t>B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BC</a:t>
            </a:r>
          </a:p>
        </p:txBody>
      </p:sp>
    </p:spTree>
    <p:extLst>
      <p:ext uri="{BB962C8B-B14F-4D97-AF65-F5344CB8AC3E}">
        <p14:creationId xmlns:p14="http://schemas.microsoft.com/office/powerpoint/2010/main" val="280527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212725"/>
            <a:ext cx="7993062" cy="4413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Dependency Preservation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8"/>
            <a:ext cx="7930318" cy="5034450"/>
          </a:xfrm>
        </p:spPr>
        <p:txBody>
          <a:bodyPr/>
          <a:lstStyle/>
          <a:p>
            <a:r>
              <a:rPr lang="en-US" altLang="en-US" dirty="0"/>
              <a:t> Let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be the set of dependencies </a:t>
            </a:r>
            <a:r>
              <a:rPr lang="en-US" altLang="en-US" i="1" dirty="0"/>
              <a:t>F </a:t>
            </a:r>
            <a:r>
              <a:rPr lang="en-US" altLang="en-US" i="1" baseline="30000" dirty="0"/>
              <a:t>+</a:t>
            </a:r>
            <a:r>
              <a:rPr lang="en-US" altLang="en-US" dirty="0"/>
              <a:t> that include only attributes in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. </a:t>
            </a:r>
          </a:p>
          <a:p>
            <a:pPr lvl="1"/>
            <a:r>
              <a:rPr lang="en-US" altLang="en-US" dirty="0"/>
              <a:t> A  decomposition is </a:t>
            </a:r>
            <a:r>
              <a:rPr lang="en-US" altLang="en-US" b="1" dirty="0">
                <a:solidFill>
                  <a:srgbClr val="002060"/>
                </a:solidFill>
              </a:rPr>
              <a:t>dependency preserving</a:t>
            </a:r>
            <a:r>
              <a:rPr lang="en-US" altLang="en-US" dirty="0"/>
              <a:t>,  if</a:t>
            </a:r>
          </a:p>
          <a:p>
            <a:pPr lvl="1">
              <a:buFont typeface="Webdings" panose="05030102010509060703" pitchFamily="18" charset="2"/>
              <a:buNone/>
            </a:pPr>
            <a:r>
              <a:rPr lang="en-US" altLang="en-US" dirty="0"/>
              <a:t>           (</a:t>
            </a:r>
            <a:r>
              <a:rPr lang="en-US" altLang="en-US" i="1" dirty="0"/>
              <a:t>F</a:t>
            </a:r>
            <a:r>
              <a:rPr lang="en-US" altLang="en-US" baseline="-25000" dirty="0"/>
              <a:t>1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ym typeface="Symbol" panose="05050102010706020507" pitchFamily="18" charset="2"/>
              </a:rPr>
              <a:t> F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ym typeface="Symbol" panose="05050102010706020507" pitchFamily="18" charset="2"/>
              </a:rPr>
              <a:t> …</a:t>
            </a:r>
            <a:r>
              <a:rPr lang="en-US" altLang="en-US" dirty="0">
                <a:sym typeface="Symbol" panose="05050102010706020507" pitchFamily="18" charset="2"/>
              </a:rPr>
              <a:t> 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F</a:t>
            </a:r>
            <a:r>
              <a:rPr lang="en-US" altLang="en-US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i="1" baseline="30000" dirty="0">
                <a:sym typeface="Symbol" panose="05050102010706020507" pitchFamily="18" charset="2"/>
              </a:rPr>
              <a:t>+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Note that if a decomposition is NOT dependency preserving </a:t>
            </a:r>
            <a:r>
              <a:rPr lang="en-US" altLang="en-US" dirty="0"/>
              <a:t>then checking updates for violation of functional dependencies may require computing joins, which is expensive.</a:t>
            </a:r>
          </a:p>
          <a:p>
            <a:pPr marL="0" indent="0">
              <a:buNone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i="1" dirty="0" smtClean="0"/>
              <a:t>Example:</a:t>
            </a:r>
            <a:r>
              <a:rPr lang="zh-TW" altLang="en-US" i="1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對照</a:t>
            </a:r>
            <a:r>
              <a:rPr lang="en-US" altLang="zh-TW" dirty="0" smtClean="0"/>
              <a:t>p7.16)</a:t>
            </a:r>
            <a:endParaRPr lang="en-US" altLang="en-US" dirty="0"/>
          </a:p>
          <a:p>
            <a:r>
              <a:rPr lang="en-US" altLang="en-US" i="1" dirty="0"/>
              <a:t>R = (A, B, C)</a:t>
            </a:r>
            <a:br>
              <a:rPr lang="en-US" altLang="en-US" i="1" dirty="0"/>
            </a:br>
            <a:r>
              <a:rPr lang="en-US" altLang="en-US" i="1" dirty="0"/>
              <a:t>F = {A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B, 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C</a:t>
            </a:r>
            <a:r>
              <a:rPr lang="en-US" altLang="zh-TW" i="1" dirty="0">
                <a:sym typeface="Monotype Sorts" pitchFamily="-84" charset="2"/>
              </a:rPr>
              <a:t>}</a:t>
            </a:r>
            <a:endParaRPr lang="en-US" altLang="en-US" i="1" dirty="0">
              <a:sym typeface="Monotype Sorts" pitchFamily="-84" charset="2"/>
            </a:endParaRPr>
          </a:p>
          <a:p>
            <a:pPr marL="0" indent="0">
              <a:buNone/>
            </a:pPr>
            <a:r>
              <a:rPr lang="en-US" altLang="en-US" i="1" dirty="0">
                <a:sym typeface="Monotype Sorts" pitchFamily="-84" charset="2"/>
              </a:rPr>
              <a:t>     =&gt;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i="1" baseline="30000" dirty="0">
                <a:sym typeface="Symbol" panose="05050102010706020507" pitchFamily="18" charset="2"/>
              </a:rPr>
              <a:t>+ </a:t>
            </a:r>
            <a:r>
              <a:rPr lang="en-US" altLang="en-US" i="1" dirty="0">
                <a:sym typeface="Symbol" panose="05050102010706020507" pitchFamily="18" charset="2"/>
              </a:rPr>
              <a:t>=  </a:t>
            </a:r>
            <a:r>
              <a:rPr lang="en-US" altLang="en-US" i="1" dirty="0"/>
              <a:t>{A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B, 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C, A-&gt; C</a:t>
            </a:r>
            <a:r>
              <a:rPr lang="en-US" altLang="zh-TW" i="1" dirty="0">
                <a:sym typeface="Monotype Sorts" pitchFamily="-84" charset="2"/>
              </a:rPr>
              <a:t>}</a:t>
            </a:r>
            <a:r>
              <a:rPr lang="en-US" altLang="en-US" i="1" dirty="0">
                <a:sym typeface="Monotype Sorts" pitchFamily="-84" charset="2"/>
              </a:rPr>
              <a:t> </a:t>
            </a:r>
            <a:r>
              <a:rPr lang="zh-TW" altLang="en-US" dirty="0">
                <a:sym typeface="Monotype Sorts" pitchFamily="-84" charset="2"/>
              </a:rPr>
              <a:t>只套用</a:t>
            </a:r>
            <a:r>
              <a:rPr lang="en-US" altLang="zh-TW" dirty="0">
                <a:sym typeface="Monotype Sorts" pitchFamily="-84" charset="2"/>
              </a:rPr>
              <a:t>transitive rule.</a:t>
            </a:r>
          </a:p>
          <a:p>
            <a:pPr>
              <a:tabLst>
                <a:tab pos="2054225" algn="l"/>
              </a:tabLst>
            </a:pPr>
            <a:r>
              <a:rPr lang="en-US" altLang="en-US" i="1" dirty="0">
                <a:sym typeface="Monotype Sorts" pitchFamily="-84" charset="2"/>
              </a:rPr>
              <a:t>R</a:t>
            </a:r>
            <a:r>
              <a:rPr lang="en-US" altLang="en-US" baseline="-25000" dirty="0">
                <a:sym typeface="Monotype Sorts" pitchFamily="-84" charset="2"/>
              </a:rPr>
              <a:t>1</a:t>
            </a:r>
            <a:r>
              <a:rPr lang="en-US" altLang="en-US" i="1" dirty="0">
                <a:sym typeface="Monotype Sorts" pitchFamily="-84" charset="2"/>
              </a:rPr>
              <a:t> = (A, B),   R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i="1" dirty="0">
                <a:sym typeface="Monotype Sorts" pitchFamily="-84" charset="2"/>
              </a:rPr>
              <a:t> = (B, C)</a:t>
            </a:r>
          </a:p>
          <a:p>
            <a:pPr marL="0" indent="0">
              <a:buNone/>
              <a:tabLst>
                <a:tab pos="2054225" algn="l"/>
              </a:tabLst>
            </a:pPr>
            <a:r>
              <a:rPr lang="en-US" altLang="en-US" i="1" dirty="0">
                <a:sym typeface="Monotype Sorts" pitchFamily="-84" charset="2"/>
              </a:rPr>
              <a:t>     =&gt; F</a:t>
            </a:r>
            <a:r>
              <a:rPr lang="en-US" altLang="en-US" i="1" baseline="-25000" dirty="0">
                <a:sym typeface="Monotype Sorts" pitchFamily="-84" charset="2"/>
              </a:rPr>
              <a:t>1 </a:t>
            </a:r>
            <a:r>
              <a:rPr lang="en-US" altLang="en-US" i="1" dirty="0">
                <a:sym typeface="Monotype Sorts" pitchFamily="-84" charset="2"/>
              </a:rPr>
              <a:t>= </a:t>
            </a:r>
            <a:r>
              <a:rPr lang="en-US" altLang="en-US" i="1" dirty="0"/>
              <a:t> {A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B}, F</a:t>
            </a:r>
            <a:r>
              <a:rPr lang="en-US" altLang="en-US" i="1" baseline="-25000" dirty="0">
                <a:sym typeface="Monotype Sorts" pitchFamily="-84" charset="2"/>
              </a:rPr>
              <a:t>2</a:t>
            </a:r>
            <a:r>
              <a:rPr lang="en-US" altLang="en-US" i="1" dirty="0">
                <a:sym typeface="Monotype Sorts" pitchFamily="-84" charset="2"/>
              </a:rPr>
              <a:t> = {B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C</a:t>
            </a:r>
            <a:r>
              <a:rPr lang="en-US" altLang="zh-TW" i="1" dirty="0">
                <a:sym typeface="Monotype Sorts" pitchFamily="-84" charset="2"/>
              </a:rPr>
              <a:t>}</a:t>
            </a:r>
          </a:p>
          <a:p>
            <a:pPr>
              <a:tabLst>
                <a:tab pos="2054225" algn="l"/>
              </a:tabLst>
            </a:pPr>
            <a:r>
              <a:rPr lang="zh-TW" altLang="en-US" dirty="0"/>
              <a:t>因為</a:t>
            </a:r>
            <a:r>
              <a:rPr lang="en-US" altLang="en-US" dirty="0"/>
              <a:t> (</a:t>
            </a:r>
            <a:r>
              <a:rPr lang="en-US" altLang="en-US" i="1" dirty="0"/>
              <a:t>F</a:t>
            </a:r>
            <a:r>
              <a:rPr lang="en-US" altLang="en-US" baseline="-25000" dirty="0"/>
              <a:t>1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r>
              <a:rPr lang="en-US" altLang="en-US" i="1" dirty="0">
                <a:sym typeface="Symbol" panose="05050102010706020507" pitchFamily="18" charset="2"/>
              </a:rPr>
              <a:t> F</a:t>
            </a:r>
            <a:r>
              <a:rPr lang="en-US" altLang="en-US" baseline="-25000" dirty="0">
                <a:sym typeface="Symbol" panose="05050102010706020507" pitchFamily="18" charset="2"/>
              </a:rPr>
              <a:t>2 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aseline="30000" dirty="0">
                <a:sym typeface="Symbol" panose="05050102010706020507" pitchFamily="18" charset="2"/>
              </a:rPr>
              <a:t>+</a:t>
            </a:r>
            <a:r>
              <a:rPr lang="zh-TW" altLang="en-US" baseline="30000" dirty="0">
                <a:sym typeface="Symbol" panose="05050102010706020507" pitchFamily="18" charset="2"/>
              </a:rPr>
              <a:t> </a:t>
            </a:r>
            <a:r>
              <a:rPr lang="en-US" altLang="zh-TW" dirty="0">
                <a:sym typeface="Symbol" panose="05050102010706020507" pitchFamily="18" charset="2"/>
              </a:rPr>
              <a:t>=</a:t>
            </a:r>
            <a:r>
              <a:rPr lang="zh-TW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{A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B, B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Monotype Sorts" pitchFamily="-84" charset="2"/>
              </a:rPr>
              <a:t>C</a:t>
            </a:r>
            <a:r>
              <a:rPr lang="en-US" altLang="zh-TW" i="1" dirty="0">
                <a:sym typeface="Monotype Sorts" pitchFamily="-84" charset="2"/>
              </a:rPr>
              <a:t>}</a:t>
            </a:r>
            <a:r>
              <a:rPr lang="en-US" altLang="en-US" i="1" baseline="30000" dirty="0">
                <a:sym typeface="Symbol" panose="05050102010706020507" pitchFamily="18" charset="2"/>
              </a:rPr>
              <a:t> +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zh-TW" i="1" dirty="0">
                <a:sym typeface="Monotype Sorts" pitchFamily="-84" charset="2"/>
              </a:rPr>
              <a:t>=</a:t>
            </a:r>
            <a:r>
              <a:rPr lang="zh-TW" altLang="en-US" i="1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i="1" baseline="30000" dirty="0">
                <a:sym typeface="Symbol" panose="05050102010706020507" pitchFamily="18" charset="2"/>
              </a:rPr>
              <a:t>+ </a:t>
            </a:r>
          </a:p>
          <a:p>
            <a:pPr marL="0" indent="0">
              <a:buNone/>
              <a:tabLst>
                <a:tab pos="2054225" algn="l"/>
              </a:tabLst>
            </a:pPr>
            <a:r>
              <a:rPr lang="zh-TW" altLang="en-US" dirty="0">
                <a:sym typeface="Symbol" panose="05050102010706020507" pitchFamily="18" charset="2"/>
              </a:rPr>
              <a:t>      所以上述切割亦為</a:t>
            </a:r>
            <a:r>
              <a:rPr lang="en-US" altLang="en-US" dirty="0">
                <a:sym typeface="Symbol" panose="05050102010706020507" pitchFamily="18" charset="2"/>
              </a:rPr>
              <a:t>dependency preserving</a:t>
            </a:r>
            <a:r>
              <a:rPr lang="en-US" altLang="zh-TW" dirty="0">
                <a:sym typeface="Symbol" panose="05050102010706020507" pitchFamily="18" charset="2"/>
              </a:rPr>
              <a:t>.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>
              <a:tabLst>
                <a:tab pos="2054225" algn="l"/>
              </a:tabLst>
            </a:pPr>
            <a:r>
              <a:rPr lang="zh-TW" altLang="en-US" dirty="0" smtClean="0">
                <a:sym typeface="Symbol" panose="05050102010706020507" pitchFamily="18" charset="2"/>
              </a:rPr>
              <a:t>但是若</a:t>
            </a:r>
            <a:r>
              <a:rPr lang="en-US" altLang="en-US" i="1" dirty="0" smtClean="0">
                <a:sym typeface="Monotype Sorts" pitchFamily="-84" charset="2"/>
              </a:rPr>
              <a:t>R</a:t>
            </a:r>
            <a:r>
              <a:rPr lang="en-US" altLang="en-US" i="1" baseline="-25000" dirty="0" smtClean="0">
                <a:sym typeface="Monotype Sorts" pitchFamily="-84" charset="2"/>
              </a:rPr>
              <a:t>1 </a:t>
            </a:r>
            <a:r>
              <a:rPr lang="en-US" altLang="en-US" i="1" dirty="0">
                <a:sym typeface="Monotype Sorts" pitchFamily="-84" charset="2"/>
              </a:rPr>
              <a:t>= (A, B),   R</a:t>
            </a:r>
            <a:r>
              <a:rPr lang="en-US" altLang="en-US" baseline="-25000" dirty="0">
                <a:sym typeface="Monotype Sorts" pitchFamily="-84" charset="2"/>
              </a:rPr>
              <a:t>2</a:t>
            </a:r>
            <a:r>
              <a:rPr lang="en-US" altLang="en-US" i="1" dirty="0">
                <a:sym typeface="Monotype Sorts" pitchFamily="-84" charset="2"/>
              </a:rPr>
              <a:t> = (A, C</a:t>
            </a:r>
            <a:r>
              <a:rPr lang="en-US" altLang="en-US" i="1" dirty="0" smtClean="0">
                <a:sym typeface="Monotype Sorts" pitchFamily="-84" charset="2"/>
              </a:rPr>
              <a:t>)</a:t>
            </a:r>
            <a:r>
              <a:rPr lang="zh-TW" altLang="en-US" i="1" dirty="0" smtClean="0">
                <a:sym typeface="Monotype Sorts" pitchFamily="-84" charset="2"/>
              </a:rPr>
              <a:t>，</a:t>
            </a:r>
            <a:r>
              <a:rPr lang="zh-TW" altLang="en-US" dirty="0" smtClean="0">
                <a:sym typeface="Monotype Sorts" pitchFamily="-84" charset="2"/>
              </a:rPr>
              <a:t>則</a:t>
            </a:r>
            <a:r>
              <a:rPr lang="zh-TW" altLang="en-US" dirty="0" smtClean="0">
                <a:sym typeface="Symbol" panose="05050102010706020507" pitchFamily="18" charset="2"/>
              </a:rPr>
              <a:t>無法</a:t>
            </a:r>
            <a:r>
              <a:rPr lang="zh-TW" altLang="en-US" dirty="0">
                <a:sym typeface="Symbol" panose="05050102010706020507" pitchFamily="18" charset="2"/>
              </a:rPr>
              <a:t>達到</a:t>
            </a:r>
            <a:r>
              <a:rPr lang="en-US" altLang="zh-TW" dirty="0">
                <a:sym typeface="Symbol" panose="05050102010706020507" pitchFamily="18" charset="2"/>
              </a:rPr>
              <a:t>dependency preservation</a:t>
            </a:r>
            <a:r>
              <a:rPr lang="zh-TW" altLang="en-US" dirty="0">
                <a:sym typeface="Symbol" panose="05050102010706020507" pitchFamily="18" charset="2"/>
              </a:rPr>
              <a:t>。</a:t>
            </a:r>
            <a:endParaRPr lang="en-US" altLang="en-US" dirty="0">
              <a:sym typeface="Monotype Sorts" pitchFamily="-84" charset="2"/>
            </a:endParaRPr>
          </a:p>
          <a:p>
            <a:pPr>
              <a:tabLst>
                <a:tab pos="2054225" algn="l"/>
              </a:tabLst>
            </a:pPr>
            <a:endParaRPr lang="en-US" altLang="en-US" i="1" dirty="0">
              <a:sym typeface="Monotype Sorts" pitchFamily="-84" charset="2"/>
            </a:endParaRPr>
          </a:p>
          <a:p>
            <a:pPr marL="0" indent="0">
              <a:buNone/>
              <a:tabLst>
                <a:tab pos="2054225" algn="l"/>
              </a:tabLst>
            </a:pPr>
            <a:endParaRPr lang="en-US" altLang="en-US" i="1" dirty="0">
              <a:sym typeface="Monotype Sorts" pitchFamily="-84" charset="2"/>
            </a:endParaRPr>
          </a:p>
          <a:p>
            <a:pPr marL="0" indent="0">
              <a:buNone/>
            </a:pPr>
            <a:endParaRPr lang="en-US" altLang="en-US" i="1" dirty="0">
              <a:sym typeface="Monotype Sorts" pitchFamily="-84" charset="2"/>
            </a:endParaRP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Third Normal Form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21048" cy="4903787"/>
          </a:xfrm>
        </p:spPr>
        <p:txBody>
          <a:bodyPr/>
          <a:lstStyle/>
          <a:p>
            <a:pPr>
              <a:tabLst>
                <a:tab pos="2738438" algn="l"/>
              </a:tabLst>
            </a:pPr>
            <a:r>
              <a:rPr lang="en-US" altLang="en-US" dirty="0">
                <a:ea typeface="ＭＳ Ｐゴシック" pitchFamily="34" charset="-128"/>
              </a:rPr>
              <a:t>It is not always possible to achieve both BCNF and dependency preservation.</a:t>
            </a:r>
            <a:endParaRPr lang="en-US" altLang="en-US" sz="1700" dirty="0"/>
          </a:p>
          <a:p>
            <a:pPr>
              <a:tabLst>
                <a:tab pos="2738438" algn="l"/>
              </a:tabLst>
            </a:pPr>
            <a:r>
              <a:rPr lang="en-US" altLang="en-US" sz="1700" dirty="0"/>
              <a:t>A relation schema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</a:t>
            </a:r>
            <a:r>
              <a:rPr lang="en-US" altLang="en-US" sz="1700" b="1" dirty="0">
                <a:solidFill>
                  <a:srgbClr val="002060"/>
                </a:solidFill>
              </a:rPr>
              <a:t>third normal form (3NF)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if for all:</a:t>
            </a:r>
          </a:p>
          <a:p>
            <a:pPr>
              <a:buFont typeface="Monotype Sorts" pitchFamily="-84" charset="2"/>
              <a:buNone/>
              <a:tabLst>
                <a:tab pos="2738438" algn="l"/>
              </a:tabLst>
            </a:pPr>
            <a:r>
              <a:rPr lang="en-US" altLang="en-US" sz="1700" dirty="0"/>
              <a:t>		</a:t>
            </a: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Monotype Sorts" pitchFamily="-84" charset="2"/>
              </a:rPr>
              <a:t> in </a:t>
            </a:r>
            <a:r>
              <a:rPr lang="en-US" altLang="en-US" sz="1700" i="1" dirty="0">
                <a:sym typeface="Monotype Sorts" pitchFamily="-84" charset="2"/>
              </a:rPr>
              <a:t>F</a:t>
            </a:r>
            <a:r>
              <a:rPr lang="en-US" altLang="en-US" sz="1700" baseline="30000" dirty="0">
                <a:sym typeface="Monotype Sorts" pitchFamily="-84" charset="2"/>
              </a:rPr>
              <a:t>+</a:t>
            </a:r>
          </a:p>
          <a:p>
            <a:pPr>
              <a:buFont typeface="Monotype Sorts" pitchFamily="-84" charset="2"/>
              <a:buNone/>
              <a:tabLst>
                <a:tab pos="2738438" algn="l"/>
              </a:tabLst>
            </a:pPr>
            <a:r>
              <a:rPr lang="en-US" altLang="en-US" sz="800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/>
            </a:r>
            <a:br>
              <a:rPr lang="en-US" altLang="en-US" sz="1700" dirty="0">
                <a:sym typeface="Monotype Sorts" pitchFamily="-84" charset="2"/>
              </a:rPr>
            </a:br>
            <a:r>
              <a:rPr lang="en-US" altLang="en-US" sz="1700" dirty="0">
                <a:sym typeface="Monotype Sorts" pitchFamily="-84" charset="2"/>
              </a:rPr>
              <a:t>at least one of the following holds:</a:t>
            </a:r>
          </a:p>
          <a:p>
            <a:pPr lvl="1">
              <a:tabLst>
                <a:tab pos="2738438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</a:t>
            </a:r>
            <a:r>
              <a:rPr lang="en-US" altLang="en-US" sz="1700" dirty="0">
                <a:sym typeface="Greek Symbols"/>
              </a:rPr>
              <a:t>is trivial (i.e.,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i="1" dirty="0">
                <a:sym typeface="Greek Symbols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 </a:t>
            </a:r>
            <a:r>
              <a:rPr lang="en-US" altLang="en-US" sz="1700" dirty="0">
                <a:sym typeface="Greek Symbols"/>
              </a:rPr>
              <a:t>)</a:t>
            </a:r>
          </a:p>
          <a:p>
            <a:pPr lvl="1">
              <a:tabLst>
                <a:tab pos="2738438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</a:t>
            </a:r>
            <a:r>
              <a:rPr lang="en-US" altLang="en-US" sz="1700" dirty="0">
                <a:sym typeface="Greek Symbols"/>
              </a:rPr>
              <a:t> is a </a:t>
            </a:r>
            <a:r>
              <a:rPr lang="en-US" altLang="en-US" sz="1700" dirty="0" err="1">
                <a:sym typeface="Greek Symbols"/>
              </a:rPr>
              <a:t>superkey</a:t>
            </a:r>
            <a:r>
              <a:rPr lang="en-US" altLang="en-US" sz="1700" dirty="0">
                <a:sym typeface="Greek Symbols"/>
              </a:rPr>
              <a:t> for </a:t>
            </a:r>
            <a:r>
              <a:rPr lang="en-US" altLang="en-US" sz="1700" i="1" dirty="0">
                <a:sym typeface="Greek Symbols"/>
              </a:rPr>
              <a:t>R</a:t>
            </a:r>
            <a:endParaRPr lang="en-US" altLang="en-US" sz="1700" dirty="0">
              <a:sym typeface="Greek Symbols"/>
            </a:endParaRPr>
          </a:p>
          <a:p>
            <a:pPr lvl="1">
              <a:tabLst>
                <a:tab pos="2738438" algn="l"/>
              </a:tabLst>
            </a:pPr>
            <a:r>
              <a:rPr lang="en-US" altLang="en-US" sz="1700" dirty="0">
                <a:sym typeface="Greek Symbols"/>
              </a:rPr>
              <a:t>Each attribute </a:t>
            </a:r>
            <a:r>
              <a:rPr lang="en-US" altLang="en-US" sz="1700" i="1" dirty="0">
                <a:sym typeface="Greek Symbols"/>
              </a:rPr>
              <a:t>A</a:t>
            </a:r>
            <a:r>
              <a:rPr lang="en-US" altLang="en-US" sz="1700" dirty="0">
                <a:sym typeface="Greek Symbols"/>
              </a:rPr>
              <a:t> in </a:t>
            </a:r>
            <a:r>
              <a:rPr lang="en-US" altLang="en-US" sz="1700" i="1" dirty="0">
                <a:sym typeface="Symbol" panose="05050102010706020507" pitchFamily="18" charset="2"/>
              </a:rPr>
              <a:t></a:t>
            </a:r>
            <a:r>
              <a:rPr lang="en-US" altLang="en-US" sz="1700" dirty="0">
                <a:sym typeface="Greek Symbols"/>
              </a:rPr>
              <a:t>  is contained in a candidate key for </a:t>
            </a:r>
            <a:r>
              <a:rPr lang="en-US" altLang="en-US" sz="1700" i="1" dirty="0">
                <a:sym typeface="Greek Symbols"/>
              </a:rPr>
              <a:t>R.</a:t>
            </a:r>
          </a:p>
          <a:p>
            <a:pPr marL="1143000" lvl="2">
              <a:tabLst>
                <a:tab pos="2738438" algn="l"/>
              </a:tabLst>
            </a:pP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此處的意思是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, A</a:t>
            </a:r>
            <a:r>
              <a:rPr lang="zh-TW" altLang="en-US" dirty="0">
                <a:ea typeface="新細明體" panose="02020500000000000000" pitchFamily="18" charset="-120"/>
                <a:sym typeface="Symbol" panose="05050102010706020507" pitchFamily="18" charset="2"/>
              </a:rPr>
              <a:t>被</a:t>
            </a:r>
            <a:r>
              <a:rPr lang="en-US" altLang="zh-TW" dirty="0">
                <a:ea typeface="新細明體" panose="02020500000000000000" pitchFamily="18" charset="-120"/>
                <a:sym typeface="Symbol" panose="05050102010706020507" pitchFamily="18" charset="2"/>
              </a:rPr>
              <a:t>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 </a:t>
            </a:r>
            <a:r>
              <a:rPr lang="zh-TW" altLang="en-US" dirty="0">
                <a:ea typeface="新細明體" panose="02020500000000000000" pitchFamily="18" charset="-120"/>
                <a:sym typeface="Greek Symbols" pitchFamily="18" charset="2"/>
              </a:rPr>
              <a:t>所決定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,</a:t>
            </a:r>
            <a:r>
              <a:rPr lang="zh-TW" altLang="en-US" dirty="0">
                <a:ea typeface="新細明體" panose="02020500000000000000" pitchFamily="18" charset="-120"/>
                <a:sym typeface="Greek Symbols" pitchFamily="18" charset="2"/>
              </a:rPr>
              <a:t>也被某個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CK</a:t>
            </a:r>
            <a:r>
              <a:rPr lang="zh-TW" altLang="en-US" dirty="0">
                <a:ea typeface="新細明體" panose="02020500000000000000" pitchFamily="18" charset="-120"/>
                <a:sym typeface="Greek Symbols" pitchFamily="18" charset="2"/>
              </a:rPr>
              <a:t>所決定</a:t>
            </a:r>
            <a:r>
              <a:rPr lang="en-US" altLang="zh-TW" dirty="0">
                <a:ea typeface="新細明體" panose="02020500000000000000" pitchFamily="18" charset="-120"/>
                <a:sym typeface="Greek Symbols" pitchFamily="18" charset="2"/>
              </a:rPr>
              <a:t>.</a:t>
            </a:r>
            <a:endParaRPr lang="en-US" altLang="en-US" sz="1700" i="1" dirty="0">
              <a:sym typeface="Greek Symbols"/>
            </a:endParaRPr>
          </a:p>
          <a:p>
            <a:pPr lvl="1">
              <a:buFont typeface="Monotype Sorts" pitchFamily="-84" charset="2"/>
              <a:buNone/>
              <a:tabLst>
                <a:tab pos="2738438" algn="l"/>
              </a:tabLst>
            </a:pPr>
            <a:r>
              <a:rPr lang="en-US" altLang="en-US" sz="1700" i="1" dirty="0">
                <a:sym typeface="Greek Symbols"/>
              </a:rPr>
              <a:t>   </a:t>
            </a:r>
            <a:r>
              <a:rPr lang="en-US" altLang="en-US" sz="1700" dirty="0">
                <a:sym typeface="Greek Symbols"/>
              </a:rPr>
              <a:t>(</a:t>
            </a:r>
            <a:r>
              <a:rPr lang="en-US" altLang="en-US" sz="1700" b="1" dirty="0">
                <a:sym typeface="Greek Symbols"/>
              </a:rPr>
              <a:t>NOTE</a:t>
            </a:r>
            <a:r>
              <a:rPr lang="en-US" altLang="en-US" sz="1700" i="1" dirty="0">
                <a:sym typeface="Greek Symbols"/>
              </a:rPr>
              <a:t>: </a:t>
            </a:r>
            <a:r>
              <a:rPr lang="en-US" altLang="en-US" sz="1700" dirty="0">
                <a:sym typeface="Greek Symbols"/>
              </a:rPr>
              <a:t>each attribute may be in a different candidate key)</a:t>
            </a:r>
            <a:endParaRPr lang="en-US" altLang="en-US" sz="1700" i="1" dirty="0">
              <a:sym typeface="Greek Symbols"/>
            </a:endParaRPr>
          </a:p>
          <a:p>
            <a:pPr>
              <a:tabLst>
                <a:tab pos="2738438" algn="l"/>
              </a:tabLst>
            </a:pPr>
            <a:r>
              <a:rPr lang="en-US" altLang="en-US" sz="1700" dirty="0">
                <a:sym typeface="Greek Symbols"/>
              </a:rPr>
              <a:t>If a relation is in BCNF it is in 3NF (since in BCNF one of the first two conditions above must hold).</a:t>
            </a:r>
          </a:p>
          <a:p>
            <a:pPr>
              <a:tabLst>
                <a:tab pos="2738438" algn="l"/>
              </a:tabLst>
            </a:pPr>
            <a:r>
              <a:rPr lang="en-US" altLang="en-US" sz="1700" dirty="0"/>
              <a:t>Third condition is a minimal relaxation of BCNF to ensure dependency preservation (</a:t>
            </a:r>
            <a:r>
              <a:rPr lang="en-US" altLang="en-US" dirty="0"/>
              <a:t>proof omitted</a:t>
            </a:r>
            <a:r>
              <a:rPr lang="en-US" altLang="en-US" sz="1700" dirty="0"/>
              <a:t>).</a:t>
            </a:r>
          </a:p>
          <a:p>
            <a:pPr>
              <a:tabLst>
                <a:tab pos="2738438" algn="l"/>
              </a:tabLst>
            </a:pPr>
            <a:endParaRPr lang="en-US" altLang="en-US" sz="2000" dirty="0">
              <a:sym typeface="Greek Symbols"/>
            </a:endParaRPr>
          </a:p>
        </p:txBody>
      </p:sp>
    </p:spTree>
    <p:extLst>
      <p:ext uri="{BB962C8B-B14F-4D97-AF65-F5344CB8AC3E}">
        <p14:creationId xmlns:p14="http://schemas.microsoft.com/office/powerpoint/2010/main" val="2956966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98425"/>
            <a:ext cx="8015287" cy="625475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a typeface="ＭＳ Ｐゴシック" pitchFamily="34" charset="-128"/>
              </a:rPr>
              <a:t>3NF Example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953" y="1093788"/>
            <a:ext cx="8015287" cy="4490148"/>
          </a:xfrm>
        </p:spPr>
        <p:txBody>
          <a:bodyPr/>
          <a:lstStyle/>
          <a:p>
            <a:r>
              <a:rPr lang="en-US" altLang="en-US" sz="1700" dirty="0"/>
              <a:t>Consider a schema: (</a:t>
            </a:r>
            <a:r>
              <a:rPr lang="zh-TW" altLang="en-US" sz="1700" dirty="0"/>
              <a:t>例子同前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</a:t>
            </a:r>
            <a:r>
              <a:rPr lang="en-US" altLang="en-US" sz="1700" i="1" dirty="0" err="1"/>
              <a:t>dept_advisor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i_ID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</a:p>
          <a:p>
            <a:r>
              <a:rPr lang="en-US" altLang="en-US" sz="1700" dirty="0"/>
              <a:t>With function dependencies: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i="1" dirty="0" err="1"/>
              <a:t>i_ID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endParaRPr lang="en-US" altLang="en-US" sz="1700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 </a:t>
            </a:r>
            <a:r>
              <a:rPr lang="en-US" altLang="en-US" sz="1700" i="1" dirty="0" err="1">
                <a:sym typeface="Symbol" panose="05050102010706020507" pitchFamily="18" charset="2"/>
              </a:rPr>
              <a:t>i_ID</a:t>
            </a:r>
            <a:endParaRPr lang="en-US" altLang="en-US" sz="1700" i="1" dirty="0">
              <a:sym typeface="Symbol" panose="05050102010706020507" pitchFamily="18" charset="2"/>
            </a:endParaRPr>
          </a:p>
          <a:p>
            <a:r>
              <a:rPr lang="en-US" altLang="en-US" sz="1700" dirty="0">
                <a:sym typeface="Monotype Sorts" pitchFamily="-84" charset="2"/>
              </a:rPr>
              <a:t>Two candidate keys =  {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Symbol" panose="05050102010706020507" pitchFamily="18" charset="2"/>
              </a:rPr>
              <a:t>}, {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i="1" dirty="0" err="1">
                <a:sym typeface="Symbol" panose="05050102010706020507" pitchFamily="18" charset="2"/>
              </a:rPr>
              <a:t>i_ID</a:t>
            </a:r>
            <a:r>
              <a:rPr lang="en-US" altLang="en-US" sz="1700" i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}</a:t>
            </a:r>
            <a:endParaRPr lang="en-US" altLang="en-US" sz="1700" dirty="0">
              <a:sym typeface="Monotype Sorts" pitchFamily="-84" charset="2"/>
            </a:endParaRPr>
          </a:p>
          <a:p>
            <a:r>
              <a:rPr lang="en-US" altLang="en-US" sz="1700" dirty="0">
                <a:sym typeface="Monotype Sorts" pitchFamily="-84" charset="2"/>
              </a:rPr>
              <a:t>We have seen before that </a:t>
            </a:r>
            <a:r>
              <a:rPr lang="en-US" altLang="en-US" sz="1700" i="1" dirty="0" err="1"/>
              <a:t>dept_advisor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Monotype Sorts" pitchFamily="-84" charset="2"/>
              </a:rPr>
              <a:t>is </a:t>
            </a:r>
            <a:r>
              <a:rPr lang="en-US" altLang="en-US" sz="1700" dirty="0">
                <a:solidFill>
                  <a:srgbClr val="002060"/>
                </a:solidFill>
                <a:sym typeface="Monotype Sorts" pitchFamily="-84" charset="2"/>
              </a:rPr>
              <a:t>not</a:t>
            </a:r>
            <a:r>
              <a:rPr lang="en-US" altLang="en-US" sz="1700" dirty="0">
                <a:sym typeface="Monotype Sorts" pitchFamily="-84" charset="2"/>
              </a:rPr>
              <a:t> in BCNF</a:t>
            </a:r>
          </a:p>
          <a:p>
            <a:r>
              <a:rPr lang="en-US" altLang="en-US" sz="1700" i="1" dirty="0">
                <a:sym typeface="Monotype Sorts" pitchFamily="-84" charset="2"/>
              </a:rPr>
              <a:t>R,  </a:t>
            </a:r>
            <a:r>
              <a:rPr lang="en-US" altLang="en-US" sz="1700" dirty="0">
                <a:sym typeface="Monotype Sorts" pitchFamily="-84" charset="2"/>
              </a:rPr>
              <a:t>however, </a:t>
            </a:r>
            <a:r>
              <a:rPr lang="en-US" altLang="en-US" sz="1700" i="1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>is in  3NF</a:t>
            </a:r>
          </a:p>
          <a:p>
            <a:pPr lvl="1"/>
            <a:r>
              <a:rPr lang="en-US" altLang="en-US" sz="1700" i="1" dirty="0"/>
              <a:t> </a:t>
            </a:r>
            <a:r>
              <a:rPr lang="en-US" altLang="en-US" sz="1700" i="1" dirty="0" err="1"/>
              <a:t>s_ID</a:t>
            </a:r>
            <a:r>
              <a:rPr lang="en-US" altLang="en-US" sz="1700" i="1" dirty="0"/>
              <a:t>,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>
                <a:sym typeface="Monotype Sorts" pitchFamily="-84" charset="2"/>
              </a:rPr>
              <a:t>is a </a:t>
            </a:r>
            <a:r>
              <a:rPr lang="en-US" altLang="en-US" sz="1700" dirty="0" err="1">
                <a:sym typeface="Monotype Sorts" pitchFamily="-84" charset="2"/>
              </a:rPr>
              <a:t>superkey</a:t>
            </a:r>
            <a:endParaRPr lang="en-US" altLang="en-US" sz="1700" dirty="0">
              <a:sym typeface="Monotype Sorts" pitchFamily="-84" charset="2"/>
            </a:endParaRPr>
          </a:p>
          <a:p>
            <a:pPr lvl="1"/>
            <a:r>
              <a:rPr lang="en-US" altLang="en-US" sz="1700" dirty="0"/>
              <a:t> </a:t>
            </a:r>
            <a:r>
              <a:rPr lang="en-US" altLang="en-US" sz="1700" i="1" dirty="0" err="1"/>
              <a:t>i_ID</a:t>
            </a:r>
            <a:r>
              <a:rPr lang="en-US" altLang="en-US" sz="1700" dirty="0"/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 </a:t>
            </a:r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 and 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i_ID</a:t>
            </a:r>
            <a:r>
              <a:rPr lang="en-US" altLang="en-US" sz="1700" i="1" dirty="0">
                <a:sym typeface="Monotype Sorts" pitchFamily="-84" charset="2"/>
              </a:rPr>
              <a:t> </a:t>
            </a:r>
            <a:r>
              <a:rPr lang="en-US" altLang="en-US" sz="1700" dirty="0">
                <a:sym typeface="Monotype Sorts" pitchFamily="-84" charset="2"/>
              </a:rPr>
              <a:t>is NOT a </a:t>
            </a:r>
            <a:r>
              <a:rPr lang="en-US" altLang="en-US" sz="1700" dirty="0" err="1">
                <a:sym typeface="Monotype Sorts" pitchFamily="-84" charset="2"/>
              </a:rPr>
              <a:t>superkey</a:t>
            </a:r>
            <a:r>
              <a:rPr lang="en-US" altLang="en-US" sz="1700" dirty="0">
                <a:sym typeface="Monotype Sorts" pitchFamily="-84" charset="2"/>
              </a:rPr>
              <a:t>, but:</a:t>
            </a:r>
          </a:p>
          <a:p>
            <a:pPr lvl="2"/>
            <a:r>
              <a:rPr lang="en-US" altLang="en-US" sz="1700" i="1" dirty="0" err="1">
                <a:sym typeface="Symbol" panose="05050102010706020507" pitchFamily="18" charset="2"/>
              </a:rPr>
              <a:t>dept_name</a:t>
            </a:r>
            <a:r>
              <a:rPr lang="en-US" altLang="en-US" sz="1700" i="1" dirty="0">
                <a:sym typeface="Monotype Sorts" pitchFamily="-84" charset="2"/>
              </a:rPr>
              <a:t>  </a:t>
            </a:r>
            <a:r>
              <a:rPr lang="en-US" altLang="en-US" sz="1700" dirty="0">
                <a:sym typeface="Greek Symbols"/>
              </a:rPr>
              <a:t>is contained in a  candidate key</a:t>
            </a:r>
            <a:endParaRPr lang="en-US" altLang="en-US" sz="1700" i="1" dirty="0">
              <a:sym typeface="Greek Symbols"/>
            </a:endParaRPr>
          </a:p>
          <a:p>
            <a:pPr>
              <a:buFont typeface="Monotype Sorts" pitchFamily="-84" charset="2"/>
              <a:buNone/>
            </a:pPr>
            <a:endParaRPr lang="en-US" altLang="en-US" sz="2000" i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>
              <a:sym typeface="Symbol" panose="05050102010706020507" pitchFamily="18" charset="2"/>
            </a:endParaRP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3033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749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z="2800">
                <a:ea typeface="ＭＳ Ｐゴシック" pitchFamily="34" charset="-128"/>
              </a:rPr>
              <a:t>Redundancy in 3NF</a:t>
            </a:r>
            <a:endParaRPr lang="en-US" sz="2800" dirty="0">
              <a:ea typeface="ＭＳ Ｐゴシック" pitchFamily="34" charset="-128"/>
            </a:endParaRPr>
          </a:p>
        </p:txBody>
      </p:sp>
      <p:sp>
        <p:nvSpPr>
          <p:cNvPr id="34819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781050" y="1130542"/>
            <a:ext cx="7716774" cy="5123954"/>
          </a:xfrm>
        </p:spPr>
        <p:txBody>
          <a:bodyPr/>
          <a:lstStyle/>
          <a:p>
            <a:r>
              <a:rPr lang="en-US" altLang="en-US" sz="1700" dirty="0"/>
              <a:t>Consider  the schema R below,  which is in 3NF</a:t>
            </a:r>
          </a:p>
          <a:p>
            <a:pPr marL="0" indent="0">
              <a:buNone/>
            </a:pPr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0" indent="0">
              <a:buNone/>
            </a:pPr>
            <a:endParaRPr lang="en-US" altLang="en-US" sz="1700" dirty="0"/>
          </a:p>
          <a:p>
            <a:r>
              <a:rPr lang="en-US" altLang="en-US" sz="1800" dirty="0"/>
              <a:t>What is wrong with the table?</a:t>
            </a:r>
            <a:endParaRPr lang="en-US" altLang="en-US" sz="1700" dirty="0"/>
          </a:p>
          <a:p>
            <a:pPr marL="0" indent="0">
              <a:buNone/>
            </a:pPr>
            <a:endParaRPr lang="en-US" altLang="en-US" sz="1700" dirty="0"/>
          </a:p>
        </p:txBody>
      </p:sp>
      <p:sp>
        <p:nvSpPr>
          <p:cNvPr id="34822" name="TextBox 1"/>
          <p:cNvSpPr txBox="1">
            <a:spLocks noChangeArrowheads="1"/>
          </p:cNvSpPr>
          <p:nvPr/>
        </p:nvSpPr>
        <p:spPr bwMode="auto">
          <a:xfrm>
            <a:off x="781050" y="1530989"/>
            <a:ext cx="7716774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/>
              <a:t>R = </a:t>
            </a:r>
            <a:r>
              <a:rPr lang="en-US" altLang="en-US" sz="1700" dirty="0"/>
              <a:t>(</a:t>
            </a:r>
            <a:r>
              <a:rPr lang="en-US" altLang="en-US" sz="1700" i="1" dirty="0"/>
              <a:t>J, K, L </a:t>
            </a:r>
            <a:r>
              <a:rPr lang="en-US" altLang="en-US" sz="1700" dirty="0"/>
              <a:t>)</a:t>
            </a:r>
            <a:r>
              <a:rPr lang="zh-TW" altLang="en-US" sz="1700" dirty="0"/>
              <a:t> </a:t>
            </a:r>
            <a:endParaRPr lang="en-US" altLang="zh-TW" sz="1700" dirty="0"/>
          </a:p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i="1" dirty="0"/>
              <a:t>F = </a:t>
            </a:r>
            <a:r>
              <a:rPr lang="en-US" altLang="en-US" sz="1700" dirty="0"/>
              <a:t>{</a:t>
            </a:r>
            <a:r>
              <a:rPr lang="en-US" altLang="en-US" sz="1700" i="1" dirty="0"/>
              <a:t>JK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L, L </a:t>
            </a:r>
            <a:r>
              <a:rPr lang="en-US" altLang="en-US" sz="1700" dirty="0">
                <a:sym typeface="Symbol" panose="05050102010706020507" pitchFamily="18" charset="2"/>
              </a:rPr>
              <a:t></a:t>
            </a:r>
            <a:r>
              <a:rPr lang="en-US" altLang="en-US" sz="1700" dirty="0">
                <a:sym typeface="Monotype Sorts" pitchFamily="-84" charset="2"/>
              </a:rPr>
              <a:t> </a:t>
            </a:r>
            <a:r>
              <a:rPr lang="en-US" altLang="en-US" sz="1700" i="1" dirty="0">
                <a:sym typeface="Monotype Sorts" pitchFamily="-84" charset="2"/>
              </a:rPr>
              <a:t>K </a:t>
            </a:r>
            <a:r>
              <a:rPr lang="en-US" altLang="en-US" sz="1700" dirty="0">
                <a:sym typeface="Monotype Sorts" pitchFamily="-84" charset="2"/>
              </a:rPr>
              <a:t>}</a:t>
            </a:r>
          </a:p>
          <a:p>
            <a:pPr marL="800100" lvl="1" indent="-342900">
              <a:spcBef>
                <a:spcPts val="0"/>
              </a:spcBef>
              <a:buClr>
                <a:srgbClr val="F5960B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>
                <a:sym typeface="Monotype Sorts" pitchFamily="-84" charset="2"/>
              </a:rPr>
              <a:t>And an instance table: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81049" y="4316201"/>
            <a:ext cx="7472935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800100" lvl="1" indent="-34290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Repetition of information</a:t>
            </a:r>
          </a:p>
          <a:p>
            <a:pPr marL="800100" lvl="1" indent="-34290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Need to use null values (e.g., to represent the relationship </a:t>
            </a:r>
            <a:r>
              <a:rPr lang="en-US" altLang="en-US" sz="1700" i="1" dirty="0">
                <a:sym typeface="Monotype Sorts" pitchFamily="-84" charset="2"/>
              </a:rPr>
              <a:t>l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dirty="0">
                <a:sym typeface="Monotype Sorts" pitchFamily="-84" charset="2"/>
              </a:rPr>
              <a:t>, </a:t>
            </a:r>
            <a:r>
              <a:rPr lang="en-US" altLang="en-US" sz="1700" i="1" dirty="0">
                <a:sym typeface="Monotype Sorts" pitchFamily="-84" charset="2"/>
              </a:rPr>
              <a:t>k</a:t>
            </a:r>
            <a:r>
              <a:rPr lang="en-US" altLang="en-US" sz="1700" baseline="-25000" dirty="0">
                <a:sym typeface="Monotype Sorts" pitchFamily="-84" charset="2"/>
              </a:rPr>
              <a:t>2</a:t>
            </a:r>
            <a:r>
              <a:rPr lang="en-US" altLang="en-US" sz="1700" dirty="0">
                <a:sym typeface="Monotype Sorts" pitchFamily="-84" charset="2"/>
              </a:rPr>
              <a:t> </a:t>
            </a:r>
          </a:p>
          <a:p>
            <a:pPr lvl="1">
              <a:buClr>
                <a:srgbClr val="F89108"/>
              </a:buClr>
              <a:buSzPct val="80000"/>
            </a:pPr>
            <a:r>
              <a:rPr lang="en-US" altLang="en-US" sz="1700" dirty="0">
                <a:sym typeface="Monotype Sorts" pitchFamily="-84" charset="2"/>
              </a:rPr>
              <a:t>     where there is no corresponding value for </a:t>
            </a:r>
            <a:r>
              <a:rPr lang="en-US" altLang="en-US" sz="1700" i="1" dirty="0">
                <a:sym typeface="Monotype Sorts" pitchFamily="-84" charset="2"/>
              </a:rPr>
              <a:t>J</a:t>
            </a:r>
            <a:r>
              <a:rPr lang="en-US" altLang="en-US" sz="1700" dirty="0">
                <a:sym typeface="Monotype Sorts" pitchFamily="-84" charset="2"/>
              </a:rPr>
              <a:t>)</a:t>
            </a:r>
            <a:endParaRPr lang="en-US" altLang="en-US" sz="1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643" y="2565463"/>
            <a:ext cx="933450" cy="119062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374329" y="1563478"/>
            <a:ext cx="4123495" cy="61555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buClr>
                <a:srgbClr val="F5960B"/>
              </a:buClr>
              <a:buSzPct val="110000"/>
            </a:pPr>
            <a:r>
              <a:rPr lang="zh-TW" altLang="en-US" sz="1700" dirty="0"/>
              <a:t>對照</a:t>
            </a:r>
            <a:r>
              <a:rPr lang="zh-TW" altLang="en-US" sz="1700" dirty="0" smtClean="0"/>
              <a:t>上一頁和</a:t>
            </a:r>
            <a:r>
              <a:rPr lang="en-US" altLang="zh-TW" sz="1700" dirty="0" smtClean="0"/>
              <a:t>p7.18</a:t>
            </a:r>
            <a:r>
              <a:rPr lang="zh-TW" altLang="en-US" sz="1700" dirty="0" smtClean="0"/>
              <a:t>的 </a:t>
            </a:r>
            <a:r>
              <a:rPr lang="en-US" altLang="en-US" sz="1700" i="1" dirty="0" err="1"/>
              <a:t>dept_advisor</a:t>
            </a:r>
            <a:r>
              <a:rPr lang="zh-TW" altLang="en-US" sz="1700" dirty="0" smtClean="0"/>
              <a:t>表格</a:t>
            </a:r>
            <a:r>
              <a:rPr lang="en-US" altLang="zh-TW" sz="1700" dirty="0" smtClean="0"/>
              <a:t>:</a:t>
            </a:r>
            <a:endParaRPr lang="en-US" altLang="zh-TW" sz="1700" dirty="0"/>
          </a:p>
          <a:p>
            <a:pPr algn="ctr">
              <a:spcBef>
                <a:spcPts val="0"/>
              </a:spcBef>
              <a:buClr>
                <a:srgbClr val="F5960B"/>
              </a:buClr>
              <a:buSzPct val="110000"/>
            </a:pPr>
            <a:r>
              <a:rPr lang="en-US" altLang="zh-TW" sz="1700" i="1" dirty="0"/>
              <a:t>J: </a:t>
            </a:r>
            <a:r>
              <a:rPr lang="en-US" altLang="zh-TW" sz="1700" i="1" dirty="0" err="1"/>
              <a:t>s_ID</a:t>
            </a:r>
            <a:r>
              <a:rPr lang="en-US" altLang="zh-TW" sz="1700" i="1" dirty="0"/>
              <a:t>, </a:t>
            </a:r>
            <a:r>
              <a:rPr lang="zh-TW" altLang="en-US" sz="1700" i="1" dirty="0"/>
              <a:t> </a:t>
            </a:r>
            <a:r>
              <a:rPr lang="en-US" altLang="zh-TW" sz="1700" i="1" dirty="0"/>
              <a:t>K: </a:t>
            </a:r>
            <a:r>
              <a:rPr lang="en-US" altLang="zh-TW" sz="1700" i="1" dirty="0" err="1"/>
              <a:t>dept_name</a:t>
            </a:r>
            <a:r>
              <a:rPr lang="en-US" altLang="zh-TW" sz="1700" i="1" dirty="0"/>
              <a:t>,</a:t>
            </a:r>
            <a:r>
              <a:rPr lang="zh-TW" altLang="en-US" sz="1700" i="1" dirty="0"/>
              <a:t> </a:t>
            </a:r>
            <a:r>
              <a:rPr lang="en-US" altLang="zh-TW" sz="1700" i="1" dirty="0"/>
              <a:t>L:i_ID</a:t>
            </a:r>
            <a:endParaRPr lang="en-US" altLang="en-US" sz="1700" i="1" dirty="0"/>
          </a:p>
        </p:txBody>
      </p:sp>
    </p:spTree>
    <p:extLst>
      <p:ext uri="{BB962C8B-B14F-4D97-AF65-F5344CB8AC3E}">
        <p14:creationId xmlns:p14="http://schemas.microsoft.com/office/powerpoint/2010/main" val="372737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17625" y="184150"/>
            <a:ext cx="6969125" cy="5000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Comparison of BCNF and 3NF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093788"/>
            <a:ext cx="7599285" cy="2661348"/>
          </a:xfrm>
        </p:spPr>
        <p:txBody>
          <a:bodyPr/>
          <a:lstStyle/>
          <a:p>
            <a:r>
              <a:rPr lang="en-US" altLang="en-US" sz="1700" dirty="0"/>
              <a:t>Advantages to 3NF over BCNF.  It is always possible to obtain a 3NF design without sacrificing </a:t>
            </a:r>
            <a:r>
              <a:rPr lang="en-US" altLang="en-US" sz="1700" dirty="0" err="1"/>
              <a:t>losslessness</a:t>
            </a:r>
            <a:r>
              <a:rPr lang="en-US" altLang="en-US" sz="1700" dirty="0"/>
              <a:t> or dependency preservation. </a:t>
            </a:r>
          </a:p>
          <a:p>
            <a:r>
              <a:rPr lang="en-US" altLang="en-US" sz="1700" dirty="0"/>
              <a:t>Disadvantages to 3NF. </a:t>
            </a:r>
          </a:p>
          <a:p>
            <a:pPr lvl="1"/>
            <a:r>
              <a:rPr lang="en-US" altLang="en-US" sz="1700" dirty="0"/>
              <a:t>We may have to use null values to represent some of the possible meaningful relationships among data items.</a:t>
            </a:r>
          </a:p>
          <a:p>
            <a:pPr lvl="1"/>
            <a:r>
              <a:rPr lang="en-US" altLang="en-US" sz="1700" dirty="0"/>
              <a:t> There is the problem of repetition of information.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86347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17625" y="184150"/>
            <a:ext cx="6969125" cy="500063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Goals of Normalization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9" y="1093789"/>
            <a:ext cx="7401846" cy="3314925"/>
          </a:xfrm>
        </p:spPr>
        <p:txBody>
          <a:bodyPr/>
          <a:lstStyle/>
          <a:p>
            <a:r>
              <a:rPr lang="en-US" altLang="en-US" sz="1700" dirty="0"/>
              <a:t>Let </a:t>
            </a:r>
            <a:r>
              <a:rPr lang="en-US" altLang="en-US" sz="1700" i="1" dirty="0"/>
              <a:t>R</a:t>
            </a:r>
            <a:r>
              <a:rPr lang="en-US" altLang="en-US" sz="1700" dirty="0"/>
              <a:t> be a relation scheme with a set</a:t>
            </a:r>
            <a:r>
              <a:rPr lang="en-US" altLang="en-US" sz="1700" i="1" dirty="0"/>
              <a:t> F</a:t>
            </a:r>
            <a:r>
              <a:rPr lang="en-US" altLang="en-US" sz="1700" dirty="0"/>
              <a:t> of functional dependencies.</a:t>
            </a:r>
          </a:p>
          <a:p>
            <a:r>
              <a:rPr lang="en-US" altLang="en-US" sz="1700" dirty="0"/>
              <a:t>Decide whether a relation scheme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</a:t>
            </a:r>
            <a:r>
              <a:rPr lang="ja-JP" altLang="en-US" sz="1700" dirty="0">
                <a:latin typeface="Arial" panose="020B0604020202020204" pitchFamily="34" charset="0"/>
              </a:rPr>
              <a:t>“</a:t>
            </a:r>
            <a:r>
              <a:rPr lang="en-US" altLang="ja-JP" sz="1700" dirty="0"/>
              <a:t>good</a:t>
            </a:r>
            <a:r>
              <a:rPr lang="ja-JP" altLang="en-US" sz="1700" dirty="0">
                <a:latin typeface="Arial" panose="020B0604020202020204" pitchFamily="34" charset="0"/>
              </a:rPr>
              <a:t>”</a:t>
            </a:r>
            <a:r>
              <a:rPr lang="en-US" altLang="ja-JP" sz="1700" dirty="0"/>
              <a:t> form.</a:t>
            </a:r>
          </a:p>
          <a:p>
            <a:r>
              <a:rPr lang="en-US" altLang="en-US" sz="1700" dirty="0"/>
              <a:t>In the case that a relation scheme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not in </a:t>
            </a:r>
            <a:r>
              <a:rPr lang="ja-JP" altLang="en-US" sz="1700" dirty="0">
                <a:latin typeface="Arial" panose="020B0604020202020204" pitchFamily="34" charset="0"/>
              </a:rPr>
              <a:t>“</a:t>
            </a:r>
            <a:r>
              <a:rPr lang="en-US" altLang="ja-JP" sz="1700" dirty="0"/>
              <a:t>good</a:t>
            </a:r>
            <a:r>
              <a:rPr lang="ja-JP" altLang="en-US" sz="1700" dirty="0">
                <a:latin typeface="Arial" panose="020B0604020202020204" pitchFamily="34" charset="0"/>
              </a:rPr>
              <a:t>”</a:t>
            </a:r>
            <a:r>
              <a:rPr lang="en-US" altLang="ja-JP" sz="1700" dirty="0"/>
              <a:t> form, need to decompose it into a set of relation scheme  {</a:t>
            </a:r>
            <a:r>
              <a:rPr lang="en-US" altLang="ja-JP" sz="1700" i="1" dirty="0"/>
              <a:t>R</a:t>
            </a:r>
            <a:r>
              <a:rPr lang="en-US" altLang="ja-JP" sz="1700" baseline="-25000" dirty="0"/>
              <a:t>1</a:t>
            </a:r>
            <a:r>
              <a:rPr lang="en-US" altLang="ja-JP" sz="1700" i="1" dirty="0"/>
              <a:t>, R</a:t>
            </a:r>
            <a:r>
              <a:rPr lang="en-US" altLang="ja-JP" sz="1700" baseline="-25000" dirty="0"/>
              <a:t>2</a:t>
            </a:r>
            <a:r>
              <a:rPr lang="en-US" altLang="ja-JP" sz="1700" i="1" dirty="0"/>
              <a:t>, ..., R</a:t>
            </a:r>
            <a:r>
              <a:rPr lang="en-US" altLang="ja-JP" sz="1700" i="1" baseline="-25000" dirty="0"/>
              <a:t>n</a:t>
            </a:r>
            <a:r>
              <a:rPr lang="en-US" altLang="ja-JP" sz="1700" dirty="0"/>
              <a:t>} such that:</a:t>
            </a:r>
          </a:p>
          <a:p>
            <a:pPr lvl="1"/>
            <a:r>
              <a:rPr lang="en-US" altLang="en-US" sz="1700" dirty="0"/>
              <a:t>Each relation scheme is in good form </a:t>
            </a:r>
          </a:p>
          <a:p>
            <a:pPr lvl="1"/>
            <a:r>
              <a:rPr lang="en-US" altLang="en-US" sz="1700" dirty="0"/>
              <a:t>The decomposition is a lossless decomposition</a:t>
            </a:r>
          </a:p>
          <a:p>
            <a:pPr lvl="1"/>
            <a:r>
              <a:rPr lang="en-US" altLang="en-US" sz="1700" dirty="0"/>
              <a:t>Preferably, the decomposition should be dependency preserving.</a:t>
            </a:r>
          </a:p>
          <a:p>
            <a:endParaRPr lang="en-US" altLang="en-US" dirty="0"/>
          </a:p>
          <a:p>
            <a:r>
              <a:rPr lang="zh-TW" altLang="en-US" dirty="0"/>
              <a:t>對照第</a:t>
            </a:r>
            <a:r>
              <a:rPr lang="en-US" altLang="zh-TW" dirty="0" smtClean="0"/>
              <a:t>7.8</a:t>
            </a:r>
            <a:r>
              <a:rPr lang="zh-TW" altLang="en-US" dirty="0" smtClean="0"/>
              <a:t>頁</a:t>
            </a:r>
            <a:endParaRPr lang="en-US" altLang="en-US" dirty="0"/>
          </a:p>
          <a:p>
            <a:pPr lvl="1"/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9713984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1953" y="2255838"/>
            <a:ext cx="7378947" cy="163830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Algorithm for Decomposition Using</a:t>
            </a:r>
          </a:p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        Functional Dependencies 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Testing for BCNF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2201"/>
            <a:ext cx="7665436" cy="49476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To check if a non-trivial dependency </a:t>
            </a:r>
            <a:r>
              <a:rPr lang="en-US" altLang="en-US" sz="1600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kumimoji="0"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sz="1600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 </a:t>
            </a:r>
            <a:r>
              <a:rPr lang="en-US" altLang="en-US" dirty="0"/>
              <a:t>causes a violation of BCNF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  compute </a:t>
            </a:r>
            <a:r>
              <a:rPr lang="en-US" altLang="en-US" sz="1600" dirty="0">
                <a:sym typeface="Symbol" panose="05050102010706020507" pitchFamily="18" charset="2"/>
              </a:rPr>
              <a:t></a:t>
            </a:r>
            <a:r>
              <a:rPr lang="en-US" altLang="en-US" baseline="30000" dirty="0"/>
              <a:t>+</a:t>
            </a:r>
            <a:r>
              <a:rPr lang="en-US" altLang="en-US" dirty="0"/>
              <a:t> (the attribute closure of </a:t>
            </a:r>
            <a:r>
              <a:rPr lang="en-US" altLang="en-US" sz="1600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), and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2.  verify that it includes all attributes of </a:t>
            </a:r>
            <a:r>
              <a:rPr lang="en-US" altLang="en-US" i="1" dirty="0"/>
              <a:t>R</a:t>
            </a:r>
            <a:r>
              <a:rPr lang="en-US" altLang="en-US" dirty="0"/>
              <a:t>, that is, it is a </a:t>
            </a:r>
            <a:r>
              <a:rPr lang="en-US" altLang="en-US" dirty="0" err="1"/>
              <a:t>superkey</a:t>
            </a:r>
            <a:r>
              <a:rPr lang="en-US" altLang="en-US" dirty="0"/>
              <a:t> of </a:t>
            </a:r>
            <a:r>
              <a:rPr lang="en-US" altLang="en-US" i="1" dirty="0"/>
              <a:t>R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Simplified test</a:t>
            </a:r>
            <a:r>
              <a:rPr lang="en-US" altLang="en-US" dirty="0"/>
              <a:t>: To check if a relation schema </a:t>
            </a:r>
            <a:r>
              <a:rPr lang="en-US" altLang="en-US" i="1" dirty="0"/>
              <a:t>R</a:t>
            </a:r>
            <a:r>
              <a:rPr lang="en-US" altLang="en-US" dirty="0"/>
              <a:t> is in BCNF, it suffices to check only the dependencies in the given set </a:t>
            </a:r>
            <a:r>
              <a:rPr lang="en-US" altLang="en-US" i="1" dirty="0"/>
              <a:t>F</a:t>
            </a:r>
            <a:r>
              <a:rPr lang="en-US" altLang="en-US" dirty="0"/>
              <a:t> for violation of BCNF, rather than checking all dependencies in </a:t>
            </a:r>
            <a:r>
              <a:rPr lang="en-US" altLang="en-US" i="1" dirty="0"/>
              <a:t>F</a:t>
            </a:r>
            <a:r>
              <a:rPr lang="en-US" altLang="en-US" baseline="30000" dirty="0"/>
              <a:t>+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If none of the dependencies in </a:t>
            </a:r>
            <a:r>
              <a:rPr lang="en-US" altLang="en-US" i="1" dirty="0"/>
              <a:t>F</a:t>
            </a:r>
            <a:r>
              <a:rPr lang="en-US" altLang="en-US" dirty="0"/>
              <a:t> causes a violation of BCNF, then none of the dependencies in </a:t>
            </a:r>
            <a:r>
              <a:rPr lang="en-US" altLang="en-US" i="1" dirty="0"/>
              <a:t>F</a:t>
            </a:r>
            <a:r>
              <a:rPr lang="en-US" altLang="en-US" baseline="30000" dirty="0"/>
              <a:t>+</a:t>
            </a:r>
            <a:r>
              <a:rPr lang="en-US" altLang="en-US" dirty="0"/>
              <a:t> will cause a violation of BCNF either.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 smtClean="0"/>
              <a:t>However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2060"/>
                </a:solidFill>
              </a:rPr>
              <a:t>simplified test </a:t>
            </a:r>
            <a:r>
              <a:rPr lang="en-US" altLang="en-US" dirty="0"/>
              <a:t>using only F is incorrect when testing a relation in a decomposition of 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Consider </a:t>
            </a:r>
            <a:r>
              <a:rPr lang="en-US" altLang="en-US" i="1" dirty="0"/>
              <a:t>R =</a:t>
            </a:r>
            <a:r>
              <a:rPr lang="en-US" altLang="en-US" dirty="0"/>
              <a:t> (</a:t>
            </a:r>
            <a:r>
              <a:rPr lang="en-US" altLang="en-US" i="1" dirty="0"/>
              <a:t>A, B, C, D, E</a:t>
            </a:r>
            <a:r>
              <a:rPr lang="en-US" altLang="en-US" dirty="0"/>
              <a:t>), with </a:t>
            </a:r>
            <a:r>
              <a:rPr lang="en-US" altLang="en-US" i="1" dirty="0"/>
              <a:t>F</a:t>
            </a:r>
            <a:r>
              <a:rPr lang="en-US" altLang="en-US" dirty="0"/>
              <a:t> = { </a:t>
            </a:r>
            <a:r>
              <a:rPr lang="en-US" altLang="en-US" i="1" dirty="0"/>
              <a:t>A </a:t>
            </a:r>
            <a:r>
              <a:rPr lang="en-US" altLang="en-US" i="1" dirty="0">
                <a:sym typeface="Symbol" panose="05050102010706020507" pitchFamily="18" charset="2"/>
              </a:rPr>
              <a:t> </a:t>
            </a:r>
            <a:r>
              <a:rPr lang="en-US" altLang="en-US" i="1" dirty="0"/>
              <a:t>B, BC </a:t>
            </a:r>
            <a:r>
              <a:rPr lang="en-US" altLang="en-US" i="1" dirty="0">
                <a:sym typeface="Symbol" panose="05050102010706020507" pitchFamily="18" charset="2"/>
              </a:rPr>
              <a:t> D</a:t>
            </a:r>
            <a:r>
              <a:rPr lang="en-US" altLang="en-US" dirty="0"/>
              <a:t>}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Decompose </a:t>
            </a:r>
            <a:r>
              <a:rPr lang="en-US" altLang="en-US" i="1" dirty="0"/>
              <a:t>R</a:t>
            </a:r>
            <a:r>
              <a:rPr lang="en-US" altLang="en-US" dirty="0"/>
              <a:t> into </a:t>
            </a:r>
            <a:r>
              <a:rPr lang="en-US" altLang="en-US" i="1" dirty="0"/>
              <a:t>R</a:t>
            </a:r>
            <a:r>
              <a:rPr lang="en-US" altLang="en-US" baseline="-25000" dirty="0"/>
              <a:t>1 </a:t>
            </a:r>
            <a:r>
              <a:rPr lang="en-US" altLang="en-US" dirty="0"/>
              <a:t>=</a:t>
            </a:r>
            <a:r>
              <a:rPr lang="en-US" altLang="en-US" baseline="-25000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A,</a:t>
            </a:r>
            <a:r>
              <a:rPr lang="zh-TW" altLang="en-US" i="1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)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2 </a:t>
            </a:r>
            <a:r>
              <a:rPr lang="en-US" altLang="en-US" dirty="0"/>
              <a:t>=</a:t>
            </a:r>
            <a:r>
              <a:rPr lang="en-US" altLang="en-US" baseline="-25000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A,C,D, E</a:t>
            </a:r>
            <a:r>
              <a:rPr lang="en-US" altLang="en-US" dirty="0"/>
              <a:t>)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Neither of the dependencies in </a:t>
            </a:r>
            <a:r>
              <a:rPr lang="en-US" altLang="en-US" i="1" dirty="0"/>
              <a:t>F</a:t>
            </a:r>
            <a:r>
              <a:rPr lang="en-US" altLang="en-US" dirty="0"/>
              <a:t> contain only attributes from</a:t>
            </a:r>
            <a:br>
              <a:rPr lang="en-US" altLang="en-US" dirty="0"/>
            </a:br>
            <a:r>
              <a:rPr lang="en-US" altLang="en-US" dirty="0"/>
              <a:t> (</a:t>
            </a:r>
            <a:r>
              <a:rPr lang="en-US" altLang="en-US" i="1" dirty="0"/>
              <a:t>A,C,D,E</a:t>
            </a:r>
            <a:r>
              <a:rPr lang="en-US" altLang="en-US" dirty="0"/>
              <a:t>) so we might be mislead into thinking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satisfies BCNF. 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 fact, dependency </a:t>
            </a:r>
            <a:r>
              <a:rPr lang="en-US" altLang="en-US" i="1" dirty="0"/>
              <a:t>AC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/>
              <a:t> </a:t>
            </a:r>
            <a:r>
              <a:rPr lang="en-US" altLang="en-US" i="1" dirty="0"/>
              <a:t>D</a:t>
            </a:r>
            <a:r>
              <a:rPr lang="en-US" altLang="en-US" dirty="0"/>
              <a:t> in </a:t>
            </a:r>
            <a:r>
              <a:rPr lang="en-US" altLang="en-US" i="1" dirty="0"/>
              <a:t>F</a:t>
            </a:r>
            <a:r>
              <a:rPr lang="en-US" altLang="en-US" baseline="30000" dirty="0"/>
              <a:t>+</a:t>
            </a:r>
            <a:r>
              <a:rPr lang="en-US" altLang="en-US" dirty="0"/>
              <a:t> shows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is not in BCNF.</a:t>
            </a:r>
            <a:r>
              <a:rPr lang="en-US" altLang="en-US" sz="16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11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Testing Decomposition for BCNF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9811" y="1636297"/>
            <a:ext cx="7306322" cy="3585408"/>
          </a:xfrm>
        </p:spPr>
        <p:txBody>
          <a:bodyPr/>
          <a:lstStyle/>
          <a:p>
            <a:r>
              <a:rPr lang="en-US" altLang="en-US" dirty="0"/>
              <a:t>Either test R</a:t>
            </a:r>
            <a:r>
              <a:rPr lang="en-US" altLang="en-US" baseline="-25000" dirty="0"/>
              <a:t>i </a:t>
            </a:r>
            <a:r>
              <a:rPr lang="en-US" altLang="en-US" dirty="0"/>
              <a:t>for BCNF with respect to the </a:t>
            </a:r>
            <a:r>
              <a:rPr lang="en-US" altLang="en-US" b="1" dirty="0">
                <a:solidFill>
                  <a:srgbClr val="002060"/>
                </a:solidFill>
              </a:rPr>
              <a:t>restriction</a:t>
            </a:r>
            <a:r>
              <a:rPr lang="en-US" altLang="en-US" dirty="0"/>
              <a:t> of F</a:t>
            </a:r>
            <a:r>
              <a:rPr lang="en-US" altLang="en-US" sz="2000" baseline="30000" dirty="0"/>
              <a:t>+</a:t>
            </a:r>
            <a:r>
              <a:rPr lang="en-US" altLang="en-US" dirty="0"/>
              <a:t> to R</a:t>
            </a:r>
            <a:r>
              <a:rPr lang="en-US" altLang="en-US" baseline="-25000" dirty="0"/>
              <a:t>i</a:t>
            </a:r>
            <a:r>
              <a:rPr lang="en-US" altLang="en-US" dirty="0"/>
              <a:t>  (that is, all FDs in F</a:t>
            </a:r>
            <a:r>
              <a:rPr lang="en-US" altLang="en-US" baseline="30000" dirty="0"/>
              <a:t>+</a:t>
            </a:r>
            <a:r>
              <a:rPr lang="en-US" altLang="en-US" dirty="0"/>
              <a:t> that contain only attributes from R</a:t>
            </a:r>
            <a:r>
              <a:rPr lang="en-US" altLang="en-US" baseline="-25000" dirty="0"/>
              <a:t>i</a:t>
            </a:r>
            <a:r>
              <a:rPr lang="en-US" altLang="en-US" dirty="0"/>
              <a:t>)</a:t>
            </a:r>
          </a:p>
          <a:p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/>
              <a:t>Or use the original set of dependencies </a:t>
            </a:r>
            <a:r>
              <a:rPr lang="en-US" altLang="en-US" i="1" dirty="0"/>
              <a:t>F</a:t>
            </a:r>
            <a:r>
              <a:rPr lang="en-US" altLang="en-US" dirty="0"/>
              <a:t> that hold on </a:t>
            </a:r>
            <a:r>
              <a:rPr lang="en-US" altLang="en-US" i="1" dirty="0"/>
              <a:t>R</a:t>
            </a:r>
            <a:r>
              <a:rPr lang="en-US" altLang="en-US" dirty="0"/>
              <a:t>, but with the following test:</a:t>
            </a:r>
          </a:p>
          <a:p>
            <a:pPr lvl="2"/>
            <a:r>
              <a:rPr lang="en-US" altLang="en-US" dirty="0"/>
              <a:t>for every set of attributes </a:t>
            </a:r>
            <a:r>
              <a:rPr lang="en-US" altLang="en-US" dirty="0">
                <a:sym typeface="Symbol" panose="05050102010706020507" pitchFamily="18" charset="2"/>
              </a:rPr>
              <a:t> 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, check that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baseline="30000" dirty="0"/>
              <a:t>+</a:t>
            </a:r>
            <a:r>
              <a:rPr lang="en-US" altLang="en-US" dirty="0"/>
              <a:t> (the attribute closure of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) either includes no attribute of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-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/>
              <a:t>, or includes all attributes of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If the condition is violated by some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dirty="0"/>
              <a:t>  in F</a:t>
            </a:r>
            <a:r>
              <a:rPr lang="en-US" altLang="en-US" sz="2000" baseline="30000" dirty="0"/>
              <a:t>+</a:t>
            </a:r>
            <a:r>
              <a:rPr lang="en-US" altLang="en-US" dirty="0"/>
              <a:t>, the dependency</a:t>
            </a:r>
            <a:br>
              <a:rPr lang="en-US" altLang="en-US" dirty="0"/>
            </a:br>
            <a:r>
              <a:rPr lang="en-US" altLang="en-US" dirty="0"/>
              <a:t>     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 (</a:t>
            </a:r>
            <a:r>
              <a:rPr lang="en-US" altLang="en-US" baseline="30000" dirty="0">
                <a:sym typeface="Symbol" panose="05050102010706020507" pitchFamily="18" charset="2"/>
              </a:rPr>
              <a:t>+ </a:t>
            </a:r>
            <a:r>
              <a:rPr lang="en-US" altLang="en-US" dirty="0">
                <a:sym typeface="Symbol" panose="05050102010706020507" pitchFamily="18" charset="2"/>
              </a:rPr>
              <a:t>- ) 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baseline="30000" dirty="0"/>
              <a:t/>
            </a:r>
            <a:br>
              <a:rPr lang="en-US" altLang="en-US" baseline="30000" dirty="0"/>
            </a:br>
            <a:r>
              <a:rPr lang="en-US" altLang="en-US" dirty="0"/>
              <a:t>can be shown to hold on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, and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dirty="0"/>
              <a:t> violates BCNF.</a:t>
            </a:r>
          </a:p>
          <a:p>
            <a:pPr lvl="1"/>
            <a:r>
              <a:rPr lang="en-US" altLang="en-US" dirty="0"/>
              <a:t>We use above dependency to decompose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endParaRPr lang="en-US" altLang="en-US" i="1" dirty="0"/>
          </a:p>
        </p:txBody>
      </p:sp>
      <p:sp>
        <p:nvSpPr>
          <p:cNvPr id="2" name="TextBox 1"/>
          <p:cNvSpPr txBox="1"/>
          <p:nvPr/>
        </p:nvSpPr>
        <p:spPr>
          <a:xfrm>
            <a:off x="768350" y="1143000"/>
            <a:ext cx="707706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To check if a relation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dirty="0"/>
              <a:t> in a decomposition of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in BCNF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BCNF Decomposition Algorithm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9350"/>
            <a:ext cx="7763091" cy="4291013"/>
          </a:xfrm>
        </p:spPr>
        <p:txBody>
          <a:bodyPr/>
          <a:lstStyle/>
          <a:p>
            <a:pPr>
              <a:buFont typeface="Monotype Sorts" pitchFamily="-84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r>
              <a:rPr lang="en-US" altLang="en-US" i="1" dirty="0"/>
              <a:t>	result </a:t>
            </a:r>
            <a:r>
              <a:rPr lang="en-US" altLang="en-US" dirty="0"/>
              <a:t>:= {</a:t>
            </a:r>
            <a:r>
              <a:rPr lang="en-US" altLang="en-US" i="1" dirty="0"/>
              <a:t>R </a:t>
            </a:r>
            <a:r>
              <a:rPr lang="en-US" altLang="en-US" dirty="0"/>
              <a:t>};</a:t>
            </a:r>
            <a:br>
              <a:rPr lang="en-US" altLang="en-US" dirty="0"/>
            </a:br>
            <a:r>
              <a:rPr lang="en-US" altLang="en-US" i="1" dirty="0"/>
              <a:t>done </a:t>
            </a:r>
            <a:r>
              <a:rPr lang="en-US" altLang="en-US" dirty="0"/>
              <a:t>:= false;</a:t>
            </a:r>
            <a:br>
              <a:rPr lang="en-US" altLang="en-US" dirty="0"/>
            </a:br>
            <a:r>
              <a:rPr lang="en-US" altLang="en-US" dirty="0"/>
              <a:t>compute </a:t>
            </a:r>
            <a:r>
              <a:rPr lang="en-US" altLang="en-US" i="1" dirty="0" smtClean="0"/>
              <a:t>F</a:t>
            </a:r>
            <a:r>
              <a:rPr lang="en-US" altLang="en-US" baseline="30000" dirty="0" smtClean="0"/>
              <a:t>+</a:t>
            </a:r>
            <a:r>
              <a:rPr lang="en-US" altLang="en-US" dirty="0" smtClean="0"/>
              <a:t>;</a:t>
            </a:r>
            <a:r>
              <a:rPr lang="zh-TW" altLang="en-US" dirty="0" smtClean="0"/>
              <a:t> </a:t>
            </a:r>
            <a:r>
              <a:rPr lang="en-US" altLang="zh-TW" dirty="0"/>
              <a:t>(</a:t>
            </a:r>
            <a:r>
              <a:rPr lang="zh-TW" altLang="en-US" dirty="0"/>
              <a:t>實務上用</a:t>
            </a:r>
            <a:r>
              <a:rPr lang="en-US" altLang="zh-TW" dirty="0"/>
              <a:t>transitivity rule</a:t>
            </a:r>
            <a:r>
              <a:rPr lang="zh-TW" altLang="en-US" dirty="0"/>
              <a:t>和</a:t>
            </a:r>
            <a:r>
              <a:rPr lang="en-US" altLang="zh-TW" dirty="0" err="1"/>
              <a:t>pseudotransitivity</a:t>
            </a:r>
            <a:r>
              <a:rPr lang="en-US" altLang="zh-TW" dirty="0"/>
              <a:t> rule </a:t>
            </a:r>
            <a:r>
              <a:rPr lang="zh-TW" altLang="en-US" dirty="0" smtClean="0"/>
              <a:t>即可，</a:t>
            </a:r>
            <a:r>
              <a:rPr lang="zh-TW" altLang="en-US" dirty="0"/>
              <a:t>為了</a:t>
            </a:r>
            <a:r>
              <a:rPr lang="zh-TW" altLang="en-US" dirty="0" smtClean="0"/>
              <a:t>簡</a:t>
            </a:r>
            <a:endParaRPr lang="en-US" altLang="zh-TW" dirty="0" smtClean="0"/>
          </a:p>
          <a:p>
            <a:pPr>
              <a:buFont typeface="Monotype Sorts" pitchFamily="-84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r>
              <a:rPr lang="en-US" altLang="zh-TW" dirty="0"/>
              <a:t>	</a:t>
            </a:r>
            <a:r>
              <a:rPr lang="en-US" altLang="zh-TW" dirty="0" smtClean="0"/>
              <a:t>			</a:t>
            </a:r>
            <a:r>
              <a:rPr lang="zh-TW" altLang="en-US" dirty="0" smtClean="0"/>
              <a:t>  化</a:t>
            </a:r>
            <a:r>
              <a:rPr lang="zh-TW" altLang="en-US" dirty="0"/>
              <a:t>討論有時只</a:t>
            </a:r>
            <a:r>
              <a:rPr lang="zh-TW" altLang="en-US" dirty="0" smtClean="0"/>
              <a:t>用</a:t>
            </a:r>
            <a:r>
              <a:rPr lang="en-US" altLang="en-US" i="1" dirty="0"/>
              <a:t>F</a:t>
            </a:r>
            <a:r>
              <a:rPr lang="en-US" altLang="zh-TW" dirty="0" smtClean="0"/>
              <a:t>)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b="1" dirty="0"/>
              <a:t>while (not </a:t>
            </a:r>
            <a:r>
              <a:rPr lang="en-US" altLang="en-US" i="1" dirty="0"/>
              <a:t>done) </a:t>
            </a:r>
            <a:r>
              <a:rPr lang="en-US" altLang="en-US" b="1" dirty="0"/>
              <a:t>do</a:t>
            </a:r>
            <a:br>
              <a:rPr lang="en-US" altLang="en-US" b="1" dirty="0"/>
            </a:br>
            <a:r>
              <a:rPr lang="en-US" altLang="en-US" b="1" dirty="0"/>
              <a:t>	if </a:t>
            </a:r>
            <a:r>
              <a:rPr lang="en-US" altLang="en-US" dirty="0"/>
              <a:t>(there is a schema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in </a:t>
            </a:r>
            <a:r>
              <a:rPr lang="en-US" altLang="en-US" i="1" dirty="0"/>
              <a:t>result </a:t>
            </a:r>
            <a:r>
              <a:rPr lang="en-US" altLang="en-US" dirty="0"/>
              <a:t> that is not in BCNF)</a:t>
            </a:r>
            <a:br>
              <a:rPr lang="en-US" altLang="en-US" dirty="0"/>
            </a:br>
            <a:r>
              <a:rPr lang="en-US" altLang="en-US" dirty="0"/>
              <a:t>		</a:t>
            </a:r>
            <a:r>
              <a:rPr lang="en-US" altLang="en-US" b="1" dirty="0"/>
              <a:t>then begin</a:t>
            </a:r>
            <a:br>
              <a:rPr lang="en-US" altLang="en-US" b="1" dirty="0"/>
            </a:br>
            <a:r>
              <a:rPr lang="en-US" altLang="en-US" b="1" dirty="0"/>
              <a:t>			</a:t>
            </a:r>
            <a:r>
              <a:rPr lang="en-US" altLang="en-US" dirty="0"/>
              <a:t>let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 be a nontrivial functional dependency that </a:t>
            </a:r>
            <a:br>
              <a:rPr lang="en-US" altLang="en-US" dirty="0">
                <a:sym typeface="Greek Symbols"/>
              </a:rPr>
            </a:br>
            <a:r>
              <a:rPr lang="en-US" altLang="en-US" dirty="0">
                <a:sym typeface="Greek Symbols"/>
              </a:rPr>
              <a:t>                       holds on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i="1" baseline="-25000" dirty="0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 </a:t>
            </a:r>
            <a:r>
              <a:rPr lang="en-US" altLang="en-US" dirty="0">
                <a:sym typeface="Greek Symbols"/>
              </a:rPr>
              <a:t>such that </a:t>
            </a:r>
            <a:r>
              <a:rPr lang="en-US" altLang="en-US" dirty="0">
                <a:sym typeface="Symbol" panose="05050102010706020507" pitchFamily="18" charset="2"/>
              </a:rPr>
              <a:t></a:t>
            </a:r>
            <a:r>
              <a:rPr lang="en-US" altLang="en-US" dirty="0">
                <a:sym typeface="Greek Symbols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>
                <a:sym typeface="Monotype Sorts" pitchFamily="-84" charset="2"/>
              </a:rPr>
              <a:t>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i="1" baseline="-25000" dirty="0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is not in </a:t>
            </a:r>
            <a:r>
              <a:rPr lang="en-US" altLang="en-US" i="1" dirty="0">
                <a:sym typeface="Greek Symbols"/>
              </a:rPr>
              <a:t>F </a:t>
            </a:r>
            <a:r>
              <a:rPr lang="en-US" altLang="en-US" baseline="30000" dirty="0">
                <a:sym typeface="Greek Symbols"/>
              </a:rPr>
              <a:t>+</a:t>
            </a:r>
            <a:r>
              <a:rPr lang="en-US" altLang="en-US" dirty="0">
                <a:sym typeface="Greek Symbols"/>
              </a:rPr>
              <a:t>, </a:t>
            </a: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		   </a:t>
            </a:r>
            <a:r>
              <a:rPr lang="en-US" altLang="en-US" i="1" dirty="0">
                <a:sym typeface="Symbol" panose="05050102010706020507" pitchFamily="18" charset="2"/>
              </a:rPr>
              <a:t>result </a:t>
            </a:r>
            <a:r>
              <a:rPr lang="en-US" altLang="en-US" dirty="0">
                <a:sym typeface="Symbol" panose="05050102010706020507" pitchFamily="18" charset="2"/>
              </a:rPr>
              <a:t>:= (</a:t>
            </a:r>
            <a:r>
              <a:rPr lang="en-US" altLang="en-US" i="1" dirty="0">
                <a:sym typeface="Symbol" panose="05050102010706020507" pitchFamily="18" charset="2"/>
              </a:rPr>
              <a:t>result – R</a:t>
            </a:r>
            <a:r>
              <a:rPr lang="en-US" altLang="en-US" i="1" baseline="-25000" dirty="0">
                <a:sym typeface="Symbol" panose="05050102010706020507" pitchFamily="18" charset="2"/>
              </a:rPr>
              <a:t>i </a:t>
            </a:r>
            <a:r>
              <a:rPr lang="en-US" altLang="en-US" i="1" dirty="0">
                <a:sym typeface="Symbol" panose="05050102010706020507" pitchFamily="18" charset="2"/>
              </a:rPr>
              <a:t>) </a:t>
            </a:r>
            <a:r>
              <a:rPr lang="en-US" altLang="en-US" dirty="0">
                <a:sym typeface="Symbol" panose="05050102010706020507" pitchFamily="18" charset="2"/>
              </a:rPr>
              <a:t> 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– </a:t>
            </a:r>
            <a:r>
              <a:rPr lang="en-US" altLang="en-US" dirty="0">
                <a:sym typeface="Greek Symbols"/>
              </a:rPr>
              <a:t>) </a:t>
            </a:r>
            <a:r>
              <a:rPr lang="en-US" altLang="en-US" dirty="0">
                <a:sym typeface="Symbol" panose="05050102010706020507" pitchFamily="18" charset="2"/>
              </a:rPr>
              <a:t> (</a:t>
            </a:r>
            <a:r>
              <a:rPr lang="en-US" altLang="en-US" dirty="0">
                <a:sym typeface="Greek Symbols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</a:t>
            </a:r>
            <a:r>
              <a:rPr lang="en-US" altLang="en-US" i="1" dirty="0">
                <a:sym typeface="Greek Symbols"/>
              </a:rPr>
              <a:t> );</a:t>
            </a:r>
            <a:br>
              <a:rPr lang="en-US" altLang="en-US" i="1" dirty="0">
                <a:sym typeface="Greek Symbols"/>
              </a:rPr>
            </a:br>
            <a:r>
              <a:rPr lang="en-US" altLang="en-US" i="1" dirty="0">
                <a:sym typeface="Greek Symbols"/>
              </a:rPr>
              <a:t>	    	</a:t>
            </a:r>
            <a:r>
              <a:rPr lang="en-US" altLang="en-US" b="1" dirty="0">
                <a:sym typeface="Greek Symbols"/>
              </a:rPr>
              <a:t>end</a:t>
            </a:r>
            <a:br>
              <a:rPr lang="en-US" altLang="en-US" b="1" dirty="0">
                <a:sym typeface="Greek Symbols"/>
              </a:rPr>
            </a:br>
            <a:r>
              <a:rPr lang="en-US" altLang="en-US" b="1" dirty="0">
                <a:sym typeface="Greek Symbols"/>
              </a:rPr>
              <a:t>		else</a:t>
            </a:r>
            <a:r>
              <a:rPr lang="en-US" altLang="en-US" i="1" dirty="0">
                <a:sym typeface="Greek Symbols"/>
              </a:rPr>
              <a:t> done </a:t>
            </a:r>
            <a:r>
              <a:rPr lang="en-US" altLang="en-US" dirty="0">
                <a:sym typeface="Greek Symbols"/>
              </a:rPr>
              <a:t>:= </a:t>
            </a:r>
            <a:r>
              <a:rPr lang="en-US" altLang="en-US" b="1" dirty="0">
                <a:sym typeface="Greek Symbols"/>
              </a:rPr>
              <a:t>true; </a:t>
            </a:r>
          </a:p>
          <a:p>
            <a:pPr>
              <a:buFont typeface="Monotype Sorts" pitchFamily="-84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endParaRPr lang="en-US" altLang="en-US" b="1" dirty="0">
              <a:sym typeface="Greek Symbols"/>
            </a:endParaRPr>
          </a:p>
          <a:p>
            <a:pPr>
              <a:buFont typeface="Monotype Sorts" pitchFamily="-84" charset="2"/>
              <a:buNone/>
              <a:tabLst>
                <a:tab pos="565150" algn="l"/>
                <a:tab pos="803275" algn="l"/>
                <a:tab pos="1489075" algn="l"/>
                <a:tab pos="1771650" algn="l"/>
              </a:tabLst>
            </a:pPr>
            <a:r>
              <a:rPr lang="en-US" altLang="en-US" dirty="0">
                <a:sym typeface="Greek Symbols"/>
              </a:rPr>
              <a:t>     Note:  each </a:t>
            </a:r>
            <a:r>
              <a:rPr lang="en-US" altLang="en-US" i="1" dirty="0">
                <a:sym typeface="Greek Symbols"/>
              </a:rPr>
              <a:t>R</a:t>
            </a:r>
            <a:r>
              <a:rPr lang="en-US" altLang="en-US" i="1" baseline="-25000" dirty="0">
                <a:sym typeface="Greek Symbols"/>
              </a:rPr>
              <a:t>i</a:t>
            </a:r>
            <a:r>
              <a:rPr lang="en-US" altLang="en-US" i="1" dirty="0">
                <a:sym typeface="Greek Symbols"/>
              </a:rPr>
              <a:t> </a:t>
            </a:r>
            <a:r>
              <a:rPr lang="en-US" altLang="en-US" dirty="0">
                <a:sym typeface="Greek Symbols"/>
              </a:rPr>
              <a:t>is in BCNF, and decomposition is lossless-join.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 of BCNF Decomposition</a:t>
            </a:r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94415" cy="4633244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class 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, 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/>
              <a:t>capacity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r>
              <a:rPr lang="en-US" altLang="en-US" dirty="0"/>
              <a:t>)</a:t>
            </a:r>
          </a:p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Functional dependencies: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 err="1"/>
              <a:t>course_id</a:t>
            </a:r>
            <a:r>
              <a:rPr lang="en-US" altLang="en-US" dirty="0"/>
              <a:t>→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 err="1"/>
              <a:t>→</a:t>
            </a:r>
            <a:r>
              <a:rPr lang="en-US" altLang="en-US" i="1" dirty="0" err="1"/>
              <a:t>capacity</a:t>
            </a:r>
            <a:endParaRPr lang="en-US" altLang="en-US" i="1" dirty="0"/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 err="1"/>
              <a:t>year</a:t>
            </a:r>
            <a:r>
              <a:rPr lang="en-US" altLang="en-US" dirty="0" err="1"/>
              <a:t>→</a:t>
            </a:r>
            <a:r>
              <a:rPr lang="en-US" altLang="en-US" i="1" dirty="0" err="1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endParaRPr lang="en-US" altLang="en-US" i="1" dirty="0"/>
          </a:p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A candidate key {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}.</a:t>
            </a:r>
          </a:p>
          <a:p>
            <a:pPr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BCNF Decomposition: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 err="1"/>
              <a:t>course_id</a:t>
            </a:r>
            <a:r>
              <a:rPr lang="en-US" altLang="en-US" dirty="0"/>
              <a:t>→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  </a:t>
            </a:r>
            <a:r>
              <a:rPr lang="en-US" altLang="en-US" dirty="0"/>
              <a:t>holds</a:t>
            </a:r>
          </a:p>
          <a:p>
            <a:pPr lvl="2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but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 </a:t>
            </a:r>
            <a:r>
              <a:rPr lang="en-US" altLang="en-US" dirty="0"/>
              <a:t>is not a </a:t>
            </a:r>
            <a:r>
              <a:rPr lang="en-US" altLang="en-US" dirty="0" err="1"/>
              <a:t>superkey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dirty="0"/>
              <a:t> We replace </a:t>
            </a:r>
            <a:r>
              <a:rPr lang="en-US" altLang="en-US" i="1" dirty="0"/>
              <a:t>class </a:t>
            </a:r>
            <a:r>
              <a:rPr lang="en-US" altLang="en-US" dirty="0"/>
              <a:t>by:</a:t>
            </a:r>
          </a:p>
          <a:p>
            <a:pPr lvl="2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course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/>
              <a:t>title</a:t>
            </a:r>
            <a:r>
              <a:rPr lang="en-US" altLang="en-US" dirty="0"/>
              <a:t>, </a:t>
            </a:r>
            <a:r>
              <a:rPr lang="en-US" altLang="en-US" i="1" dirty="0" err="1"/>
              <a:t>dept_name</a:t>
            </a:r>
            <a:r>
              <a:rPr lang="en-US" altLang="en-US" dirty="0"/>
              <a:t>, </a:t>
            </a:r>
            <a:r>
              <a:rPr lang="en-US" altLang="en-US" i="1" dirty="0"/>
              <a:t>credits</a:t>
            </a:r>
            <a:r>
              <a:rPr lang="en-US" altLang="en-US" dirty="0"/>
              <a:t>)</a:t>
            </a:r>
          </a:p>
          <a:p>
            <a:pPr lvl="2">
              <a:lnSpc>
                <a:spcPct val="90000"/>
              </a:lnSpc>
              <a:tabLst>
                <a:tab pos="744538" algn="l"/>
                <a:tab pos="2574925" algn="l"/>
              </a:tabLst>
            </a:pPr>
            <a:r>
              <a:rPr lang="en-US" altLang="en-US" i="1" dirty="0"/>
              <a:t>class-1 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, </a:t>
            </a:r>
            <a:r>
              <a:rPr lang="en-US" altLang="en-US" i="1" dirty="0"/>
              <a:t>building</a:t>
            </a:r>
            <a:r>
              <a:rPr lang="en-US" altLang="en-US" dirty="0"/>
              <a:t>,           </a:t>
            </a:r>
            <a:br>
              <a:rPr lang="en-US" altLang="en-US" dirty="0"/>
            </a:br>
            <a:r>
              <a:rPr lang="en-US" altLang="en-US" dirty="0"/>
              <a:t>             </a:t>
            </a:r>
            <a:r>
              <a:rPr lang="en-US" altLang="en-US" i="1" dirty="0" err="1"/>
              <a:t>room_number</a:t>
            </a:r>
            <a:r>
              <a:rPr lang="en-US" altLang="en-US" i="1" dirty="0"/>
              <a:t>, capacity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3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BCNF Decomposition (Cont.)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7"/>
            <a:ext cx="7505638" cy="3757911"/>
          </a:xfrm>
        </p:spPr>
        <p:txBody>
          <a:bodyPr/>
          <a:lstStyle/>
          <a:p>
            <a:r>
              <a:rPr lang="en-US" altLang="en-US" i="1" dirty="0"/>
              <a:t>course </a:t>
            </a:r>
            <a:r>
              <a:rPr lang="en-US" altLang="en-US" dirty="0"/>
              <a:t>is in BCNF</a:t>
            </a:r>
          </a:p>
          <a:p>
            <a:pPr lvl="1"/>
            <a:r>
              <a:rPr lang="en-US" altLang="en-US" dirty="0"/>
              <a:t>How do we know this?</a:t>
            </a:r>
          </a:p>
          <a:p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 err="1"/>
              <a:t>→</a:t>
            </a:r>
            <a:r>
              <a:rPr lang="en-US" altLang="en-US" i="1" dirty="0" err="1"/>
              <a:t>capacity</a:t>
            </a:r>
            <a:r>
              <a:rPr lang="en-US" altLang="en-US" i="1" dirty="0"/>
              <a:t>  </a:t>
            </a:r>
            <a:r>
              <a:rPr lang="en-US" altLang="en-US" dirty="0"/>
              <a:t>holds on </a:t>
            </a:r>
            <a:r>
              <a:rPr lang="en-US" altLang="en-US" i="1" dirty="0"/>
              <a:t>class-1</a:t>
            </a:r>
            <a:endParaRPr lang="en-US" altLang="en-US" dirty="0"/>
          </a:p>
          <a:p>
            <a:pPr lvl="1"/>
            <a:r>
              <a:rPr lang="en-US" altLang="en-US" dirty="0"/>
              <a:t> but {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} is not a </a:t>
            </a:r>
            <a:r>
              <a:rPr lang="en-US" altLang="en-US" dirty="0" err="1"/>
              <a:t>superkey</a:t>
            </a:r>
            <a:r>
              <a:rPr lang="en-US" altLang="en-US" dirty="0"/>
              <a:t> for </a:t>
            </a:r>
            <a:r>
              <a:rPr lang="en-US" altLang="en-US" i="1" dirty="0"/>
              <a:t>class-1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We replace </a:t>
            </a:r>
            <a:r>
              <a:rPr lang="en-US" altLang="en-US" i="1" dirty="0"/>
              <a:t>class-1 </a:t>
            </a:r>
            <a:r>
              <a:rPr lang="en-US" altLang="en-US" dirty="0"/>
              <a:t>by:</a:t>
            </a:r>
          </a:p>
          <a:p>
            <a:pPr lvl="2"/>
            <a:r>
              <a:rPr lang="en-US" altLang="en-US" i="1" dirty="0"/>
              <a:t>classroom </a:t>
            </a:r>
            <a:r>
              <a:rPr lang="en-US" altLang="en-US" dirty="0"/>
              <a:t>(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/>
              <a:t>capacity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i="1" dirty="0"/>
              <a:t>section </a:t>
            </a:r>
            <a:r>
              <a:rPr lang="en-US" altLang="en-US" dirty="0"/>
              <a:t>(</a:t>
            </a:r>
            <a:r>
              <a:rPr lang="en-US" altLang="en-US" i="1" dirty="0" err="1"/>
              <a:t>course_id</a:t>
            </a:r>
            <a:r>
              <a:rPr lang="en-US" altLang="en-US" dirty="0"/>
              <a:t>, </a:t>
            </a:r>
            <a:r>
              <a:rPr lang="en-US" altLang="en-US" i="1" dirty="0" err="1"/>
              <a:t>sec_id</a:t>
            </a:r>
            <a:r>
              <a:rPr lang="en-US" altLang="en-US" dirty="0"/>
              <a:t>, </a:t>
            </a:r>
            <a:r>
              <a:rPr lang="en-US" altLang="en-US" i="1" dirty="0"/>
              <a:t>semester</a:t>
            </a:r>
            <a:r>
              <a:rPr lang="en-US" altLang="en-US" dirty="0"/>
              <a:t>, </a:t>
            </a:r>
            <a:r>
              <a:rPr lang="en-US" altLang="en-US" i="1" dirty="0"/>
              <a:t>year</a:t>
            </a:r>
            <a:r>
              <a:rPr lang="en-US" altLang="en-US" dirty="0"/>
              <a:t>, 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  <a:r>
              <a:rPr lang="en-US" altLang="en-US" i="1" dirty="0" err="1"/>
              <a:t>room_number</a:t>
            </a:r>
            <a:r>
              <a:rPr lang="en-US" altLang="en-US" dirty="0"/>
              <a:t>, </a:t>
            </a:r>
            <a:r>
              <a:rPr lang="en-US" altLang="en-US" i="1" dirty="0" err="1"/>
              <a:t>time_slot_id</a:t>
            </a:r>
            <a:r>
              <a:rPr lang="en-US" altLang="en-US" dirty="0"/>
              <a:t>)</a:t>
            </a:r>
          </a:p>
          <a:p>
            <a:r>
              <a:rPr lang="en-US" altLang="en-US" i="1" dirty="0"/>
              <a:t>classroom </a:t>
            </a:r>
            <a:r>
              <a:rPr lang="en-US" altLang="en-US" dirty="0"/>
              <a:t>and </a:t>
            </a:r>
            <a:r>
              <a:rPr lang="en-US" altLang="en-US" i="1" dirty="0"/>
              <a:t>section </a:t>
            </a:r>
            <a:r>
              <a:rPr lang="en-US" altLang="en-US" dirty="0"/>
              <a:t>are in BCNF.</a:t>
            </a:r>
          </a:p>
          <a:p>
            <a:r>
              <a:rPr lang="zh-TW" altLang="en-US" dirty="0">
                <a:ea typeface="新細明體" panose="02020500000000000000" pitchFamily="18" charset="-120"/>
              </a:rPr>
              <a:t>注意</a:t>
            </a:r>
            <a:r>
              <a:rPr lang="en-US" altLang="zh-TW" dirty="0">
                <a:ea typeface="新細明體" panose="02020500000000000000" pitchFamily="18" charset="-120"/>
              </a:rPr>
              <a:t>:</a:t>
            </a:r>
            <a:r>
              <a:rPr lang="zh-TW" altLang="en-US" dirty="0">
                <a:ea typeface="新細明體" panose="02020500000000000000" pitchFamily="18" charset="-120"/>
              </a:rPr>
              <a:t> </a:t>
            </a:r>
            <a:r>
              <a:rPr lang="en-US" altLang="zh-TW" dirty="0">
                <a:ea typeface="新細明體" panose="02020500000000000000" pitchFamily="18" charset="-120"/>
              </a:rPr>
              <a:t>Final decomposition: </a:t>
            </a:r>
            <a:r>
              <a:rPr lang="en-US" altLang="zh-TW" i="1" dirty="0">
                <a:ea typeface="新細明體" panose="02020500000000000000" pitchFamily="18" charset="-120"/>
              </a:rPr>
              <a:t>course, classroom, section.</a:t>
            </a:r>
            <a:endParaRPr lang="en-US" altLang="zh-TW" dirty="0">
              <a:ea typeface="新細明體" panose="02020500000000000000" pitchFamily="18" charset="-120"/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新細明體" charset="-120"/>
              </a:rPr>
              <a:t>練習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776288"/>
            <a:ext cx="7799387" cy="5718175"/>
          </a:xfrm>
        </p:spPr>
        <p:txBody>
          <a:bodyPr/>
          <a:lstStyle/>
          <a:p>
            <a:pPr>
              <a:tabLst>
                <a:tab pos="2054225" algn="l"/>
              </a:tabLst>
            </a:pPr>
            <a:r>
              <a:rPr lang="en-US" altLang="zh-TW">
                <a:ea typeface="新細明體" panose="02020500000000000000" pitchFamily="18" charset="-120"/>
              </a:rPr>
              <a:t>Decompose </a:t>
            </a:r>
          </a:p>
          <a:p>
            <a:pPr>
              <a:buFont typeface="Monotype Sorts" charset="2"/>
              <a:buNone/>
              <a:tabLst>
                <a:tab pos="2054225" algn="l"/>
              </a:tabLst>
            </a:pPr>
            <a:r>
              <a:rPr lang="en-US" altLang="zh-TW" i="1">
                <a:ea typeface="新細明體" panose="02020500000000000000" pitchFamily="18" charset="-120"/>
              </a:rPr>
              <a:t>	inst_dept(ID, name, dept_name, salary, building, budget, SID</a:t>
            </a:r>
            <a:r>
              <a:rPr lang="en-US" altLang="zh-TW">
                <a:ea typeface="新細明體" panose="02020500000000000000" pitchFamily="18" charset="-120"/>
              </a:rPr>
              <a:t>) </a:t>
            </a:r>
            <a:r>
              <a:rPr lang="en-US" altLang="zh-TW" i="1">
                <a:ea typeface="新細明體" panose="02020500000000000000" pitchFamily="18" charset="-120"/>
              </a:rPr>
              <a:t> </a:t>
            </a:r>
          </a:p>
          <a:p>
            <a:pPr>
              <a:buFont typeface="Monotype Sorts" charset="2"/>
              <a:buNone/>
              <a:tabLst>
                <a:tab pos="2054225" algn="l"/>
              </a:tabLst>
            </a:pPr>
            <a:r>
              <a:rPr lang="en-US" altLang="zh-TW" i="1">
                <a:ea typeface="新細明體" panose="02020500000000000000" pitchFamily="18" charset="-120"/>
              </a:rPr>
              <a:t>	based on the following set of  functional dependency:</a:t>
            </a:r>
          </a:p>
          <a:p>
            <a:pPr>
              <a:buFont typeface="Monotype Sorts" charset="2"/>
              <a:buNone/>
              <a:tabLst>
                <a:tab pos="2054225" algn="l"/>
              </a:tabLst>
            </a:pPr>
            <a:r>
              <a:rPr lang="en-US" altLang="zh-TW" i="1">
                <a:ea typeface="新細明體" panose="02020500000000000000" pitchFamily="18" charset="-120"/>
              </a:rPr>
              <a:t>	{dept_name</a:t>
            </a:r>
            <a:r>
              <a:rPr lang="en-US" altLang="zh-TW">
                <a:ea typeface="新細明體" panose="02020500000000000000" pitchFamily="18" charset="-120"/>
              </a:rPr>
              <a:t> </a:t>
            </a:r>
            <a:r>
              <a:rPr lang="en-US" altLang="zh-TW">
                <a:ea typeface="新細明體" panose="02020500000000000000" pitchFamily="18" charset="-120"/>
                <a:sym typeface="Symbol" panose="05050102010706020507" pitchFamily="18" charset="2"/>
              </a:rPr>
              <a:t></a:t>
            </a:r>
            <a:r>
              <a:rPr lang="en-US" altLang="zh-TW">
                <a:ea typeface="新細明體" panose="02020500000000000000" pitchFamily="18" charset="-120"/>
                <a:sym typeface="Monotype Sorts" charset="2"/>
              </a:rPr>
              <a:t> </a:t>
            </a:r>
            <a:r>
              <a:rPr lang="en-US" altLang="zh-TW" i="1">
                <a:ea typeface="新細明體" panose="02020500000000000000" pitchFamily="18" charset="-120"/>
              </a:rPr>
              <a:t>building budget, </a:t>
            </a:r>
          </a:p>
          <a:p>
            <a:pPr>
              <a:buFont typeface="Monotype Sorts" charset="2"/>
              <a:buNone/>
              <a:tabLst>
                <a:tab pos="2054225" algn="l"/>
              </a:tabLst>
            </a:pPr>
            <a:r>
              <a:rPr lang="en-US" altLang="zh-TW" i="1">
                <a:ea typeface="新細明體" panose="02020500000000000000" pitchFamily="18" charset="-120"/>
              </a:rPr>
              <a:t>	ID</a:t>
            </a:r>
            <a:r>
              <a:rPr lang="en-US" altLang="zh-TW">
                <a:ea typeface="新細明體" panose="02020500000000000000" pitchFamily="18" charset="-120"/>
                <a:sym typeface="Symbol" panose="05050102010706020507" pitchFamily="18" charset="2"/>
              </a:rPr>
              <a:t> </a:t>
            </a:r>
            <a:r>
              <a:rPr lang="en-US" altLang="zh-TW" i="1">
                <a:ea typeface="新細明體" panose="02020500000000000000" pitchFamily="18" charset="-120"/>
                <a:sym typeface="Symbol" panose="05050102010706020507" pitchFamily="18" charset="2"/>
              </a:rPr>
              <a:t></a:t>
            </a:r>
            <a:r>
              <a:rPr lang="en-US" altLang="zh-TW" i="1">
                <a:ea typeface="新細明體" panose="02020500000000000000" pitchFamily="18" charset="-120"/>
                <a:sym typeface="Monotype Sorts" charset="2"/>
              </a:rPr>
              <a:t> name salary, </a:t>
            </a:r>
          </a:p>
          <a:p>
            <a:pPr>
              <a:buFont typeface="Monotype Sorts" charset="2"/>
              <a:buNone/>
              <a:tabLst>
                <a:tab pos="2054225" algn="l"/>
              </a:tabLst>
            </a:pPr>
            <a:r>
              <a:rPr lang="en-US" altLang="zh-TW" i="1">
                <a:ea typeface="新細明體" panose="02020500000000000000" pitchFamily="18" charset="-120"/>
                <a:sym typeface="Monotype Sorts" charset="2"/>
              </a:rPr>
              <a:t>	SID dept_name </a:t>
            </a:r>
            <a:r>
              <a:rPr lang="en-US" altLang="zh-TW" i="1">
                <a:ea typeface="新細明體" panose="02020500000000000000" pitchFamily="18" charset="-120"/>
                <a:sym typeface="Symbol" panose="05050102010706020507" pitchFamily="18" charset="2"/>
              </a:rPr>
              <a:t> ID</a:t>
            </a:r>
            <a:r>
              <a:rPr lang="en-US" altLang="zh-TW" i="1">
                <a:ea typeface="新細明體" panose="02020500000000000000" pitchFamily="18" charset="-120"/>
              </a:rPr>
              <a:t>}</a:t>
            </a:r>
          </a:p>
          <a:p>
            <a:pPr>
              <a:buFont typeface="Monotype Sorts" charset="2"/>
              <a:buNone/>
              <a:tabLst>
                <a:tab pos="2054225" algn="l"/>
              </a:tabLst>
            </a:pPr>
            <a:r>
              <a:rPr lang="en-US" altLang="zh-TW">
                <a:ea typeface="新細明體" panose="02020500000000000000" pitchFamily="18" charset="-120"/>
              </a:rPr>
              <a:t>	</a:t>
            </a:r>
            <a:endParaRPr lang="en-US" altLang="zh-TW" i="1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168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9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Third Normal Form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38803" cy="3297738"/>
          </a:xfrm>
        </p:spPr>
        <p:txBody>
          <a:bodyPr/>
          <a:lstStyle/>
          <a:p>
            <a:r>
              <a:rPr lang="en-US" altLang="en-US" dirty="0"/>
              <a:t>a weaker normal form than BCNF</a:t>
            </a:r>
          </a:p>
          <a:p>
            <a:pPr lvl="1"/>
            <a:r>
              <a:rPr lang="en-US" altLang="en-US" dirty="0"/>
              <a:t>Allows some redundancy (with resultant problems; we </a:t>
            </a:r>
            <a:r>
              <a:rPr lang="en-US" altLang="en-US" dirty="0">
                <a:sym typeface="Greek Symbols"/>
              </a:rPr>
              <a:t>will see examples later)</a:t>
            </a:r>
            <a:endParaRPr lang="en-US" altLang="en-US" dirty="0"/>
          </a:p>
          <a:p>
            <a:pPr lvl="1"/>
            <a:r>
              <a:rPr lang="en-US" altLang="en-US" dirty="0"/>
              <a:t>But functional dependencies can be checked on individual relations without computing a join.</a:t>
            </a:r>
          </a:p>
          <a:p>
            <a:r>
              <a:rPr lang="en-US" altLang="en-US" dirty="0"/>
              <a:t>There is always a lossless-join, dependency-preserving decomposition into 3NF.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Testing for 3NF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559" cy="3141327"/>
          </a:xfrm>
        </p:spPr>
        <p:txBody>
          <a:bodyPr/>
          <a:lstStyle/>
          <a:p>
            <a:r>
              <a:rPr lang="en-US" altLang="en-US" dirty="0"/>
              <a:t>Need to check only FDs in </a:t>
            </a:r>
            <a:r>
              <a:rPr lang="en-US" altLang="en-US" i="1" dirty="0"/>
              <a:t>F</a:t>
            </a:r>
            <a:r>
              <a:rPr lang="en-US" altLang="en-US" dirty="0"/>
              <a:t>, need not check all FDs in </a:t>
            </a:r>
            <a:r>
              <a:rPr lang="en-US" altLang="en-US" i="1" dirty="0"/>
              <a:t>F</a:t>
            </a:r>
            <a:r>
              <a:rPr lang="en-US" altLang="en-US" i="1" baseline="30000" dirty="0"/>
              <a:t>+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Use attribute closure to check for each dependency </a:t>
            </a:r>
            <a:r>
              <a:rPr lang="en-US" altLang="en-US" dirty="0">
                <a:sym typeface="Symbol" panose="05050102010706020507" pitchFamily="18" charset="2"/>
              </a:rPr>
              <a:t>  , if  </a:t>
            </a:r>
            <a:r>
              <a:rPr lang="en-US" altLang="en-US" dirty="0"/>
              <a:t>is a </a:t>
            </a:r>
            <a:r>
              <a:rPr lang="en-US" altLang="en-US" dirty="0" err="1"/>
              <a:t>superkey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If </a:t>
            </a:r>
            <a:r>
              <a:rPr lang="en-US" altLang="en-US" dirty="0">
                <a:sym typeface="Symbol" panose="05050102010706020507" pitchFamily="18" charset="2"/>
              </a:rPr>
              <a:t> </a:t>
            </a:r>
            <a:r>
              <a:rPr lang="en-US" altLang="en-US" dirty="0"/>
              <a:t>is not a </a:t>
            </a:r>
            <a:r>
              <a:rPr lang="en-US" altLang="en-US" dirty="0" err="1"/>
              <a:t>superkey</a:t>
            </a:r>
            <a:r>
              <a:rPr lang="en-US" altLang="en-US" dirty="0"/>
              <a:t>, we have to verify if each attribute in </a:t>
            </a:r>
            <a:r>
              <a:rPr lang="en-US" altLang="en-US" dirty="0">
                <a:sym typeface="Symbol" panose="05050102010706020507" pitchFamily="18" charset="2"/>
              </a:rPr>
              <a:t></a:t>
            </a:r>
            <a:r>
              <a:rPr lang="en-US" altLang="en-US" dirty="0"/>
              <a:t> is contained in a candidate key of </a:t>
            </a:r>
            <a:r>
              <a:rPr lang="en-US" altLang="en-US" i="1" dirty="0"/>
              <a:t>R</a:t>
            </a:r>
          </a:p>
          <a:p>
            <a:pPr lvl="1"/>
            <a:r>
              <a:rPr lang="en-US" altLang="en-US" dirty="0"/>
              <a:t>This test is rather more expensive, since it involve finding candidate keys</a:t>
            </a:r>
          </a:p>
          <a:p>
            <a:pPr lvl="1"/>
            <a:r>
              <a:rPr lang="en-US" altLang="en-US" dirty="0"/>
              <a:t>Testing for 3NF has been shown to be NP-hard</a:t>
            </a:r>
          </a:p>
          <a:p>
            <a:pPr lvl="1"/>
            <a:r>
              <a:rPr lang="en-US" altLang="en-US" dirty="0"/>
              <a:t>Interestingly, decomposition into third normal form can be done in polynomial time </a:t>
            </a:r>
            <a:r>
              <a:rPr lang="en-US" altLang="zh-TW" dirty="0"/>
              <a:t>(</a:t>
            </a:r>
            <a:r>
              <a:rPr lang="zh-TW" altLang="en-US" dirty="0"/>
              <a:t>省略建立的說明</a:t>
            </a:r>
            <a:r>
              <a:rPr lang="en-US" altLang="zh-TW" dirty="0"/>
              <a:t>)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Comparison of BCNF and 3NF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29692" cy="2970211"/>
          </a:xfrm>
        </p:spPr>
        <p:txBody>
          <a:bodyPr/>
          <a:lstStyle/>
          <a:p>
            <a:r>
              <a:rPr lang="en-US" altLang="en-US" dirty="0"/>
              <a:t>It is always possible to decompose a relation into a set of  relations that are in 3NF such that:</a:t>
            </a:r>
          </a:p>
          <a:p>
            <a:pPr lvl="1"/>
            <a:r>
              <a:rPr lang="en-US" altLang="en-US" dirty="0"/>
              <a:t>The decomposition is lossless</a:t>
            </a:r>
          </a:p>
          <a:p>
            <a:pPr lvl="1"/>
            <a:r>
              <a:rPr lang="en-US" altLang="en-US" dirty="0"/>
              <a:t>The dependencies are preserved</a:t>
            </a:r>
          </a:p>
          <a:p>
            <a:r>
              <a:rPr lang="en-US" altLang="en-US" dirty="0"/>
              <a:t>It is always possible to decompose a relation into a set of relations that are in BCNF such that:</a:t>
            </a:r>
          </a:p>
          <a:p>
            <a:pPr lvl="1"/>
            <a:r>
              <a:rPr lang="en-US" altLang="en-US" dirty="0"/>
              <a:t>The decomposition is lossless</a:t>
            </a:r>
          </a:p>
          <a:p>
            <a:pPr lvl="1"/>
            <a:r>
              <a:rPr lang="en-US" altLang="en-US" dirty="0"/>
              <a:t>It may not be possible to preserve dependencies.</a:t>
            </a:r>
          </a:p>
          <a:p>
            <a:pPr lvl="1"/>
            <a:endParaRPr lang="en-US" altLang="en-US" dirty="0"/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596900" y="4064000"/>
            <a:ext cx="72834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4213" algn="l"/>
              </a:tabLs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84" charset="2"/>
              <a:buChar char="n"/>
            </a:pPr>
            <a:endParaRPr kumimoji="1" lang="en-US" altLang="en-US" sz="1800" i="1">
              <a:sym typeface="Monotype Sorts" pitchFamily="-84" charset="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Design Goals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693"/>
            <a:ext cx="7509376" cy="4693402"/>
          </a:xfrm>
        </p:spPr>
        <p:txBody>
          <a:bodyPr/>
          <a:lstStyle/>
          <a:p>
            <a:r>
              <a:rPr lang="en-US" altLang="en-US" dirty="0"/>
              <a:t>Goal for a relational database design is:</a:t>
            </a:r>
          </a:p>
          <a:p>
            <a:pPr lvl="1"/>
            <a:r>
              <a:rPr lang="en-US" altLang="en-US" dirty="0"/>
              <a:t>BCNF.</a:t>
            </a:r>
          </a:p>
          <a:p>
            <a:pPr lvl="1"/>
            <a:r>
              <a:rPr lang="en-US" altLang="en-US" dirty="0"/>
              <a:t>Lossless join.</a:t>
            </a:r>
          </a:p>
          <a:p>
            <a:pPr lvl="1"/>
            <a:r>
              <a:rPr lang="en-US" altLang="en-US" dirty="0"/>
              <a:t>Dependency preservation.</a:t>
            </a:r>
          </a:p>
          <a:p>
            <a:r>
              <a:rPr lang="en-US" altLang="en-US" dirty="0"/>
              <a:t>If we cannot achieve this, we accept one of</a:t>
            </a:r>
          </a:p>
          <a:p>
            <a:pPr lvl="1"/>
            <a:r>
              <a:rPr lang="en-US" altLang="en-US" dirty="0"/>
              <a:t>Lack of dependency preservation </a:t>
            </a:r>
          </a:p>
          <a:p>
            <a:pPr lvl="1"/>
            <a:r>
              <a:rPr lang="en-US" altLang="en-US" dirty="0"/>
              <a:t>Redundancy due to use of 3NF</a:t>
            </a:r>
          </a:p>
          <a:p>
            <a:r>
              <a:rPr lang="en-US" altLang="en-US" dirty="0"/>
              <a:t>Interestingly, SQL does not provide a direct way of specifying functional dependencies other than </a:t>
            </a:r>
            <a:r>
              <a:rPr lang="en-US" altLang="en-US" dirty="0" err="1"/>
              <a:t>superkeys</a:t>
            </a:r>
            <a:r>
              <a:rPr lang="en-US" altLang="en-US" dirty="0"/>
              <a:t>.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3402" y="2400300"/>
            <a:ext cx="5544598" cy="1257300"/>
          </a:xfrm>
        </p:spPr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ＭＳ Ｐゴシック" pitchFamily="34" charset="-128"/>
                <a:cs typeface="+mj-cs"/>
              </a:rPr>
              <a:t>Additional issues</a:t>
            </a: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Overall Database Design Process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0832" y="1680990"/>
            <a:ext cx="7280770" cy="2566154"/>
          </a:xfrm>
        </p:spPr>
        <p:txBody>
          <a:bodyPr/>
          <a:lstStyle/>
          <a:p>
            <a:r>
              <a:rPr lang="en-US" altLang="en-US" i="1" dirty="0"/>
              <a:t>R</a:t>
            </a:r>
            <a:r>
              <a:rPr lang="en-US" altLang="en-US" dirty="0"/>
              <a:t> could have been generated when converting E-R diagram to a set of tables.</a:t>
            </a:r>
          </a:p>
          <a:p>
            <a:r>
              <a:rPr lang="en-US" altLang="en-US" i="1" dirty="0"/>
              <a:t>R</a:t>
            </a:r>
            <a:r>
              <a:rPr lang="en-US" altLang="en-US" dirty="0"/>
              <a:t> could have been a single relation containing </a:t>
            </a:r>
            <a:r>
              <a:rPr lang="en-US" altLang="en-US" i="1" dirty="0"/>
              <a:t>all</a:t>
            </a:r>
            <a:r>
              <a:rPr lang="en-US" altLang="en-US" dirty="0"/>
              <a:t> attributes that are of interest (called </a:t>
            </a:r>
            <a:r>
              <a:rPr lang="en-US" altLang="en-US" b="1" dirty="0">
                <a:solidFill>
                  <a:srgbClr val="002060"/>
                </a:solidFill>
              </a:rPr>
              <a:t>universal relation</a:t>
            </a:r>
            <a:r>
              <a:rPr lang="en-US" altLang="en-US" dirty="0"/>
              <a:t>).</a:t>
            </a:r>
          </a:p>
          <a:p>
            <a:r>
              <a:rPr lang="en-US" altLang="en-US" i="1" dirty="0"/>
              <a:t>R</a:t>
            </a:r>
            <a:r>
              <a:rPr lang="en-US" altLang="en-US" dirty="0"/>
              <a:t> could have been the result of some ad hoc design of relations</a:t>
            </a:r>
            <a:r>
              <a:rPr lang="en-US" altLang="zh-TW" dirty="0"/>
              <a:t>.</a:t>
            </a:r>
            <a:endParaRPr lang="en-US" altLang="en-US" dirty="0"/>
          </a:p>
          <a:p>
            <a:r>
              <a:rPr lang="en-US" altLang="zh-TW" dirty="0"/>
              <a:t>We then test R and use n</a:t>
            </a:r>
            <a:r>
              <a:rPr lang="en-US" altLang="en-US" dirty="0"/>
              <a:t>ormalization to break </a:t>
            </a:r>
            <a:r>
              <a:rPr lang="en-US" altLang="en-US" i="1" dirty="0"/>
              <a:t>R</a:t>
            </a:r>
            <a:r>
              <a:rPr lang="en-US" altLang="en-US" dirty="0"/>
              <a:t> into smaller relations.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350" y="1299408"/>
            <a:ext cx="728077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We have assumed schema </a:t>
            </a:r>
            <a:r>
              <a:rPr lang="en-US" altLang="en-US" sz="1700" i="1" dirty="0"/>
              <a:t>R</a:t>
            </a:r>
            <a:r>
              <a:rPr lang="en-US" altLang="en-US" sz="1700" dirty="0"/>
              <a:t> is given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ER Model and Normalization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0110"/>
            <a:ext cx="7713913" cy="4384257"/>
          </a:xfrm>
        </p:spPr>
        <p:txBody>
          <a:bodyPr/>
          <a:lstStyle/>
          <a:p>
            <a:r>
              <a:rPr lang="en-US" altLang="en-US" dirty="0"/>
              <a:t>When an E-R diagram is carefully designed, identifying all entities correctly, the tables generated from the E-R diagram should not need further normalization.</a:t>
            </a:r>
          </a:p>
          <a:p>
            <a:r>
              <a:rPr lang="en-US" altLang="en-US" dirty="0"/>
              <a:t>However, in a real (imperfect) design, there can be functional dependencies from non-key attributes of an entity to other attributes of the entity</a:t>
            </a:r>
          </a:p>
          <a:p>
            <a:pPr lvl="1"/>
            <a:r>
              <a:rPr lang="en-US" altLang="en-US" dirty="0"/>
              <a:t>Example:  an </a:t>
            </a:r>
            <a:r>
              <a:rPr lang="en-US" altLang="en-US" i="1" dirty="0"/>
              <a:t>employee</a:t>
            </a:r>
            <a:r>
              <a:rPr lang="en-US" altLang="en-US" dirty="0"/>
              <a:t> entity with</a:t>
            </a:r>
          </a:p>
          <a:p>
            <a:pPr lvl="2"/>
            <a:r>
              <a:rPr lang="en-US" altLang="en-US" dirty="0"/>
              <a:t> attributes </a:t>
            </a:r>
            <a:br>
              <a:rPr lang="en-US" altLang="en-US" dirty="0"/>
            </a:br>
            <a:r>
              <a:rPr lang="en-US" altLang="en-US" dirty="0"/>
              <a:t>   </a:t>
            </a:r>
            <a:r>
              <a:rPr lang="en-US" altLang="en-US" i="1" dirty="0" err="1"/>
              <a:t>department_name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building</a:t>
            </a:r>
            <a:r>
              <a:rPr lang="en-US" altLang="en-US" dirty="0"/>
              <a:t>, </a:t>
            </a:r>
          </a:p>
          <a:p>
            <a:pPr lvl="2"/>
            <a:r>
              <a:rPr lang="en-US" altLang="en-US" dirty="0"/>
              <a:t> functional dependency </a:t>
            </a:r>
            <a:br>
              <a:rPr lang="en-US" altLang="en-US" dirty="0"/>
            </a:br>
            <a:r>
              <a:rPr lang="en-US" altLang="en-US" dirty="0"/>
              <a:t>   </a:t>
            </a:r>
            <a:r>
              <a:rPr lang="en-US" altLang="en-US" i="1" dirty="0" err="1"/>
              <a:t>department_name</a:t>
            </a:r>
            <a:r>
              <a:rPr lang="en-US" altLang="en-US" i="1" dirty="0">
                <a:sym typeface="Symbol" panose="05050102010706020507" pitchFamily="18" charset="2"/>
              </a:rPr>
              <a:t> </a:t>
            </a:r>
            <a:r>
              <a:rPr lang="en-US" altLang="en-US" i="1" dirty="0"/>
              <a:t>building</a:t>
            </a:r>
          </a:p>
          <a:p>
            <a:pPr lvl="2"/>
            <a:r>
              <a:rPr lang="en-US" altLang="en-US" dirty="0"/>
              <a:t>Good design would have made department an entity</a:t>
            </a:r>
          </a:p>
          <a:p>
            <a:r>
              <a:rPr lang="en-US" altLang="en-US" dirty="0"/>
              <a:t>Functional dependencies from non-key attributes of a relationship set possible, but rare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Denormalization for Performance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4588"/>
            <a:ext cx="7629926" cy="4125244"/>
          </a:xfrm>
        </p:spPr>
        <p:txBody>
          <a:bodyPr/>
          <a:lstStyle/>
          <a:p>
            <a:r>
              <a:rPr lang="en-US" altLang="en-US" dirty="0"/>
              <a:t>May want to use non-normalized schema for performance</a:t>
            </a:r>
          </a:p>
          <a:p>
            <a:r>
              <a:rPr lang="en-US" altLang="en-US" dirty="0"/>
              <a:t>For example, displaying </a:t>
            </a:r>
            <a:r>
              <a:rPr lang="en-US" altLang="en-US" i="1" dirty="0" err="1"/>
              <a:t>prereqs</a:t>
            </a:r>
            <a:r>
              <a:rPr lang="en-US" altLang="en-US" dirty="0"/>
              <a:t> along with </a:t>
            </a:r>
            <a:r>
              <a:rPr lang="en-US" altLang="en-US" i="1" dirty="0" err="1"/>
              <a:t>course_id</a:t>
            </a:r>
            <a:r>
              <a:rPr lang="en-US" altLang="en-US" i="1" dirty="0"/>
              <a:t>, </a:t>
            </a:r>
            <a:r>
              <a:rPr lang="en-US" altLang="en-US" dirty="0"/>
              <a:t> and </a:t>
            </a:r>
            <a:r>
              <a:rPr lang="en-US" altLang="en-US" i="1" dirty="0"/>
              <a:t>title</a:t>
            </a:r>
            <a:r>
              <a:rPr lang="en-US" altLang="en-US" dirty="0"/>
              <a:t> requires join of </a:t>
            </a:r>
            <a:r>
              <a:rPr lang="en-US" altLang="en-US" i="1" dirty="0"/>
              <a:t>course</a:t>
            </a:r>
            <a:r>
              <a:rPr lang="en-US" altLang="en-US" dirty="0"/>
              <a:t> with </a:t>
            </a:r>
            <a:r>
              <a:rPr lang="en-US" altLang="en-US" i="1" dirty="0" err="1"/>
              <a:t>prereq</a:t>
            </a:r>
            <a:endParaRPr lang="en-US" altLang="en-US" i="1" dirty="0"/>
          </a:p>
          <a:p>
            <a:r>
              <a:rPr lang="en-US" altLang="en-US" dirty="0"/>
              <a:t>Alternative 1:  Use </a:t>
            </a:r>
            <a:r>
              <a:rPr lang="en-US" altLang="en-US" dirty="0" err="1"/>
              <a:t>denormalized</a:t>
            </a:r>
            <a:r>
              <a:rPr lang="en-US" altLang="en-US" dirty="0"/>
              <a:t> relation containing attributes of </a:t>
            </a:r>
            <a:r>
              <a:rPr lang="en-US" altLang="en-US" i="1" dirty="0"/>
              <a:t>course</a:t>
            </a:r>
            <a:r>
              <a:rPr lang="en-US" altLang="en-US" dirty="0"/>
              <a:t> as well as </a:t>
            </a:r>
            <a:r>
              <a:rPr lang="en-US" altLang="en-US" i="1" dirty="0" err="1"/>
              <a:t>prereq</a:t>
            </a:r>
            <a:r>
              <a:rPr lang="en-US" altLang="en-US" dirty="0"/>
              <a:t> with all above attributes</a:t>
            </a:r>
          </a:p>
          <a:p>
            <a:pPr lvl="1"/>
            <a:r>
              <a:rPr lang="en-US" altLang="en-US" dirty="0"/>
              <a:t>faster lookup</a:t>
            </a:r>
          </a:p>
          <a:p>
            <a:pPr lvl="1"/>
            <a:r>
              <a:rPr lang="en-US" altLang="en-US" dirty="0"/>
              <a:t>extra space and extra execution time for updates</a:t>
            </a:r>
          </a:p>
          <a:p>
            <a:pPr lvl="1"/>
            <a:r>
              <a:rPr lang="en-US" altLang="en-US" dirty="0"/>
              <a:t>extra coding work for programmer and possibility of error in extra code</a:t>
            </a:r>
          </a:p>
          <a:p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dirty="0"/>
              <a:t>Alternative 2: use a materialized view defined a </a:t>
            </a:r>
            <a:r>
              <a:rPr lang="en-US" altLang="en-US" i="1" dirty="0"/>
              <a:t>course</a:t>
            </a:r>
            <a:r>
              <a:rPr lang="en-US" altLang="en-US" dirty="0"/>
              <a:t>      </a:t>
            </a:r>
            <a:r>
              <a:rPr lang="en-US" altLang="en-US" i="1" dirty="0" err="1"/>
              <a:t>prereq</a:t>
            </a:r>
            <a:endParaRPr lang="en-US" altLang="en-US" i="1" dirty="0"/>
          </a:p>
          <a:p>
            <a:pPr lvl="1"/>
            <a:r>
              <a:rPr lang="en-US" altLang="en-US" dirty="0"/>
              <a:t>Benefits and drawbacks same as above, except no extra coding work for programmer and avoids possible errors</a:t>
            </a:r>
          </a:p>
        </p:txBody>
      </p:sp>
      <p:sp>
        <p:nvSpPr>
          <p:cNvPr id="96260" name="Freeform 4"/>
          <p:cNvSpPr>
            <a:spLocks/>
          </p:cNvSpPr>
          <p:nvPr/>
        </p:nvSpPr>
        <p:spPr bwMode="auto">
          <a:xfrm>
            <a:off x="6793418" y="4111244"/>
            <a:ext cx="142875" cy="142875"/>
          </a:xfrm>
          <a:custGeom>
            <a:avLst/>
            <a:gdLst>
              <a:gd name="T0" fmla="*/ 0 w 182"/>
              <a:gd name="T1" fmla="*/ 0 h 182"/>
              <a:gd name="T2" fmla="*/ 0 w 182"/>
              <a:gd name="T3" fmla="*/ 2147483647 h 182"/>
              <a:gd name="T4" fmla="*/ 2147483647 w 182"/>
              <a:gd name="T5" fmla="*/ 0 h 182"/>
              <a:gd name="T6" fmla="*/ 2147483647 w 182"/>
              <a:gd name="T7" fmla="*/ 2147483647 h 182"/>
              <a:gd name="T8" fmla="*/ 0 w 182"/>
              <a:gd name="T9" fmla="*/ 0 h 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82"/>
              <a:gd name="T17" fmla="*/ 182 w 182"/>
              <a:gd name="T18" fmla="*/ 182 h 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82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Other Design Issues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693"/>
            <a:ext cx="7683192" cy="4885908"/>
          </a:xfrm>
        </p:spPr>
        <p:txBody>
          <a:bodyPr/>
          <a:lstStyle/>
          <a:p>
            <a:r>
              <a:rPr lang="en-US" altLang="en-US" dirty="0"/>
              <a:t>Some aspects of database design are not caught by normalization</a:t>
            </a:r>
          </a:p>
          <a:p>
            <a:r>
              <a:rPr lang="en-US" altLang="en-US" dirty="0"/>
              <a:t>Examples of bad database design, to be avoided: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Instead of </a:t>
            </a:r>
            <a:r>
              <a:rPr lang="en-US" altLang="en-US" i="1" dirty="0"/>
              <a:t>earnings </a:t>
            </a:r>
            <a:r>
              <a:rPr lang="en-US" altLang="en-US" dirty="0"/>
              <a:t>(</a:t>
            </a:r>
            <a:r>
              <a:rPr lang="en-US" altLang="en-US" i="1" dirty="0" err="1"/>
              <a:t>company_id</a:t>
            </a:r>
            <a:r>
              <a:rPr lang="en-US" altLang="en-US" i="1" dirty="0"/>
              <a:t>, year, amount </a:t>
            </a:r>
            <a:r>
              <a:rPr lang="en-US" altLang="en-US" dirty="0"/>
              <a:t>), use </a:t>
            </a:r>
          </a:p>
          <a:p>
            <a:pPr lvl="1"/>
            <a:r>
              <a:rPr lang="en-US" altLang="en-US" i="1" dirty="0"/>
              <a:t>earnings_2004, earnings_2005, earnings_2006</a:t>
            </a:r>
            <a:r>
              <a:rPr lang="en-US" altLang="en-US" dirty="0"/>
              <a:t>, etc., all on the schema (</a:t>
            </a:r>
            <a:r>
              <a:rPr lang="en-US" altLang="en-US" i="1" dirty="0" err="1"/>
              <a:t>company_id</a:t>
            </a:r>
            <a:r>
              <a:rPr lang="en-US" altLang="en-US" i="1" dirty="0"/>
              <a:t>, earnings</a:t>
            </a:r>
            <a:r>
              <a:rPr lang="en-US" altLang="en-US" dirty="0"/>
              <a:t>).</a:t>
            </a:r>
          </a:p>
          <a:p>
            <a:pPr lvl="2"/>
            <a:r>
              <a:rPr lang="en-US" altLang="en-US" dirty="0"/>
              <a:t>Above are in BCNF, but make querying across years difficult and needs new table each year</a:t>
            </a:r>
          </a:p>
          <a:p>
            <a:pPr lvl="1"/>
            <a:r>
              <a:rPr lang="en-US" altLang="en-US" i="1" dirty="0" err="1"/>
              <a:t>company_year</a:t>
            </a:r>
            <a:r>
              <a:rPr lang="en-US" altLang="en-US" i="1" dirty="0"/>
              <a:t> </a:t>
            </a:r>
            <a:r>
              <a:rPr lang="en-US" altLang="en-US" dirty="0"/>
              <a:t>(</a:t>
            </a:r>
            <a:r>
              <a:rPr lang="en-US" altLang="en-US" i="1" dirty="0" err="1"/>
              <a:t>company_id</a:t>
            </a:r>
            <a:r>
              <a:rPr lang="en-US" altLang="en-US" i="1" dirty="0"/>
              <a:t>, earnings_2004, earnings_2005,  </a:t>
            </a:r>
            <a:br>
              <a:rPr lang="en-US" altLang="en-US" i="1" dirty="0"/>
            </a:br>
            <a:r>
              <a:rPr lang="en-US" altLang="en-US" i="1" dirty="0"/>
              <a:t>earnings_2006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Also in BCNF, but also makes querying across years difficult and requires new attribute each year.</a:t>
            </a:r>
          </a:p>
          <a:p>
            <a:pPr lvl="2"/>
            <a:r>
              <a:rPr lang="en-US" altLang="en-US" dirty="0"/>
              <a:t>Is an example of a </a:t>
            </a:r>
            <a:r>
              <a:rPr lang="en-US" altLang="en-US" b="1" dirty="0"/>
              <a:t>crosstab</a:t>
            </a:r>
            <a:r>
              <a:rPr lang="en-US" altLang="en-US" dirty="0"/>
              <a:t>, where values for one attribute become column names</a:t>
            </a:r>
          </a:p>
          <a:p>
            <a:pPr lvl="2"/>
            <a:r>
              <a:rPr lang="en-US" altLang="en-US" dirty="0"/>
              <a:t>Used in spreadsheets, and in data analysis tools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First Normal Form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7268"/>
            <a:ext cx="7789724" cy="4321008"/>
          </a:xfrm>
        </p:spPr>
        <p:txBody>
          <a:bodyPr/>
          <a:lstStyle/>
          <a:p>
            <a:r>
              <a:rPr lang="en-US" altLang="en-US" dirty="0"/>
              <a:t>Domain is </a:t>
            </a:r>
            <a:r>
              <a:rPr lang="en-US" altLang="en-US" b="1" dirty="0">
                <a:solidFill>
                  <a:srgbClr val="002060"/>
                </a:solidFill>
              </a:rPr>
              <a:t>atomic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its elements are considered to be indivisible units</a:t>
            </a:r>
          </a:p>
          <a:p>
            <a:pPr lvl="1"/>
            <a:r>
              <a:rPr lang="en-US" altLang="en-US" dirty="0"/>
              <a:t>Examples of non-atomic domains:</a:t>
            </a:r>
          </a:p>
          <a:p>
            <a:pPr lvl="2"/>
            <a:r>
              <a:rPr lang="en-US" altLang="en-US" dirty="0"/>
              <a:t>Set of names, composite attributes</a:t>
            </a:r>
          </a:p>
          <a:p>
            <a:pPr lvl="2"/>
            <a:r>
              <a:rPr lang="en-US" altLang="en-US" strike="sngStrike" dirty="0"/>
              <a:t>Identification numbers like CS101  that can be broken up into parts</a:t>
            </a:r>
          </a:p>
          <a:p>
            <a:r>
              <a:rPr lang="en-US" altLang="en-US" dirty="0"/>
              <a:t>A relational schema R is in </a:t>
            </a:r>
            <a:r>
              <a:rPr lang="en-US" altLang="en-US" b="1" dirty="0">
                <a:solidFill>
                  <a:srgbClr val="002060"/>
                </a:solidFill>
              </a:rPr>
              <a:t>first normal form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the domains of all attributes of R are atomic</a:t>
            </a:r>
          </a:p>
          <a:p>
            <a:r>
              <a:rPr lang="en-US" altLang="en-US" dirty="0"/>
              <a:t>Non-atomic values complicate storage and encourage redundant (repeated) storage of data</a:t>
            </a:r>
          </a:p>
          <a:p>
            <a:pPr lvl="1"/>
            <a:r>
              <a:rPr lang="en-US" altLang="en-US" dirty="0"/>
              <a:t>Example:  Set of accounts stored with each customer, and set of owners stored with each account</a:t>
            </a:r>
          </a:p>
          <a:p>
            <a:pPr lvl="1"/>
            <a:r>
              <a:rPr lang="en-US" altLang="en-US" dirty="0"/>
              <a:t>We assume all relations are in first normal form (and revisit this in Chapter 22: Object Based Databases)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871681"/>
              </p:ext>
            </p:extLst>
          </p:nvPr>
        </p:nvGraphicFramePr>
        <p:xfrm>
          <a:off x="2226833" y="5054599"/>
          <a:ext cx="4629374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14687">
                  <a:extLst>
                    <a:ext uri="{9D8B030D-6E8A-4147-A177-3AD203B41FA5}">
                      <a16:colId xmlns:a16="http://schemas.microsoft.com/office/drawing/2014/main" val="2796643023"/>
                    </a:ext>
                  </a:extLst>
                </a:gridCol>
                <a:gridCol w="2314687">
                  <a:extLst>
                    <a:ext uri="{9D8B030D-6E8A-4147-A177-3AD203B41FA5}">
                      <a16:colId xmlns:a16="http://schemas.microsoft.com/office/drawing/2014/main" val="3705171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customer_name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account_number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347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John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{A_101, A_201}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72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{John, Mary}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A_101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834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First Normal Form (Cont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ＭＳ Ｐゴシック" pitchFamily="34" charset="-128"/>
              </a:rPr>
              <a:t>.</a:t>
            </a:r>
            <a:r>
              <a:rPr lang="en-US" altLang="ja-JP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100" y="1203326"/>
            <a:ext cx="7743463" cy="3055854"/>
          </a:xfrm>
        </p:spPr>
        <p:txBody>
          <a:bodyPr/>
          <a:lstStyle/>
          <a:p>
            <a:r>
              <a:rPr lang="en-US" altLang="en-US" dirty="0"/>
              <a:t>Atomicity is actually a property of how the elements of the domain are used.</a:t>
            </a:r>
          </a:p>
          <a:p>
            <a:pPr lvl="1"/>
            <a:r>
              <a:rPr lang="en-US" altLang="en-US" dirty="0"/>
              <a:t>Example: Strings would normally be considered indivisible </a:t>
            </a:r>
          </a:p>
          <a:p>
            <a:pPr lvl="1"/>
            <a:r>
              <a:rPr lang="en-US" altLang="en-US" dirty="0"/>
              <a:t>Suppose that students are given roll numbers which are strings of the form </a:t>
            </a:r>
            <a:r>
              <a:rPr lang="en-US" altLang="en-US" i="1" dirty="0"/>
              <a:t>CS0012 </a:t>
            </a:r>
            <a:r>
              <a:rPr lang="en-US" altLang="en-US" dirty="0"/>
              <a:t>or </a:t>
            </a:r>
            <a:r>
              <a:rPr lang="en-US" altLang="en-US" i="1" dirty="0"/>
              <a:t>EE1127</a:t>
            </a:r>
          </a:p>
          <a:p>
            <a:pPr lvl="1"/>
            <a:r>
              <a:rPr lang="en-US" altLang="en-US" dirty="0"/>
              <a:t>If the first two characters are extracted to find the department, the domain of roll numbers is not atomic.</a:t>
            </a:r>
          </a:p>
          <a:p>
            <a:pPr lvl="1"/>
            <a:r>
              <a:rPr lang="en-US" altLang="en-US" dirty="0"/>
              <a:t>Doing so is a bad idea: leads to encoding of information in application program rather than in the database.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22400" y="125766"/>
            <a:ext cx="7124700" cy="6350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How good is BCNF?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093789"/>
            <a:ext cx="7469436" cy="2454084"/>
          </a:xfrm>
        </p:spPr>
        <p:txBody>
          <a:bodyPr/>
          <a:lstStyle/>
          <a:p>
            <a:pPr>
              <a:tabLst>
                <a:tab pos="2976563" algn="ctr"/>
              </a:tabLst>
            </a:pPr>
            <a:r>
              <a:rPr lang="en-US" altLang="en-US" sz="1700" dirty="0"/>
              <a:t>There are database schemas in BCNF that do not seem to be sufficiently normalized </a:t>
            </a:r>
          </a:p>
          <a:p>
            <a:pPr>
              <a:tabLst>
                <a:tab pos="2976563" algn="ctr"/>
              </a:tabLst>
            </a:pPr>
            <a:r>
              <a:rPr lang="en-US" altLang="en-US" sz="1700" dirty="0"/>
              <a:t>Consider a relation </a:t>
            </a:r>
          </a:p>
          <a:p>
            <a:pPr>
              <a:buFont typeface="Monotype Sorts" pitchFamily="-84" charset="2"/>
              <a:buNone/>
              <a:tabLst>
                <a:tab pos="2976563" algn="ctr"/>
              </a:tabLst>
            </a:pPr>
            <a:r>
              <a:rPr lang="en-US" altLang="en-US" sz="1700" dirty="0"/>
              <a:t>		</a:t>
            </a:r>
            <a:r>
              <a:rPr lang="en-US" altLang="en-US" sz="1700" i="1" dirty="0" err="1"/>
              <a:t>inst_info</a:t>
            </a:r>
            <a:r>
              <a:rPr lang="en-US" altLang="en-US" sz="1700" i="1" dirty="0"/>
              <a:t> (ID, </a:t>
            </a:r>
            <a:r>
              <a:rPr lang="en-US" altLang="en-US" sz="1700" i="1" dirty="0" err="1"/>
              <a:t>child_name</a:t>
            </a:r>
            <a:r>
              <a:rPr lang="en-US" altLang="en-US" sz="1700" i="1" dirty="0"/>
              <a:t>, phone)</a:t>
            </a:r>
          </a:p>
          <a:p>
            <a:pPr lvl="1">
              <a:tabLst>
                <a:tab pos="2976563" algn="ctr"/>
              </a:tabLst>
            </a:pPr>
            <a:r>
              <a:rPr lang="en-US" altLang="en-US" sz="1700" dirty="0"/>
              <a:t>where an instructor may have more than one phone and can have multiple children</a:t>
            </a:r>
          </a:p>
          <a:p>
            <a:pPr lvl="1">
              <a:tabLst>
                <a:tab pos="2976563" algn="ctr"/>
              </a:tabLst>
            </a:pPr>
            <a:r>
              <a:rPr lang="en-US" altLang="en-US" sz="1700" dirty="0"/>
              <a:t>Instance of </a:t>
            </a:r>
            <a:r>
              <a:rPr lang="en-US" altLang="en-US" sz="1700" i="1" dirty="0" err="1"/>
              <a:t>inst_info</a:t>
            </a:r>
            <a:endParaRPr lang="en-US" altLang="en-US" sz="1700" i="1" dirty="0"/>
          </a:p>
          <a:p>
            <a:pPr>
              <a:buFont typeface="Monotype Sorts" pitchFamily="-84" charset="2"/>
              <a:buNone/>
              <a:tabLst>
                <a:tab pos="2976563" algn="ctr"/>
              </a:tabLst>
            </a:pPr>
            <a:endParaRPr lang="en-US" altLang="en-US" sz="1700" dirty="0"/>
          </a:p>
          <a:p>
            <a:pPr>
              <a:buFont typeface="Monotype Sorts" pitchFamily="-84" charset="2"/>
              <a:buNone/>
              <a:tabLst>
                <a:tab pos="2976563" algn="ctr"/>
              </a:tabLst>
            </a:pPr>
            <a:endParaRPr lang="en-US" altLang="en-US" sz="1700" dirty="0"/>
          </a:p>
        </p:txBody>
      </p:sp>
      <p:pic>
        <p:nvPicPr>
          <p:cNvPr id="37892" name="Picture 11" descr="C:\Users\as668\Desktop\Judi-Done\7_1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855" y="3648464"/>
            <a:ext cx="3536569" cy="152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6354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594415" cy="2314575"/>
          </a:xfrm>
        </p:spPr>
        <p:txBody>
          <a:bodyPr/>
          <a:lstStyle/>
          <a:p>
            <a:pPr>
              <a:tabLst>
                <a:tab pos="1993900" algn="l"/>
              </a:tabLst>
            </a:pPr>
            <a:r>
              <a:rPr kumimoji="0" lang="en-US" altLang="en-US" sz="1700" dirty="0"/>
              <a:t>There are no non-trivial functional dependencies and therefore the relation is in BCNF </a:t>
            </a:r>
          </a:p>
          <a:p>
            <a:pPr>
              <a:tabLst>
                <a:tab pos="1993900" algn="l"/>
              </a:tabLst>
            </a:pPr>
            <a:r>
              <a:rPr kumimoji="0" lang="en-US" altLang="en-US" sz="1700" dirty="0"/>
              <a:t>Insertion anomalies – i.e., if we add a phone 981-992-3443 to 99999, we need to add two tuples</a:t>
            </a:r>
          </a:p>
          <a:p>
            <a:pPr>
              <a:buFont typeface="Monotype Sorts" pitchFamily="-84" charset="2"/>
              <a:buNone/>
              <a:tabLst>
                <a:tab pos="1993900" algn="l"/>
              </a:tabLst>
            </a:pPr>
            <a:r>
              <a:rPr kumimoji="0" lang="en-US" altLang="en-US" sz="1700" dirty="0"/>
              <a:t>		(99999, David,   981-992-3443)</a:t>
            </a:r>
            <a:br>
              <a:rPr kumimoji="0" lang="en-US" altLang="en-US" sz="1700" dirty="0"/>
            </a:br>
            <a:r>
              <a:rPr kumimoji="0" lang="en-US" altLang="en-US" sz="1700" dirty="0"/>
              <a:t>	(99999, William, 981-992-3443)</a:t>
            </a:r>
            <a:br>
              <a:rPr kumimoji="0" lang="en-US" altLang="en-US" sz="1700" dirty="0"/>
            </a:br>
            <a:endParaRPr kumimoji="0" lang="en-US" altLang="en-US" sz="17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How good is BCNF? (Cont.)</a:t>
            </a:r>
          </a:p>
        </p:txBody>
      </p:sp>
    </p:spTree>
    <p:extLst>
      <p:ext uri="{BB962C8B-B14F-4D97-AF65-F5344CB8AC3E}">
        <p14:creationId xmlns:p14="http://schemas.microsoft.com/office/powerpoint/2010/main" val="20184257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72359" y="1020763"/>
            <a:ext cx="7252558" cy="4646612"/>
          </a:xfrm>
        </p:spPr>
        <p:txBody>
          <a:bodyPr/>
          <a:lstStyle/>
          <a:p>
            <a:r>
              <a:rPr lang="en-US" altLang="en-US" sz="1700" dirty="0"/>
              <a:t>It is better to decompose </a:t>
            </a:r>
            <a:r>
              <a:rPr lang="en-US" altLang="en-US" sz="1700" i="1" dirty="0" err="1"/>
              <a:t>inst_info</a:t>
            </a:r>
            <a:r>
              <a:rPr lang="en-US" altLang="en-US" sz="1700" i="1" dirty="0"/>
              <a:t> </a:t>
            </a:r>
            <a:r>
              <a:rPr lang="en-US" altLang="en-US" sz="1700" dirty="0"/>
              <a:t>into:</a:t>
            </a:r>
          </a:p>
          <a:p>
            <a:pPr lvl="1"/>
            <a:r>
              <a:rPr lang="en-US" altLang="en-US" sz="1700" i="1" dirty="0" err="1"/>
              <a:t>inst_child</a:t>
            </a:r>
            <a:r>
              <a:rPr lang="en-US" altLang="en-US" sz="1700" dirty="0"/>
              <a:t>:</a:t>
            </a:r>
          </a:p>
          <a:p>
            <a:pPr lvl="1"/>
            <a:endParaRPr lang="en-US" altLang="en-US" sz="1700" dirty="0"/>
          </a:p>
          <a:p>
            <a:pPr lvl="1">
              <a:buFont typeface="Monotype Sorts" pitchFamily="-84" charset="2"/>
              <a:buNone/>
            </a:pPr>
            <a:endParaRPr lang="en-US" altLang="en-US" sz="1700" dirty="0"/>
          </a:p>
          <a:p>
            <a:pPr lvl="1">
              <a:buFont typeface="Monotype Sorts" pitchFamily="-84" charset="2"/>
              <a:buNone/>
            </a:pPr>
            <a:endParaRPr lang="en-US" altLang="en-US" sz="1700" dirty="0"/>
          </a:p>
          <a:p>
            <a:pPr lvl="1"/>
            <a:r>
              <a:rPr lang="en-US" altLang="en-US" sz="1700" i="1" dirty="0" err="1"/>
              <a:t>inst_phone</a:t>
            </a:r>
            <a:r>
              <a:rPr lang="en-US" altLang="en-US" sz="1700" i="1" dirty="0"/>
              <a:t>:</a:t>
            </a:r>
          </a:p>
          <a:p>
            <a:endParaRPr lang="en-US" altLang="en-US" sz="1700" dirty="0"/>
          </a:p>
          <a:p>
            <a:endParaRPr lang="en-US" altLang="en-US" sz="1700" dirty="0"/>
          </a:p>
          <a:p>
            <a:pPr marL="0" indent="0">
              <a:buNone/>
            </a:pPr>
            <a:endParaRPr lang="en-US" altLang="en-US" sz="1700" dirty="0"/>
          </a:p>
          <a:p>
            <a:r>
              <a:rPr lang="en-US" altLang="en-US" sz="1700" dirty="0"/>
              <a:t>This suggests the need for higher normal forms, such as Fourth Normal Form (4NF), which we shall see later</a:t>
            </a:r>
          </a:p>
        </p:txBody>
      </p:sp>
      <p:sp>
        <p:nvSpPr>
          <p:cNvPr id="695310" name="Rectangle 14"/>
          <p:cNvSpPr>
            <a:spLocks noGrp="1" noChangeArrowheads="1"/>
          </p:cNvSpPr>
          <p:nvPr>
            <p:ph type="title"/>
          </p:nvPr>
        </p:nvSpPr>
        <p:spPr>
          <a:xfrm>
            <a:off x="958788" y="119063"/>
            <a:ext cx="7804212" cy="57626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latin typeface="新細明體" panose="02020500000000000000" pitchFamily="18" charset="-120"/>
                <a:ea typeface="新細明體" panose="02020500000000000000" pitchFamily="18" charset="-120"/>
              </a:rPr>
              <a:t>※ </a:t>
            </a: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Higher Normal Forms </a:t>
            </a:r>
          </a:p>
        </p:txBody>
      </p:sp>
      <p:pic>
        <p:nvPicPr>
          <p:cNvPr id="3994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368" y="1835421"/>
            <a:ext cx="1975676" cy="8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752" y="3299428"/>
            <a:ext cx="1939354" cy="78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5162744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94363</TotalTime>
  <Words>3562</Words>
  <Application>Microsoft Office PowerPoint</Application>
  <PresentationFormat>如螢幕大小 (4:3)</PresentationFormat>
  <Paragraphs>582</Paragraphs>
  <Slides>57</Slides>
  <Notes>56</Notes>
  <HiddenSlides>0</HiddenSlides>
  <MMClips>0</MMClips>
  <ScaleCrop>false</ScaleCrop>
  <HeadingPairs>
    <vt:vector size="8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57</vt:i4>
      </vt:variant>
      <vt:variant>
        <vt:lpstr>自訂放映</vt:lpstr>
      </vt:variant>
      <vt:variant>
        <vt:i4>1</vt:i4>
      </vt:variant>
    </vt:vector>
  </HeadingPairs>
  <TitlesOfParts>
    <vt:vector size="73" baseType="lpstr">
      <vt:lpstr>Greek Symbols</vt:lpstr>
      <vt:lpstr>Iconic Symbols Ext</vt:lpstr>
      <vt:lpstr>Monotype Sorts</vt:lpstr>
      <vt:lpstr>MS LineDraw</vt:lpstr>
      <vt:lpstr>MS PGothic</vt:lpstr>
      <vt:lpstr>MS PGothic</vt:lpstr>
      <vt:lpstr>新細明體</vt:lpstr>
      <vt:lpstr>Arial</vt:lpstr>
      <vt:lpstr>Helvetica</vt:lpstr>
      <vt:lpstr>Symbol</vt:lpstr>
      <vt:lpstr>Times</vt:lpstr>
      <vt:lpstr>Times New Roman</vt:lpstr>
      <vt:lpstr>Webdings</vt:lpstr>
      <vt:lpstr>Wingdings</vt:lpstr>
      <vt:lpstr>2_db-5-grey</vt:lpstr>
      <vt:lpstr>Chapter 7:  Normalization</vt:lpstr>
      <vt:lpstr>Outline</vt:lpstr>
      <vt:lpstr>Features of Good Relational Designs</vt:lpstr>
      <vt:lpstr>Decomposition</vt:lpstr>
      <vt:lpstr>A Lossy Decomposition</vt:lpstr>
      <vt:lpstr>Lossless Decomposition</vt:lpstr>
      <vt:lpstr>Example of Lossless Decomposition </vt:lpstr>
      <vt:lpstr>Normalization Theory</vt:lpstr>
      <vt:lpstr>Functional Dependencies</vt:lpstr>
      <vt:lpstr>Functional Dependencies Definition </vt:lpstr>
      <vt:lpstr>Keys and Functional Dependencies</vt:lpstr>
      <vt:lpstr>※ Use of Functional Dependencies</vt:lpstr>
      <vt:lpstr>Closure of a Set of Functional Dependencies</vt:lpstr>
      <vt:lpstr>Trivial Functional Dependencies</vt:lpstr>
      <vt:lpstr>Lossless Decomposition</vt:lpstr>
      <vt:lpstr>Example</vt:lpstr>
      <vt:lpstr>Dependency Preservation</vt:lpstr>
      <vt:lpstr>Dependency Preservation Example</vt:lpstr>
      <vt:lpstr>PowerPoint 簡報</vt:lpstr>
      <vt:lpstr>※ Closure of a Set of Functional Dependencies</vt:lpstr>
      <vt:lpstr> ※ Example of  F+</vt:lpstr>
      <vt:lpstr>※ Closure of Functional Dependencies (Cont.)</vt:lpstr>
      <vt:lpstr>Closure of Attribute Sets</vt:lpstr>
      <vt:lpstr>Example of Attribute Set Closure</vt:lpstr>
      <vt:lpstr>Uses of Attribute Closure</vt:lpstr>
      <vt:lpstr>PowerPoint 簡報</vt:lpstr>
      <vt:lpstr>Boyce-Codd Normal Form</vt:lpstr>
      <vt:lpstr>Boyce-Codd Normal Form (Cont.)</vt:lpstr>
      <vt:lpstr>Decomposing a Schema into BCNF</vt:lpstr>
      <vt:lpstr>Example</vt:lpstr>
      <vt:lpstr>Dependency Preservation</vt:lpstr>
      <vt:lpstr>Third Normal Form</vt:lpstr>
      <vt:lpstr>3NF Example</vt:lpstr>
      <vt:lpstr>Redundancy in 3NF</vt:lpstr>
      <vt:lpstr>Comparison of BCNF and 3NF</vt:lpstr>
      <vt:lpstr>Goals of Normalization</vt:lpstr>
      <vt:lpstr>PowerPoint 簡報</vt:lpstr>
      <vt:lpstr>Testing for BCNF</vt:lpstr>
      <vt:lpstr>Testing Decomposition for BCNF</vt:lpstr>
      <vt:lpstr>BCNF Decomposition Algorithm</vt:lpstr>
      <vt:lpstr>Example of BCNF Decomposition</vt:lpstr>
      <vt:lpstr>BCNF Decomposition (Cont.)</vt:lpstr>
      <vt:lpstr>練習</vt:lpstr>
      <vt:lpstr>Third Normal Form</vt:lpstr>
      <vt:lpstr>Testing for 3NF</vt:lpstr>
      <vt:lpstr>Comparison of BCNF and 3NF</vt:lpstr>
      <vt:lpstr>Design Goals</vt:lpstr>
      <vt:lpstr>PowerPoint 簡報</vt:lpstr>
      <vt:lpstr>Overall Database Design Process</vt:lpstr>
      <vt:lpstr>ER Model and Normalization</vt:lpstr>
      <vt:lpstr>Denormalization for Performance</vt:lpstr>
      <vt:lpstr>Other Design Issues</vt:lpstr>
      <vt:lpstr>First Normal Form</vt:lpstr>
      <vt:lpstr>First Normal Form (Cont.)</vt:lpstr>
      <vt:lpstr>※ How good is BCNF?</vt:lpstr>
      <vt:lpstr>※ How good is BCNF? (Cont.)</vt:lpstr>
      <vt:lpstr>※ Higher Normal Forms 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532</cp:revision>
  <cp:lastPrinted>2020-12-17T07:42:37Z</cp:lastPrinted>
  <dcterms:created xsi:type="dcterms:W3CDTF">2009-12-21T15:40:22Z</dcterms:created>
  <dcterms:modified xsi:type="dcterms:W3CDTF">2023-12-06T03:57:12Z</dcterms:modified>
</cp:coreProperties>
</file>