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9"/>
  </p:notesMasterIdLst>
  <p:handoutMasterIdLst>
    <p:handoutMasterId r:id="rId60"/>
  </p:handoutMasterIdLst>
  <p:sldIdLst>
    <p:sldId id="445" r:id="rId2"/>
    <p:sldId id="446" r:id="rId3"/>
    <p:sldId id="338" r:id="rId4"/>
    <p:sldId id="339" r:id="rId5"/>
    <p:sldId id="340" r:id="rId6"/>
    <p:sldId id="342" r:id="rId7"/>
    <p:sldId id="343" r:id="rId8"/>
    <p:sldId id="440" r:id="rId9"/>
    <p:sldId id="447" r:id="rId10"/>
    <p:sldId id="448" r:id="rId11"/>
    <p:sldId id="347" r:id="rId12"/>
    <p:sldId id="450" r:id="rId13"/>
    <p:sldId id="453" r:id="rId14"/>
    <p:sldId id="455" r:id="rId15"/>
    <p:sldId id="352" r:id="rId16"/>
    <p:sldId id="457" r:id="rId17"/>
    <p:sldId id="458" r:id="rId18"/>
    <p:sldId id="471" r:id="rId19"/>
    <p:sldId id="356" r:id="rId20"/>
    <p:sldId id="357" r:id="rId21"/>
    <p:sldId id="358" r:id="rId22"/>
    <p:sldId id="360" r:id="rId23"/>
    <p:sldId id="470" r:id="rId24"/>
    <p:sldId id="359" r:id="rId25"/>
    <p:sldId id="362" r:id="rId26"/>
    <p:sldId id="363" r:id="rId27"/>
    <p:sldId id="364" r:id="rId28"/>
    <p:sldId id="365" r:id="rId29"/>
    <p:sldId id="366" r:id="rId30"/>
    <p:sldId id="367" r:id="rId31"/>
    <p:sldId id="461" r:id="rId32"/>
    <p:sldId id="369" r:id="rId33"/>
    <p:sldId id="370" r:id="rId34"/>
    <p:sldId id="371" r:id="rId35"/>
    <p:sldId id="372" r:id="rId36"/>
    <p:sldId id="373" r:id="rId37"/>
    <p:sldId id="374" r:id="rId38"/>
    <p:sldId id="375" r:id="rId39"/>
    <p:sldId id="472" r:id="rId40"/>
    <p:sldId id="376" r:id="rId41"/>
    <p:sldId id="377" r:id="rId42"/>
    <p:sldId id="378" r:id="rId43"/>
    <p:sldId id="380" r:id="rId44"/>
    <p:sldId id="381" r:id="rId45"/>
    <p:sldId id="382" r:id="rId46"/>
    <p:sldId id="383" r:id="rId47"/>
    <p:sldId id="384" r:id="rId48"/>
    <p:sldId id="473" r:id="rId49"/>
    <p:sldId id="385" r:id="rId50"/>
    <p:sldId id="462" r:id="rId51"/>
    <p:sldId id="464" r:id="rId52"/>
    <p:sldId id="466" r:id="rId53"/>
    <p:sldId id="465" r:id="rId54"/>
    <p:sldId id="467" r:id="rId55"/>
    <p:sldId id="468" r:id="rId56"/>
    <p:sldId id="469" r:id="rId57"/>
    <p:sldId id="393" r:id="rId58"/>
  </p:sldIdLst>
  <p:sldSz cx="9144000" cy="6858000" type="screen4x3"/>
  <p:notesSz cx="6997700" cy="92837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2" autoAdjust="0"/>
    <p:restoredTop sz="94737" autoAdjust="0"/>
  </p:normalViewPr>
  <p:slideViewPr>
    <p:cSldViewPr snapToGrid="0">
      <p:cViewPr varScale="1">
        <p:scale>
          <a:sx n="62" d="100"/>
          <a:sy n="62" d="100"/>
        </p:scale>
        <p:origin x="823" y="24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369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56908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351C3CC-85E9-4EB0-AE84-86EE2CEAA304}" type="slidenum">
              <a:rPr lang="en-US" altLang="en-US" sz="120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481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E56AE75-B906-4BBE-9F19-01C6ABDA8665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3965576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3965576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8" tIns="45221" rIns="92058" bIns="4522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1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8" name="Rectangle 5"/>
          <p:cNvSpPr>
            <a:spLocks noChangeArrowheads="1"/>
          </p:cNvSpPr>
          <p:nvPr/>
        </p:nvSpPr>
        <p:spPr bwMode="auto">
          <a:xfrm>
            <a:off x="1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1844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241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449113-501E-40AA-8204-F51F280D2CC8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2400" y="4410466"/>
            <a:ext cx="5132902" cy="4175934"/>
          </a:xfrm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5825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7056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8530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189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094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4247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062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477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326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195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EE474B3-6199-4C51-85D8-10EAF40AA925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5663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691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426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7D0D930-A2D8-469D-B052-FB82FC88E015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4864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04C8304-CA7E-484A-A59E-D08422FFDCB2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1833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E7261DA-54B3-4A93-9499-25636D977100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8288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9C4894-872D-48F9-9264-417C7C9B2EAD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4385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52E9D7F-36E5-47CB-BEF4-89802073A499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0693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25C1F8B-BDD5-4D70-8389-7FD988212B04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9508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1FBBFF-88DD-4104-93D5-9ABA9DECF1D5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419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1FBBFF-88DD-4104-93D5-9ABA9DECF1D5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1804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1FBBFF-88DD-4104-93D5-9ABA9DECF1D5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3516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830243F-8686-4433-9701-9F34E8AC8773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7489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5649CE-6E1F-4A66-818C-4E7F6898A7A7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5554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A9640E-5C10-4629-8988-A9A2CA4B65CD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8509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A9640E-5C10-4629-8988-A9A2CA4B65CD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3854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76C4670-485C-41B4-B6C8-2F72766EE515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3756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EFD3E4-E538-49EF-A1BC-D85549A485CA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9325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EFD3E4-E538-49EF-A1BC-D85549A485CA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9135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819F5B-7A32-4D84-A65B-6246CABB1E02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4186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21C35E-7DD2-43A4-B0B3-DF6655FBBF3E}" type="slidenum">
              <a:rPr lang="en-US" altLang="en-US" sz="1200"/>
              <a:pPr/>
              <a:t>43</a:t>
            </a:fld>
            <a:endParaRPr lang="en-US" alt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9699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5AA873-0E0F-4E9D-B9D0-F99186FE665C}" type="slidenum">
              <a:rPr lang="en-US" altLang="en-US" sz="1200"/>
              <a:pPr/>
              <a:t>44</a:t>
            </a:fld>
            <a:endParaRPr lang="en-US" alt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1585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9F710CF-2C3A-4019-8007-D8C75860C40C}" type="slidenum">
              <a:rPr lang="en-US" altLang="en-US" sz="1200"/>
              <a:pPr/>
              <a:t>45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76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7558" y="1093788"/>
            <a:ext cx="772810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4.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4 : </a:t>
            </a:r>
            <a:r>
              <a:rPr lang="en-US" dirty="0"/>
              <a:t>Intermediate SQL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>
              <a:defRPr/>
            </a:pPr>
            <a:r>
              <a:rPr lang="en-US" sz="2800" dirty="0">
                <a:ea typeface="+mj-ea"/>
              </a:rPr>
              <a:t>Outline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4900"/>
            <a:ext cx="6587800" cy="4135840"/>
          </a:xfrm>
          <a:noFill/>
        </p:spPr>
        <p:txBody>
          <a:bodyPr lIns="90488" tIns="44450" rIns="90488" bIns="44450"/>
          <a:lstStyle/>
          <a:p>
            <a:r>
              <a:rPr lang="en-US" altLang="en-US" sz="1700" dirty="0"/>
              <a:t>Join  Expressions</a:t>
            </a:r>
          </a:p>
          <a:p>
            <a:r>
              <a:rPr lang="en-US" altLang="en-US" sz="1700" dirty="0"/>
              <a:t>Views</a:t>
            </a:r>
          </a:p>
          <a:p>
            <a:r>
              <a:rPr lang="en-US" altLang="en-US" sz="1700" dirty="0"/>
              <a:t>Transactions</a:t>
            </a:r>
          </a:p>
          <a:p>
            <a:r>
              <a:rPr lang="en-US" altLang="en-US" sz="1700" dirty="0"/>
              <a:t>Integrity Constraints</a:t>
            </a:r>
          </a:p>
          <a:p>
            <a:r>
              <a:rPr lang="en-US" altLang="en-US" sz="1700" dirty="0"/>
              <a:t>SQL Data Types and Schemas</a:t>
            </a:r>
          </a:p>
          <a:p>
            <a:r>
              <a:rPr lang="en-US" altLang="en-US" sz="1700" dirty="0"/>
              <a:t>Index Definition in SQL</a:t>
            </a:r>
          </a:p>
          <a:p>
            <a:r>
              <a:rPr lang="en-US" altLang="en-US" sz="1700" dirty="0"/>
              <a:t>Authorization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Joined Relations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94843"/>
            <a:ext cx="7585537" cy="4548187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  <a:ea typeface="ＭＳ Ｐゴシック" pitchFamily="34" charset="-128"/>
              </a:rPr>
              <a:t>Join operations</a:t>
            </a:r>
            <a:r>
              <a:rPr lang="en-US" altLang="en-US" sz="1700" dirty="0">
                <a:solidFill>
                  <a:srgbClr val="002060"/>
                </a:solidFill>
                <a:ea typeface="ＭＳ Ｐゴシック" pitchFamily="34" charset="-128"/>
              </a:rPr>
              <a:t> </a:t>
            </a:r>
            <a:r>
              <a:rPr lang="en-US" altLang="en-US" sz="1700" dirty="0">
                <a:ea typeface="ＭＳ Ｐゴシック" pitchFamily="34" charset="-128"/>
              </a:rPr>
              <a:t>take two relations and return as a result another relation.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A join operation is a Cartesian product which requires that tuples in the two relations match (under some condition).  It also specifies the attributes that are present in the result of the join 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The join operations are typically used as subquery expressions in the </a:t>
            </a:r>
            <a:r>
              <a:rPr lang="en-US" altLang="en-US" sz="1700" b="1" dirty="0">
                <a:ea typeface="ＭＳ Ｐゴシック" pitchFamily="34" charset="-128"/>
              </a:rPr>
              <a:t>from </a:t>
            </a:r>
            <a:r>
              <a:rPr lang="en-US" altLang="en-US" sz="1700" dirty="0">
                <a:ea typeface="ＭＳ Ｐゴシック" pitchFamily="34" charset="-128"/>
              </a:rPr>
              <a:t>clause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Three types of joins:</a:t>
            </a:r>
          </a:p>
          <a:p>
            <a:pPr lvl="1"/>
            <a:r>
              <a:rPr lang="en-US" altLang="en-US" sz="1700" dirty="0">
                <a:ea typeface="ＭＳ Ｐゴシック" pitchFamily="34" charset="-128"/>
              </a:rPr>
              <a:t>Natural join</a:t>
            </a:r>
          </a:p>
          <a:p>
            <a:pPr lvl="1"/>
            <a:r>
              <a:rPr lang="en-US" altLang="en-US" sz="1700" dirty="0">
                <a:ea typeface="ＭＳ Ｐゴシック" pitchFamily="34" charset="-128"/>
              </a:rPr>
              <a:t>Inner join</a:t>
            </a:r>
          </a:p>
          <a:p>
            <a:pPr lvl="1"/>
            <a:r>
              <a:rPr lang="en-US" altLang="en-US" sz="1700" dirty="0">
                <a:ea typeface="ＭＳ Ｐゴシック" pitchFamily="34" charset="-128"/>
              </a:rPr>
              <a:t>Outer join</a:t>
            </a:r>
          </a:p>
          <a:p>
            <a:pPr lvl="1">
              <a:buFont typeface="Monotype Sorts" charset="2"/>
              <a:buNone/>
            </a:pPr>
            <a:endParaRPr lang="en-US" altLang="en-US" sz="2000" dirty="0">
              <a:ea typeface="ＭＳ Ｐゴシック" pitchFamily="34" charset="-128"/>
            </a:endParaRPr>
          </a:p>
          <a:p>
            <a:endParaRPr lang="en-US" alt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Natural Join in SQL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50" y="1078992"/>
                <a:ext cx="7647681" cy="4983163"/>
              </a:xfrm>
            </p:spPr>
            <p:txBody>
              <a:bodyPr/>
              <a:lstStyle/>
              <a:p>
                <a:r>
                  <a:rPr lang="en-US" altLang="en-US" sz="1700" dirty="0">
                    <a:ea typeface="ＭＳ Ｐゴシック" pitchFamily="34" charset="-128"/>
                  </a:rPr>
                  <a:t>Natural join matches tuples with the same values for </a:t>
                </a:r>
                <a:r>
                  <a:rPr lang="en-US" altLang="en-US" sz="1700" b="1" dirty="0">
                    <a:solidFill>
                      <a:srgbClr val="0070C0"/>
                    </a:solidFill>
                    <a:ea typeface="ＭＳ Ｐゴシック" pitchFamily="34" charset="-128"/>
                  </a:rPr>
                  <a:t>all common attributes</a:t>
                </a:r>
                <a:r>
                  <a:rPr lang="en-US" altLang="en-US" sz="1700" dirty="0">
                    <a:ea typeface="ＭＳ Ｐゴシック" pitchFamily="34" charset="-128"/>
                  </a:rPr>
                  <a:t>, and retains only one copy of each common column.</a:t>
                </a:r>
              </a:p>
              <a:p>
                <a:r>
                  <a:rPr lang="en-US" altLang="zh-TW" dirty="0"/>
                  <a:t>List the ID and names of students along with the course IDs of the courses that they have taken.</a:t>
                </a:r>
                <a:endParaRPr lang="en-US" altLang="en-US" sz="1700" strike="sngStrike" dirty="0">
                  <a:ea typeface="ＭＳ Ｐゴシック" pitchFamily="34" charset="-128"/>
                </a:endParaRPr>
              </a:p>
              <a:p>
                <a:pPr lvl="1"/>
                <a:r>
                  <a:rPr lang="en-US" altLang="en-US" sz="1700" b="1" dirty="0">
                    <a:ea typeface="ＭＳ Ｐゴシック" pitchFamily="34" charset="-128"/>
                  </a:rPr>
                  <a:t>select </a:t>
                </a:r>
                <a:r>
                  <a:rPr lang="en-US" altLang="en-US" i="1" dirty="0">
                    <a:ea typeface="ＭＳ Ｐゴシック" pitchFamily="34" charset="-128"/>
                  </a:rPr>
                  <a:t>student.ID , name</a:t>
                </a:r>
                <a:r>
                  <a:rPr lang="en-US" altLang="en-US" sz="1700" dirty="0">
                    <a:ea typeface="ＭＳ Ｐゴシック" pitchFamily="34" charset="-128"/>
                  </a:rPr>
                  <a:t>, </a:t>
                </a:r>
                <a:r>
                  <a:rPr lang="en-US" altLang="en-US" sz="1700" i="1" dirty="0" err="1">
                    <a:ea typeface="ＭＳ Ｐゴシック" pitchFamily="34" charset="-128"/>
                  </a:rPr>
                  <a:t>course_id</a:t>
                </a:r>
                <a:br>
                  <a:rPr lang="en-US" altLang="en-US" sz="1700" i="1" dirty="0">
                    <a:ea typeface="ＭＳ Ｐゴシック" pitchFamily="34" charset="-128"/>
                  </a:rPr>
                </a:br>
                <a:r>
                  <a:rPr lang="en-US" altLang="en-US" sz="1700" b="1" dirty="0">
                    <a:ea typeface="ＭＳ Ｐゴシック" pitchFamily="34" charset="-128"/>
                  </a:rPr>
                  <a:t>from </a:t>
                </a:r>
                <a:r>
                  <a:rPr lang="en-US" altLang="en-US" sz="1700" i="1" dirty="0">
                    <a:ea typeface="ＭＳ Ｐゴシック" pitchFamily="34" charset="-128"/>
                  </a:rPr>
                  <a:t> students, takes</a:t>
                </a:r>
                <a:br>
                  <a:rPr lang="en-US" altLang="en-US" sz="1700" i="1" dirty="0">
                    <a:ea typeface="ＭＳ Ｐゴシック" pitchFamily="34" charset="-128"/>
                  </a:rPr>
                </a:br>
                <a:r>
                  <a:rPr lang="en-US" altLang="en-US" sz="1700" b="1" dirty="0">
                    <a:ea typeface="ＭＳ Ｐゴシック" pitchFamily="34" charset="-128"/>
                  </a:rPr>
                  <a:t>where </a:t>
                </a:r>
                <a:r>
                  <a:rPr lang="en-US" altLang="en-US" sz="1700" i="1" dirty="0">
                    <a:ea typeface="ＭＳ Ｐゴシック" pitchFamily="34" charset="-128"/>
                  </a:rPr>
                  <a:t>student.ID </a:t>
                </a:r>
                <a:r>
                  <a:rPr lang="en-US" altLang="en-US" sz="1700" dirty="0">
                    <a:ea typeface="ＭＳ Ｐゴシック" pitchFamily="34" charset="-128"/>
                  </a:rPr>
                  <a:t>= </a:t>
                </a:r>
                <a:r>
                  <a:rPr lang="en-US" altLang="en-US" sz="1700" i="1" dirty="0">
                    <a:ea typeface="ＭＳ Ｐゴシック" pitchFamily="34" charset="-128"/>
                  </a:rPr>
                  <a:t>takes.ID</a:t>
                </a:r>
                <a:r>
                  <a:rPr lang="en-US" altLang="en-US" sz="1700" dirty="0">
                    <a:ea typeface="ＭＳ Ｐゴシック" pitchFamily="34" charset="-128"/>
                  </a:rPr>
                  <a:t>;</a:t>
                </a:r>
              </a:p>
              <a:p>
                <a:r>
                  <a:rPr lang="en-US" altLang="en-US" sz="1700" dirty="0">
                    <a:ea typeface="ＭＳ Ｐゴシック" pitchFamily="34" charset="-128"/>
                  </a:rPr>
                  <a:t>Same query in SQL with “natural join” construct</a:t>
                </a:r>
              </a:p>
              <a:p>
                <a:pPr lvl="1"/>
                <a:r>
                  <a:rPr lang="en-US" altLang="en-US" sz="1700" b="1" dirty="0">
                    <a:ea typeface="ＭＳ Ｐゴシック" pitchFamily="34" charset="-128"/>
                  </a:rPr>
                  <a:t>select </a:t>
                </a:r>
                <a:r>
                  <a:rPr lang="en-US" altLang="en-US" sz="1700" i="1" dirty="0">
                    <a:ea typeface="ＭＳ Ｐゴシック" pitchFamily="34" charset="-128"/>
                  </a:rPr>
                  <a:t>ID, name</a:t>
                </a:r>
                <a:r>
                  <a:rPr lang="en-US" altLang="en-US" sz="1700" dirty="0">
                    <a:ea typeface="ＭＳ Ｐゴシック" pitchFamily="34" charset="-128"/>
                  </a:rPr>
                  <a:t>,</a:t>
                </a:r>
                <a:r>
                  <a:rPr lang="en-US" altLang="en-US" sz="1700" i="1" dirty="0">
                    <a:ea typeface="ＭＳ Ｐゴシック" pitchFamily="34" charset="-128"/>
                  </a:rPr>
                  <a:t> </a:t>
                </a:r>
                <a:r>
                  <a:rPr lang="en-US" altLang="en-US" sz="1700" i="1" dirty="0" err="1">
                    <a:ea typeface="ＭＳ Ｐゴシック" pitchFamily="34" charset="-128"/>
                  </a:rPr>
                  <a:t>course_id</a:t>
                </a:r>
                <a:br>
                  <a:rPr lang="en-US" altLang="en-US" sz="1700" i="1" dirty="0">
                    <a:ea typeface="ＭＳ Ｐゴシック" pitchFamily="34" charset="-128"/>
                  </a:rPr>
                </a:br>
                <a:r>
                  <a:rPr lang="en-US" altLang="en-US" sz="1700" b="1" dirty="0">
                    <a:ea typeface="ＭＳ Ｐゴシック" pitchFamily="34" charset="-128"/>
                  </a:rPr>
                  <a:t>from </a:t>
                </a:r>
                <a:r>
                  <a:rPr lang="en-US" altLang="en-US" sz="1700" i="1" dirty="0">
                    <a:ea typeface="ＭＳ Ｐゴシック" pitchFamily="34" charset="-128"/>
                  </a:rPr>
                  <a:t>student </a:t>
                </a:r>
                <a:r>
                  <a:rPr lang="en-US" altLang="en-US" sz="1700" b="1" dirty="0">
                    <a:ea typeface="ＭＳ Ｐゴシック" pitchFamily="34" charset="-128"/>
                  </a:rPr>
                  <a:t>natural join </a:t>
                </a:r>
                <a:r>
                  <a:rPr lang="en-US" altLang="en-US" sz="1700" i="1" dirty="0">
                    <a:ea typeface="ＭＳ Ｐゴシック" pitchFamily="34" charset="-128"/>
                  </a:rPr>
                  <a:t>takes</a:t>
                </a:r>
                <a:r>
                  <a:rPr lang="en-US" altLang="en-US" sz="1700" dirty="0">
                    <a:ea typeface="ＭＳ Ｐゴシック" pitchFamily="34" charset="-128"/>
                  </a:rPr>
                  <a:t>;</a:t>
                </a:r>
              </a:p>
              <a:p>
                <a:pPr lvl="1"/>
                <a:endParaRPr lang="en-US" altLang="en-US" dirty="0">
                  <a:ea typeface="ＭＳ Ｐゴシック" pitchFamily="34" charset="-128"/>
                </a:endParaRPr>
              </a:p>
              <a:p>
                <a:r>
                  <a:rPr lang="zh-TW" altLang="en-US" sz="1600" dirty="0">
                    <a:solidFill>
                      <a:srgbClr val="FF0000"/>
                    </a:solidFill>
                    <a:ea typeface="新細明體" panose="02020500000000000000" pitchFamily="18" charset="-120"/>
                  </a:rPr>
                  <a:t>注意：有些軟體不支援此語法</a:t>
                </a:r>
                <a:endParaRPr lang="en-US" altLang="zh-TW" sz="1600" dirty="0">
                  <a:solidFill>
                    <a:srgbClr val="FF0000"/>
                  </a:solidFill>
                  <a:ea typeface="新細明體" panose="02020500000000000000" pitchFamily="18" charset="-120"/>
                </a:endParaRPr>
              </a:p>
              <a:p>
                <a:r>
                  <a:rPr lang="zh-TW" altLang="en-US" sz="1700" dirty="0">
                    <a:ea typeface="ＭＳ Ｐゴシック" pitchFamily="34" charset="-128"/>
                  </a:rPr>
                  <a:t>補充</a:t>
                </a:r>
                <a:r>
                  <a:rPr lang="en-US" altLang="en-US" sz="1700" dirty="0">
                    <a:ea typeface="ＭＳ Ｐゴシック" pitchFamily="34" charset="-128"/>
                  </a:rPr>
                  <a:t>Relational algebra </a:t>
                </a:r>
                <a:r>
                  <a:rPr lang="zh-TW" altLang="en-US" sz="1700" dirty="0">
                    <a:ea typeface="ＭＳ Ｐゴシック" pitchFamily="34" charset="-128"/>
                  </a:rPr>
                  <a:t>的語法</a:t>
                </a:r>
                <a:r>
                  <a:rPr lang="en-US" altLang="zh-TW" sz="1700" dirty="0">
                    <a:ea typeface="ＭＳ Ｐゴシック" pitchFamily="34" charset="-128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altLang="en-US" i="1" dirty="0">
                    <a:sym typeface="Symbol" panose="05050102010706020507" pitchFamily="18" charset="2"/>
                  </a:rPr>
                  <a:t>		 </a:t>
                </a:r>
                <a:r>
                  <a:rPr lang="en-US" altLang="en-US" dirty="0">
                    <a:sym typeface="Symbol" panose="05050102010706020507" pitchFamily="18" charset="2"/>
                  </a:rPr>
                  <a:t>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ID, name,</a:t>
                </a:r>
                <a:r>
                  <a:rPr lang="en-US" altLang="en-US" i="1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baseline="-25000" dirty="0" err="1">
                    <a:sym typeface="Symbol" panose="05050102010706020507" pitchFamily="18" charset="2"/>
                  </a:rPr>
                  <a:t>course_id</a:t>
                </a:r>
                <a:r>
                  <a:rPr lang="en-US" altLang="en-US" baseline="-25000" dirty="0"/>
                  <a:t> </a:t>
                </a:r>
                <a:r>
                  <a:rPr lang="en-US" altLang="ja-JP" i="1" dirty="0">
                    <a:sym typeface="Symbol" panose="05050102010706020507" pitchFamily="18" charset="2"/>
                  </a:rPr>
                  <a:t>(students</a:t>
                </a:r>
                <a:r>
                  <a:rPr lang="en-US" altLang="en-US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zh-TW" baseline="-25000" dirty="0"/>
                  <a:t> </a:t>
                </a:r>
                <a:r>
                  <a:rPr lang="en-US" altLang="zh-TW" i="1" dirty="0"/>
                  <a:t>takes)</a:t>
                </a:r>
                <a:endParaRPr lang="en-US" altLang="en-US" sz="1700" dirty="0">
                  <a:ea typeface="ＭＳ Ｐゴシック" pitchFamily="34" charset="-128"/>
                </a:endParaRPr>
              </a:p>
              <a:p>
                <a:pPr>
                  <a:buFont typeface="Monotype Sorts" charset="2"/>
                  <a:buNone/>
                </a:pPr>
                <a:endParaRPr lang="en-US" altLang="en-US" dirty="0"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71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50" y="1078992"/>
                <a:ext cx="7647681" cy="4983163"/>
              </a:xfrm>
              <a:blipFill>
                <a:blip r:embed="rId3"/>
                <a:stretch>
                  <a:fillRect l="-558" t="-6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Natural Join in SQL (Cont.)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25297"/>
            <a:ext cx="7638802" cy="3541776"/>
          </a:xfrm>
        </p:spPr>
        <p:txBody>
          <a:bodyPr/>
          <a:lstStyle/>
          <a:p>
            <a:r>
              <a:rPr lang="en-US" altLang="en-US" sz="1700" dirty="0">
                <a:ea typeface="ＭＳ Ｐゴシック" pitchFamily="34" charset="-128"/>
              </a:rPr>
              <a:t>The </a:t>
            </a:r>
            <a:r>
              <a:rPr lang="en-US" altLang="en-US" sz="1700" b="1" dirty="0">
                <a:ea typeface="ＭＳ Ｐゴシック" pitchFamily="34" charset="-128"/>
              </a:rPr>
              <a:t>from</a:t>
            </a:r>
            <a:r>
              <a:rPr lang="en-US" altLang="en-US" sz="1700" dirty="0">
                <a:ea typeface="ＭＳ Ｐゴシック" pitchFamily="34" charset="-128"/>
              </a:rPr>
              <a:t> clause can have multiple relations combined using natural join:</a:t>
            </a:r>
          </a:p>
          <a:p>
            <a:pPr lvl="1">
              <a:buNone/>
            </a:pPr>
            <a:r>
              <a:rPr lang="en-US" altLang="en-US" sz="1700" b="1" dirty="0">
                <a:ea typeface="ＭＳ Ｐゴシック" pitchFamily="34" charset="-128"/>
              </a:rPr>
              <a:t>     select </a:t>
            </a:r>
            <a:r>
              <a:rPr lang="en-US" altLang="en-US" sz="1700" i="1" dirty="0">
                <a:ea typeface="ＭＳ Ｐゴシック" pitchFamily="34" charset="-128"/>
              </a:rPr>
              <a:t> A</a:t>
            </a:r>
            <a:r>
              <a:rPr lang="en-US" altLang="en-US" sz="1700" i="1" baseline="-25000" dirty="0">
                <a:ea typeface="ＭＳ Ｐゴシック" pitchFamily="34" charset="-128"/>
              </a:rPr>
              <a:t>1</a:t>
            </a:r>
            <a:r>
              <a:rPr lang="en-US" altLang="en-US" sz="1700" i="1" dirty="0">
                <a:ea typeface="ＭＳ Ｐゴシック" pitchFamily="34" charset="-128"/>
              </a:rPr>
              <a:t>, A</a:t>
            </a:r>
            <a:r>
              <a:rPr lang="en-US" altLang="en-US" sz="1700" i="1" baseline="-25000" dirty="0">
                <a:ea typeface="ＭＳ Ｐゴシック" pitchFamily="34" charset="-128"/>
              </a:rPr>
              <a:t>2</a:t>
            </a:r>
            <a:r>
              <a:rPr lang="en-US" altLang="en-US" sz="1700" i="1" dirty="0">
                <a:ea typeface="ＭＳ Ｐゴシック" pitchFamily="34" charset="-128"/>
              </a:rPr>
              <a:t>, … A</a:t>
            </a:r>
            <a:r>
              <a:rPr lang="en-US" altLang="en-US" sz="1700" i="1" baseline="-25000" dirty="0">
                <a:ea typeface="ＭＳ Ｐゴシック" pitchFamily="34" charset="-128"/>
              </a:rPr>
              <a:t>n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from </a:t>
            </a:r>
            <a:r>
              <a:rPr lang="en-US" altLang="en-US" sz="1700" i="1" dirty="0">
                <a:ea typeface="ＭＳ Ｐゴシック" pitchFamily="34" charset="-128"/>
              </a:rPr>
              <a:t> r</a:t>
            </a:r>
            <a:r>
              <a:rPr lang="en-US" altLang="en-US" sz="1700" i="1" baseline="-25000" dirty="0">
                <a:ea typeface="ＭＳ Ｐゴシック" pitchFamily="34" charset="-128"/>
              </a:rPr>
              <a:t>1</a:t>
            </a:r>
            <a:r>
              <a:rPr lang="en-US" altLang="en-US" sz="1700" i="1" dirty="0">
                <a:ea typeface="ＭＳ Ｐゴシック" pitchFamily="34" charset="-128"/>
              </a:rPr>
              <a:t>  </a:t>
            </a:r>
            <a:r>
              <a:rPr lang="en-US" altLang="en-US" sz="1700" b="1" dirty="0">
                <a:ea typeface="ＭＳ Ｐゴシック" pitchFamily="34" charset="-128"/>
              </a:rPr>
              <a:t>natural join </a:t>
            </a:r>
            <a:r>
              <a:rPr lang="en-US" altLang="en-US" sz="1700" i="1" dirty="0">
                <a:ea typeface="ＭＳ Ｐゴシック" pitchFamily="34" charset="-128"/>
              </a:rPr>
              <a:t>r</a:t>
            </a:r>
            <a:r>
              <a:rPr lang="en-US" altLang="en-US" sz="1700" i="1" baseline="-25000" dirty="0">
                <a:ea typeface="ＭＳ Ｐゴシック" pitchFamily="34" charset="-128"/>
              </a:rPr>
              <a:t>2</a:t>
            </a:r>
            <a:r>
              <a:rPr lang="en-US" altLang="en-US" sz="1700" i="1" dirty="0">
                <a:ea typeface="ＭＳ Ｐゴシック" pitchFamily="34" charset="-128"/>
              </a:rPr>
              <a:t> </a:t>
            </a:r>
            <a:r>
              <a:rPr lang="en-US" altLang="en-US" sz="1700" b="1" dirty="0">
                <a:ea typeface="ＭＳ Ｐゴシック" pitchFamily="34" charset="-128"/>
              </a:rPr>
              <a:t>natural join </a:t>
            </a:r>
            <a:r>
              <a:rPr lang="en-US" altLang="en-US" sz="1700" b="1" i="1" dirty="0">
                <a:ea typeface="ＭＳ Ｐゴシック" pitchFamily="34" charset="-128"/>
              </a:rPr>
              <a:t>.. </a:t>
            </a:r>
            <a:r>
              <a:rPr lang="en-US" altLang="en-US" sz="1700" b="1" dirty="0">
                <a:ea typeface="ＭＳ Ｐゴシック" pitchFamily="34" charset="-128"/>
              </a:rPr>
              <a:t>natural join </a:t>
            </a:r>
            <a:r>
              <a:rPr lang="en-US" altLang="en-US" sz="1700" dirty="0" err="1">
                <a:ea typeface="ＭＳ Ｐゴシック" pitchFamily="34" charset="-128"/>
              </a:rPr>
              <a:t>r</a:t>
            </a:r>
            <a:r>
              <a:rPr lang="en-US" altLang="en-US" sz="1700" baseline="-25000" dirty="0" err="1">
                <a:ea typeface="ＭＳ Ｐゴシック" pitchFamily="34" charset="-128"/>
              </a:rPr>
              <a:t>n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where  </a:t>
            </a:r>
            <a:r>
              <a:rPr lang="en-US" altLang="en-US" sz="1700" i="1" dirty="0">
                <a:ea typeface="ＭＳ Ｐゴシック" pitchFamily="34" charset="-128"/>
              </a:rPr>
              <a:t>P </a:t>
            </a:r>
            <a:r>
              <a:rPr lang="en-US" altLang="en-US" sz="1700" dirty="0">
                <a:ea typeface="ＭＳ Ｐゴシック" pitchFamily="34" charset="-128"/>
              </a:rPr>
              <a:t>;</a:t>
            </a:r>
          </a:p>
          <a:p>
            <a:pPr>
              <a:buNone/>
            </a:pPr>
            <a:endParaRPr lang="en-US" altLang="en-US" sz="1700" dirty="0">
              <a:ea typeface="ＭＳ Ｐゴシック" pitchFamily="34" charset="-128"/>
            </a:endParaRPr>
          </a:p>
          <a:p>
            <a:pPr>
              <a:buFont typeface="Monotype Sorts" charset="2"/>
              <a:buNone/>
            </a:pPr>
            <a:endParaRPr lang="en-US" altLang="en-US" sz="1700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3442" y="432843"/>
            <a:ext cx="4950558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Takes Relation</a:t>
            </a:r>
          </a:p>
        </p:txBody>
      </p:sp>
      <p:pic>
        <p:nvPicPr>
          <p:cNvPr id="1026" name="Picture 2" descr="C:\Users\as668\Desktop\Judi-Done\4_0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96712" y="1208791"/>
            <a:ext cx="4259678" cy="5125200"/>
          </a:xfrm>
          <a:prstGeom prst="rect">
            <a:avLst/>
          </a:prstGeom>
          <a:noFill/>
        </p:spPr>
      </p:pic>
      <p:pic>
        <p:nvPicPr>
          <p:cNvPr id="4" name="Picture 5" descr="W:\db-book\db7\slide-dir\Tables-Figures\EPS-PDF-JPG-dir\tables\student.jpg">
            <a:extLst>
              <a:ext uri="{FF2B5EF4-FFF2-40B4-BE49-F238E27FC236}">
                <a16:creationId xmlns:a16="http://schemas.microsoft.com/office/drawing/2014/main" id="{101D685E-0774-4C8E-A755-4E846A9C5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005556"/>
            <a:ext cx="4623768" cy="4114801"/>
          </a:xfrm>
          <a:prstGeom prst="rect">
            <a:avLst/>
          </a:prstGeom>
          <a:noFill/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48BC097-8551-4A7E-90B9-95CA31593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31" y="1219199"/>
            <a:ext cx="369325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9pPr>
          </a:lstStyle>
          <a:p>
            <a:pPr>
              <a:defRPr/>
            </a:pPr>
            <a:r>
              <a:rPr lang="en-US" kern="0">
                <a:ea typeface="+mj-ea"/>
              </a:rPr>
              <a:t>Student Relation</a:t>
            </a:r>
            <a:endParaRPr lang="en-US" kern="0" dirty="0"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>
          <a:xfrm>
            <a:off x="865065" y="300037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b="0" i="1" dirty="0">
                <a:ea typeface="+mj-ea"/>
              </a:rPr>
              <a:t>student</a:t>
            </a:r>
            <a:r>
              <a:rPr lang="en-US" sz="2800" dirty="0">
                <a:ea typeface="+mj-ea"/>
              </a:rPr>
              <a:t> natural join </a:t>
            </a:r>
            <a:r>
              <a:rPr lang="en-US" sz="2800" b="0" i="1" dirty="0">
                <a:ea typeface="+mj-ea"/>
              </a:rPr>
              <a:t>takes</a:t>
            </a:r>
          </a:p>
        </p:txBody>
      </p:sp>
      <p:pic>
        <p:nvPicPr>
          <p:cNvPr id="2" name="Picture 2" descr="C:\Users\as668\Desktop\Judi-Done\4_0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59865" y="1176594"/>
            <a:ext cx="5743521" cy="47717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Dangerous in Natural Join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3565" y="865809"/>
            <a:ext cx="8164635" cy="5552576"/>
          </a:xfrm>
        </p:spPr>
        <p:txBody>
          <a:bodyPr/>
          <a:lstStyle/>
          <a:p>
            <a:r>
              <a:rPr lang="en-US" sz="1700" dirty="0"/>
              <a:t>Beware of unrelated attributes with same name which get equated incorrectly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 </a:t>
            </a:r>
            <a:r>
              <a:rPr lang="en-US" sz="1700" dirty="0"/>
              <a:t>Example -- List the names of students along with the titles of courses that they have taken</a:t>
            </a:r>
          </a:p>
          <a:p>
            <a:pPr lvl="1"/>
            <a:r>
              <a:rPr lang="en-US" sz="1700" dirty="0"/>
              <a:t>Correct version</a:t>
            </a:r>
          </a:p>
          <a:p>
            <a:pPr lvl="1">
              <a:buNone/>
            </a:pPr>
            <a:r>
              <a:rPr lang="en-US" sz="1700" b="1" dirty="0"/>
              <a:t>           select </a:t>
            </a:r>
            <a:r>
              <a:rPr lang="en-US" sz="1700" i="1" dirty="0"/>
              <a:t>name</a:t>
            </a:r>
            <a:r>
              <a:rPr lang="en-US" sz="1700" dirty="0"/>
              <a:t>, </a:t>
            </a:r>
            <a:r>
              <a:rPr lang="en-US" sz="1700" i="1" dirty="0"/>
              <a:t>title</a:t>
            </a:r>
            <a:br>
              <a:rPr lang="en-US" sz="1700" i="1" dirty="0"/>
            </a:br>
            <a:r>
              <a:rPr lang="en-US" sz="1700" i="1" dirty="0"/>
              <a:t>       </a:t>
            </a:r>
            <a:r>
              <a:rPr lang="en-US" sz="1700" b="1" dirty="0"/>
              <a:t>from </a:t>
            </a:r>
            <a:r>
              <a:rPr lang="en-US" sz="1700" i="1" dirty="0"/>
              <a:t>student </a:t>
            </a:r>
            <a:r>
              <a:rPr lang="en-US" sz="1700" b="1" dirty="0"/>
              <a:t>natural join </a:t>
            </a:r>
            <a:r>
              <a:rPr lang="en-US" sz="1700" i="1" dirty="0"/>
              <a:t>takes</a:t>
            </a:r>
            <a:r>
              <a:rPr lang="en-US" sz="1700" dirty="0"/>
              <a:t>, </a:t>
            </a:r>
            <a:r>
              <a:rPr lang="en-US" sz="1700" i="1" dirty="0"/>
              <a:t>course</a:t>
            </a:r>
            <a:br>
              <a:rPr lang="en-US" sz="1700" i="1" dirty="0"/>
            </a:br>
            <a:r>
              <a:rPr lang="en-US" sz="1700" i="1" dirty="0"/>
              <a:t>       </a:t>
            </a:r>
            <a:r>
              <a:rPr lang="en-US" sz="1700" b="1" dirty="0"/>
              <a:t>where </a:t>
            </a:r>
            <a:r>
              <a:rPr lang="en-US" sz="1700" i="1" dirty="0" err="1"/>
              <a:t>takes</a:t>
            </a:r>
            <a:r>
              <a:rPr lang="en-US" sz="1700" dirty="0" err="1"/>
              <a:t>.</a:t>
            </a:r>
            <a:r>
              <a:rPr lang="en-US" sz="1700" i="1" dirty="0" err="1"/>
              <a:t>course_id</a:t>
            </a:r>
            <a:r>
              <a:rPr lang="en-US" sz="1700" i="1" dirty="0"/>
              <a:t> </a:t>
            </a:r>
            <a:r>
              <a:rPr lang="en-US" sz="1700" dirty="0"/>
              <a:t>= </a:t>
            </a:r>
            <a:r>
              <a:rPr lang="en-US" sz="1700" i="1" dirty="0" err="1"/>
              <a:t>course</a:t>
            </a:r>
            <a:r>
              <a:rPr lang="en-US" sz="1700" dirty="0" err="1"/>
              <a:t>.</a:t>
            </a:r>
            <a:r>
              <a:rPr lang="en-US" sz="1700" i="1" dirty="0" err="1"/>
              <a:t>course_id</a:t>
            </a:r>
            <a:r>
              <a:rPr lang="en-US" sz="1700" dirty="0"/>
              <a:t>;</a:t>
            </a:r>
          </a:p>
          <a:p>
            <a:pPr lvl="1"/>
            <a:r>
              <a:rPr lang="zh-TW" altLang="en-US" sz="1600" dirty="0">
                <a:solidFill>
                  <a:schemeClr val="tx2"/>
                </a:solidFill>
                <a:ea typeface="新細明體" panose="02020500000000000000" pitchFamily="18" charset="-120"/>
              </a:rPr>
              <a:t>在</a:t>
            </a:r>
            <a:r>
              <a:rPr lang="en-US" altLang="zh-TW" sz="1600" dirty="0">
                <a:solidFill>
                  <a:schemeClr val="tx2"/>
                </a:solidFill>
                <a:ea typeface="新細明體" panose="02020500000000000000" pitchFamily="18" charset="-120"/>
              </a:rPr>
              <a:t>from</a:t>
            </a:r>
            <a:r>
              <a:rPr lang="zh-TW" altLang="en-US" sz="1600" dirty="0">
                <a:solidFill>
                  <a:schemeClr val="tx2"/>
                </a:solidFill>
                <a:ea typeface="新細明體" panose="02020500000000000000" pitchFamily="18" charset="-120"/>
              </a:rPr>
              <a:t>裡使用逗號</a:t>
            </a:r>
            <a:r>
              <a:rPr lang="en-US" altLang="zh-TW" sz="1600" dirty="0">
                <a:solidFill>
                  <a:schemeClr val="tx2"/>
                </a:solidFill>
                <a:ea typeface="新細明體" panose="02020500000000000000" pitchFamily="18" charset="-120"/>
              </a:rPr>
              <a:t>”,”</a:t>
            </a:r>
            <a:r>
              <a:rPr lang="zh-TW" altLang="en-US" sz="1600" dirty="0">
                <a:solidFill>
                  <a:schemeClr val="tx2"/>
                </a:solidFill>
                <a:ea typeface="新細明體" panose="02020500000000000000" pitchFamily="18" charset="-120"/>
              </a:rPr>
              <a:t>，所以</a:t>
            </a:r>
            <a:r>
              <a:rPr lang="en-US" altLang="zh-TW" sz="1600" dirty="0">
                <a:solidFill>
                  <a:schemeClr val="tx2"/>
                </a:solidFill>
                <a:ea typeface="新細明體" panose="02020500000000000000" pitchFamily="18" charset="-120"/>
              </a:rPr>
              <a:t>course</a:t>
            </a:r>
            <a:r>
              <a:rPr lang="zh-TW" altLang="en-US" sz="1600" dirty="0">
                <a:solidFill>
                  <a:schemeClr val="tx2"/>
                </a:solidFill>
                <a:ea typeface="新細明體" panose="02020500000000000000" pitchFamily="18" charset="-120"/>
              </a:rPr>
              <a:t>是和前一個</a:t>
            </a:r>
            <a:r>
              <a:rPr lang="en-US" altLang="zh-TW" sz="1600" dirty="0">
                <a:solidFill>
                  <a:schemeClr val="tx2"/>
                </a:solidFill>
                <a:ea typeface="新細明體" panose="02020500000000000000" pitchFamily="18" charset="-120"/>
              </a:rPr>
              <a:t>combined relation</a:t>
            </a:r>
            <a:r>
              <a:rPr lang="zh-TW" altLang="en-US" sz="1600" dirty="0">
                <a:solidFill>
                  <a:schemeClr val="tx2"/>
                </a:solidFill>
                <a:ea typeface="新細明體" panose="02020500000000000000" pitchFamily="18" charset="-120"/>
              </a:rPr>
              <a:t>做</a:t>
            </a:r>
            <a:r>
              <a:rPr lang="en-US" altLang="zh-TW" sz="1600" dirty="0" err="1">
                <a:solidFill>
                  <a:schemeClr val="tx2"/>
                </a:solidFill>
                <a:ea typeface="新細明體" panose="02020500000000000000" pitchFamily="18" charset="-120"/>
              </a:rPr>
              <a:t>cartesian</a:t>
            </a:r>
            <a:r>
              <a:rPr lang="en-US" altLang="zh-TW" sz="1600" dirty="0">
                <a:solidFill>
                  <a:schemeClr val="tx2"/>
                </a:solidFill>
                <a:ea typeface="新細明體" panose="02020500000000000000" pitchFamily="18" charset="-120"/>
              </a:rPr>
              <a:t> product, </a:t>
            </a:r>
            <a:r>
              <a:rPr lang="zh-TW" altLang="en-US" sz="1600" dirty="0">
                <a:solidFill>
                  <a:schemeClr val="tx2"/>
                </a:solidFill>
                <a:ea typeface="新細明體" panose="02020500000000000000" pitchFamily="18" charset="-120"/>
              </a:rPr>
              <a:t>而非</a:t>
            </a:r>
            <a:r>
              <a:rPr lang="en-US" altLang="zh-TW" sz="1600" dirty="0">
                <a:solidFill>
                  <a:schemeClr val="tx2"/>
                </a:solidFill>
                <a:ea typeface="新細明體" panose="02020500000000000000" pitchFamily="18" charset="-120"/>
              </a:rPr>
              <a:t>natural join.</a:t>
            </a:r>
            <a:endParaRPr lang="en-US" sz="1700" dirty="0"/>
          </a:p>
          <a:p>
            <a:pPr lvl="1"/>
            <a:r>
              <a:rPr lang="en-US" sz="1700" dirty="0"/>
              <a:t>Incorrect version</a:t>
            </a:r>
          </a:p>
          <a:p>
            <a:pPr lvl="2">
              <a:buFont typeface="Webdings" pitchFamily="18" charset="2"/>
              <a:buNone/>
              <a:defRPr/>
            </a:pPr>
            <a:r>
              <a:rPr lang="en-US" sz="1700" b="1" dirty="0"/>
              <a:t>       select </a:t>
            </a:r>
            <a:r>
              <a:rPr lang="en-US" sz="1700" i="1" dirty="0"/>
              <a:t>name</a:t>
            </a:r>
            <a:r>
              <a:rPr lang="en-US" sz="1700" dirty="0"/>
              <a:t>, </a:t>
            </a:r>
            <a:r>
              <a:rPr lang="en-US" sz="1700" i="1" dirty="0"/>
              <a:t>title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from </a:t>
            </a:r>
            <a:r>
              <a:rPr lang="en-US" sz="1700" i="1" dirty="0"/>
              <a:t>student </a:t>
            </a:r>
            <a:r>
              <a:rPr lang="en-US" sz="1700" b="1" dirty="0"/>
              <a:t>natural join </a:t>
            </a:r>
            <a:r>
              <a:rPr lang="en-US" sz="1700" i="1" dirty="0"/>
              <a:t>takes </a:t>
            </a:r>
            <a:r>
              <a:rPr lang="en-US" sz="1700" b="1" dirty="0"/>
              <a:t>natural join </a:t>
            </a:r>
            <a:r>
              <a:rPr lang="en-US" sz="1700" i="1" dirty="0"/>
              <a:t>course</a:t>
            </a:r>
            <a:r>
              <a:rPr lang="en-US" sz="1700" dirty="0"/>
              <a:t>;</a:t>
            </a:r>
          </a:p>
          <a:p>
            <a:pPr lvl="2">
              <a:defRPr/>
            </a:pPr>
            <a:r>
              <a:rPr lang="en-US" sz="1700" dirty="0"/>
              <a:t>This query omits all (student</a:t>
            </a:r>
            <a:r>
              <a:rPr lang="en-US" altLang="zh-TW" sz="1700" dirty="0"/>
              <a:t>.</a:t>
            </a:r>
            <a:r>
              <a:rPr lang="en-US" sz="1700" dirty="0"/>
              <a:t>name, </a:t>
            </a:r>
            <a:r>
              <a:rPr lang="en-US" sz="1700" dirty="0" err="1"/>
              <a:t>course</a:t>
            </a:r>
            <a:r>
              <a:rPr lang="en-US" altLang="zh-TW" sz="1700" dirty="0" err="1"/>
              <a:t>.</a:t>
            </a:r>
            <a:r>
              <a:rPr lang="en-US" sz="1700" dirty="0" err="1"/>
              <a:t>title</a:t>
            </a:r>
            <a:r>
              <a:rPr lang="en-US" sz="1700" dirty="0"/>
              <a:t>) pairs where the student takes a course in a department other than the student‘s own department. </a:t>
            </a:r>
            <a:r>
              <a:rPr lang="en-US" altLang="zh-TW" sz="1600" dirty="0">
                <a:solidFill>
                  <a:schemeClr val="tx2"/>
                </a:solidFill>
                <a:ea typeface="新細明體" panose="02020500000000000000" pitchFamily="18" charset="-120"/>
              </a:rPr>
              <a:t>&lt;- </a:t>
            </a:r>
            <a:r>
              <a:rPr lang="zh-TW" altLang="en-US" sz="1600" dirty="0">
                <a:solidFill>
                  <a:schemeClr val="tx2"/>
                </a:solidFill>
                <a:ea typeface="新細明體" panose="02020500000000000000" pitchFamily="18" charset="-120"/>
              </a:rPr>
              <a:t>錯誤的原因在於多了</a:t>
            </a:r>
            <a:r>
              <a:rPr lang="en-US" altLang="zh-TW" sz="1600" dirty="0" err="1">
                <a:solidFill>
                  <a:schemeClr val="tx2"/>
                </a:solidFill>
                <a:ea typeface="新細明體" panose="02020500000000000000" pitchFamily="18" charset="-120"/>
              </a:rPr>
              <a:t>student.dept_name</a:t>
            </a:r>
            <a:r>
              <a:rPr lang="en-US" altLang="zh-TW" sz="1600" dirty="0">
                <a:solidFill>
                  <a:schemeClr val="tx2"/>
                </a:solidFill>
                <a:ea typeface="新細明體" panose="02020500000000000000" pitchFamily="18" charset="-120"/>
              </a:rPr>
              <a:t>= </a:t>
            </a:r>
            <a:r>
              <a:rPr lang="en-US" altLang="zh-TW" sz="1600" dirty="0" err="1">
                <a:solidFill>
                  <a:schemeClr val="tx2"/>
                </a:solidFill>
                <a:ea typeface="新細明體" panose="02020500000000000000" pitchFamily="18" charset="-120"/>
              </a:rPr>
              <a:t>course.dept_name</a:t>
            </a:r>
            <a:r>
              <a:rPr lang="zh-TW" altLang="en-US" sz="1600" dirty="0">
                <a:solidFill>
                  <a:schemeClr val="tx2"/>
                </a:solidFill>
                <a:ea typeface="新細明體" panose="02020500000000000000" pitchFamily="18" charset="-120"/>
              </a:rPr>
              <a:t>的限制，但</a:t>
            </a:r>
            <a:r>
              <a:rPr lang="en-US" altLang="zh-TW" sz="1600" dirty="0">
                <a:solidFill>
                  <a:schemeClr val="tx2"/>
                </a:solidFill>
                <a:ea typeface="新細明體" panose="02020500000000000000" pitchFamily="18" charset="-120"/>
              </a:rPr>
              <a:t>student</a:t>
            </a:r>
            <a:r>
              <a:rPr lang="zh-TW" altLang="en-US" sz="1600" dirty="0">
                <a:solidFill>
                  <a:schemeClr val="tx2"/>
                </a:solidFill>
                <a:ea typeface="新細明體" panose="02020500000000000000" pitchFamily="18" charset="-120"/>
              </a:rPr>
              <a:t>和</a:t>
            </a:r>
            <a:r>
              <a:rPr lang="en-US" altLang="zh-TW" sz="1600" dirty="0">
                <a:solidFill>
                  <a:schemeClr val="tx2"/>
                </a:solidFill>
                <a:ea typeface="新細明體" panose="02020500000000000000" pitchFamily="18" charset="-120"/>
              </a:rPr>
              <a:t>course</a:t>
            </a:r>
            <a:r>
              <a:rPr lang="zh-TW" altLang="en-US" sz="1600" dirty="0">
                <a:solidFill>
                  <a:schemeClr val="tx2"/>
                </a:solidFill>
                <a:ea typeface="新細明體" panose="02020500000000000000" pitchFamily="18" charset="-120"/>
              </a:rPr>
              <a:t>不需要同一系</a:t>
            </a:r>
            <a:r>
              <a:rPr lang="en-US" altLang="zh-TW" sz="1600" dirty="0">
                <a:solidFill>
                  <a:schemeClr val="tx2"/>
                </a:solidFill>
                <a:ea typeface="新細明體" panose="02020500000000000000" pitchFamily="18" charset="-120"/>
              </a:rPr>
              <a:t>!</a:t>
            </a:r>
            <a:endParaRPr lang="en-US" sz="1700" dirty="0"/>
          </a:p>
          <a:p>
            <a:pPr lvl="2">
              <a:defRPr/>
            </a:pPr>
            <a:r>
              <a:rPr lang="en-US" sz="1700" dirty="0"/>
              <a:t>The  correct  version (above), correctly outputs such pairs.</a:t>
            </a:r>
          </a:p>
          <a:p>
            <a:pPr lvl="1"/>
            <a:endParaRPr lang="en-US" sz="1600" dirty="0"/>
          </a:p>
          <a:p>
            <a:pPr lvl="1"/>
            <a:endParaRPr lang="en-US" altLang="en-US" dirty="0">
              <a:ea typeface="ＭＳ Ｐゴシック" pitchFamily="34" charset="-128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003BE650-56A0-4D93-B0F2-3441CD19AB45}"/>
              </a:ext>
            </a:extLst>
          </p:cNvPr>
          <p:cNvSpPr txBox="1">
            <a:spLocks/>
          </p:cNvSpPr>
          <p:nvPr/>
        </p:nvSpPr>
        <p:spPr bwMode="auto">
          <a:xfrm>
            <a:off x="3978031" y="1586157"/>
            <a:ext cx="4867519" cy="90206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110000"/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85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ts val="1600"/>
              </a:lnSpc>
              <a:buFont typeface="Wingdings" panose="05000000000000000000" pitchFamily="2" charset="2"/>
              <a:buNone/>
            </a:pPr>
            <a:r>
              <a:rPr lang="en-US" altLang="zh-TW" sz="1600" kern="0" dirty="0">
                <a:ea typeface="新細明體" panose="02020500000000000000" pitchFamily="18" charset="-120"/>
              </a:rPr>
              <a:t>student (</a:t>
            </a:r>
            <a:r>
              <a:rPr lang="en-US" altLang="zh-TW" sz="1600" u="sng" kern="0" dirty="0">
                <a:ea typeface="新細明體" panose="02020500000000000000" pitchFamily="18" charset="-120"/>
              </a:rPr>
              <a:t>ID</a:t>
            </a:r>
            <a:r>
              <a:rPr lang="en-US" altLang="zh-TW" sz="1600" kern="0" dirty="0">
                <a:ea typeface="新細明體" panose="02020500000000000000" pitchFamily="18" charset="-120"/>
              </a:rPr>
              <a:t>, name, </a:t>
            </a:r>
            <a:r>
              <a:rPr lang="en-US" altLang="zh-TW" sz="1600" kern="0" dirty="0" err="1">
                <a:ea typeface="新細明體" panose="02020500000000000000" pitchFamily="18" charset="-120"/>
              </a:rPr>
              <a:t>dept_name</a:t>
            </a:r>
            <a:r>
              <a:rPr lang="en-US" altLang="zh-TW" sz="1600" kern="0" dirty="0">
                <a:ea typeface="新細明體" panose="02020500000000000000" pitchFamily="18" charset="-120"/>
              </a:rPr>
              <a:t>, </a:t>
            </a:r>
            <a:r>
              <a:rPr lang="en-US" altLang="zh-TW" sz="1600" kern="0" dirty="0" err="1">
                <a:ea typeface="新細明體" panose="02020500000000000000" pitchFamily="18" charset="-120"/>
              </a:rPr>
              <a:t>tot_cred</a:t>
            </a:r>
            <a:r>
              <a:rPr lang="en-US" altLang="zh-TW" sz="1600" kern="0" dirty="0">
                <a:ea typeface="新細明體" panose="02020500000000000000" pitchFamily="18" charset="-120"/>
              </a:rPr>
              <a:t>)</a:t>
            </a:r>
          </a:p>
          <a:p>
            <a:pPr marL="0" indent="0">
              <a:lnSpc>
                <a:spcPts val="1600"/>
              </a:lnSpc>
              <a:buFont typeface="Wingdings" panose="05000000000000000000" pitchFamily="2" charset="2"/>
              <a:buNone/>
            </a:pPr>
            <a:r>
              <a:rPr lang="en-US" altLang="zh-TW" sz="1600" kern="0" dirty="0">
                <a:ea typeface="新細明體" panose="02020500000000000000" pitchFamily="18" charset="-120"/>
              </a:rPr>
              <a:t>takes (</a:t>
            </a:r>
            <a:r>
              <a:rPr lang="en-US" altLang="zh-TW" sz="1600" u="sng" kern="0" dirty="0">
                <a:ea typeface="新細明體" panose="02020500000000000000" pitchFamily="18" charset="-120"/>
              </a:rPr>
              <a:t>ID, </a:t>
            </a:r>
            <a:r>
              <a:rPr lang="en-US" altLang="zh-TW" sz="1600" u="sng" kern="0" dirty="0" err="1">
                <a:ea typeface="新細明體" panose="02020500000000000000" pitchFamily="18" charset="-120"/>
              </a:rPr>
              <a:t>course_id</a:t>
            </a:r>
            <a:r>
              <a:rPr lang="en-US" altLang="zh-TW" sz="1600" u="sng" kern="0" dirty="0">
                <a:ea typeface="新細明體" panose="02020500000000000000" pitchFamily="18" charset="-120"/>
              </a:rPr>
              <a:t>, </a:t>
            </a:r>
            <a:r>
              <a:rPr lang="en-US" altLang="zh-TW" sz="1600" u="sng" kern="0" dirty="0" err="1">
                <a:ea typeface="新細明體" panose="02020500000000000000" pitchFamily="18" charset="-120"/>
              </a:rPr>
              <a:t>sec_id</a:t>
            </a:r>
            <a:r>
              <a:rPr lang="en-US" altLang="zh-TW" sz="1600" u="sng" kern="0" dirty="0">
                <a:ea typeface="新細明體" panose="02020500000000000000" pitchFamily="18" charset="-120"/>
              </a:rPr>
              <a:t>, semester, year</a:t>
            </a:r>
            <a:r>
              <a:rPr lang="en-US" altLang="zh-TW" sz="1600" kern="0" dirty="0">
                <a:ea typeface="新細明體" panose="02020500000000000000" pitchFamily="18" charset="-120"/>
              </a:rPr>
              <a:t>, grade)</a:t>
            </a:r>
          </a:p>
          <a:p>
            <a:pPr marL="0" indent="0">
              <a:lnSpc>
                <a:spcPts val="1600"/>
              </a:lnSpc>
              <a:buFont typeface="Wingdings" panose="05000000000000000000" pitchFamily="2" charset="2"/>
              <a:buNone/>
            </a:pPr>
            <a:r>
              <a:rPr lang="en-US" altLang="zh-TW" sz="1600" kern="0" dirty="0">
                <a:ea typeface="新細明體" panose="02020500000000000000" pitchFamily="18" charset="-120"/>
              </a:rPr>
              <a:t>course (</a:t>
            </a:r>
            <a:r>
              <a:rPr lang="en-US" altLang="zh-TW" sz="1600" u="sng" kern="0" dirty="0" err="1">
                <a:ea typeface="新細明體" panose="02020500000000000000" pitchFamily="18" charset="-120"/>
              </a:rPr>
              <a:t>course_id</a:t>
            </a:r>
            <a:r>
              <a:rPr lang="en-US" altLang="zh-TW" sz="1600" kern="0" dirty="0">
                <a:ea typeface="新細明體" panose="02020500000000000000" pitchFamily="18" charset="-120"/>
              </a:rPr>
              <a:t>, title, </a:t>
            </a:r>
            <a:r>
              <a:rPr lang="en-US" altLang="zh-TW" sz="1600" kern="0" dirty="0" err="1">
                <a:ea typeface="新細明體" panose="02020500000000000000" pitchFamily="18" charset="-120"/>
              </a:rPr>
              <a:t>dept_name</a:t>
            </a:r>
            <a:r>
              <a:rPr lang="en-US" altLang="zh-TW" sz="1600" kern="0" dirty="0">
                <a:ea typeface="新細明體" panose="02020500000000000000" pitchFamily="18" charset="-120"/>
              </a:rPr>
              <a:t>, credits)</a:t>
            </a:r>
          </a:p>
          <a:p>
            <a:endParaRPr lang="en-US" altLang="zh-TW" sz="1600" kern="0" dirty="0">
              <a:ea typeface="新細明體" panose="02020500000000000000" pitchFamily="18" charset="-120"/>
            </a:endParaRPr>
          </a:p>
          <a:p>
            <a:endParaRPr lang="zh-TW" altLang="en-US" kern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Natural Join with Using Clause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18175"/>
            <a:ext cx="7745334" cy="3014913"/>
          </a:xfrm>
        </p:spPr>
        <p:txBody>
          <a:bodyPr lIns="91440"/>
          <a:lstStyle/>
          <a:p>
            <a:pPr indent="-365760"/>
            <a:r>
              <a:rPr lang="en-US" sz="1700" dirty="0"/>
              <a:t>To avoid the danger of equating attributes erroneously, we can use the “</a:t>
            </a:r>
            <a:r>
              <a:rPr lang="en-US" sz="1700" b="1" dirty="0"/>
              <a:t>using</a:t>
            </a:r>
            <a:r>
              <a:rPr lang="en-US" sz="1700" dirty="0"/>
              <a:t>” construct that allows us to specify exactly which columns should be equated.</a:t>
            </a:r>
          </a:p>
          <a:p>
            <a:pPr indent="-365760"/>
            <a:r>
              <a:rPr lang="en-US" sz="1700" dirty="0"/>
              <a:t>Query example</a:t>
            </a:r>
            <a:endParaRPr lang="en-US" sz="1700" i="1" dirty="0"/>
          </a:p>
          <a:p>
            <a:pPr>
              <a:buNone/>
              <a:defRPr/>
            </a:pPr>
            <a:r>
              <a:rPr lang="en-US" sz="1700" i="1" dirty="0"/>
              <a:t>        </a:t>
            </a:r>
            <a:r>
              <a:rPr lang="en-US" sz="1700" b="1" dirty="0"/>
              <a:t>select </a:t>
            </a:r>
            <a:r>
              <a:rPr lang="en-US" sz="1700" i="1" dirty="0"/>
              <a:t>name</a:t>
            </a:r>
            <a:r>
              <a:rPr lang="en-US" sz="1700" dirty="0"/>
              <a:t>, </a:t>
            </a:r>
            <a:r>
              <a:rPr lang="en-US" sz="1700" i="1" dirty="0"/>
              <a:t>title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from  </a:t>
            </a:r>
            <a:r>
              <a:rPr lang="en-US" sz="1700" dirty="0"/>
              <a:t>(</a:t>
            </a:r>
            <a:r>
              <a:rPr lang="en-US" sz="1700" i="1" dirty="0"/>
              <a:t>student </a:t>
            </a:r>
            <a:r>
              <a:rPr lang="en-US" sz="1700" b="1" dirty="0"/>
              <a:t>natural join </a:t>
            </a:r>
            <a:r>
              <a:rPr lang="en-US" sz="1700" i="1" dirty="0"/>
              <a:t>takes</a:t>
            </a:r>
            <a:r>
              <a:rPr lang="en-US" sz="1700" dirty="0"/>
              <a:t>) </a:t>
            </a:r>
            <a:r>
              <a:rPr lang="en-US" sz="1700" b="1" dirty="0"/>
              <a:t> join </a:t>
            </a:r>
            <a:r>
              <a:rPr lang="en-US" sz="1700" i="1" dirty="0"/>
              <a:t>course</a:t>
            </a:r>
            <a:r>
              <a:rPr lang="en-US" sz="1700" dirty="0"/>
              <a:t> </a:t>
            </a:r>
            <a:r>
              <a:rPr lang="en-US" sz="1700" b="1" dirty="0"/>
              <a:t>using </a:t>
            </a:r>
            <a:r>
              <a:rPr lang="en-US" sz="1700" dirty="0"/>
              <a:t>(</a:t>
            </a:r>
            <a:r>
              <a:rPr lang="en-US" sz="1700" i="1" dirty="0" err="1"/>
              <a:t>course_id</a:t>
            </a:r>
            <a:r>
              <a:rPr lang="en-US" sz="1700" dirty="0"/>
              <a:t>)</a:t>
            </a:r>
          </a:p>
          <a:p>
            <a:pPr>
              <a:buNone/>
              <a:defRPr/>
            </a:pPr>
            <a:endParaRPr lang="en-US" dirty="0"/>
          </a:p>
          <a:p>
            <a:pPr>
              <a:defRPr/>
            </a:pPr>
            <a:r>
              <a:rPr lang="zh-TW" altLang="en-US" dirty="0">
                <a:solidFill>
                  <a:srgbClr val="FF0000"/>
                </a:solidFill>
              </a:rPr>
              <a:t>注意</a:t>
            </a:r>
            <a:r>
              <a:rPr lang="en-US" altLang="zh-TW" dirty="0">
                <a:solidFill>
                  <a:srgbClr val="FF0000"/>
                </a:solidFill>
              </a:rPr>
              <a:t>:</a:t>
            </a:r>
            <a:r>
              <a:rPr lang="zh-TW" altLang="en-US" dirty="0">
                <a:solidFill>
                  <a:srgbClr val="FF0000"/>
                </a:solidFill>
              </a:rPr>
              <a:t> 多個表格進行</a:t>
            </a:r>
            <a:r>
              <a:rPr lang="en-US" altLang="zh-TW" dirty="0">
                <a:solidFill>
                  <a:srgbClr val="FF0000"/>
                </a:solidFill>
              </a:rPr>
              <a:t>join</a:t>
            </a:r>
            <a:r>
              <a:rPr lang="zh-TW" altLang="en-US" dirty="0">
                <a:solidFill>
                  <a:srgbClr val="FF0000"/>
                </a:solidFill>
              </a:rPr>
              <a:t>時，要注意同名的屬性是否意義相同，以及是否要求其值相同的才能配對輸出。</a:t>
            </a:r>
            <a:endParaRPr lang="en-US" sz="1700" dirty="0">
              <a:solidFill>
                <a:srgbClr val="FF0000"/>
              </a:solidFill>
            </a:endParaRPr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Join Condition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0"/>
            <a:ext cx="7621047" cy="4903787"/>
          </a:xfrm>
        </p:spPr>
        <p:txBody>
          <a:bodyPr lIns="91440"/>
          <a:lstStyle/>
          <a:p>
            <a:pPr indent="-365760"/>
            <a:r>
              <a:rPr lang="en-US" sz="1700" dirty="0"/>
              <a:t>The  </a:t>
            </a:r>
            <a:r>
              <a:rPr lang="en-US" sz="1700" b="1" dirty="0"/>
              <a:t>on </a:t>
            </a:r>
            <a:r>
              <a:rPr lang="en-US" sz="1700" dirty="0"/>
              <a:t> condition allows a general predicate over the relations being  joined</a:t>
            </a:r>
          </a:p>
          <a:p>
            <a:pPr indent="-365760"/>
            <a:r>
              <a:rPr lang="en-US" sz="1700" dirty="0"/>
              <a:t>This predicate is written like a </a:t>
            </a:r>
            <a:r>
              <a:rPr lang="en-US" sz="1700" b="1" dirty="0"/>
              <a:t>where</a:t>
            </a:r>
            <a:r>
              <a:rPr lang="en-US" sz="1700" dirty="0"/>
              <a:t> clause predicate except for the use of the keyword </a:t>
            </a:r>
            <a:r>
              <a:rPr lang="en-US" sz="1700" b="1" dirty="0"/>
              <a:t>on</a:t>
            </a:r>
          </a:p>
          <a:p>
            <a:pPr indent="-365760"/>
            <a:r>
              <a:rPr lang="en-US" sz="1700" dirty="0"/>
              <a:t>Query example</a:t>
            </a:r>
            <a:endParaRPr lang="en-US" sz="1700" i="1" dirty="0"/>
          </a:p>
          <a:p>
            <a:pPr>
              <a:buNone/>
              <a:defRPr/>
            </a:pPr>
            <a:r>
              <a:rPr lang="en-US" sz="1700" b="1" dirty="0"/>
              <a:t>          select *</a:t>
            </a:r>
            <a:br>
              <a:rPr lang="en-US" sz="1700" i="1" dirty="0"/>
            </a:br>
            <a:r>
              <a:rPr lang="en-US" sz="1700" i="1" dirty="0"/>
              <a:t>     </a:t>
            </a:r>
            <a:r>
              <a:rPr lang="en-US" sz="1700" b="1" dirty="0"/>
              <a:t>from  </a:t>
            </a:r>
            <a:r>
              <a:rPr lang="en-US" sz="1700" i="1" dirty="0"/>
              <a:t>student </a:t>
            </a:r>
            <a:r>
              <a:rPr lang="en-US" sz="1700" b="1" dirty="0"/>
              <a:t>join </a:t>
            </a:r>
            <a:r>
              <a:rPr lang="en-US" sz="1700" i="1" dirty="0"/>
              <a:t>takes</a:t>
            </a:r>
            <a:r>
              <a:rPr lang="en-US" sz="1700" dirty="0"/>
              <a:t> </a:t>
            </a:r>
            <a:r>
              <a:rPr lang="en-US" sz="1700" b="1" dirty="0"/>
              <a:t>on </a:t>
            </a:r>
            <a:r>
              <a:rPr lang="en-US" sz="1700" i="1" dirty="0"/>
              <a:t>student</a:t>
            </a:r>
            <a:r>
              <a:rPr lang="en-US" altLang="zh-TW" sz="1700" i="1" dirty="0"/>
              <a:t>.</a:t>
            </a:r>
            <a:r>
              <a:rPr lang="en-US" sz="1700" i="1" dirty="0"/>
              <a:t>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/>
              <a:t>takes</a:t>
            </a:r>
            <a:r>
              <a:rPr lang="en-US" altLang="zh-TW" sz="1700" i="1" dirty="0"/>
              <a:t>.</a:t>
            </a:r>
            <a:r>
              <a:rPr lang="en-US" sz="1700" i="1" dirty="0"/>
              <a:t>ID</a:t>
            </a:r>
          </a:p>
          <a:p>
            <a:pPr lvl="1">
              <a:defRPr/>
            </a:pPr>
            <a:r>
              <a:rPr lang="en-US" sz="1700" dirty="0"/>
              <a:t>The </a:t>
            </a:r>
            <a:r>
              <a:rPr lang="en-US" sz="1700" b="1" dirty="0"/>
              <a:t>on</a:t>
            </a:r>
            <a:r>
              <a:rPr lang="en-US" sz="1700" dirty="0"/>
              <a:t> condition above specifies that a tuple from </a:t>
            </a:r>
            <a:r>
              <a:rPr lang="en-US" sz="1700" i="1" dirty="0"/>
              <a:t>student</a:t>
            </a:r>
            <a:r>
              <a:rPr lang="en-US" sz="1700" dirty="0"/>
              <a:t> matches a tuple from </a:t>
            </a:r>
            <a:r>
              <a:rPr lang="en-US" sz="1700" i="1" dirty="0"/>
              <a:t>takes</a:t>
            </a:r>
            <a:r>
              <a:rPr lang="en-US" sz="1700" dirty="0"/>
              <a:t> if their </a:t>
            </a:r>
            <a:r>
              <a:rPr lang="en-US" sz="1700" i="1" dirty="0"/>
              <a:t>ID</a:t>
            </a:r>
            <a:r>
              <a:rPr lang="en-US" sz="1700" dirty="0"/>
              <a:t> values are equal.</a:t>
            </a:r>
          </a:p>
          <a:p>
            <a:pPr>
              <a:defRPr/>
            </a:pPr>
            <a:r>
              <a:rPr lang="en-US" sz="1700" dirty="0"/>
              <a:t>Equivalent to:</a:t>
            </a:r>
          </a:p>
          <a:p>
            <a:pPr>
              <a:buNone/>
              <a:defRPr/>
            </a:pPr>
            <a:r>
              <a:rPr lang="en-US" sz="1700" b="1" dirty="0"/>
              <a:t>             select *</a:t>
            </a:r>
            <a:br>
              <a:rPr lang="en-US" sz="1700" i="1" dirty="0"/>
            </a:br>
            <a:r>
              <a:rPr lang="en-US" sz="1700" i="1" dirty="0"/>
              <a:t>        </a:t>
            </a:r>
            <a:r>
              <a:rPr lang="en-US" sz="1700" b="1" dirty="0"/>
              <a:t>from  </a:t>
            </a:r>
            <a:r>
              <a:rPr lang="en-US" sz="1700" i="1" dirty="0"/>
              <a:t>student , takes</a:t>
            </a:r>
            <a:r>
              <a:rPr lang="en-US" sz="1700" dirty="0"/>
              <a:t> </a:t>
            </a:r>
            <a:br>
              <a:rPr lang="en-US" sz="1700" i="1" dirty="0"/>
            </a:br>
            <a:r>
              <a:rPr lang="en-US" sz="1700" i="1" dirty="0"/>
              <a:t>        </a:t>
            </a:r>
            <a:r>
              <a:rPr lang="en-US" sz="1700" b="1" dirty="0"/>
              <a:t>where  </a:t>
            </a:r>
            <a:r>
              <a:rPr lang="en-US" sz="1700" i="1" dirty="0"/>
              <a:t>student</a:t>
            </a:r>
            <a:r>
              <a:rPr lang="en-US" altLang="zh-TW" sz="1700" i="1" dirty="0"/>
              <a:t>.</a:t>
            </a:r>
            <a:r>
              <a:rPr lang="en-US" sz="1700" i="1" dirty="0"/>
              <a:t>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/>
              <a:t>takes</a:t>
            </a:r>
            <a:r>
              <a:rPr lang="en-US" altLang="zh-TW" sz="1700" i="1" dirty="0"/>
              <a:t>.</a:t>
            </a:r>
            <a:r>
              <a:rPr lang="en-US" sz="1700" i="1" dirty="0"/>
              <a:t>ID</a:t>
            </a:r>
            <a:endParaRPr lang="en-US" sz="1700" dirty="0"/>
          </a:p>
          <a:p>
            <a:pPr>
              <a:defRPr/>
            </a:pPr>
            <a:r>
              <a:rPr lang="zh-TW" altLang="en-US" dirty="0">
                <a:solidFill>
                  <a:srgbClr val="FF0000"/>
                </a:solidFill>
              </a:rPr>
              <a:t>注意</a:t>
            </a:r>
            <a:r>
              <a:rPr lang="en-US" altLang="zh-TW" dirty="0">
                <a:solidFill>
                  <a:srgbClr val="FF0000"/>
                </a:solidFill>
              </a:rPr>
              <a:t>: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on</a:t>
            </a:r>
            <a:r>
              <a:rPr lang="zh-TW" altLang="en-US" dirty="0">
                <a:solidFill>
                  <a:srgbClr val="FF0000"/>
                </a:solidFill>
              </a:rPr>
              <a:t>後面不要寫個別屬性值的限制</a:t>
            </a:r>
            <a:endParaRPr lang="en-US" dirty="0">
              <a:solidFill>
                <a:srgbClr val="FF0000"/>
              </a:solidFill>
            </a:endParaRPr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Outer Join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570979" cy="3779419"/>
          </a:xfrm>
        </p:spPr>
        <p:txBody>
          <a:bodyPr/>
          <a:lstStyle/>
          <a:p>
            <a:r>
              <a:rPr lang="en-US" altLang="en-US" sz="1700" dirty="0"/>
              <a:t>An extension of the join operation that avoids loss of information.</a:t>
            </a:r>
          </a:p>
          <a:p>
            <a:r>
              <a:rPr lang="en-US" altLang="en-US" sz="1700" dirty="0"/>
              <a:t>Computes the join and then adds tuples form one relation that does not match tuples in the other relation to the result of the join. </a:t>
            </a:r>
          </a:p>
          <a:p>
            <a:r>
              <a:rPr lang="en-US" altLang="en-US" sz="1700" dirty="0"/>
              <a:t>Uses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 values.</a:t>
            </a:r>
          </a:p>
          <a:p>
            <a:r>
              <a:rPr lang="en-US" altLang="en-US" sz="1700" dirty="0"/>
              <a:t>Three forms of outer join:</a:t>
            </a:r>
          </a:p>
          <a:p>
            <a:pPr lvl="1"/>
            <a:r>
              <a:rPr lang="en-US" altLang="en-US" sz="1700" dirty="0"/>
              <a:t>left outer join</a:t>
            </a:r>
          </a:p>
          <a:p>
            <a:pPr lvl="1"/>
            <a:r>
              <a:rPr lang="en-US" altLang="en-US" sz="1700" dirty="0"/>
              <a:t>right outer join</a:t>
            </a:r>
          </a:p>
          <a:p>
            <a:pPr lvl="1"/>
            <a:r>
              <a:rPr lang="en-US" altLang="en-US" sz="1700" dirty="0"/>
              <a:t>full outer join</a:t>
            </a:r>
          </a:p>
          <a:p>
            <a:r>
              <a:rPr lang="zh-TW" altLang="en-US" dirty="0">
                <a:ea typeface="ＭＳ Ｐゴシック" panose="020B0600070205080204" pitchFamily="34" charset="-128"/>
              </a:rPr>
              <a:t>為了對照之用，</a:t>
            </a:r>
            <a:r>
              <a:rPr lang="en-US" altLang="zh-TW" dirty="0">
                <a:ea typeface="ＭＳ Ｐゴシック" panose="020B0600070205080204" pitchFamily="34" charset="-128"/>
              </a:rPr>
              <a:t>the join operations we studied earlier that do not preserve </a:t>
            </a:r>
            <a:r>
              <a:rPr lang="en-US" altLang="zh-TW" dirty="0" err="1">
                <a:ea typeface="ＭＳ Ｐゴシック" panose="020B0600070205080204" pitchFamily="34" charset="-128"/>
              </a:rPr>
              <a:t>nonmatched</a:t>
            </a:r>
            <a:r>
              <a:rPr lang="en-US" altLang="zh-TW" dirty="0">
                <a:ea typeface="ＭＳ Ｐゴシック" panose="020B0600070205080204" pitchFamily="34" charset="-128"/>
              </a:rPr>
              <a:t> tuples are called </a:t>
            </a:r>
            <a:r>
              <a:rPr lang="en-US" altLang="zh-TW" b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inner join </a:t>
            </a:r>
            <a:r>
              <a:rPr lang="en-US" altLang="zh-TW" dirty="0">
                <a:ea typeface="ＭＳ Ｐゴシック" panose="020B0600070205080204" pitchFamily="34" charset="-128"/>
              </a:rPr>
              <a:t>operations. </a:t>
            </a:r>
          </a:p>
          <a:p>
            <a:pPr lvl="1"/>
            <a:endParaRPr lang="en-US" alt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Outer Join </a:t>
            </a:r>
            <a:r>
              <a:rPr lang="en-US" altLang="en-US" sz="2800" dirty="0">
                <a:ea typeface="+mj-ea"/>
              </a:rPr>
              <a:t>Examples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437" y="1117779"/>
            <a:ext cx="7750843" cy="4876800"/>
          </a:xfrm>
        </p:spPr>
        <p:txBody>
          <a:bodyPr/>
          <a:lstStyle/>
          <a:p>
            <a:r>
              <a:rPr lang="en-US" altLang="en-US" sz="1700" dirty="0"/>
              <a:t>Relation </a:t>
            </a:r>
            <a:r>
              <a:rPr lang="en-US" altLang="en-US" sz="1700" i="1" dirty="0"/>
              <a:t>course</a:t>
            </a:r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pPr>
              <a:buNone/>
            </a:pPr>
            <a:endParaRPr lang="en-US" altLang="en-US" sz="1700" i="1" dirty="0"/>
          </a:p>
          <a:p>
            <a:pPr>
              <a:buNone/>
            </a:pPr>
            <a:endParaRPr lang="en-US" altLang="en-US" sz="1700" i="1" dirty="0"/>
          </a:p>
          <a:p>
            <a:r>
              <a:rPr lang="en-US" altLang="en-US" sz="1700" dirty="0"/>
              <a:t>Relation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r>
              <a:rPr lang="en-US" altLang="en-US" sz="1700" dirty="0"/>
              <a:t>Observe that </a:t>
            </a:r>
          </a:p>
          <a:p>
            <a:pPr>
              <a:buClr>
                <a:schemeClr val="tx2"/>
              </a:buClr>
              <a:buNone/>
            </a:pPr>
            <a:r>
              <a:rPr lang="en-US" altLang="en-US" sz="1700" i="1" dirty="0"/>
              <a:t>              course </a:t>
            </a:r>
            <a:r>
              <a:rPr lang="en-US" altLang="en-US" sz="1700" dirty="0"/>
              <a:t>information is missing CS-437</a:t>
            </a:r>
          </a:p>
          <a:p>
            <a:pPr>
              <a:buClr>
                <a:schemeClr val="tx2"/>
              </a:buClr>
              <a:buNone/>
            </a:pPr>
            <a:r>
              <a:rPr lang="en-US" altLang="en-US" sz="1700" i="1" dirty="0"/>
              <a:t>             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dirty="0"/>
              <a:t>information is missing CS-315</a:t>
            </a:r>
          </a:p>
          <a:p>
            <a:pPr>
              <a:buClr>
                <a:schemeClr val="tx2"/>
              </a:buClr>
              <a:buNone/>
            </a:pPr>
            <a:r>
              <a:rPr lang="en-US" altLang="en-US" sz="800" dirty="0"/>
              <a:t> </a:t>
            </a:r>
          </a:p>
          <a:p>
            <a:pPr>
              <a:buSzTx/>
            </a:pPr>
            <a:r>
              <a:rPr lang="en-US" altLang="en-US" i="1" dirty="0"/>
              <a:t> </a:t>
            </a:r>
            <a:r>
              <a:rPr lang="en-US" altLang="zh-TW" sz="1600" dirty="0"/>
              <a:t>course     </a:t>
            </a:r>
            <a:r>
              <a:rPr lang="en-US" altLang="zh-TW" sz="1600" dirty="0" err="1"/>
              <a:t>prereq</a:t>
            </a:r>
            <a:r>
              <a:rPr lang="en-US" altLang="zh-TW" sz="1600" dirty="0"/>
              <a:t> </a:t>
            </a:r>
            <a:r>
              <a:rPr lang="zh-TW" altLang="en-US" sz="1600" dirty="0"/>
              <a:t>會沒有</a:t>
            </a:r>
            <a:r>
              <a:rPr lang="en-US" altLang="zh-TW" sz="1600" dirty="0"/>
              <a:t>CS-315</a:t>
            </a:r>
            <a:r>
              <a:rPr lang="zh-TW" altLang="en-US" sz="1600" dirty="0"/>
              <a:t>和</a:t>
            </a:r>
            <a:r>
              <a:rPr lang="en-US" altLang="zh-TW" sz="1600" dirty="0"/>
              <a:t>CS-437</a:t>
            </a:r>
            <a:r>
              <a:rPr lang="zh-TW" altLang="en-US" sz="1600" dirty="0"/>
              <a:t>的任何資料</a:t>
            </a:r>
            <a:r>
              <a:rPr lang="en-US" altLang="zh-TW" sz="1600" dirty="0"/>
              <a:t>.</a:t>
            </a:r>
          </a:p>
          <a:p>
            <a:pPr marL="0" indent="0">
              <a:buNone/>
            </a:pPr>
            <a:endParaRPr lang="en-US" altLang="en-US" sz="2000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744" y="1658112"/>
            <a:ext cx="3745294" cy="1060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816" y="3401568"/>
            <a:ext cx="1929043" cy="1069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4"/>
          <p:cNvSpPr>
            <a:spLocks noChangeArrowheads="1"/>
          </p:cNvSpPr>
          <p:nvPr/>
        </p:nvSpPr>
        <p:spPr bwMode="auto">
          <a:xfrm rot="16200000" flipV="1">
            <a:off x="1931255" y="5994579"/>
            <a:ext cx="1524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2800" dirty="0"/>
              <a:t>Example of </a:t>
            </a:r>
            <a:r>
              <a:rPr lang="en-US" sz="2800" dirty="0"/>
              <a:t>Left/Right Outer Join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dirty="0"/>
              <a:t> </a:t>
            </a:r>
            <a:r>
              <a:rPr lang="en-US" altLang="en-US" sz="1700" b="1" dirty="0"/>
              <a:t>natural left outer join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 marL="685800" lvl="2" indent="-342900">
              <a:buClr>
                <a:srgbClr val="002060"/>
              </a:buClr>
            </a:pPr>
            <a:r>
              <a:rPr lang="zh-TW" altLang="en-US" sz="1800" dirty="0"/>
              <a:t>注意</a:t>
            </a:r>
            <a:r>
              <a:rPr lang="en-US" altLang="zh-TW" sz="1800" dirty="0"/>
              <a:t>: </a:t>
            </a:r>
            <a:r>
              <a:rPr lang="en-US" altLang="zh-TW" sz="1800" i="1" dirty="0"/>
              <a:t> “</a:t>
            </a:r>
            <a:r>
              <a:rPr lang="en-US" altLang="zh-TW" sz="1800" b="1" dirty="0">
                <a:solidFill>
                  <a:srgbClr val="000099"/>
                </a:solidFill>
              </a:rPr>
              <a:t>natural”</a:t>
            </a:r>
            <a:r>
              <a:rPr lang="zh-TW" altLang="en-US" sz="1800" dirty="0"/>
              <a:t>會要求兩個</a:t>
            </a:r>
            <a:r>
              <a:rPr lang="en-US" altLang="zh-TW" sz="1800" dirty="0"/>
              <a:t>relation</a:t>
            </a:r>
            <a:r>
              <a:rPr lang="zh-TW" altLang="en-US" sz="1800" dirty="0"/>
              <a:t>的</a:t>
            </a:r>
            <a:r>
              <a:rPr lang="zh-TW" altLang="en-US" sz="1800" u="sng" dirty="0"/>
              <a:t>共同屬性</a:t>
            </a:r>
            <a:r>
              <a:rPr lang="zh-TW" altLang="en-US" sz="1800" dirty="0"/>
              <a:t>其值相等</a:t>
            </a:r>
            <a:r>
              <a:rPr lang="en-US" altLang="zh-TW" sz="1800" dirty="0"/>
              <a:t>. </a:t>
            </a:r>
            <a:endParaRPr lang="en-US" altLang="zh-TW" sz="1800" i="1" dirty="0"/>
          </a:p>
          <a:p>
            <a:pPr marL="0" lvl="1" indent="0">
              <a:buClr>
                <a:srgbClr val="002060"/>
              </a:buClr>
              <a:buNone/>
            </a:pPr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1802616"/>
            <a:ext cx="5316318" cy="1207126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53895062-34F6-494B-9670-36BE7660C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3764264"/>
            <a:ext cx="7750843" cy="2082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110000"/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85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en-US" i="1" kern="0" dirty="0"/>
              <a:t>course</a:t>
            </a:r>
            <a:r>
              <a:rPr lang="en-US" altLang="en-US" kern="0" dirty="0"/>
              <a:t> </a:t>
            </a:r>
            <a:r>
              <a:rPr lang="en-US" altLang="en-US" b="1" kern="0" dirty="0"/>
              <a:t>natural right outer join</a:t>
            </a:r>
            <a:r>
              <a:rPr lang="en-US" altLang="en-US" kern="0" dirty="0"/>
              <a:t> </a:t>
            </a:r>
            <a:r>
              <a:rPr lang="en-US" altLang="en-US" i="1" kern="0" dirty="0" err="1"/>
              <a:t>prereq</a:t>
            </a:r>
            <a:endParaRPr lang="en-US" altLang="en-US" kern="0" dirty="0"/>
          </a:p>
          <a:p>
            <a:endParaRPr lang="en-US" altLang="en-US" kern="0" dirty="0"/>
          </a:p>
          <a:p>
            <a:endParaRPr lang="en-US" altLang="en-US" kern="0" dirty="0"/>
          </a:p>
          <a:p>
            <a:endParaRPr lang="en-US" altLang="en-US" kern="0" dirty="0"/>
          </a:p>
          <a:p>
            <a:endParaRPr lang="en-US" altLang="en-US" kern="0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kern="0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9115F8CB-F314-473F-A3F4-17403912B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963" y="4187506"/>
            <a:ext cx="5444073" cy="12361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Full Outer Join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natural full outer join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i="1" dirty="0" err="1"/>
              <a:t>prereq</a:t>
            </a:r>
            <a:endParaRPr lang="en-US" altLang="en-US" sz="1700" i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endParaRPr lang="en-US" altLang="en-US" sz="1700" dirty="0"/>
          </a:p>
          <a:p>
            <a:r>
              <a:rPr lang="zh-TW" altLang="en-US" sz="1700" dirty="0"/>
              <a:t>注意</a:t>
            </a:r>
            <a:r>
              <a:rPr lang="en-US" altLang="zh-TW" sz="1700" dirty="0"/>
              <a:t>:</a:t>
            </a:r>
            <a:r>
              <a:rPr lang="zh-TW" altLang="en-US" sz="1700" dirty="0"/>
              <a:t> 有些軟體不支援</a:t>
            </a:r>
            <a:r>
              <a:rPr lang="en-US" altLang="zh-TW" sz="1700" dirty="0"/>
              <a:t>full outer join</a:t>
            </a:r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550" y="1698292"/>
            <a:ext cx="5046366" cy="13812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Joined Types and Conditions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436865" cy="2246312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Join operations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take two relations and return as a result another relation.</a:t>
            </a:r>
          </a:p>
          <a:p>
            <a:r>
              <a:rPr lang="en-US" altLang="en-US" sz="1700" dirty="0"/>
              <a:t>These additional operations are typically used as subquery expressions in 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Join condition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defines which tuples in the two relations match</a:t>
            </a:r>
            <a:r>
              <a:rPr lang="en-US" altLang="zh-TW" sz="1700" dirty="0"/>
              <a:t>,</a:t>
            </a:r>
            <a:r>
              <a:rPr lang="zh-TW" altLang="en-US" sz="1700" dirty="0"/>
              <a:t> </a:t>
            </a:r>
            <a:r>
              <a:rPr lang="en-US" altLang="zh-TW" dirty="0"/>
              <a:t>and what attributes are present in the result of the join.</a:t>
            </a:r>
            <a:endParaRPr lang="en-US" altLang="en-US" sz="1700" dirty="0"/>
          </a:p>
          <a:p>
            <a:r>
              <a:rPr lang="en-US" altLang="en-US" sz="1700" b="1" dirty="0">
                <a:solidFill>
                  <a:srgbClr val="002060"/>
                </a:solidFill>
              </a:rPr>
              <a:t>Join type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defines how tuples in each relation that do not match any tuple in the other relation (based on the join condition) are treated.</a:t>
            </a:r>
          </a:p>
          <a:p>
            <a:endParaRPr lang="en-US" altLang="en-US" dirty="0"/>
          </a:p>
          <a:p>
            <a:endParaRPr lang="en-US" altLang="en-US" sz="1700" dirty="0"/>
          </a:p>
          <a:p>
            <a:endParaRPr lang="en-US" altLang="en-US" dirty="0"/>
          </a:p>
          <a:p>
            <a:endParaRPr lang="en-US" altLang="en-US" sz="1700" dirty="0"/>
          </a:p>
          <a:p>
            <a:endParaRPr lang="en-US" altLang="en-US" dirty="0"/>
          </a:p>
          <a:p>
            <a:r>
              <a:rPr lang="zh-TW" altLang="en-US" dirty="0">
                <a:ea typeface="ＭＳ Ｐゴシック" panose="020B0600070205080204" pitchFamily="34" charset="-128"/>
              </a:rPr>
              <a:t>各軟體的功能不盡相同，大部分的軟體支援 </a:t>
            </a:r>
            <a:r>
              <a:rPr lang="en-US" altLang="zh-TW" dirty="0">
                <a:ea typeface="ＭＳ Ｐゴシック" panose="020B0600070205080204" pitchFamily="34" charset="-128"/>
              </a:rPr>
              <a:t>(inner, left outer, right outer) join + on &lt;predicate&gt;</a:t>
            </a:r>
          </a:p>
          <a:p>
            <a:endParaRPr lang="en-US" altLang="en-US" sz="1700" dirty="0"/>
          </a:p>
        </p:txBody>
      </p:sp>
      <p:pic>
        <p:nvPicPr>
          <p:cNvPr id="1026" name="Picture 2" descr="C:\Users\as668\Desktop\4_0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88750" y="3622782"/>
            <a:ext cx="4840315" cy="13667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Joined Relations – Examples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b="1" dirty="0"/>
              <a:t> natural right outer join </a:t>
            </a:r>
            <a:r>
              <a:rPr lang="en-US" altLang="en-US" sz="1700" i="1" dirty="0" err="1"/>
              <a:t>prereq</a:t>
            </a:r>
            <a:endParaRPr lang="en-US" altLang="en-US" sz="1700" b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r>
              <a:rPr lang="en-US" altLang="en-US" sz="1700" i="1" dirty="0"/>
              <a:t>course</a:t>
            </a:r>
            <a:r>
              <a:rPr lang="en-US" altLang="en-US" sz="1700" b="1" dirty="0"/>
              <a:t> full outer join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using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</a:t>
            </a:r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360" y="1653927"/>
            <a:ext cx="4739672" cy="11351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704" y="3448857"/>
            <a:ext cx="4464092" cy="12893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Joined Relations – Examples 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 </a:t>
            </a:r>
            <a:r>
              <a:rPr lang="en-US" altLang="en-US" sz="1700" b="1" dirty="0"/>
              <a:t>inner join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on</a:t>
            </a:r>
            <a:br>
              <a:rPr lang="en-US" altLang="en-US" sz="1700" b="1" dirty="0"/>
            </a:b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= </a:t>
            </a:r>
            <a:r>
              <a:rPr lang="en-US" altLang="en-US" sz="1700" i="1" dirty="0" err="1"/>
              <a:t>prereq.course_id</a:t>
            </a:r>
            <a:endParaRPr lang="en-US" altLang="en-US" sz="1700" i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endParaRPr lang="en-US" altLang="en-US" sz="1700" dirty="0"/>
          </a:p>
          <a:p>
            <a:r>
              <a:rPr lang="en-US" altLang="en-US" sz="1700" dirty="0"/>
              <a:t>What is the difference between the above, and a natural join? </a:t>
            </a:r>
          </a:p>
          <a:p>
            <a:r>
              <a:rPr lang="en-US" altLang="en-US" sz="1700" i="1" dirty="0"/>
              <a:t>course </a:t>
            </a:r>
            <a:r>
              <a:rPr lang="en-US" altLang="en-US" sz="1700" b="1" dirty="0"/>
              <a:t>left outer join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on</a:t>
            </a:r>
            <a:r>
              <a:rPr lang="en-US" altLang="en-US" b="1" i="1" dirty="0"/>
              <a:t> </a:t>
            </a: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= </a:t>
            </a:r>
            <a:r>
              <a:rPr lang="en-US" altLang="en-US" sz="1700" i="1" dirty="0" err="1"/>
              <a:t>prereq.course_id</a:t>
            </a:r>
            <a:endParaRPr lang="en-US" altLang="en-US" sz="1700" i="1" dirty="0"/>
          </a:p>
          <a:p>
            <a:endParaRPr lang="en-US" altLang="en-US" i="1" dirty="0"/>
          </a:p>
          <a:p>
            <a:endParaRPr lang="en-US" altLang="en-US" sz="1700" i="1" dirty="0"/>
          </a:p>
          <a:p>
            <a:endParaRPr lang="en-US" altLang="en-US" i="1" dirty="0"/>
          </a:p>
          <a:p>
            <a:endParaRPr lang="en-US" altLang="en-US" sz="1700" i="1" dirty="0"/>
          </a:p>
          <a:p>
            <a:endParaRPr kumimoji="0" lang="en-US" altLang="zh-TW" sz="1600" dirty="0"/>
          </a:p>
          <a:p>
            <a:r>
              <a:rPr kumimoji="0" lang="zh-TW" altLang="en-US" sz="1600" dirty="0"/>
              <a:t>注意</a:t>
            </a:r>
            <a:r>
              <a:rPr kumimoji="0" lang="en-US" altLang="zh-TW" sz="1600" dirty="0"/>
              <a:t>: The joined relations are used as subquery expressions in the </a:t>
            </a:r>
            <a:r>
              <a:rPr kumimoji="0" lang="en-US" altLang="zh-TW" sz="1600" b="1" dirty="0"/>
              <a:t>from </a:t>
            </a:r>
            <a:r>
              <a:rPr kumimoji="0" lang="en-US" altLang="zh-TW" sz="1600" dirty="0"/>
              <a:t>clause</a:t>
            </a:r>
          </a:p>
          <a:p>
            <a:endParaRPr lang="en-US" altLang="en-US" sz="1700" i="1" dirty="0"/>
          </a:p>
          <a:p>
            <a:pPr>
              <a:buNone/>
            </a:pPr>
            <a:r>
              <a:rPr lang="en-US" altLang="en-US" sz="1700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2034722"/>
            <a:ext cx="5524216" cy="8289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998" y="4263486"/>
            <a:ext cx="5483156" cy="102853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38E736E-E80E-42A8-96B4-BF6048E731EE}"/>
              </a:ext>
            </a:extLst>
          </p:cNvPr>
          <p:cNvSpPr txBox="1"/>
          <p:nvPr/>
        </p:nvSpPr>
        <p:spPr>
          <a:xfrm>
            <a:off x="6936399" y="1450950"/>
            <a:ext cx="177437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prereq.course_id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2CAEE7C-6ED5-4AEA-B607-A6150FE65B50}"/>
              </a:ext>
            </a:extLst>
          </p:cNvPr>
          <p:cNvSpPr txBox="1"/>
          <p:nvPr/>
        </p:nvSpPr>
        <p:spPr>
          <a:xfrm>
            <a:off x="259691" y="1789504"/>
            <a:ext cx="177437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course.course_id</a:t>
            </a:r>
            <a:endParaRPr lang="zh-TW" altLang="en-US" dirty="0"/>
          </a:p>
        </p:txBody>
      </p:sp>
      <p:sp>
        <p:nvSpPr>
          <p:cNvPr id="9" name="箭號: 上彎 8">
            <a:extLst>
              <a:ext uri="{FF2B5EF4-FFF2-40B4-BE49-F238E27FC236}">
                <a16:creationId xmlns:a16="http://schemas.microsoft.com/office/drawing/2014/main" id="{8E38339A-73B8-4610-8E64-E1DA0CE92871}"/>
              </a:ext>
            </a:extLst>
          </p:cNvPr>
          <p:cNvSpPr/>
          <p:nvPr/>
        </p:nvSpPr>
        <p:spPr bwMode="auto">
          <a:xfrm rot="5400000">
            <a:off x="1600150" y="3967776"/>
            <a:ext cx="237739" cy="829160"/>
          </a:xfrm>
          <a:prstGeom prst="bent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0" name="箭號: 上彎 9">
            <a:extLst>
              <a:ext uri="{FF2B5EF4-FFF2-40B4-BE49-F238E27FC236}">
                <a16:creationId xmlns:a16="http://schemas.microsoft.com/office/drawing/2014/main" id="{2E46F6B2-CF6A-4EAF-9C4D-9BACAD0B5414}"/>
              </a:ext>
            </a:extLst>
          </p:cNvPr>
          <p:cNvSpPr/>
          <p:nvPr/>
        </p:nvSpPr>
        <p:spPr bwMode="auto">
          <a:xfrm rot="16200000" flipH="1">
            <a:off x="7730060" y="1871356"/>
            <a:ext cx="409606" cy="463230"/>
          </a:xfrm>
          <a:prstGeom prst="bentUpArrow">
            <a:avLst>
              <a:gd name="adj1" fmla="val 26619"/>
              <a:gd name="adj2" fmla="val 25000"/>
              <a:gd name="adj3" fmla="val 1858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5540DF8-44A9-48AC-B077-F9D0BBE48CE8}"/>
              </a:ext>
            </a:extLst>
          </p:cNvPr>
          <p:cNvSpPr txBox="1"/>
          <p:nvPr/>
        </p:nvSpPr>
        <p:spPr>
          <a:xfrm>
            <a:off x="233880" y="4008274"/>
            <a:ext cx="177437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course.course_id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DCD34BD-1307-4A7C-830D-561ABE983BC9}"/>
              </a:ext>
            </a:extLst>
          </p:cNvPr>
          <p:cNvSpPr txBox="1"/>
          <p:nvPr/>
        </p:nvSpPr>
        <p:spPr>
          <a:xfrm>
            <a:off x="7152780" y="3838997"/>
            <a:ext cx="177437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prereq.course_id</a:t>
            </a:r>
            <a:endParaRPr lang="zh-TW" altLang="en-US" dirty="0"/>
          </a:p>
        </p:txBody>
      </p:sp>
      <p:sp>
        <p:nvSpPr>
          <p:cNvPr id="14" name="箭號: 上彎 13">
            <a:extLst>
              <a:ext uri="{FF2B5EF4-FFF2-40B4-BE49-F238E27FC236}">
                <a16:creationId xmlns:a16="http://schemas.microsoft.com/office/drawing/2014/main" id="{BBEB9E28-51CE-4A83-B515-A781C23C5326}"/>
              </a:ext>
            </a:extLst>
          </p:cNvPr>
          <p:cNvSpPr/>
          <p:nvPr/>
        </p:nvSpPr>
        <p:spPr bwMode="auto">
          <a:xfrm rot="16200000" flipH="1">
            <a:off x="7682364" y="4111626"/>
            <a:ext cx="409606" cy="463230"/>
          </a:xfrm>
          <a:prstGeom prst="bentUpArrow">
            <a:avLst>
              <a:gd name="adj1" fmla="val 26619"/>
              <a:gd name="adj2" fmla="val 25000"/>
              <a:gd name="adj3" fmla="val 1858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5" name="箭號: 上彎 14">
            <a:extLst>
              <a:ext uri="{FF2B5EF4-FFF2-40B4-BE49-F238E27FC236}">
                <a16:creationId xmlns:a16="http://schemas.microsoft.com/office/drawing/2014/main" id="{80B8D3BC-4FF6-4F6F-9F74-16F4E6BD77EC}"/>
              </a:ext>
            </a:extLst>
          </p:cNvPr>
          <p:cNvSpPr/>
          <p:nvPr/>
        </p:nvSpPr>
        <p:spPr bwMode="auto">
          <a:xfrm rot="5400000">
            <a:off x="1577434" y="1788073"/>
            <a:ext cx="237739" cy="829160"/>
          </a:xfrm>
          <a:prstGeom prst="bent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練習</a:t>
            </a:r>
          </a:p>
        </p:txBody>
      </p:sp>
      <p:sp>
        <p:nvSpPr>
          <p:cNvPr id="2150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Find the course_ids and sec_ids which were offered by an instructor named “Einstein”,  using the “inner join” expression.</a:t>
            </a:r>
          </a:p>
          <a:p>
            <a:pPr>
              <a:buFont typeface="Monotype Sorts" pitchFamily="2" charset="2"/>
              <a:buNone/>
            </a:pPr>
            <a:r>
              <a:rPr lang="en-US" altLang="zh-TW">
                <a:ea typeface="新細明體" panose="02020500000000000000" pitchFamily="18" charset="-120"/>
              </a:rPr>
              <a:t>Answer: </a:t>
            </a:r>
          </a:p>
          <a:p>
            <a:pPr>
              <a:buFont typeface="Monotype Sorts" pitchFamily="2" charset="2"/>
              <a:buNone/>
            </a:pPr>
            <a:r>
              <a:rPr lang="en-US" altLang="zh-TW">
                <a:ea typeface="新細明體" panose="02020500000000000000" pitchFamily="18" charset="-120"/>
              </a:rPr>
              <a:t>(1) using “natural” expression</a:t>
            </a:r>
          </a:p>
          <a:p>
            <a:pPr>
              <a:buFont typeface="Monotype Sorts" pitchFamily="2" charset="2"/>
              <a:buAutoNum type="arabicParenBoth"/>
            </a:pPr>
            <a:endParaRPr lang="en-US" altLang="zh-TW">
              <a:ea typeface="新細明體" panose="02020500000000000000" pitchFamily="18" charset="-120"/>
            </a:endParaRPr>
          </a:p>
          <a:p>
            <a:pPr>
              <a:buFont typeface="Monotype Sorts" pitchFamily="2" charset="2"/>
              <a:buNone/>
            </a:pPr>
            <a:endParaRPr lang="en-US" altLang="zh-TW">
              <a:ea typeface="新細明體" panose="02020500000000000000" pitchFamily="18" charset="-120"/>
            </a:endParaRPr>
          </a:p>
          <a:p>
            <a:pPr>
              <a:buFont typeface="Monotype Sorts" pitchFamily="2" charset="2"/>
              <a:buNone/>
            </a:pPr>
            <a:r>
              <a:rPr lang="en-US" altLang="zh-TW">
                <a:ea typeface="新細明體" panose="02020500000000000000" pitchFamily="18" charset="-120"/>
              </a:rPr>
              <a:t>(2) Using “on” expression</a:t>
            </a:r>
          </a:p>
          <a:p>
            <a:pPr>
              <a:buFont typeface="Monotype Sorts" pitchFamily="2" charset="2"/>
              <a:buAutoNum type="arabicParenBoth"/>
            </a:pPr>
            <a:endParaRPr lang="en-US" altLang="zh-TW">
              <a:ea typeface="新細明體" panose="02020500000000000000" pitchFamily="18" charset="-120"/>
            </a:endParaRPr>
          </a:p>
          <a:p>
            <a:pPr>
              <a:buFont typeface="Monotype Sorts" pitchFamily="2" charset="2"/>
              <a:buAutoNum type="arabicParenBoth"/>
            </a:pPr>
            <a:endParaRPr lang="en-US" altLang="zh-TW">
              <a:ea typeface="新細明體" panose="02020500000000000000" pitchFamily="18" charset="-120"/>
            </a:endParaRPr>
          </a:p>
          <a:p>
            <a:pPr>
              <a:buFont typeface="Monotype Sorts" pitchFamily="2" charset="2"/>
              <a:buNone/>
            </a:pPr>
            <a:r>
              <a:rPr lang="en-US" altLang="zh-TW">
                <a:ea typeface="新細明體" panose="02020500000000000000" pitchFamily="18" charset="-120"/>
              </a:rPr>
              <a:t>(3) Using “using” expression</a:t>
            </a:r>
            <a:endParaRPr lang="zh-TW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7483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83170" cy="4937125"/>
          </a:xfrm>
        </p:spPr>
        <p:txBody>
          <a:bodyPr/>
          <a:lstStyle/>
          <a:p>
            <a:pPr>
              <a:tabLst>
                <a:tab pos="3205163" algn="ctr"/>
              </a:tabLst>
            </a:pPr>
            <a:r>
              <a:rPr lang="en-US" altLang="en-US" sz="1700" dirty="0"/>
              <a:t>In some cases, it is not desirable for all users to see the entire logical model (that is, all the actual relations stored in the database.)</a:t>
            </a:r>
          </a:p>
          <a:p>
            <a:pPr>
              <a:tabLst>
                <a:tab pos="3205163" algn="ctr"/>
              </a:tabLst>
            </a:pPr>
            <a:r>
              <a:rPr lang="en-US" altLang="en-US" sz="1700" dirty="0"/>
              <a:t>Consider a person who needs to know an instructor</a:t>
            </a:r>
            <a:r>
              <a:rPr lang="en-US" altLang="zh-TW" sz="1700" dirty="0"/>
              <a:t>’</a:t>
            </a:r>
            <a:r>
              <a:rPr lang="en-US" altLang="en-US" sz="1700" dirty="0"/>
              <a:t>s name and department, but not the salary.  This person should see a relation described, in SQL, by 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br>
              <a:rPr kumimoji="0" lang="en-US" altLang="en-US" sz="1700" b="1" dirty="0"/>
            </a:br>
            <a:r>
              <a:rPr kumimoji="0" lang="en-US" altLang="en-US" sz="1700" b="1" dirty="0"/>
              <a:t>             select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 err="1"/>
              <a:t>dept_name</a:t>
            </a:r>
            <a:br>
              <a:rPr kumimoji="0" lang="en-US" altLang="en-US" sz="1700" i="1" dirty="0"/>
            </a:br>
            <a:r>
              <a:rPr kumimoji="0" lang="en-US" altLang="en-US" sz="1700" i="1" dirty="0"/>
              <a:t>             </a:t>
            </a: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endParaRPr kumimoji="0" lang="en-US" altLang="en-US" sz="1700" dirty="0"/>
          </a:p>
          <a:p>
            <a:pPr>
              <a:buFont typeface="Monotype Sorts" charset="2"/>
              <a:buNone/>
              <a:tabLst>
                <a:tab pos="3205163" algn="ctr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>
              <a:tabLst>
                <a:tab pos="3205163" algn="ctr"/>
              </a:tabLst>
            </a:pPr>
            <a:r>
              <a:rPr lang="en-US" altLang="en-US" sz="1700" dirty="0"/>
              <a:t>A </a:t>
            </a:r>
            <a:r>
              <a:rPr lang="en-US" altLang="en-US" sz="1700" b="1" dirty="0">
                <a:solidFill>
                  <a:srgbClr val="002060"/>
                </a:solidFill>
              </a:rPr>
              <a:t>view</a:t>
            </a:r>
            <a:r>
              <a:rPr lang="en-US" altLang="en-US" sz="1700" dirty="0"/>
              <a:t> provides a mechanism to hide certain data from the view of certain users. </a:t>
            </a:r>
          </a:p>
          <a:p>
            <a:pPr>
              <a:tabLst>
                <a:tab pos="3205163" algn="ctr"/>
              </a:tabLst>
            </a:pPr>
            <a:r>
              <a:rPr lang="en-US" altLang="en-US" sz="1700" dirty="0"/>
              <a:t>Any relation that is not</a:t>
            </a:r>
            <a:r>
              <a:rPr lang="zh-TW" altLang="en-US" sz="1700" dirty="0"/>
              <a:t> </a:t>
            </a:r>
            <a:r>
              <a:rPr lang="en-US" altLang="zh-TW" sz="1700" dirty="0"/>
              <a:t>part</a:t>
            </a:r>
            <a:r>
              <a:rPr lang="en-US" altLang="en-US" sz="1700" dirty="0"/>
              <a:t> of the conceptual model but is made visible to a user as a “virtual relation” is called a </a:t>
            </a:r>
            <a:r>
              <a:rPr lang="en-US" altLang="en-US" sz="1700" b="1" dirty="0">
                <a:solidFill>
                  <a:srgbClr val="002060"/>
                </a:solidFill>
              </a:rPr>
              <a:t>view</a:t>
            </a:r>
            <a:r>
              <a:rPr lang="en-US" altLang="en-US" sz="1700"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Definition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9405"/>
            <a:ext cx="7497827" cy="4307268"/>
          </a:xfrm>
        </p:spPr>
        <p:txBody>
          <a:bodyPr/>
          <a:lstStyle/>
          <a:p>
            <a:pPr>
              <a:tabLst>
                <a:tab pos="3432175" algn="ctr"/>
              </a:tabLst>
            </a:pPr>
            <a:r>
              <a:rPr lang="en-US" altLang="en-US" sz="1700" dirty="0"/>
              <a:t>A view is defined using the </a:t>
            </a:r>
            <a:r>
              <a:rPr lang="en-US" altLang="en-US" sz="1700" b="1" dirty="0"/>
              <a:t>create view </a:t>
            </a:r>
            <a:r>
              <a:rPr lang="en-US" altLang="en-US" sz="1700" dirty="0"/>
              <a:t>statement which has the form</a:t>
            </a:r>
          </a:p>
          <a:p>
            <a:pPr>
              <a:lnSpc>
                <a:spcPct val="40000"/>
              </a:lnSpc>
              <a:tabLst>
                <a:tab pos="3432175" algn="ctr"/>
              </a:tabLst>
            </a:pPr>
            <a:endParaRPr lang="en-US" altLang="en-US" sz="1700" dirty="0"/>
          </a:p>
          <a:p>
            <a:pPr>
              <a:lnSpc>
                <a:spcPct val="40000"/>
              </a:lnSpc>
              <a:buFont typeface="Monotype Sorts" charset="2"/>
              <a:buNone/>
              <a:tabLst>
                <a:tab pos="3432175" algn="ctr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create view </a:t>
            </a:r>
            <a:r>
              <a:rPr lang="en-US" altLang="en-US" sz="1700" i="1" dirty="0">
                <a:solidFill>
                  <a:srgbClr val="002060"/>
                </a:solidFill>
              </a:rPr>
              <a:t>v</a:t>
            </a:r>
            <a:r>
              <a:rPr lang="en-US" altLang="en-US" sz="1700" i="1" dirty="0">
                <a:solidFill>
                  <a:srgbClr val="000099"/>
                </a:solidFill>
              </a:rPr>
              <a:t>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&lt; </a:t>
            </a:r>
            <a:r>
              <a:rPr lang="en-US" altLang="en-US" sz="1700" dirty="0"/>
              <a:t>query expression &gt;</a:t>
            </a:r>
          </a:p>
          <a:p>
            <a:pPr>
              <a:lnSpc>
                <a:spcPct val="20000"/>
              </a:lnSpc>
              <a:buFont typeface="Monotype Sorts" charset="2"/>
              <a:buNone/>
              <a:tabLst>
                <a:tab pos="3432175" algn="ctr"/>
              </a:tabLst>
            </a:pPr>
            <a:endParaRPr lang="en-US" altLang="en-US" sz="1700" dirty="0"/>
          </a:p>
          <a:p>
            <a:pPr>
              <a:buFont typeface="Monotype Sorts" charset="2"/>
              <a:buNone/>
              <a:tabLst>
                <a:tab pos="3432175" algn="ctr"/>
              </a:tabLst>
            </a:pPr>
            <a:r>
              <a:rPr lang="en-US" altLang="en-US" sz="1700" dirty="0"/>
              <a:t>	where &lt;query expression&gt; is any legal SQL expression.  The view name is represented by </a:t>
            </a:r>
            <a:r>
              <a:rPr lang="en-US" altLang="en-US" sz="1700" i="1" dirty="0"/>
              <a:t>v.</a:t>
            </a:r>
            <a:endParaRPr lang="en-US" altLang="en-US" sz="1700" dirty="0"/>
          </a:p>
          <a:p>
            <a:pPr>
              <a:tabLst>
                <a:tab pos="3432175" algn="ctr"/>
              </a:tabLst>
            </a:pPr>
            <a:r>
              <a:rPr lang="en-US" altLang="en-US" sz="1700" dirty="0"/>
              <a:t>Once a view is defined, the view name can be used to refer to the virtual relation that the view generates.</a:t>
            </a:r>
          </a:p>
          <a:p>
            <a:pPr>
              <a:tabLst>
                <a:tab pos="3432175" algn="ctr"/>
              </a:tabLst>
            </a:pPr>
            <a:r>
              <a:rPr lang="zh-TW" altLang="en-US" dirty="0"/>
              <a:t>注意</a:t>
            </a:r>
            <a:r>
              <a:rPr lang="en-US" altLang="zh-TW" dirty="0"/>
              <a:t>:</a:t>
            </a:r>
            <a:r>
              <a:rPr lang="zh-TW" altLang="en-US" dirty="0"/>
              <a:t> 此處所定義的</a:t>
            </a:r>
            <a:r>
              <a:rPr lang="en-US" altLang="zh-TW" dirty="0"/>
              <a:t>view</a:t>
            </a:r>
            <a:r>
              <a:rPr lang="zh-TW" altLang="en-US" dirty="0"/>
              <a:t>可以被多個查詢句使用，和</a:t>
            </a:r>
            <a:r>
              <a:rPr lang="en-US" altLang="zh-TW" dirty="0"/>
              <a:t>with</a:t>
            </a:r>
            <a:r>
              <a:rPr lang="zh-TW" altLang="en-US" dirty="0"/>
              <a:t>所定義的不同</a:t>
            </a:r>
            <a:r>
              <a:rPr lang="en-US" altLang="zh-TW" dirty="0"/>
              <a:t>.</a:t>
            </a:r>
            <a:endParaRPr lang="en-US" altLang="en-US" sz="1700" dirty="0"/>
          </a:p>
          <a:p>
            <a:pPr>
              <a:tabLst>
                <a:tab pos="3432175" algn="ctr"/>
              </a:tabLst>
            </a:pPr>
            <a:r>
              <a:rPr lang="en-US" altLang="en-US" sz="1700" dirty="0"/>
              <a:t>View definition is not the same as creating a new relation by evaluating the query expression  </a:t>
            </a:r>
          </a:p>
          <a:p>
            <a:pPr lvl="1">
              <a:tabLst>
                <a:tab pos="3432175" algn="ctr"/>
              </a:tabLst>
            </a:pPr>
            <a:r>
              <a:rPr lang="en-US" altLang="en-US" sz="1700" dirty="0"/>
              <a:t>Rather, a view definition causes the saving of an expression; the expression is substituted into queries using the view.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Definition and Use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50150" cy="4806632"/>
          </a:xfrm>
        </p:spPr>
        <p:txBody>
          <a:bodyPr/>
          <a:lstStyle/>
          <a:p>
            <a:pPr>
              <a:tabLst>
                <a:tab pos="1370013" algn="l"/>
              </a:tabLst>
            </a:pPr>
            <a:r>
              <a:rPr lang="en-US" altLang="en-US" sz="1700" dirty="0"/>
              <a:t>A view of instructors without their salary</a:t>
            </a:r>
          </a:p>
          <a:p>
            <a:pPr>
              <a:buNone/>
              <a:tabLst>
                <a:tab pos="1370013" algn="l"/>
              </a:tabLst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kumimoji="0" lang="en-US" altLang="en-US" sz="1700" b="1" dirty="0"/>
              <a:t>create view </a:t>
            </a:r>
            <a:r>
              <a:rPr lang="en-US" altLang="en-US" sz="1700" b="1" i="1" dirty="0">
                <a:solidFill>
                  <a:srgbClr val="002060"/>
                </a:solidFill>
              </a:rPr>
              <a:t>faculty</a:t>
            </a:r>
            <a:r>
              <a:rPr kumimoji="0" lang="en-US" altLang="en-US" sz="1700" i="1" dirty="0"/>
              <a:t> </a:t>
            </a:r>
            <a:r>
              <a:rPr kumimoji="0" lang="en-US" altLang="en-US" sz="1700" b="1" dirty="0"/>
              <a:t>as</a:t>
            </a:r>
            <a:r>
              <a:rPr lang="en-US" altLang="en-US" sz="1700" b="1" dirty="0"/>
              <a:t>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</a:t>
            </a:r>
            <a:r>
              <a:rPr kumimoji="0" lang="en-US" altLang="en-US" sz="1700" b="1" dirty="0"/>
              <a:t>select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dept_name</a:t>
            </a:r>
            <a:br>
              <a:rPr kumimoji="0" lang="en-US" altLang="en-US" sz="1700" i="1" dirty="0"/>
            </a:br>
            <a:r>
              <a:rPr kumimoji="0" lang="en-US" altLang="en-US" sz="1700" i="1" dirty="0"/>
              <a:t>                      </a:t>
            </a: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endParaRPr kumimoji="0" lang="en-US" altLang="en-US" sz="1700" dirty="0"/>
          </a:p>
          <a:p>
            <a:pPr>
              <a:tabLst>
                <a:tab pos="1370013" algn="l"/>
              </a:tabLst>
            </a:pPr>
            <a:r>
              <a:rPr lang="en-US" altLang="en-US" sz="1700" dirty="0"/>
              <a:t>Find all instructors in the Biology department</a:t>
            </a:r>
          </a:p>
          <a:p>
            <a:pPr>
              <a:buNone/>
              <a:tabLst>
                <a:tab pos="1370013" algn="l"/>
              </a:tabLst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  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from </a:t>
            </a:r>
            <a:r>
              <a:rPr lang="en-US" altLang="en-US" sz="1700" b="1" i="1" dirty="0">
                <a:solidFill>
                  <a:srgbClr val="002060"/>
                </a:solidFill>
              </a:rPr>
              <a:t>faculty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 </a:t>
            </a:r>
            <a:r>
              <a:rPr lang="en-US" altLang="en-US" sz="1700" dirty="0"/>
              <a:t>'Biology'</a:t>
            </a:r>
          </a:p>
          <a:p>
            <a:pPr>
              <a:tabLst>
                <a:tab pos="1370013" algn="l"/>
              </a:tabLst>
            </a:pPr>
            <a:r>
              <a:rPr lang="en-US" altLang="en-US" sz="1700" dirty="0"/>
              <a:t>Create a view of department salary totals</a:t>
            </a:r>
          </a:p>
          <a:p>
            <a:pPr>
              <a:buNone/>
              <a:tabLst>
                <a:tab pos="1370013" algn="l"/>
              </a:tabLst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</a:t>
            </a:r>
            <a:r>
              <a:rPr lang="en-US" altLang="en-US" sz="1700" b="1" dirty="0"/>
              <a:t>create view </a:t>
            </a:r>
            <a:r>
              <a:rPr lang="en-US" altLang="en-US" sz="1700" b="1" i="1" dirty="0" err="1">
                <a:solidFill>
                  <a:srgbClr val="002060"/>
                </a:solidFill>
              </a:rPr>
              <a:t>departments_total_salary</a:t>
            </a:r>
            <a:r>
              <a:rPr lang="en-US" altLang="en-US" sz="1700" b="1" i="1" dirty="0">
                <a:solidFill>
                  <a:srgbClr val="002060"/>
                </a:solidFill>
              </a:rPr>
              <a:t>(dept_name, </a:t>
            </a:r>
            <a:r>
              <a:rPr lang="en-US" altLang="en-US" sz="1700" b="1" i="1" dirty="0" err="1">
                <a:solidFill>
                  <a:srgbClr val="002060"/>
                </a:solidFill>
              </a:rPr>
              <a:t>total_salary</a:t>
            </a:r>
            <a:r>
              <a:rPr lang="en-US" altLang="en-US" sz="1700" b="1" i="1" dirty="0">
                <a:solidFill>
                  <a:srgbClr val="000099"/>
                </a:solidFill>
              </a:rPr>
              <a:t>)</a:t>
            </a:r>
            <a:r>
              <a:rPr lang="en-US" altLang="en-US" sz="1700" i="1" dirty="0">
                <a:solidFill>
                  <a:srgbClr val="000099"/>
                </a:solidFill>
              </a:rPr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/>
              <a:t>sum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>
              <a:tabLst>
                <a:tab pos="1370013" algn="l"/>
              </a:tabLst>
            </a:pPr>
            <a:endParaRPr lang="en-US" altLang="en-US" sz="2000" dirty="0"/>
          </a:p>
          <a:p>
            <a:pPr>
              <a:buNone/>
              <a:tabLst>
                <a:tab pos="1370013" algn="l"/>
              </a:tabLst>
            </a:pPr>
            <a:endParaRPr lang="en-US" altLang="en-US" sz="2400" dirty="0"/>
          </a:p>
          <a:p>
            <a:pPr>
              <a:tabLst>
                <a:tab pos="1370013" algn="l"/>
              </a:tabLst>
            </a:pPr>
            <a:endParaRPr lang="en-US" altLang="en-US" sz="2000" dirty="0"/>
          </a:p>
          <a:p>
            <a:pPr>
              <a:tabLst>
                <a:tab pos="1370013" algn="l"/>
              </a:tabLst>
            </a:pPr>
            <a:endParaRPr lang="en-US" altLang="en-US" sz="2000" dirty="0"/>
          </a:p>
        </p:txBody>
      </p:sp>
      <p:sp>
        <p:nvSpPr>
          <p:cNvPr id="335877" name="Text Box 5"/>
          <p:cNvSpPr txBox="1">
            <a:spLocks noChangeArrowheads="1"/>
          </p:cNvSpPr>
          <p:nvPr/>
        </p:nvSpPr>
        <p:spPr bwMode="auto">
          <a:xfrm>
            <a:off x="1060450" y="5232400"/>
            <a:ext cx="755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chemeClr val="tx2"/>
              </a:buClr>
              <a:buSzPct val="90000"/>
              <a:buFont typeface="Monotype Sorts" charset="2"/>
              <a:buNone/>
            </a:pPr>
            <a:r>
              <a:rPr kumimoji="1" lang="en-US" altLang="en-US" sz="2400" b="1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Views Defined Using Other Views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570979" cy="4282884"/>
          </a:xfrm>
        </p:spPr>
        <p:txBody>
          <a:bodyPr/>
          <a:lstStyle/>
          <a:p>
            <a:r>
              <a:rPr lang="en-US" altLang="en-US" sz="1700" b="1" dirty="0"/>
              <a:t>create view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</a:t>
            </a:r>
            <a:r>
              <a:rPr lang="en-US" altLang="en-US" sz="1700" b="1" i="1" dirty="0"/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select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section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'Physics'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semester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'Fall'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'2017’;</a:t>
            </a:r>
          </a:p>
          <a:p>
            <a:pPr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b="1" dirty="0"/>
              <a:t>create view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</a:t>
            </a:r>
            <a:r>
              <a:rPr lang="en-US" altLang="en-US" sz="1700" b="1" i="1" dirty="0"/>
              <a:t>_</a:t>
            </a:r>
            <a:r>
              <a:rPr lang="en-US" altLang="en-US" sz="1700" i="1" dirty="0"/>
              <a:t>watson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br>
              <a:rPr lang="en-US" altLang="en-US" sz="1700" i="1" dirty="0"/>
            </a:br>
            <a:r>
              <a:rPr lang="en-US" altLang="en-US" sz="1700" i="1" dirty="0"/>
              <a:t>    </a:t>
            </a:r>
            <a:r>
              <a:rPr lang="en-US" altLang="en-US" sz="1700" b="1" dirty="0"/>
              <a:t>from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</a:t>
            </a:r>
            <a:br>
              <a:rPr lang="en-US" altLang="en-US" sz="1700" i="1" dirty="0"/>
            </a:br>
            <a:r>
              <a:rPr lang="en-US" altLang="en-US" sz="1700" i="1" dirty="0"/>
              <a:t>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= 'Watson';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Expansion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700" dirty="0"/>
              <a:t>Expand  the view :</a:t>
            </a:r>
          </a:p>
          <a:p>
            <a:pPr>
              <a:buNone/>
            </a:pPr>
            <a:r>
              <a:rPr lang="en-US" altLang="en-US" sz="1700" b="1" dirty="0"/>
              <a:t>          create view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physics_fall_2017_watson</a:t>
            </a:r>
            <a:r>
              <a:rPr lang="en-US" altLang="en-US" sz="1700" b="1" i="1" dirty="0"/>
              <a:t> 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    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br>
              <a:rPr lang="en-US" altLang="en-US" sz="1700" i="1" dirty="0"/>
            </a:br>
            <a:r>
              <a:rPr lang="en-US" altLang="en-US" sz="1700" i="1" dirty="0"/>
              <a:t>        </a:t>
            </a:r>
            <a:r>
              <a:rPr lang="en-US" altLang="en-US" sz="1700" b="1" dirty="0"/>
              <a:t>from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</a:t>
            </a:r>
            <a:br>
              <a:rPr lang="en-US" altLang="en-US" sz="1700" i="1" dirty="0"/>
            </a:br>
            <a:r>
              <a:rPr lang="en-US" altLang="en-US" sz="1700" i="1" dirty="0"/>
              <a:t>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= 'Watson</a:t>
            </a:r>
            <a:r>
              <a:rPr lang="en-US" altLang="ja-JP" sz="1700" dirty="0"/>
              <a:t>'</a:t>
            </a:r>
            <a:endParaRPr lang="en-US" altLang="en-US" sz="1700" dirty="0"/>
          </a:p>
          <a:p>
            <a:r>
              <a:rPr lang="en-US" altLang="en-US" sz="1700" dirty="0"/>
              <a:t>To:</a:t>
            </a:r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1477963" y="2966255"/>
            <a:ext cx="7192962" cy="27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create view </a:t>
            </a:r>
            <a:r>
              <a:rPr kumimoji="1" lang="en-US" altLang="en-US" sz="1700" b="1" i="1" dirty="0">
                <a:solidFill>
                  <a:srgbClr val="002060"/>
                </a:solidFill>
                <a:latin typeface="+mn-lt"/>
              </a:rPr>
              <a:t>physics_fall_2017_watson</a:t>
            </a:r>
            <a:r>
              <a:rPr lang="en-US" altLang="en-US" sz="1700" b="1" i="1" dirty="0">
                <a:solidFill>
                  <a:srgbClr val="002060"/>
                </a:solidFill>
              </a:rPr>
              <a:t>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endParaRPr lang="en-US" altLang="en-US" sz="1700" i="1" dirty="0"/>
          </a:p>
          <a:p>
            <a:r>
              <a:rPr lang="en-US" altLang="en-US" sz="1700" b="1" dirty="0"/>
              <a:t>    from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endParaRPr lang="en-US" altLang="en-US" sz="1700" i="1" dirty="0"/>
          </a:p>
          <a:p>
            <a:r>
              <a:rPr lang="en-US" altLang="en-US" sz="1700" b="1" dirty="0"/>
              <a:t>          from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section</a:t>
            </a:r>
          </a:p>
          <a:p>
            <a:r>
              <a:rPr lang="en-US" altLang="en-US" sz="1700" b="1" dirty="0"/>
              <a:t>          where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endParaRPr lang="en-US" altLang="en-US" sz="1700" i="1" dirty="0"/>
          </a:p>
          <a:p>
            <a:r>
              <a:rPr lang="en-US" altLang="en-US" sz="1700" b="1" dirty="0"/>
              <a:t>               and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'Physics'</a:t>
            </a:r>
          </a:p>
          <a:p>
            <a:r>
              <a:rPr lang="en-US" altLang="en-US" sz="1700" b="1" dirty="0"/>
              <a:t>               and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semester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'Fall'</a:t>
            </a:r>
          </a:p>
          <a:p>
            <a:r>
              <a:rPr lang="en-US" altLang="en-US" sz="1700" b="1" dirty="0"/>
              <a:t>               and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'2017')</a:t>
            </a:r>
          </a:p>
          <a:p>
            <a:r>
              <a:rPr lang="en-US" altLang="en-US" sz="1700" b="1" dirty="0"/>
              <a:t>     where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= 'Watson';</a:t>
            </a:r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43587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</a:t>
            </a:r>
            <a:r>
              <a:rPr lang="en-US" sz="2800" dirty="0">
                <a:ea typeface="+mj-ea"/>
              </a:rPr>
              <a:t>Views Defined Using Other Views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83191" cy="3380168"/>
          </a:xfrm>
        </p:spPr>
        <p:txBody>
          <a:bodyPr/>
          <a:lstStyle/>
          <a:p>
            <a:r>
              <a:rPr lang="en-US" altLang="en-US" sz="1700" dirty="0"/>
              <a:t>One view may be used in the expression defining another view </a:t>
            </a:r>
          </a:p>
          <a:p>
            <a:r>
              <a:rPr lang="en-US" altLang="en-US" sz="1700" dirty="0"/>
              <a:t>A view relation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is said to </a:t>
            </a:r>
            <a:r>
              <a:rPr lang="en-US" altLang="en-US" sz="1700" b="1" i="1" dirty="0">
                <a:solidFill>
                  <a:srgbClr val="002060"/>
                </a:solidFill>
              </a:rPr>
              <a:t>depend directly </a:t>
            </a:r>
            <a:r>
              <a:rPr lang="en-US" altLang="en-US" sz="1700" dirty="0"/>
              <a:t>on a 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2</a:t>
            </a:r>
            <a:r>
              <a:rPr lang="en-US" altLang="en-US" sz="1700" i="1" dirty="0"/>
              <a:t> </a:t>
            </a:r>
            <a:r>
              <a:rPr lang="en-US" altLang="en-US" sz="1700" dirty="0"/>
              <a:t> if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is used in the expression defining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endParaRPr lang="en-US" altLang="en-US" sz="1700" dirty="0"/>
          </a:p>
          <a:p>
            <a:r>
              <a:rPr lang="en-US" altLang="en-US" sz="1700" dirty="0"/>
              <a:t>A view relation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is said to </a:t>
            </a:r>
            <a:r>
              <a:rPr lang="en-US" altLang="en-US" sz="1700" b="1" i="1" dirty="0">
                <a:solidFill>
                  <a:srgbClr val="002060"/>
                </a:solidFill>
              </a:rPr>
              <a:t>depend on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2</a:t>
            </a:r>
            <a:r>
              <a:rPr lang="en-US" altLang="en-US" sz="1700" i="1" dirty="0"/>
              <a:t> </a:t>
            </a:r>
            <a:r>
              <a:rPr lang="en-US" altLang="en-US" sz="1700" dirty="0"/>
              <a:t>if either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 </a:t>
            </a:r>
            <a:r>
              <a:rPr lang="en-US" altLang="en-US" sz="1700" dirty="0"/>
              <a:t>depends directly to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2 </a:t>
            </a:r>
            <a:r>
              <a:rPr lang="en-US" altLang="en-US" sz="1700" dirty="0"/>
              <a:t> or there is a path of dependencies from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to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</a:p>
          <a:p>
            <a:r>
              <a:rPr lang="en-US" altLang="en-US" sz="1700" dirty="0"/>
              <a:t>A view relation </a:t>
            </a:r>
            <a:r>
              <a:rPr lang="en-US" altLang="en-US" sz="1700" i="1" dirty="0"/>
              <a:t>v</a:t>
            </a:r>
            <a:r>
              <a:rPr lang="en-US" altLang="en-US" sz="1700" dirty="0"/>
              <a:t> is said to be </a:t>
            </a:r>
            <a:r>
              <a:rPr lang="en-US" altLang="en-US" sz="1700" b="1" i="1" dirty="0">
                <a:solidFill>
                  <a:srgbClr val="002060"/>
                </a:solidFill>
              </a:rPr>
              <a:t>recursive</a:t>
            </a:r>
            <a:r>
              <a:rPr lang="en-US" altLang="en-US" sz="1700" i="1" dirty="0"/>
              <a:t> </a:t>
            </a:r>
            <a:r>
              <a:rPr lang="en-US" altLang="en-US" sz="1700" dirty="0"/>
              <a:t> if it depends on itself.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</a:t>
            </a:r>
            <a:r>
              <a:rPr lang="zh-TW" altLang="en-US" sz="2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sz="2800" dirty="0">
                <a:ea typeface="+mj-ea"/>
              </a:rPr>
              <a:t>View Expansion 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38803" cy="4051236"/>
          </a:xfrm>
        </p:spPr>
        <p:txBody>
          <a:bodyPr/>
          <a:lstStyle/>
          <a:p>
            <a:pPr>
              <a:tabLst>
                <a:tab pos="681038" algn="l"/>
              </a:tabLst>
            </a:pPr>
            <a:r>
              <a:rPr lang="en-US" altLang="en-US" sz="1700" dirty="0"/>
              <a:t>A way to define the meaning of views defined in terms of other views.</a:t>
            </a:r>
          </a:p>
          <a:p>
            <a:pPr>
              <a:tabLst>
                <a:tab pos="681038" algn="l"/>
              </a:tabLst>
            </a:pPr>
            <a:r>
              <a:rPr lang="en-US" altLang="en-US" sz="1700" dirty="0"/>
              <a:t>Let view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be defined by an expression </a:t>
            </a:r>
            <a:r>
              <a:rPr lang="en-US" altLang="en-US" sz="1700" i="1" dirty="0"/>
              <a:t>e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that may itself contain uses of view relations.</a:t>
            </a:r>
          </a:p>
          <a:p>
            <a:pPr>
              <a:tabLst>
                <a:tab pos="681038" algn="l"/>
              </a:tabLst>
            </a:pPr>
            <a:r>
              <a:rPr lang="en-US" altLang="en-US" sz="1700" dirty="0"/>
              <a:t>View expansion of an expression repeats the following replacement step:</a:t>
            </a:r>
          </a:p>
          <a:p>
            <a:pPr>
              <a:buNone/>
              <a:tabLst>
                <a:tab pos="681038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repeat</a:t>
            </a:r>
            <a:br>
              <a:rPr lang="en-US" altLang="en-US" sz="1700" b="1" dirty="0"/>
            </a:br>
            <a:r>
              <a:rPr lang="en-US" altLang="en-US" sz="1700" b="1" dirty="0"/>
              <a:t>		</a:t>
            </a:r>
            <a:r>
              <a:rPr lang="en-US" altLang="en-US" sz="1700" dirty="0"/>
              <a:t>Find any 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in </a:t>
            </a:r>
            <a:r>
              <a:rPr lang="en-US" altLang="en-US" sz="1700" i="1" dirty="0"/>
              <a:t>e</a:t>
            </a:r>
            <a:r>
              <a:rPr lang="en-US" altLang="en-US" sz="1700" baseline="-25000" dirty="0"/>
              <a:t>1</a:t>
            </a:r>
            <a:br>
              <a:rPr lang="en-US" altLang="en-US" sz="1700" dirty="0"/>
            </a:br>
            <a:r>
              <a:rPr lang="en-US" altLang="en-US" sz="1700" dirty="0"/>
              <a:t>		Replace the 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by the expression defining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            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until</a:t>
            </a:r>
            <a:r>
              <a:rPr lang="en-US" altLang="en-US" sz="1700" dirty="0"/>
              <a:t> no more view relations are present in </a:t>
            </a:r>
            <a:r>
              <a:rPr lang="en-US" altLang="en-US" sz="1700" i="1" dirty="0"/>
              <a:t>e</a:t>
            </a:r>
            <a:r>
              <a:rPr lang="en-US" altLang="en-US" sz="1700" baseline="-25000" dirty="0"/>
              <a:t>1</a:t>
            </a:r>
            <a:endParaRPr lang="en-US" altLang="en-US" sz="1700" dirty="0"/>
          </a:p>
          <a:p>
            <a:pPr>
              <a:tabLst>
                <a:tab pos="681038" algn="l"/>
              </a:tabLst>
            </a:pPr>
            <a:r>
              <a:rPr lang="en-US" altLang="en-US" sz="1700" dirty="0"/>
              <a:t>As long as the view definitions are not recursive, this loop will terminate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sz="2800">
                <a:effectLst/>
              </a:rPr>
              <a:t>Materialized </a:t>
            </a:r>
            <a:r>
              <a:rPr lang="en-US" altLang="en-US" sz="2800" dirty="0">
                <a:effectLst/>
              </a:rPr>
              <a:t>Views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03517"/>
            <a:ext cx="7665435" cy="3502596"/>
          </a:xfrm>
        </p:spPr>
        <p:txBody>
          <a:bodyPr/>
          <a:lstStyle/>
          <a:p>
            <a:r>
              <a:rPr lang="en-US" altLang="en-US" sz="1700" dirty="0"/>
              <a:t>Certain database systems allow view relations to be physically stored.</a:t>
            </a:r>
          </a:p>
          <a:p>
            <a:pPr lvl="1"/>
            <a:r>
              <a:rPr lang="en-US" altLang="en-US" sz="1700" dirty="0"/>
              <a:t> Physical copy created when the view is defined.</a:t>
            </a:r>
          </a:p>
          <a:p>
            <a:pPr lvl="1"/>
            <a:r>
              <a:rPr lang="en-US" altLang="en-US" sz="1700" dirty="0"/>
              <a:t>Such views are called </a:t>
            </a:r>
            <a:r>
              <a:rPr lang="en-US" altLang="en-US" sz="1700" b="1" dirty="0">
                <a:solidFill>
                  <a:srgbClr val="002060"/>
                </a:solidFill>
              </a:rPr>
              <a:t>Materialized view</a:t>
            </a:r>
            <a:r>
              <a:rPr lang="en-US" altLang="en-US" sz="1700" dirty="0"/>
              <a:t>:</a:t>
            </a:r>
          </a:p>
          <a:p>
            <a:r>
              <a:rPr lang="en-US" altLang="en-US" sz="1700" dirty="0"/>
              <a:t>If relations used in the query are updated, the materialized view result becomes out of date</a:t>
            </a:r>
          </a:p>
          <a:p>
            <a:pPr lvl="1"/>
            <a:r>
              <a:rPr lang="en-US" altLang="en-US" sz="1700" dirty="0"/>
              <a:t>Need to </a:t>
            </a:r>
            <a:r>
              <a:rPr lang="en-US" altLang="en-US" sz="1700" b="1" dirty="0">
                <a:solidFill>
                  <a:srgbClr val="002060"/>
                </a:solidFill>
              </a:rPr>
              <a:t>maintain</a:t>
            </a:r>
            <a:r>
              <a:rPr lang="en-US" altLang="en-US" sz="1700" dirty="0"/>
              <a:t> the view, by updating the view whenever the underlying relations are updated.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Update of a View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95362" cy="4952936"/>
          </a:xfrm>
        </p:spPr>
        <p:txBody>
          <a:bodyPr/>
          <a:lstStyle/>
          <a:p>
            <a:pPr>
              <a:tabLst>
                <a:tab pos="1085850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faculty </a:t>
            </a:r>
            <a:r>
              <a:rPr lang="en-US" altLang="en-US" sz="1700" dirty="0"/>
              <a:t>view which we defined earlier</a:t>
            </a:r>
            <a:endParaRPr lang="en-US" altLang="en-US" sz="1700" b="1" dirty="0"/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faculty 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b="1" i="1" dirty="0"/>
              <a:t>          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('30765', 'Green', 'Music');</a:t>
            </a:r>
          </a:p>
          <a:p>
            <a:pPr>
              <a:tabLst>
                <a:tab pos="1085850" algn="l"/>
              </a:tabLst>
            </a:pPr>
            <a:r>
              <a:rPr lang="en-US" altLang="en-US" sz="1700" dirty="0"/>
              <a:t>This insertion must be represented by the insertion into 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</a:t>
            </a:r>
          </a:p>
          <a:p>
            <a:pPr lvl="1"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Must have a value for salary.</a:t>
            </a:r>
          </a:p>
          <a:p>
            <a:pPr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Two approaches</a:t>
            </a:r>
          </a:p>
          <a:p>
            <a:pPr lvl="1"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Reject the insert</a:t>
            </a:r>
          </a:p>
          <a:p>
            <a:pPr lvl="1"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Insert the tuple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dirty="0"/>
              <a:t>			('30765', 'Green', 'Music', null)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dirty="0"/>
              <a:t>	      into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777" y="3294063"/>
            <a:ext cx="3676650" cy="3000375"/>
          </a:xfrm>
          <a:prstGeom prst="rect">
            <a:avLst/>
          </a:prstGeom>
        </p:spPr>
      </p:pic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890270" y="117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Some Updates Cannot be Translated Uniquely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36383" y="727075"/>
            <a:ext cx="7369651" cy="4162563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1700" b="1" dirty="0"/>
              <a:t>create view </a:t>
            </a:r>
            <a:r>
              <a:rPr lang="en-US" altLang="en-US" sz="1700" i="1" dirty="0" err="1"/>
              <a:t>instructor_info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  select </a:t>
            </a:r>
            <a:r>
              <a:rPr lang="en-US" altLang="en-US" sz="1700" i="1" dirty="0"/>
              <a:t>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building</a:t>
            </a:r>
            <a:br>
              <a:rPr lang="en-US" altLang="en-US" sz="1700" i="1" dirty="0"/>
            </a:br>
            <a:r>
              <a:rPr lang="en-US" altLang="en-US" sz="1700" i="1" dirty="0"/>
              <a:t>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,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instructor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;</a:t>
            </a:r>
          </a:p>
          <a:p>
            <a:pPr>
              <a:spcBef>
                <a:spcPts val="0"/>
              </a:spcBef>
            </a:pPr>
            <a:r>
              <a:rPr lang="en-US" altLang="en-US" sz="1700" b="1" dirty="0">
                <a:sym typeface="Symbol" panose="05050102010706020507" pitchFamily="18" charset="2"/>
              </a:rPr>
              <a:t>insert into </a:t>
            </a:r>
            <a:r>
              <a:rPr lang="en-US" altLang="en-US" sz="1700" i="1" dirty="0" err="1">
                <a:sym typeface="Symbol" panose="05050102010706020507" pitchFamily="18" charset="2"/>
              </a:rPr>
              <a:t>instructor_info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i="1" dirty="0">
                <a:sym typeface="Symbol" panose="05050102010706020507" pitchFamily="18" charset="2"/>
              </a:rPr>
              <a:t>             </a:t>
            </a:r>
            <a:r>
              <a:rPr lang="en-US" altLang="en-US" sz="1700" b="1" dirty="0">
                <a:sym typeface="Symbol" panose="05050102010706020507" pitchFamily="18" charset="2"/>
              </a:rPr>
              <a:t>values </a:t>
            </a:r>
            <a:r>
              <a:rPr lang="en-US" altLang="en-US" sz="1700" dirty="0">
                <a:sym typeface="Symbol" panose="05050102010706020507" pitchFamily="18" charset="2"/>
              </a:rPr>
              <a:t>('69987', 'White', 'Taylor');</a:t>
            </a:r>
          </a:p>
          <a:p>
            <a:pPr>
              <a:spcBef>
                <a:spcPts val="0"/>
              </a:spcBef>
            </a:pPr>
            <a:r>
              <a:rPr lang="en-US" altLang="en-US" sz="1700" dirty="0">
                <a:sym typeface="Symbol" panose="05050102010706020507" pitchFamily="18" charset="2"/>
              </a:rPr>
              <a:t>Issues</a:t>
            </a:r>
          </a:p>
          <a:p>
            <a:pPr lvl="1">
              <a:spcBef>
                <a:spcPts val="0"/>
              </a:spcBef>
            </a:pPr>
            <a:r>
              <a:rPr lang="en-US" altLang="en-US" sz="1700" dirty="0"/>
              <a:t>Which department, if multiple departments in Taylor?</a:t>
            </a:r>
          </a:p>
          <a:p>
            <a:pPr lvl="1">
              <a:spcBef>
                <a:spcPts val="0"/>
              </a:spcBef>
            </a:pPr>
            <a:r>
              <a:rPr lang="en-US" altLang="en-US" sz="1700" dirty="0"/>
              <a:t>What if no department is in Taylor?</a:t>
            </a:r>
            <a:endParaRPr lang="en-US" altLang="en-US" sz="1700" b="1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871" y="3263900"/>
            <a:ext cx="4054475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049096" y="6513513"/>
            <a:ext cx="1785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i="1"/>
              <a:t>instructor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411546" y="6521450"/>
            <a:ext cx="1785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i="1"/>
              <a:t>department</a:t>
            </a:r>
          </a:p>
        </p:txBody>
      </p:sp>
      <p:sp>
        <p:nvSpPr>
          <p:cNvPr id="8" name="弧形箭號 (上彎) 7"/>
          <p:cNvSpPr>
            <a:spLocks noChangeArrowheads="1"/>
          </p:cNvSpPr>
          <p:nvPr/>
        </p:nvSpPr>
        <p:spPr bwMode="auto">
          <a:xfrm>
            <a:off x="3036521" y="6251575"/>
            <a:ext cx="2482850" cy="420688"/>
          </a:xfrm>
          <a:prstGeom prst="curvedUpArrow">
            <a:avLst>
              <a:gd name="adj1" fmla="val 25028"/>
              <a:gd name="adj2" fmla="val 50057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TW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39371" y="5946775"/>
            <a:ext cx="8345488" cy="347663"/>
          </a:xfrm>
          <a:prstGeom prst="rect">
            <a:avLst/>
          </a:prstGeom>
          <a:noFill/>
          <a:ln w="254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And Some Not at All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6400547" cy="3417252"/>
          </a:xfrm>
        </p:spPr>
        <p:txBody>
          <a:bodyPr/>
          <a:lstStyle/>
          <a:p>
            <a:r>
              <a:rPr lang="en-US" altLang="en-US" sz="1700" b="1" dirty="0"/>
              <a:t>create view </a:t>
            </a:r>
            <a:r>
              <a:rPr lang="en-US" altLang="en-US" sz="1700" i="1" dirty="0" err="1"/>
              <a:t>history_instructors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= 'History';</a:t>
            </a:r>
          </a:p>
          <a:p>
            <a:r>
              <a:rPr lang="en-US" altLang="en-US" sz="1700" dirty="0"/>
              <a:t>What happens if we insert </a:t>
            </a:r>
          </a:p>
          <a:p>
            <a:pPr>
              <a:buNone/>
            </a:pPr>
            <a:r>
              <a:rPr lang="en-US" altLang="en-US" sz="1700" dirty="0"/>
              <a:t>           ('25566', 'Brown', 'Biology', 100000)</a:t>
            </a:r>
          </a:p>
          <a:p>
            <a:pPr>
              <a:buNone/>
            </a:pPr>
            <a:r>
              <a:rPr lang="en-US" altLang="en-US" sz="1700" dirty="0"/>
              <a:t>       into </a:t>
            </a:r>
            <a:r>
              <a:rPr lang="en-US" altLang="en-US" sz="1700" i="1" dirty="0" err="1"/>
              <a:t>history_instructors</a:t>
            </a:r>
            <a:r>
              <a:rPr lang="en-US" altLang="en-US" sz="1700" i="1" dirty="0"/>
              <a:t>?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Updates in SQL 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29275"/>
            <a:ext cx="7400291" cy="3184229"/>
          </a:xfrm>
        </p:spPr>
        <p:txBody>
          <a:bodyPr/>
          <a:lstStyle/>
          <a:p>
            <a:r>
              <a:rPr lang="en-US" altLang="en-US" sz="1700" dirty="0"/>
              <a:t>Most SQL implementations allow updates only on simple views </a:t>
            </a:r>
          </a:p>
          <a:p>
            <a:pPr lvl="1"/>
            <a:r>
              <a:rPr lang="en-US" altLang="en-US" sz="1700" dirty="0"/>
              <a:t>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 has only one database relation.</a:t>
            </a:r>
          </a:p>
          <a:p>
            <a:pPr lvl="1"/>
            <a:r>
              <a:rPr lang="en-US" altLang="en-US" sz="1700" dirty="0"/>
              <a:t>The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contains only attribute names of the relation, and does not have any expressions, aggregates, or </a:t>
            </a:r>
            <a:r>
              <a:rPr lang="en-US" altLang="en-US" sz="1700" b="1" dirty="0"/>
              <a:t>distinct </a:t>
            </a:r>
            <a:r>
              <a:rPr lang="en-US" altLang="en-US" sz="1700" dirty="0"/>
              <a:t>specification.</a:t>
            </a:r>
          </a:p>
          <a:p>
            <a:pPr lvl="1"/>
            <a:r>
              <a:rPr lang="en-US" altLang="en-US" sz="1700" dirty="0"/>
              <a:t>Any attribute not listed in the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can be set to null</a:t>
            </a:r>
          </a:p>
          <a:p>
            <a:pPr lvl="1"/>
            <a:r>
              <a:rPr lang="en-US" altLang="en-US" sz="1700" dirty="0"/>
              <a:t>The query does not have a </a:t>
            </a:r>
            <a:r>
              <a:rPr lang="en-US" altLang="en-US" sz="1700" b="1" dirty="0"/>
              <a:t>group </a:t>
            </a:r>
            <a:r>
              <a:rPr lang="en-US" altLang="en-US" sz="1700" dirty="0"/>
              <a:t>by or </a:t>
            </a:r>
            <a:r>
              <a:rPr lang="en-US" altLang="en-US" sz="1700" b="1" dirty="0"/>
              <a:t>having </a:t>
            </a:r>
            <a:r>
              <a:rPr lang="en-US" altLang="en-US" sz="1700" dirty="0"/>
              <a:t>clause.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/>
              </a:rPr>
              <a:t>Transactions</a:t>
            </a:r>
            <a:endParaRPr lang="en-US" sz="2800" dirty="0">
              <a:ea typeface="+mj-ea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4059"/>
            <a:ext cx="7522211" cy="4390149"/>
          </a:xfrm>
        </p:spPr>
        <p:txBody>
          <a:bodyPr/>
          <a:lstStyle/>
          <a:p>
            <a:r>
              <a:rPr lang="en-US" altLang="en-US" sz="1700" dirty="0"/>
              <a:t>A</a:t>
            </a:r>
            <a:r>
              <a:rPr lang="en-US" altLang="en-US" sz="1700" b="1" dirty="0">
                <a:solidFill>
                  <a:srgbClr val="002060"/>
                </a:solidFill>
              </a:rPr>
              <a:t>  transaction </a:t>
            </a:r>
            <a:r>
              <a:rPr lang="en-US" altLang="en-US" sz="1700" dirty="0"/>
              <a:t>consists of a sequence of query and/or update statements and is a “unit” of work</a:t>
            </a:r>
          </a:p>
          <a:p>
            <a:r>
              <a:rPr lang="en-US" altLang="en-US" sz="1700" dirty="0"/>
              <a:t>The SQL standard specifies that a transaction begins implicitly when an SQL statement is executed.  </a:t>
            </a:r>
          </a:p>
          <a:p>
            <a:r>
              <a:rPr lang="en-US" altLang="en-US" sz="1700" dirty="0"/>
              <a:t>The transaction must end with one of the following statements: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Commit work</a:t>
            </a:r>
            <a:r>
              <a:rPr lang="en-US" altLang="en-US" sz="1700" dirty="0"/>
              <a:t>. The updates performed by the transaction become permanent in the database. 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Rollback work</a:t>
            </a:r>
            <a:r>
              <a:rPr lang="en-US" altLang="en-US" sz="1700" dirty="0"/>
              <a:t>. All  the updates performed by the SQL statements in the transaction are undone.</a:t>
            </a:r>
          </a:p>
          <a:p>
            <a:r>
              <a:rPr lang="en-US" altLang="en-US" sz="1700" dirty="0"/>
              <a:t>Atomic transaction</a:t>
            </a:r>
          </a:p>
          <a:p>
            <a:pPr lvl="1"/>
            <a:r>
              <a:rPr lang="en-US" altLang="en-US" sz="1700" dirty="0"/>
              <a:t>either fully executed or rolled back as if it never occurred</a:t>
            </a:r>
          </a:p>
          <a:p>
            <a:r>
              <a:rPr lang="en-US" altLang="en-US" sz="1700" dirty="0"/>
              <a:t>Isolation from concurrent transactions</a:t>
            </a:r>
          </a:p>
          <a:p>
            <a:r>
              <a:rPr lang="zh-TW" altLang="en-US" sz="1700" dirty="0"/>
              <a:t>第五章會有進一步</a:t>
            </a:r>
            <a:r>
              <a:rPr lang="en-US" altLang="zh-TW" sz="1700" dirty="0"/>
              <a:t>SQL</a:t>
            </a:r>
            <a:r>
              <a:rPr lang="zh-TW" altLang="en-US" sz="1700" dirty="0"/>
              <a:t>語法和</a:t>
            </a:r>
            <a:r>
              <a:rPr lang="en-US" altLang="zh-TW" sz="1700" dirty="0"/>
              <a:t>API</a:t>
            </a:r>
            <a:r>
              <a:rPr lang="zh-TW" altLang="en-US" sz="1700" dirty="0"/>
              <a:t>的用法說明。</a:t>
            </a:r>
            <a:endParaRPr lang="en-US" altLang="en-US" sz="17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Integrity Constraints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5063"/>
            <a:ext cx="7505638" cy="4302569"/>
          </a:xfrm>
        </p:spPr>
        <p:txBody>
          <a:bodyPr/>
          <a:lstStyle/>
          <a:p>
            <a:r>
              <a:rPr lang="en-US" altLang="en-US" sz="1700" dirty="0"/>
              <a:t>Integrity constraints guard against accidental damage to the database, by ensuring that authorized changes to the database do not result in a loss of data consistency. </a:t>
            </a:r>
          </a:p>
          <a:p>
            <a:pPr lvl="1"/>
            <a:r>
              <a:rPr lang="en-US" altLang="en-US" sz="1700" dirty="0"/>
              <a:t>A checking account must have a balance greater than $10,000.00</a:t>
            </a:r>
          </a:p>
          <a:p>
            <a:pPr lvl="1"/>
            <a:r>
              <a:rPr lang="en-US" altLang="en-US" sz="1700" dirty="0"/>
              <a:t>A salary of a bank employee must be at least $4.00 an hour</a:t>
            </a:r>
          </a:p>
          <a:p>
            <a:pPr lvl="1"/>
            <a:r>
              <a:rPr lang="en-US" altLang="en-US" sz="1700" dirty="0"/>
              <a:t>A customer must have a (non-null) phone number</a:t>
            </a:r>
          </a:p>
          <a:p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注意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: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 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When an integrity constraint is </a:t>
            </a:r>
            <a:r>
              <a:rPr lang="en-US" altLang="zh-TW" b="1" i="1" dirty="0">
                <a:solidFill>
                  <a:schemeClr val="tx2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violated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, the normal procedure is to </a:t>
            </a:r>
            <a:r>
              <a:rPr lang="en-US" altLang="zh-TW" b="1" dirty="0">
                <a:solidFill>
                  <a:srgbClr val="000099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reject the action 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that caused the violation.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r>
              <a:rPr lang="zh-TW" altLang="en-US" dirty="0">
                <a:ea typeface="新細明體" panose="02020500000000000000" pitchFamily="18" charset="-120"/>
              </a:rPr>
              <a:t>大部分資料庫軟體支援的兩種</a:t>
            </a:r>
            <a:r>
              <a:rPr lang="en-US" altLang="zh-TW" dirty="0">
                <a:ea typeface="新細明體" panose="02020500000000000000" pitchFamily="18" charset="-120"/>
              </a:rPr>
              <a:t> integrity constraints</a:t>
            </a:r>
            <a:r>
              <a:rPr lang="zh-TW" altLang="en-US" dirty="0">
                <a:ea typeface="新細明體" panose="02020500000000000000" pitchFamily="18" charset="-120"/>
              </a:rPr>
              <a:t> 類型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Constraints on a single relation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Constraints on two relations (Referential Integrity</a:t>
            </a:r>
            <a:r>
              <a:rPr lang="zh-TW" altLang="en-US" dirty="0">
                <a:ea typeface="新細明體" panose="02020500000000000000" pitchFamily="18" charset="-120"/>
              </a:rPr>
              <a:t> </a:t>
            </a:r>
            <a:r>
              <a:rPr lang="en-US" altLang="zh-TW" dirty="0">
                <a:ea typeface="新細明體" panose="02020500000000000000" pitchFamily="18" charset="-120"/>
              </a:rPr>
              <a:t>constraints)</a:t>
            </a:r>
          </a:p>
          <a:p>
            <a:pPr lvl="1"/>
            <a:endParaRPr lang="en-US" altLang="en-US" sz="1700" u="sng" dirty="0"/>
          </a:p>
          <a:p>
            <a:pPr lvl="1"/>
            <a:endParaRPr lang="en-US" altLang="en-US" sz="1700" dirty="0"/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09538"/>
            <a:ext cx="8077200" cy="609600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Constraints on a Single Relation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177925"/>
            <a:ext cx="7136765" cy="2640013"/>
          </a:xfrm>
        </p:spPr>
        <p:txBody>
          <a:bodyPr/>
          <a:lstStyle/>
          <a:p>
            <a:r>
              <a:rPr lang="en-US" altLang="en-US" sz="1700" b="1" dirty="0"/>
              <a:t>not null</a:t>
            </a:r>
          </a:p>
          <a:p>
            <a:r>
              <a:rPr lang="en-US" altLang="en-US" sz="1700" b="1" dirty="0"/>
              <a:t>primary key</a:t>
            </a:r>
          </a:p>
          <a:p>
            <a:r>
              <a:rPr lang="en-US" altLang="en-US" sz="1700" b="1" dirty="0"/>
              <a:t>unique</a:t>
            </a:r>
            <a:endParaRPr lang="en-US" altLang="en-US" sz="1700" dirty="0"/>
          </a:p>
          <a:p>
            <a:r>
              <a:rPr lang="en-US" altLang="en-US" sz="1700" b="1" dirty="0"/>
              <a:t>check </a:t>
            </a:r>
            <a:r>
              <a:rPr lang="en-US" altLang="en-US" sz="1700" dirty="0"/>
              <a:t>(P), where P is a predicate</a:t>
            </a: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786316" y="153909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Not Null Constraints 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135063"/>
            <a:ext cx="7144321" cy="2656649"/>
          </a:xfrm>
        </p:spPr>
        <p:txBody>
          <a:bodyPr/>
          <a:lstStyle/>
          <a:p>
            <a:r>
              <a:rPr kumimoji="0" lang="en-US" altLang="en-US" sz="1700" b="1" dirty="0"/>
              <a:t>not null</a:t>
            </a:r>
          </a:p>
          <a:p>
            <a:pPr lvl="1"/>
            <a:r>
              <a:rPr kumimoji="0" lang="en-US" altLang="en-US" sz="1700" dirty="0"/>
              <a:t>Declare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 and </a:t>
            </a:r>
            <a:r>
              <a:rPr kumimoji="0" lang="en-US" altLang="en-US" sz="1700" i="1" dirty="0"/>
              <a:t>budget</a:t>
            </a:r>
            <a:r>
              <a:rPr kumimoji="0" lang="en-US" altLang="en-US" sz="1700" dirty="0"/>
              <a:t> to be </a:t>
            </a:r>
            <a:r>
              <a:rPr lang="en-US" altLang="en-US" sz="1700" b="1" dirty="0"/>
              <a:t>not null</a:t>
            </a:r>
          </a:p>
          <a:p>
            <a:pPr>
              <a:buFont typeface="Monotype Sorts" charset="2"/>
              <a:buNone/>
            </a:pPr>
            <a:r>
              <a:rPr kumimoji="0" lang="en-US" altLang="en-US" sz="1700" i="1" dirty="0"/>
              <a:t>	          name </a:t>
            </a:r>
            <a:r>
              <a:rPr kumimoji="0" lang="en-US" altLang="en-US" sz="1700" b="1" dirty="0" err="1"/>
              <a:t>varchar</a:t>
            </a:r>
            <a:r>
              <a:rPr kumimoji="0" lang="en-US" altLang="en-US" sz="1700" dirty="0"/>
              <a:t>(20) </a:t>
            </a:r>
            <a:r>
              <a:rPr kumimoji="0" lang="en-US" altLang="en-US" sz="1700" b="1" dirty="0"/>
              <a:t>not null</a:t>
            </a:r>
            <a:br>
              <a:rPr kumimoji="0" lang="en-US" altLang="en-US" sz="1700" b="1" dirty="0"/>
            </a:br>
            <a:r>
              <a:rPr kumimoji="0" lang="en-US" altLang="en-US" sz="1700" b="1" dirty="0"/>
              <a:t>          </a:t>
            </a:r>
            <a:r>
              <a:rPr kumimoji="0" lang="en-US" altLang="en-US" sz="1700" i="1" dirty="0"/>
              <a:t>budget </a:t>
            </a:r>
            <a:r>
              <a:rPr kumimoji="0" lang="en-US" altLang="en-US" sz="1700" b="1" dirty="0"/>
              <a:t>numeric</a:t>
            </a:r>
            <a:r>
              <a:rPr kumimoji="0" lang="en-US" altLang="en-US" sz="1700" dirty="0"/>
              <a:t>(12,2) </a:t>
            </a:r>
            <a:r>
              <a:rPr kumimoji="0" lang="en-US" altLang="en-US" sz="1700" b="1" dirty="0"/>
              <a:t>not null</a:t>
            </a:r>
          </a:p>
          <a:p>
            <a:endParaRPr kumimoji="0" lang="en-US" altLang="en-US" sz="1700" dirty="0"/>
          </a:p>
          <a:p>
            <a:endParaRPr lang="en-US" altLang="en-US" b="1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2984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Unique Constraints 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4" y="1098487"/>
            <a:ext cx="7044690" cy="2583497"/>
          </a:xfrm>
        </p:spPr>
        <p:txBody>
          <a:bodyPr/>
          <a:lstStyle/>
          <a:p>
            <a:r>
              <a:rPr lang="en-US" altLang="en-US" sz="1700" b="1" dirty="0"/>
              <a:t>unique</a:t>
            </a:r>
            <a:r>
              <a:rPr kumimoji="0" lang="en-US" altLang="en-US" sz="1700" dirty="0"/>
              <a:t> (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1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2</a:t>
            </a:r>
            <a:r>
              <a:rPr kumimoji="0" lang="en-US" altLang="en-US" sz="1700" dirty="0"/>
              <a:t>, …,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m</a:t>
            </a:r>
            <a:r>
              <a:rPr kumimoji="0" lang="en-US" altLang="en-US" sz="1700" dirty="0"/>
              <a:t>)</a:t>
            </a:r>
          </a:p>
          <a:p>
            <a:pPr lvl="1"/>
            <a:r>
              <a:rPr kumimoji="0" lang="en-US" altLang="en-US" sz="1700" dirty="0"/>
              <a:t>The unique specification states that the attributes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1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2</a:t>
            </a:r>
            <a:r>
              <a:rPr kumimoji="0" lang="en-US" altLang="en-US" sz="1700" dirty="0"/>
              <a:t>, …,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m </a:t>
            </a:r>
            <a:r>
              <a:rPr kumimoji="0" lang="en-US" altLang="en-US" sz="1700" dirty="0"/>
              <a:t> form a candidate key.</a:t>
            </a:r>
          </a:p>
          <a:p>
            <a:pPr lvl="1"/>
            <a:r>
              <a:rPr kumimoji="0" lang="en-US" altLang="en-US" sz="1700" dirty="0"/>
              <a:t>Candidate keys are permitted to be null (in contrast to primary keys).</a:t>
            </a:r>
          </a:p>
          <a:p>
            <a:endParaRPr kumimoji="0" lang="en-US" altLang="en-US" sz="1700" dirty="0"/>
          </a:p>
          <a:p>
            <a:endParaRPr lang="en-US" altLang="en-US" b="1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41877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The check clause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086358"/>
            <a:ext cx="7600949" cy="4692650"/>
          </a:xfrm>
        </p:spPr>
        <p:txBody>
          <a:bodyPr/>
          <a:lstStyle/>
          <a:p>
            <a:r>
              <a:rPr lang="en-US" altLang="en-US" sz="1700" dirty="0"/>
              <a:t>The  </a:t>
            </a:r>
            <a:r>
              <a:rPr lang="en-US" altLang="en-US" sz="1700" b="1" dirty="0"/>
              <a:t>check </a:t>
            </a:r>
            <a:r>
              <a:rPr lang="en-US" altLang="en-US" sz="1700" dirty="0"/>
              <a:t>(P) clause specifies a predicate P that must be satisfied by every tuple in a relation.</a:t>
            </a:r>
          </a:p>
          <a:p>
            <a:r>
              <a:rPr lang="en-US" altLang="en-US" sz="1700" dirty="0"/>
              <a:t>Example:  ensure that semester is one of fall, winter, spring or summer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create table </a:t>
            </a:r>
            <a:r>
              <a:rPr lang="en-US" altLang="en-US" sz="1700" i="1" dirty="0"/>
              <a:t>section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(8),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(8),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semester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(6),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year </a:t>
            </a:r>
            <a:r>
              <a:rPr lang="en-US" altLang="en-US" sz="1700" b="1" dirty="0"/>
              <a:t>numeric </a:t>
            </a:r>
            <a:r>
              <a:rPr lang="en-US" altLang="en-US" sz="1700" dirty="0"/>
              <a:t>(4,0),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building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(15),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</a:t>
            </a:r>
            <a:r>
              <a:rPr lang="en-US" altLang="en-US" sz="1700" i="1" dirty="0" err="1"/>
              <a:t>room_number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(7),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time slot id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(4),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   primary key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   </a:t>
            </a:r>
            <a:r>
              <a:rPr lang="en-US" altLang="en-US" sz="1700" b="1" dirty="0">
                <a:solidFill>
                  <a:srgbClr val="002060"/>
                </a:solidFill>
              </a:rPr>
              <a:t>check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semester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('Fall', 'Winter', 'Spring', 'Summer')))</a:t>
            </a:r>
          </a:p>
          <a:p>
            <a:pPr>
              <a:spcBef>
                <a:spcPts val="0"/>
              </a:spcBef>
              <a:buNone/>
            </a:pPr>
            <a:endParaRPr lang="en-US" altLang="en-US" dirty="0"/>
          </a:p>
          <a:p>
            <a:pPr>
              <a:spcBef>
                <a:spcPts val="0"/>
              </a:spcBef>
            </a:pPr>
            <a:r>
              <a:rPr lang="zh-TW" altLang="en-US" sz="1600" dirty="0">
                <a:ea typeface="ＭＳ Ｐゴシック" charset="-128"/>
              </a:rPr>
              <a:t>有的資料庫軟體允許此功能在資料庫裡宣告，有的則只能利用應用程式，如利用</a:t>
            </a:r>
            <a:r>
              <a:rPr lang="en-US" altLang="zh-TW" sz="1600" dirty="0">
                <a:ea typeface="ＭＳ Ｐゴシック" charset="-128"/>
              </a:rPr>
              <a:t>asp.net</a:t>
            </a:r>
            <a:r>
              <a:rPr lang="zh-TW" altLang="en-US" sz="1600" dirty="0">
                <a:ea typeface="ＭＳ Ｐゴシック" charset="-128"/>
              </a:rPr>
              <a:t>的物件定義。</a:t>
            </a:r>
            <a:endParaRPr lang="en-US" altLang="zh-TW" sz="1600" dirty="0">
              <a:ea typeface="ＭＳ Ｐゴシック" charset="-128"/>
            </a:endParaRPr>
          </a:p>
          <a:p>
            <a:pPr>
              <a:spcBef>
                <a:spcPts val="0"/>
              </a:spcBef>
              <a:buNone/>
            </a:pPr>
            <a:endParaRPr lang="en-US" altLang="en-US" sz="1700" dirty="0"/>
          </a:p>
        </p:txBody>
      </p:sp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Referential Integrity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5063"/>
            <a:ext cx="7523394" cy="4943475"/>
          </a:xfrm>
        </p:spPr>
        <p:txBody>
          <a:bodyPr/>
          <a:lstStyle/>
          <a:p>
            <a:r>
              <a:rPr lang="en-US" altLang="en-US" sz="1700" dirty="0"/>
              <a:t>Ensures that a value that appears in one relation for a given set of attributes also appears for a certain set of attributes in another relation.</a:t>
            </a:r>
          </a:p>
          <a:p>
            <a:pPr lvl="1"/>
            <a:r>
              <a:rPr lang="en-US" altLang="en-US" sz="1700" dirty="0"/>
              <a:t>Example:  If “Biology” is a department name appearing in one of the tuples in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relation, then there exists a tuple in the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 relation for “Biology”.</a:t>
            </a:r>
          </a:p>
          <a:p>
            <a:r>
              <a:rPr lang="en-US" altLang="en-US" sz="1700" dirty="0"/>
              <a:t>Let A be a set of attributes.  Let R and S be two relations that contain attributes A and where A is the primary key of S. A is said to be a  </a:t>
            </a:r>
            <a:r>
              <a:rPr lang="en-US" altLang="en-US" sz="1700" b="1" dirty="0">
                <a:solidFill>
                  <a:srgbClr val="002060"/>
                </a:solidFill>
              </a:rPr>
              <a:t>foreign key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of R if for any values of A appearing in R these values also appear in S.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F69353C-B7AB-4F96-BD1B-EAA88573C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164759"/>
              </p:ext>
            </p:extLst>
          </p:nvPr>
        </p:nvGraphicFramePr>
        <p:xfrm>
          <a:off x="1901821" y="4216400"/>
          <a:ext cx="2103444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01148">
                  <a:extLst>
                    <a:ext uri="{9D8B030D-6E8A-4147-A177-3AD203B41FA5}">
                      <a16:colId xmlns:a16="http://schemas.microsoft.com/office/drawing/2014/main" val="1414990775"/>
                    </a:ext>
                  </a:extLst>
                </a:gridCol>
                <a:gridCol w="701148">
                  <a:extLst>
                    <a:ext uri="{9D8B030D-6E8A-4147-A177-3AD203B41FA5}">
                      <a16:colId xmlns:a16="http://schemas.microsoft.com/office/drawing/2014/main" val="1960622063"/>
                    </a:ext>
                  </a:extLst>
                </a:gridCol>
                <a:gridCol w="701148">
                  <a:extLst>
                    <a:ext uri="{9D8B030D-6E8A-4147-A177-3AD203B41FA5}">
                      <a16:colId xmlns:a16="http://schemas.microsoft.com/office/drawing/2014/main" val="2055162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22042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9B8C2DA-B71A-41E7-A3D1-561C0DD75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127352"/>
              </p:ext>
            </p:extLst>
          </p:nvPr>
        </p:nvGraphicFramePr>
        <p:xfrm>
          <a:off x="4806950" y="4216400"/>
          <a:ext cx="1778907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2969">
                  <a:extLst>
                    <a:ext uri="{9D8B030D-6E8A-4147-A177-3AD203B41FA5}">
                      <a16:colId xmlns:a16="http://schemas.microsoft.com/office/drawing/2014/main" val="1414990775"/>
                    </a:ext>
                  </a:extLst>
                </a:gridCol>
                <a:gridCol w="592969">
                  <a:extLst>
                    <a:ext uri="{9D8B030D-6E8A-4147-A177-3AD203B41FA5}">
                      <a16:colId xmlns:a16="http://schemas.microsoft.com/office/drawing/2014/main" val="1960622063"/>
                    </a:ext>
                  </a:extLst>
                </a:gridCol>
                <a:gridCol w="592969">
                  <a:extLst>
                    <a:ext uri="{9D8B030D-6E8A-4147-A177-3AD203B41FA5}">
                      <a16:colId xmlns:a16="http://schemas.microsoft.com/office/drawing/2014/main" val="2055162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sng" dirty="0"/>
                        <a:t>A</a:t>
                      </a:r>
                      <a:r>
                        <a:rPr lang="en-US" altLang="zh-TW" dirty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220424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F888E868-E13D-40FE-A876-ADDF1142C8AD}"/>
              </a:ext>
            </a:extLst>
          </p:cNvPr>
          <p:cNvSpPr txBox="1"/>
          <p:nvPr/>
        </p:nvSpPr>
        <p:spPr>
          <a:xfrm>
            <a:off x="1292676" y="4130208"/>
            <a:ext cx="560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R</a:t>
            </a:r>
            <a:endParaRPr lang="zh-TW" altLang="en-US" sz="20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C19FDC9-32A0-4471-B5ED-E7A7244D3967}"/>
              </a:ext>
            </a:extLst>
          </p:cNvPr>
          <p:cNvSpPr txBox="1"/>
          <p:nvPr/>
        </p:nvSpPr>
        <p:spPr>
          <a:xfrm>
            <a:off x="6754590" y="4078674"/>
            <a:ext cx="391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S</a:t>
            </a:r>
            <a:endParaRPr lang="zh-TW" altLang="en-US" sz="2000" dirty="0"/>
          </a:p>
        </p:txBody>
      </p:sp>
      <p:sp>
        <p:nvSpPr>
          <p:cNvPr id="6" name="箭號: 弧形上彎 5">
            <a:extLst>
              <a:ext uri="{FF2B5EF4-FFF2-40B4-BE49-F238E27FC236}">
                <a16:creationId xmlns:a16="http://schemas.microsoft.com/office/drawing/2014/main" id="{BF7A1478-B9AB-456E-8713-A9648C214AF8}"/>
              </a:ext>
            </a:extLst>
          </p:cNvPr>
          <p:cNvSpPr/>
          <p:nvPr/>
        </p:nvSpPr>
        <p:spPr bwMode="auto">
          <a:xfrm>
            <a:off x="2917371" y="4735286"/>
            <a:ext cx="2808515" cy="500743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Referential Integrity (Cont.)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35063"/>
            <a:ext cx="7461250" cy="3644201"/>
          </a:xfrm>
        </p:spPr>
        <p:txBody>
          <a:bodyPr/>
          <a:lstStyle/>
          <a:p>
            <a:r>
              <a:rPr lang="en-US" altLang="en-US" sz="1700" dirty="0"/>
              <a:t>Foreign </a:t>
            </a:r>
            <a:r>
              <a:rPr lang="en-US" altLang="en-US" sz="1700" i="1" dirty="0"/>
              <a:t>keys can be </a:t>
            </a:r>
            <a:r>
              <a:rPr lang="en-US" altLang="en-US" sz="1700" dirty="0"/>
              <a:t>specified as part of the SQL </a:t>
            </a:r>
            <a:r>
              <a:rPr lang="en-US" altLang="en-US" sz="1700" b="1" dirty="0"/>
              <a:t>create</a:t>
            </a:r>
            <a:r>
              <a:rPr lang="en-US" altLang="en-US" sz="1700" dirty="0"/>
              <a:t> </a:t>
            </a:r>
            <a:r>
              <a:rPr lang="en-US" altLang="en-US" sz="1700" b="1" dirty="0"/>
              <a:t>table </a:t>
            </a:r>
            <a:r>
              <a:rPr lang="en-US" altLang="en-US" sz="1700" dirty="0"/>
              <a:t> statement </a:t>
            </a:r>
          </a:p>
          <a:p>
            <a:pPr>
              <a:buNone/>
            </a:pPr>
            <a:r>
              <a:rPr lang="en-US" altLang="en-US" sz="1700" b="1" dirty="0"/>
              <a:t>         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</a:p>
          <a:p>
            <a:r>
              <a:rPr lang="en-US" altLang="en-US" sz="1700" dirty="0"/>
              <a:t>By default, a foreign key references the primary-key attributes of the referenced table.</a:t>
            </a:r>
          </a:p>
          <a:p>
            <a:pPr marL="0" indent="0">
              <a:buNone/>
            </a:pPr>
            <a:r>
              <a:rPr lang="zh-TW" altLang="en-US" b="1" dirty="0"/>
              <a:t>         </a:t>
            </a:r>
            <a:r>
              <a:rPr lang="en-US" altLang="en-US" b="1" dirty="0"/>
              <a:t>foreign key </a:t>
            </a:r>
            <a:r>
              <a:rPr lang="en-US" altLang="en-US" dirty="0"/>
              <a:t>(</a:t>
            </a:r>
            <a:r>
              <a:rPr lang="en-US" altLang="en-US" i="1" dirty="0" err="1"/>
              <a:t>dept_name</a:t>
            </a:r>
            <a:r>
              <a:rPr lang="en-US" altLang="en-US" dirty="0"/>
              <a:t>) </a:t>
            </a:r>
            <a:r>
              <a:rPr lang="en-US" altLang="en-US" b="1" dirty="0"/>
              <a:t>references </a:t>
            </a:r>
            <a:r>
              <a:rPr lang="en-US" altLang="en-US" i="1" dirty="0"/>
              <a:t>department </a:t>
            </a:r>
            <a:r>
              <a:rPr lang="en-US" altLang="en-US" dirty="0"/>
              <a:t>(</a:t>
            </a:r>
            <a:r>
              <a:rPr lang="en-US" altLang="en-US" i="1" dirty="0" err="1"/>
              <a:t>dept_name</a:t>
            </a:r>
            <a:r>
              <a:rPr lang="en-US" altLang="en-US" dirty="0"/>
              <a:t>)</a:t>
            </a:r>
            <a:endParaRPr lang="en-US" altLang="en-US" sz="1700" dirty="0"/>
          </a:p>
          <a:p>
            <a:r>
              <a:rPr lang="en-US" altLang="en-US" sz="1700" dirty="0"/>
              <a:t>SQL allows  a list of attributes of the referenced relation to be specified explicitly.</a:t>
            </a:r>
          </a:p>
          <a:p>
            <a:r>
              <a:rPr lang="zh-TW" altLang="en-US" dirty="0"/>
              <a:t>此限制對新增、刪除、修改的動作，都可能會影響到。</a:t>
            </a:r>
            <a:endParaRPr lang="en-US" altLang="en-US" sz="1700" dirty="0"/>
          </a:p>
          <a:p>
            <a:pPr>
              <a:buNone/>
            </a:pPr>
            <a:r>
              <a:rPr lang="en-US" altLang="en-US" sz="1700" b="1" dirty="0"/>
              <a:t>       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練習</a:t>
            </a:r>
          </a:p>
        </p:txBody>
      </p:sp>
      <p:sp>
        <p:nvSpPr>
          <p:cNvPr id="58371" name="內容版面配置區 2"/>
          <p:cNvSpPr>
            <a:spLocks noGrp="1"/>
          </p:cNvSpPr>
          <p:nvPr>
            <p:ph idx="1"/>
          </p:nvPr>
        </p:nvSpPr>
        <p:spPr>
          <a:xfrm>
            <a:off x="814388" y="754063"/>
            <a:ext cx="7661275" cy="5243512"/>
          </a:xfrm>
        </p:spPr>
        <p:txBody>
          <a:bodyPr/>
          <a:lstStyle/>
          <a:p>
            <a:r>
              <a:rPr lang="en-US" altLang="zh-TW" dirty="0">
                <a:ea typeface="ＭＳ Ｐゴシック" panose="020B0600070205080204" pitchFamily="34" charset="-128"/>
              </a:rPr>
              <a:t>For the following two tables, suppose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branch_name</a:t>
            </a:r>
            <a:r>
              <a:rPr lang="en-US" altLang="zh-TW" dirty="0">
                <a:ea typeface="ＭＳ Ｐゴシック" panose="020B0600070205080204" pitchFamily="34" charset="-128"/>
              </a:rPr>
              <a:t> in the </a:t>
            </a:r>
            <a:r>
              <a:rPr lang="en-US" altLang="zh-TW" i="1" dirty="0">
                <a:ea typeface="ＭＳ Ｐゴシック" panose="020B0600070205080204" pitchFamily="34" charset="-128"/>
              </a:rPr>
              <a:t>account</a:t>
            </a:r>
            <a:r>
              <a:rPr lang="en-US" altLang="zh-TW" dirty="0">
                <a:ea typeface="ＭＳ Ｐゴシック" panose="020B0600070205080204" pitchFamily="34" charset="-128"/>
              </a:rPr>
              <a:t> relation is a foreign key referencing the </a:t>
            </a:r>
            <a:r>
              <a:rPr lang="en-US" altLang="zh-TW" i="1" dirty="0">
                <a:ea typeface="ＭＳ Ｐゴシック" panose="020B0600070205080204" pitchFamily="34" charset="-128"/>
              </a:rPr>
              <a:t>branch </a:t>
            </a:r>
            <a:r>
              <a:rPr lang="en-US" altLang="zh-TW" dirty="0">
                <a:ea typeface="ＭＳ Ｐゴシック" panose="020B0600070205080204" pitchFamily="34" charset="-128"/>
              </a:rPr>
              <a:t>table. When will the referential constraint be violated? (Consider the case of </a:t>
            </a:r>
            <a:r>
              <a:rPr lang="en-US" altLang="zh-TW" i="1" dirty="0">
                <a:ea typeface="ＭＳ Ｐゴシック" panose="020B0600070205080204" pitchFamily="34" charset="-128"/>
              </a:rPr>
              <a:t>insert, delete, update</a:t>
            </a:r>
            <a:r>
              <a:rPr lang="en-US" altLang="zh-TW" dirty="0">
                <a:ea typeface="ＭＳ Ｐゴシック" panose="020B0600070205080204" pitchFamily="34" charset="-128"/>
              </a:rPr>
              <a:t>).</a:t>
            </a:r>
          </a:p>
          <a:p>
            <a:pPr>
              <a:buFont typeface="Monotype Sorts" pitchFamily="2" charset="2"/>
              <a:buNone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       branch</a:t>
            </a: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endParaRPr lang="en-US" altLang="zh-TW" dirty="0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       account</a:t>
            </a:r>
            <a:endParaRPr lang="zh-TW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8372" name="Rectangle 1028"/>
          <p:cNvSpPr>
            <a:spLocks noChangeArrowheads="1"/>
          </p:cNvSpPr>
          <p:nvPr/>
        </p:nvSpPr>
        <p:spPr bwMode="auto">
          <a:xfrm>
            <a:off x="2552700" y="1890713"/>
            <a:ext cx="1600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 i="1">
                <a:ea typeface="新細明體" panose="02020500000000000000" pitchFamily="18" charset="-120"/>
              </a:rPr>
              <a:t>branch_name</a:t>
            </a:r>
          </a:p>
        </p:txBody>
      </p:sp>
      <p:sp>
        <p:nvSpPr>
          <p:cNvPr id="58373" name="Rectangle 1029"/>
          <p:cNvSpPr>
            <a:spLocks noChangeArrowheads="1"/>
          </p:cNvSpPr>
          <p:nvPr/>
        </p:nvSpPr>
        <p:spPr bwMode="auto">
          <a:xfrm>
            <a:off x="4151313" y="1890713"/>
            <a:ext cx="1828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 i="1">
                <a:ea typeface="新細明體" panose="02020500000000000000" pitchFamily="18" charset="-120"/>
              </a:rPr>
              <a:t>branch_city</a:t>
            </a:r>
            <a:endParaRPr kumimoji="0" lang="en-US" altLang="zh-TW" sz="1800">
              <a:ea typeface="新細明體" panose="02020500000000000000" pitchFamily="18" charset="-120"/>
            </a:endParaRPr>
          </a:p>
        </p:txBody>
      </p:sp>
      <p:sp>
        <p:nvSpPr>
          <p:cNvPr id="58374" name="Rectangle 1030"/>
          <p:cNvSpPr>
            <a:spLocks noChangeArrowheads="1"/>
          </p:cNvSpPr>
          <p:nvPr/>
        </p:nvSpPr>
        <p:spPr bwMode="auto">
          <a:xfrm>
            <a:off x="5980113" y="1890713"/>
            <a:ext cx="1676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 i="1">
                <a:ea typeface="新細明體" panose="02020500000000000000" pitchFamily="18" charset="-120"/>
              </a:rPr>
              <a:t>assets</a:t>
            </a:r>
          </a:p>
        </p:txBody>
      </p:sp>
      <p:sp>
        <p:nvSpPr>
          <p:cNvPr id="58375" name="Rectangle 1031"/>
          <p:cNvSpPr>
            <a:spLocks noChangeArrowheads="1"/>
          </p:cNvSpPr>
          <p:nvPr/>
        </p:nvSpPr>
        <p:spPr bwMode="auto">
          <a:xfrm>
            <a:off x="2579688" y="2271713"/>
            <a:ext cx="1600200" cy="144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Perryridge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Downtown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Brighton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Mianus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Redwood</a:t>
            </a:r>
          </a:p>
        </p:txBody>
      </p:sp>
      <p:sp>
        <p:nvSpPr>
          <p:cNvPr id="58376" name="Rectangle 1032"/>
          <p:cNvSpPr>
            <a:spLocks noChangeArrowheads="1"/>
          </p:cNvSpPr>
          <p:nvPr/>
        </p:nvSpPr>
        <p:spPr bwMode="auto">
          <a:xfrm>
            <a:off x="4151313" y="2271713"/>
            <a:ext cx="1828800" cy="144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Horseneck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Brooklyn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Brooklyn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Horseneck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Palo Alto</a:t>
            </a:r>
          </a:p>
        </p:txBody>
      </p:sp>
      <p:sp>
        <p:nvSpPr>
          <p:cNvPr id="58377" name="Rectangle 1033"/>
          <p:cNvSpPr>
            <a:spLocks noChangeArrowheads="1"/>
          </p:cNvSpPr>
          <p:nvPr/>
        </p:nvSpPr>
        <p:spPr bwMode="auto">
          <a:xfrm>
            <a:off x="5980113" y="2271713"/>
            <a:ext cx="1676400" cy="144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>
                <a:ea typeface="新細明體" panose="02020500000000000000" pitchFamily="18" charset="-120"/>
              </a:rPr>
              <a:t>1700000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>
                <a:ea typeface="新細明體" panose="02020500000000000000" pitchFamily="18" charset="-120"/>
              </a:rPr>
              <a:t>9000000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>
                <a:ea typeface="新細明體" panose="02020500000000000000" pitchFamily="18" charset="-120"/>
              </a:rPr>
              <a:t>7100000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>
                <a:ea typeface="新細明體" panose="02020500000000000000" pitchFamily="18" charset="-120"/>
              </a:rPr>
              <a:t>400000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>
                <a:ea typeface="新細明體" panose="02020500000000000000" pitchFamily="18" charset="-120"/>
              </a:rPr>
              <a:t>2100000</a:t>
            </a:r>
            <a:endParaRPr kumimoji="0" lang="zh-TW" altLang="en-US" sz="1800" i="1">
              <a:ea typeface="新細明體" panose="02020500000000000000" pitchFamily="18" charset="-120"/>
            </a:endParaRPr>
          </a:p>
        </p:txBody>
      </p:sp>
      <p:sp>
        <p:nvSpPr>
          <p:cNvPr id="58378" name="Rectangle 1042"/>
          <p:cNvSpPr>
            <a:spLocks noChangeArrowheads="1"/>
          </p:cNvSpPr>
          <p:nvPr/>
        </p:nvSpPr>
        <p:spPr bwMode="auto">
          <a:xfrm>
            <a:off x="2613025" y="4400550"/>
            <a:ext cx="1600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 i="1">
                <a:ea typeface="新細明體" panose="02020500000000000000" pitchFamily="18" charset="-120"/>
              </a:rPr>
              <a:t>branch_name</a:t>
            </a:r>
          </a:p>
        </p:txBody>
      </p:sp>
      <p:sp>
        <p:nvSpPr>
          <p:cNvPr id="58379" name="Rectangle 1043"/>
          <p:cNvSpPr>
            <a:spLocks noChangeArrowheads="1"/>
          </p:cNvSpPr>
          <p:nvPr/>
        </p:nvSpPr>
        <p:spPr bwMode="auto">
          <a:xfrm>
            <a:off x="4211638" y="4400550"/>
            <a:ext cx="1828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 i="1">
                <a:ea typeface="新細明體" panose="02020500000000000000" pitchFamily="18" charset="-120"/>
              </a:rPr>
              <a:t>account_number</a:t>
            </a:r>
            <a:endParaRPr kumimoji="0" lang="en-US" altLang="zh-TW" sz="1800">
              <a:ea typeface="新細明體" panose="02020500000000000000" pitchFamily="18" charset="-120"/>
            </a:endParaRPr>
          </a:p>
        </p:txBody>
      </p:sp>
      <p:sp>
        <p:nvSpPr>
          <p:cNvPr id="58380" name="Rectangle 1044"/>
          <p:cNvSpPr>
            <a:spLocks noChangeArrowheads="1"/>
          </p:cNvSpPr>
          <p:nvPr/>
        </p:nvSpPr>
        <p:spPr bwMode="auto">
          <a:xfrm>
            <a:off x="6040438" y="4400550"/>
            <a:ext cx="1676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 i="1">
                <a:ea typeface="新細明體" panose="02020500000000000000" pitchFamily="18" charset="-120"/>
              </a:rPr>
              <a:t>balance</a:t>
            </a:r>
          </a:p>
        </p:txBody>
      </p:sp>
      <p:sp>
        <p:nvSpPr>
          <p:cNvPr id="58381" name="Rectangle 1045"/>
          <p:cNvSpPr>
            <a:spLocks noChangeArrowheads="1"/>
          </p:cNvSpPr>
          <p:nvPr/>
        </p:nvSpPr>
        <p:spPr bwMode="auto">
          <a:xfrm>
            <a:off x="2640013" y="4781550"/>
            <a:ext cx="1600200" cy="144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Perryridge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Perryridge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Brighton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Brighton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Redwood</a:t>
            </a:r>
          </a:p>
        </p:txBody>
      </p:sp>
      <p:sp>
        <p:nvSpPr>
          <p:cNvPr id="58382" name="Rectangle 1046"/>
          <p:cNvSpPr>
            <a:spLocks noChangeArrowheads="1"/>
          </p:cNvSpPr>
          <p:nvPr/>
        </p:nvSpPr>
        <p:spPr bwMode="auto">
          <a:xfrm>
            <a:off x="4211638" y="4781550"/>
            <a:ext cx="1828800" cy="144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A-102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A-201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A-217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A-215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ea typeface="新細明體" panose="02020500000000000000" pitchFamily="18" charset="-120"/>
              </a:rPr>
              <a:t>A-222</a:t>
            </a:r>
          </a:p>
        </p:txBody>
      </p:sp>
      <p:sp>
        <p:nvSpPr>
          <p:cNvPr id="58383" name="Rectangle 1047"/>
          <p:cNvSpPr>
            <a:spLocks noChangeArrowheads="1"/>
          </p:cNvSpPr>
          <p:nvPr/>
        </p:nvSpPr>
        <p:spPr bwMode="auto">
          <a:xfrm>
            <a:off x="6040438" y="4781550"/>
            <a:ext cx="1676400" cy="144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>
                <a:ea typeface="新細明體" panose="02020500000000000000" pitchFamily="18" charset="-120"/>
              </a:rPr>
              <a:t>400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>
                <a:ea typeface="新細明體" panose="02020500000000000000" pitchFamily="18" charset="-120"/>
              </a:rPr>
              <a:t>900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>
                <a:ea typeface="新細明體" panose="02020500000000000000" pitchFamily="18" charset="-120"/>
              </a:rPr>
              <a:t>750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>
                <a:ea typeface="新細明體" panose="02020500000000000000" pitchFamily="18" charset="-120"/>
              </a:rPr>
              <a:t>750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>
                <a:ea typeface="新細明體" panose="02020500000000000000" pitchFamily="18" charset="-120"/>
              </a:rPr>
              <a:t>700</a:t>
            </a:r>
            <a:endParaRPr kumimoji="0" lang="zh-TW" altLang="en-US" sz="1800" i="1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56622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8539163" cy="427038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Cascading Actions in Referential Integrity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9" y="1123279"/>
            <a:ext cx="7806431" cy="4447401"/>
          </a:xfrm>
        </p:spPr>
        <p:txBody>
          <a:bodyPr/>
          <a:lstStyle/>
          <a:p>
            <a:pPr>
              <a:tabLst>
                <a:tab pos="2173288" algn="l"/>
              </a:tabLst>
            </a:pPr>
            <a:r>
              <a:rPr lang="en-US" altLang="en-US" sz="1700" dirty="0"/>
              <a:t>When a referential-integrity constraint is violated, the normal procedure is to reject the action that caused the violation.</a:t>
            </a:r>
          </a:p>
          <a:p>
            <a:pPr>
              <a:tabLst>
                <a:tab pos="2173288" algn="l"/>
              </a:tabLst>
            </a:pPr>
            <a:r>
              <a:rPr lang="en-US" altLang="en-US" sz="1700" dirty="0"/>
              <a:t>An alternative, in case of delete or update is to cascade</a:t>
            </a:r>
          </a:p>
          <a:p>
            <a:pPr>
              <a:buNone/>
              <a:tabLst>
                <a:tab pos="2173288" algn="l"/>
              </a:tabLst>
            </a:pPr>
            <a:r>
              <a:rPr lang="en-US" altLang="en-US" sz="1700" b="1" dirty="0"/>
              <a:t>            create table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(</a:t>
            </a:r>
            <a:br>
              <a:rPr lang="en-US" altLang="en-US" sz="1700" dirty="0"/>
            </a:br>
            <a:r>
              <a:rPr lang="en-US" altLang="en-US" sz="1700" dirty="0"/>
              <a:t>             (…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i="1" dirty="0"/>
              <a:t>dept_name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         </a:t>
            </a:r>
            <a:r>
              <a:rPr lang="en-US" altLang="en-US" sz="1700" b="1" dirty="0"/>
              <a:t>on delete cascade</a:t>
            </a:r>
            <a:br>
              <a:rPr lang="en-US" altLang="en-US" sz="1700" b="1" dirty="0"/>
            </a:br>
            <a:r>
              <a:rPr lang="en-US" altLang="en-US" sz="1700" b="1" dirty="0"/>
              <a:t>                   on update cascade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dirty="0"/>
              <a:t>                . . .) </a:t>
            </a:r>
          </a:p>
          <a:p>
            <a:pPr>
              <a:tabLst>
                <a:tab pos="2173288" algn="l"/>
              </a:tabLst>
            </a:pPr>
            <a:r>
              <a:rPr lang="en-US" altLang="en-US" sz="1700" dirty="0"/>
              <a:t>Instead of cascade we can use :  </a:t>
            </a:r>
          </a:p>
          <a:p>
            <a:pPr lvl="1">
              <a:tabLst>
                <a:tab pos="2173288" algn="l"/>
              </a:tabLst>
            </a:pPr>
            <a:r>
              <a:rPr lang="en-US" altLang="en-US" sz="1700" b="1" dirty="0"/>
              <a:t>set null</a:t>
            </a:r>
            <a:r>
              <a:rPr lang="en-US" altLang="en-US" sz="1700" dirty="0"/>
              <a:t>,</a:t>
            </a:r>
          </a:p>
          <a:p>
            <a:pPr lvl="1">
              <a:tabLst>
                <a:tab pos="2173288" algn="l"/>
              </a:tabLst>
            </a:pPr>
            <a:r>
              <a:rPr lang="en-US" altLang="en-US" sz="1700" b="1" dirty="0"/>
              <a:t>set default</a:t>
            </a:r>
          </a:p>
          <a:p>
            <a:pPr>
              <a:tabLst>
                <a:tab pos="2173288" algn="l"/>
              </a:tabLst>
            </a:pPr>
            <a:r>
              <a:rPr lang="zh-TW" altLang="en-US" b="1" dirty="0"/>
              <a:t>注意</a:t>
            </a:r>
            <a:r>
              <a:rPr lang="en-US" altLang="zh-TW" b="1" dirty="0"/>
              <a:t>:</a:t>
            </a:r>
            <a:r>
              <a:rPr lang="zh-TW" altLang="en-US" b="1" dirty="0"/>
              <a:t> 不同軟體支援的選項可能會有些微的差異</a:t>
            </a:r>
            <a:endParaRPr lang="en-US" altLang="en-US" dirty="0"/>
          </a:p>
          <a:p>
            <a:pPr>
              <a:buFont typeface="Monotype Sorts" charset="2"/>
              <a:buNone/>
              <a:tabLst>
                <a:tab pos="2173288" algn="l"/>
              </a:tabLst>
            </a:pPr>
            <a:endParaRPr lang="en-US" altLang="en-US" i="1" dirty="0"/>
          </a:p>
        </p:txBody>
      </p:sp>
      <p:sp>
        <p:nvSpPr>
          <p:cNvPr id="2" name="文字方塊 1"/>
          <p:cNvSpPr txBox="1"/>
          <p:nvPr/>
        </p:nvSpPr>
        <p:spPr>
          <a:xfrm>
            <a:off x="5069681" y="3204746"/>
            <a:ext cx="2813538" cy="3385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delete</a:t>
            </a:r>
            <a:r>
              <a:rPr lang="zh-TW" altLang="en-US" dirty="0"/>
              <a:t>和</a:t>
            </a:r>
            <a:r>
              <a:rPr lang="en-US" altLang="zh-TW" dirty="0"/>
              <a:t>update</a:t>
            </a:r>
            <a:r>
              <a:rPr lang="zh-TW" altLang="en-US" dirty="0"/>
              <a:t>可以不一樣</a:t>
            </a:r>
          </a:p>
        </p:txBody>
      </p:sp>
      <p:sp>
        <p:nvSpPr>
          <p:cNvPr id="3" name="右大括弧 2"/>
          <p:cNvSpPr/>
          <p:nvPr/>
        </p:nvSpPr>
        <p:spPr bwMode="auto">
          <a:xfrm>
            <a:off x="4589585" y="3253154"/>
            <a:ext cx="369277" cy="290146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30823" y="148585"/>
            <a:ext cx="8565043" cy="609600"/>
          </a:xfrm>
        </p:spPr>
        <p:txBody>
          <a:bodyPr/>
          <a:lstStyle/>
          <a:p>
            <a:pPr>
              <a:defRPr/>
            </a:pPr>
            <a:r>
              <a:rPr lang="en-US" altLang="zh-TW" sz="24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sz="2600" dirty="0">
                <a:ea typeface="+mj-ea"/>
              </a:rPr>
              <a:t>Integrity Constraint Violation During Transactions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30365"/>
            <a:ext cx="7706647" cy="4843716"/>
          </a:xfrm>
        </p:spPr>
        <p:txBody>
          <a:bodyPr/>
          <a:lstStyle/>
          <a:p>
            <a:r>
              <a:rPr lang="en-US" altLang="en-US" sz="1700" dirty="0"/>
              <a:t>Consider: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      create table </a:t>
            </a:r>
            <a:r>
              <a:rPr lang="en-US" altLang="en-US" sz="1700" i="1" dirty="0"/>
              <a:t>person </a:t>
            </a:r>
            <a:r>
              <a:rPr lang="en-US" altLang="en-US" sz="1700" dirty="0"/>
              <a:t>(</a:t>
            </a:r>
            <a:br>
              <a:rPr lang="en-US" altLang="en-US" sz="1700" dirty="0"/>
            </a:br>
            <a:r>
              <a:rPr lang="en-US" altLang="en-US" sz="1700" dirty="0"/>
              <a:t>	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(10),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(40),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mother</a:t>
            </a:r>
            <a:r>
              <a:rPr lang="en-US" altLang="en-US" sz="1700" dirty="0"/>
              <a:t>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(10),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father </a:t>
            </a:r>
            <a:r>
              <a:rPr lang="en-US" altLang="en-US" sz="1700" b="1" dirty="0"/>
              <a:t> char</a:t>
            </a:r>
            <a:r>
              <a:rPr lang="en-US" altLang="en-US" sz="1700" dirty="0"/>
              <a:t>(10),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primary key</a:t>
            </a:r>
            <a:r>
              <a:rPr lang="en-US" altLang="en-US" sz="1700" i="1" dirty="0"/>
              <a:t> ID,</a:t>
            </a:r>
            <a:br>
              <a:rPr lang="en-US" altLang="en-US" sz="1700" i="1" dirty="0"/>
            </a:br>
            <a:r>
              <a:rPr lang="en-US" altLang="en-US" sz="1700" i="1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father</a:t>
            </a:r>
            <a:r>
              <a:rPr lang="en-US" altLang="en-US" sz="1700" b="1" dirty="0"/>
              <a:t> references </a:t>
            </a:r>
            <a:r>
              <a:rPr lang="en-US" altLang="en-US" sz="1700" i="1" dirty="0"/>
              <a:t>person,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mother</a:t>
            </a:r>
            <a:r>
              <a:rPr lang="en-US" altLang="en-US" sz="1700" dirty="0"/>
              <a:t>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 person</a:t>
            </a:r>
            <a:r>
              <a:rPr lang="en-US" altLang="en-US" sz="1700" dirty="0"/>
              <a:t>)</a:t>
            </a:r>
          </a:p>
          <a:p>
            <a:r>
              <a:rPr lang="en-US" altLang="en-US" sz="1700" dirty="0"/>
              <a:t>How to insert a tuple without causing constraint violation?</a:t>
            </a:r>
          </a:p>
          <a:p>
            <a:pPr lvl="1"/>
            <a:r>
              <a:rPr lang="en-US" altLang="en-US" sz="1700" dirty="0"/>
              <a:t>Insert father and mother of a person before inserting person</a:t>
            </a:r>
          </a:p>
          <a:p>
            <a:pPr lvl="1"/>
            <a:r>
              <a:rPr lang="en-US" altLang="en-US" sz="1700" dirty="0"/>
              <a:t>OR, set father and mother to null initially, update after inserting all persons (not possible if father and mother attributes declared to be </a:t>
            </a:r>
            <a:r>
              <a:rPr lang="en-US" altLang="en-US" sz="1700" b="1" dirty="0"/>
              <a:t>not null</a:t>
            </a:r>
            <a:r>
              <a:rPr lang="en-US" altLang="en-US" sz="1700" dirty="0"/>
              <a:t>) </a:t>
            </a:r>
          </a:p>
          <a:p>
            <a:pPr lvl="1"/>
            <a:r>
              <a:rPr lang="en-US" altLang="en-US" sz="1700" dirty="0"/>
              <a:t>OR defer constraint</a:t>
            </a:r>
            <a:r>
              <a:rPr lang="en-US" altLang="en-US" sz="1700" b="1" dirty="0"/>
              <a:t> </a:t>
            </a:r>
            <a:r>
              <a:rPr lang="en-US" altLang="en-US" sz="1700" dirty="0"/>
              <a:t>checking</a:t>
            </a:r>
            <a:r>
              <a:rPr lang="en-US" altLang="zh-TW" dirty="0"/>
              <a:t>:</a:t>
            </a:r>
            <a:r>
              <a:rPr lang="zh-TW" altLang="en-US" dirty="0"/>
              <a:t>　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b="1" dirty="0"/>
              <a:t>	set constraints </a:t>
            </a:r>
            <a:r>
              <a:rPr lang="en-US" altLang="zh-TW" dirty="0"/>
              <a:t>constraint-list </a:t>
            </a:r>
            <a:r>
              <a:rPr lang="en-US" altLang="zh-TW" b="1" dirty="0"/>
              <a:t>deferred (commit</a:t>
            </a:r>
            <a:r>
              <a:rPr lang="zh-TW" altLang="en-US" b="1" dirty="0"/>
              <a:t>時才</a:t>
            </a:r>
            <a:r>
              <a:rPr lang="en-US" altLang="zh-TW" b="1" dirty="0"/>
              <a:t>check)</a:t>
            </a:r>
            <a:endParaRPr lang="en-US" altLang="en-US" sz="1700" b="1" dirty="0"/>
          </a:p>
          <a:p>
            <a:pPr lvl="1"/>
            <a:endParaRPr lang="en-US" alt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C7BC623-86B3-4613-861E-F6822B2A5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649868"/>
              </p:ext>
            </p:extLst>
          </p:nvPr>
        </p:nvGraphicFramePr>
        <p:xfrm>
          <a:off x="4822370" y="1397000"/>
          <a:ext cx="3656636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18267">
                  <a:extLst>
                    <a:ext uri="{9D8B030D-6E8A-4147-A177-3AD203B41FA5}">
                      <a16:colId xmlns:a16="http://schemas.microsoft.com/office/drawing/2014/main" val="1174573173"/>
                    </a:ext>
                  </a:extLst>
                </a:gridCol>
                <a:gridCol w="901101">
                  <a:extLst>
                    <a:ext uri="{9D8B030D-6E8A-4147-A177-3AD203B41FA5}">
                      <a16:colId xmlns:a16="http://schemas.microsoft.com/office/drawing/2014/main" val="156677181"/>
                    </a:ext>
                  </a:extLst>
                </a:gridCol>
                <a:gridCol w="958231">
                  <a:extLst>
                    <a:ext uri="{9D8B030D-6E8A-4147-A177-3AD203B41FA5}">
                      <a16:colId xmlns:a16="http://schemas.microsoft.com/office/drawing/2014/main" val="1227017082"/>
                    </a:ext>
                  </a:extLst>
                </a:gridCol>
                <a:gridCol w="1079037">
                  <a:extLst>
                    <a:ext uri="{9D8B030D-6E8A-4147-A177-3AD203B41FA5}">
                      <a16:colId xmlns:a16="http://schemas.microsoft.com/office/drawing/2014/main" val="2706509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mother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father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3481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John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null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null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179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Mary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null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Null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6389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Tom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21984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</a:t>
            </a:r>
            <a:r>
              <a:rPr lang="zh-TW" altLang="en-US" sz="2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sz="2800" dirty="0">
                <a:ea typeface="+mj-ea"/>
              </a:rPr>
              <a:t>Complex Check Conditions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34402" cy="4173156"/>
          </a:xfrm>
        </p:spPr>
        <p:txBody>
          <a:bodyPr/>
          <a:lstStyle/>
          <a:p>
            <a:r>
              <a:rPr lang="en-US" altLang="en-US" sz="1700" dirty="0"/>
              <a:t>The predicate in the check clause can be an arbitrary predicate that can include a subquery.</a:t>
            </a:r>
          </a:p>
          <a:p>
            <a:pPr>
              <a:buNone/>
            </a:pPr>
            <a:r>
              <a:rPr lang="en-US" altLang="en-US" sz="1700" b="1" dirty="0"/>
              <a:t>          check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time_slot_id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time_slot_id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from </a:t>
            </a:r>
            <a:r>
              <a:rPr lang="en-US" altLang="en-US" sz="1700" i="1" dirty="0" err="1"/>
              <a:t>time_slot</a:t>
            </a:r>
            <a:r>
              <a:rPr lang="en-US" altLang="en-US" sz="1700" dirty="0"/>
              <a:t>))</a:t>
            </a:r>
          </a:p>
          <a:p>
            <a:pPr>
              <a:buNone/>
            </a:pPr>
            <a:r>
              <a:rPr lang="en-US" altLang="en-US" sz="1700" dirty="0"/>
              <a:t>     The check condition states  that the  </a:t>
            </a:r>
            <a:r>
              <a:rPr lang="en-US" altLang="en-US" sz="1700" dirty="0" err="1"/>
              <a:t>time_slot_id</a:t>
            </a:r>
            <a:r>
              <a:rPr lang="en-US" altLang="en-US" sz="1700" dirty="0"/>
              <a:t> in each tuple in the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 relation is actually the identifier of a time slot in the </a:t>
            </a:r>
            <a:r>
              <a:rPr lang="en-US" altLang="en-US" sz="1700" i="1" dirty="0" err="1"/>
              <a:t>time_slot</a:t>
            </a:r>
            <a:r>
              <a:rPr lang="en-US" altLang="en-US" sz="1700" dirty="0"/>
              <a:t> relation.</a:t>
            </a:r>
          </a:p>
          <a:p>
            <a:pPr lvl="1"/>
            <a:r>
              <a:rPr lang="en-US" altLang="en-US" sz="1700" dirty="0"/>
              <a:t>The condition has to be checked not only when a tuple is inserted or modified in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, but also when the relation </a:t>
            </a:r>
            <a:r>
              <a:rPr lang="en-US" altLang="en-US" sz="1700" i="1" dirty="0" err="1"/>
              <a:t>time_slot</a:t>
            </a:r>
            <a:r>
              <a:rPr lang="en-US" altLang="en-US" sz="1700" i="1" dirty="0"/>
              <a:t> </a:t>
            </a:r>
            <a:r>
              <a:rPr lang="en-US" altLang="en-US" sz="1700" dirty="0"/>
              <a:t>changes </a:t>
            </a:r>
          </a:p>
          <a:p>
            <a:pPr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7613" y="163513"/>
            <a:ext cx="7264400" cy="55245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Built-in Data Types in SQL 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2060"/>
            <a:ext cx="7827357" cy="4862512"/>
          </a:xfrm>
        </p:spPr>
        <p:txBody>
          <a:bodyPr/>
          <a:lstStyle/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date:</a:t>
            </a:r>
            <a:r>
              <a:rPr lang="en-US" altLang="en-US" sz="1700" dirty="0"/>
              <a:t>  Dates, containing a (4 digit) year, month and date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date</a:t>
            </a:r>
            <a:r>
              <a:rPr lang="en-US" altLang="en-US" sz="1700" dirty="0"/>
              <a:t> '2005-7-27'</a:t>
            </a:r>
          </a:p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time:</a:t>
            </a:r>
            <a:r>
              <a:rPr lang="en-US" altLang="en-US" sz="1700" b="1" dirty="0"/>
              <a:t> </a:t>
            </a:r>
            <a:r>
              <a:rPr lang="en-US" altLang="en-US" sz="1700" dirty="0"/>
              <a:t> Time of day, in hours, minutes and seconds.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</a:t>
            </a:r>
            <a:r>
              <a:rPr lang="en-US" altLang="en-US" sz="1700" b="1" dirty="0"/>
              <a:t> time</a:t>
            </a:r>
            <a:r>
              <a:rPr lang="en-US" altLang="en-US" sz="1700" dirty="0"/>
              <a:t> '09:00:30'        </a:t>
            </a:r>
            <a:r>
              <a:rPr lang="en-US" altLang="en-US" sz="1700" b="1" dirty="0"/>
              <a:t> time</a:t>
            </a:r>
            <a:r>
              <a:rPr lang="en-US" altLang="en-US" sz="1700" dirty="0"/>
              <a:t> '09:00:30.75'</a:t>
            </a:r>
          </a:p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timestamp:</a:t>
            </a:r>
            <a:r>
              <a:rPr lang="en-US" altLang="en-US" sz="1700" dirty="0"/>
              <a:t> date plus time of day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timestamp</a:t>
            </a:r>
            <a:r>
              <a:rPr lang="en-US" altLang="en-US" sz="1700" dirty="0"/>
              <a:t>  '2005-7-27 09:00:30.75'</a:t>
            </a:r>
          </a:p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interval:</a:t>
            </a:r>
            <a:r>
              <a:rPr lang="en-US" altLang="en-US" sz="1700" dirty="0"/>
              <a:t>  period of time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  interval  '1' day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Subtracting a date/time/timestamp value from another gives an interval value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Interval values can be added to date/time/timestamp values</a:t>
            </a:r>
          </a:p>
          <a:p>
            <a:pPr>
              <a:tabLst>
                <a:tab pos="1250950" algn="l"/>
              </a:tabLst>
            </a:pPr>
            <a:r>
              <a:rPr lang="zh-TW" altLang="en-US" dirty="0">
                <a:ea typeface="新細明體" panose="02020500000000000000" pitchFamily="18" charset="-120"/>
              </a:rPr>
              <a:t>各資料庫軟體的做法不同</a:t>
            </a:r>
            <a:r>
              <a:rPr lang="en-US" altLang="zh-TW" dirty="0">
                <a:ea typeface="新細明體" panose="02020500000000000000" pitchFamily="18" charset="-120"/>
              </a:rPr>
              <a:t>,</a:t>
            </a:r>
            <a:r>
              <a:rPr lang="zh-TW" altLang="en-US" dirty="0">
                <a:ea typeface="新細明體" panose="02020500000000000000" pitchFamily="18" charset="-120"/>
              </a:rPr>
              <a:t>一般利用程式語言提供的函數或類別實做下述功能</a:t>
            </a:r>
            <a:r>
              <a:rPr lang="en-US" altLang="zh-TW" dirty="0">
                <a:ea typeface="新細明體" panose="02020500000000000000" pitchFamily="18" charset="-120"/>
              </a:rPr>
              <a:t>:</a:t>
            </a:r>
          </a:p>
          <a:p>
            <a:pPr lvl="1">
              <a:tabLst>
                <a:tab pos="1250950" algn="l"/>
              </a:tabLst>
            </a:pPr>
            <a:r>
              <a:rPr lang="en-US" altLang="zh-TW" dirty="0">
                <a:ea typeface="新細明體" panose="02020500000000000000" pitchFamily="18" charset="-120"/>
              </a:rPr>
              <a:t>functions to convert a character string to the type above. </a:t>
            </a:r>
          </a:p>
          <a:p>
            <a:pPr lvl="1">
              <a:tabLst>
                <a:tab pos="1250950" algn="l"/>
              </a:tabLst>
            </a:pPr>
            <a:r>
              <a:rPr lang="en-US" altLang="zh-TW" dirty="0">
                <a:ea typeface="新細明體" panose="02020500000000000000" pitchFamily="18" charset="-120"/>
              </a:rPr>
              <a:t>functions to get the current time.</a:t>
            </a:r>
          </a:p>
          <a:p>
            <a:pPr>
              <a:tabLst>
                <a:tab pos="1250950" algn="l"/>
              </a:tabLst>
            </a:pPr>
            <a:endParaRPr lang="en-US" altLang="zh-TW" dirty="0">
              <a:ea typeface="新細明體" panose="02020500000000000000" pitchFamily="18" charset="-120"/>
            </a:endParaRPr>
          </a:p>
          <a:p>
            <a:pPr lvl="1">
              <a:tabLst>
                <a:tab pos="1250950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Large-Object Types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29926" cy="3868356"/>
          </a:xfrm>
        </p:spPr>
        <p:txBody>
          <a:bodyPr/>
          <a:lstStyle/>
          <a:p>
            <a:r>
              <a:rPr lang="en-US" altLang="en-US" sz="1700" dirty="0"/>
              <a:t>Large objects (photos, videos, CAD files, etc.) are stored as a </a:t>
            </a:r>
            <a:r>
              <a:rPr lang="en-US" altLang="en-US" sz="1700" i="1" dirty="0"/>
              <a:t>large object</a:t>
            </a:r>
            <a:r>
              <a:rPr lang="en-US" altLang="en-US" sz="1700" dirty="0"/>
              <a:t>: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blob</a:t>
            </a:r>
            <a:r>
              <a:rPr lang="en-US" altLang="en-US" sz="1700" dirty="0"/>
              <a:t>: binary large object -- object is a large collection of uninterpreted binary data (whose interpretation is left to an application outside of the database system)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clob</a:t>
            </a:r>
            <a:r>
              <a:rPr lang="en-US" altLang="en-US" sz="1700" dirty="0"/>
              <a:t>: character large object -- object is a large collection of character data</a:t>
            </a:r>
          </a:p>
          <a:p>
            <a:r>
              <a:rPr lang="en-US" altLang="en-US" sz="1700" dirty="0"/>
              <a:t>When a query returns a large object, a pointer is returned rather than the large object itself.</a:t>
            </a:r>
          </a:p>
          <a:p>
            <a:r>
              <a:rPr lang="zh-TW" altLang="en-US" dirty="0">
                <a:ea typeface="新細明體" panose="02020500000000000000" pitchFamily="18" charset="-120"/>
              </a:rPr>
              <a:t>補充：</a:t>
            </a:r>
            <a:r>
              <a:rPr lang="en-US" altLang="zh-TW" dirty="0">
                <a:ea typeface="新細明體" panose="02020500000000000000" pitchFamily="18" charset="-120"/>
              </a:rPr>
              <a:t>In MS SQL，</a:t>
            </a:r>
            <a:r>
              <a:rPr lang="zh-TW" altLang="en-US" dirty="0">
                <a:ea typeface="新細明體" panose="02020500000000000000" pitchFamily="18" charset="-120"/>
              </a:rPr>
              <a:t>提供</a:t>
            </a:r>
            <a:r>
              <a:rPr lang="en-US" altLang="zh-TW" dirty="0">
                <a:ea typeface="新細明體" panose="02020500000000000000" pitchFamily="18" charset="-120"/>
              </a:rPr>
              <a:t>binary, image, text </a:t>
            </a:r>
            <a:r>
              <a:rPr lang="zh-TW" altLang="en-US" dirty="0">
                <a:ea typeface="新細明體" panose="02020500000000000000" pitchFamily="18" charset="-120"/>
              </a:rPr>
              <a:t>等型態</a:t>
            </a:r>
            <a:endParaRPr lang="en-US" altLang="zh-TW" dirty="0">
              <a:ea typeface="新細明體" panose="02020500000000000000" pitchFamily="18" charset="-120"/>
            </a:endParaRP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User-Defined Types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35063"/>
            <a:ext cx="7619746" cy="2949257"/>
          </a:xfrm>
        </p:spPr>
        <p:txBody>
          <a:bodyPr/>
          <a:lstStyle/>
          <a:p>
            <a:pPr>
              <a:tabLst>
                <a:tab pos="1146175" algn="l"/>
                <a:tab pos="18907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create type </a:t>
            </a:r>
            <a:r>
              <a:rPr lang="en-US" altLang="en-US" sz="1700" dirty="0"/>
              <a:t>construct in SQL creates user-defined type</a:t>
            </a:r>
          </a:p>
          <a:p>
            <a:pPr>
              <a:buFont typeface="Monotype Sorts" charset="2"/>
              <a:buNone/>
              <a:tabLst>
                <a:tab pos="1146175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 lvl="1">
              <a:buFont typeface="Monotype Sorts" charset="2"/>
              <a:buNone/>
              <a:tabLst>
                <a:tab pos="1146175" algn="l"/>
                <a:tab pos="1890713" algn="l"/>
              </a:tabLst>
            </a:pPr>
            <a:r>
              <a:rPr lang="en-US" altLang="en-US" sz="1700" b="1" dirty="0"/>
              <a:t>		create type </a:t>
            </a:r>
            <a:r>
              <a:rPr lang="en-US" altLang="en-US" sz="1700" i="1" dirty="0"/>
              <a:t>Dollars</a:t>
            </a:r>
            <a:r>
              <a:rPr lang="en-US" altLang="en-US" sz="1700" b="1" dirty="0"/>
              <a:t> as numeric (12,2) final </a:t>
            </a:r>
            <a:br>
              <a:rPr lang="en-US" altLang="en-US" sz="1700" b="1" dirty="0"/>
            </a:br>
            <a:r>
              <a:rPr lang="en-US" altLang="en-US" sz="800" b="1" dirty="0"/>
              <a:t> </a:t>
            </a:r>
            <a:endParaRPr lang="en-US" altLang="en-US" sz="800" dirty="0"/>
          </a:p>
          <a:p>
            <a:pPr>
              <a:tabLst>
                <a:tab pos="1146175" algn="l"/>
                <a:tab pos="1890713" algn="l"/>
              </a:tabLst>
            </a:pPr>
            <a:r>
              <a:rPr lang="en-US" altLang="en-US" sz="1700" dirty="0"/>
              <a:t>Example:</a:t>
            </a:r>
          </a:p>
          <a:p>
            <a:pPr>
              <a:buNone/>
              <a:tabLst>
                <a:tab pos="1146175" algn="l"/>
                <a:tab pos="1890713" algn="l"/>
              </a:tabLst>
            </a:pPr>
            <a:r>
              <a:rPr lang="en-US" altLang="en-US" sz="1700" b="1" dirty="0"/>
              <a:t>               create table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</a:t>
            </a:r>
            <a:r>
              <a:rPr lang="en-US" altLang="en-US" sz="1700" i="1" dirty="0"/>
              <a:t>building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(15),</a:t>
            </a:r>
            <a:br>
              <a:rPr lang="en-US" altLang="en-US" sz="1700" dirty="0"/>
            </a:br>
            <a:r>
              <a:rPr lang="en-US" altLang="en-US" sz="1700" dirty="0"/>
              <a:t>          </a:t>
            </a:r>
            <a:r>
              <a:rPr lang="en-US" altLang="en-US" sz="1700" i="1" dirty="0"/>
              <a:t>budget Dollars</a:t>
            </a:r>
            <a:r>
              <a:rPr lang="en-US" altLang="en-US" sz="1700" dirty="0"/>
              <a:t>);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7763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Domains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0833"/>
            <a:ext cx="7034531" cy="5039558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create domain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construct in SQL-92 creates user-defined domain types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		create domain </a:t>
            </a:r>
            <a:r>
              <a:rPr lang="en-US" altLang="en-US" sz="1700" i="1" dirty="0" err="1"/>
              <a:t>person_name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</a:t>
            </a:r>
          </a:p>
          <a:p>
            <a:pPr lvl="1"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dirty="0"/>
              <a:t>Types and domains are similar.  Domains can have constraints, such as </a:t>
            </a:r>
            <a:r>
              <a:rPr lang="en-US" altLang="en-US" sz="1700" b="1" dirty="0"/>
              <a:t>not null</a:t>
            </a:r>
            <a:r>
              <a:rPr lang="en-US" altLang="en-US" sz="1700" dirty="0"/>
              <a:t>, specified on them.</a:t>
            </a:r>
          </a:p>
          <a:p>
            <a:r>
              <a:rPr lang="en-US" altLang="en-US" sz="1700" dirty="0"/>
              <a:t>Example:</a:t>
            </a:r>
            <a:endParaRPr lang="en-US" altLang="en-US" sz="1700" b="1" dirty="0"/>
          </a:p>
          <a:p>
            <a:pPr>
              <a:buNone/>
            </a:pPr>
            <a:r>
              <a:rPr lang="en-US" altLang="en-US" sz="1700" b="1" dirty="0"/>
              <a:t>        create domain </a:t>
            </a:r>
            <a:r>
              <a:rPr lang="en-US" altLang="en-US" sz="1700" i="1" dirty="0" err="1"/>
              <a:t>degree_level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(10)</a:t>
            </a:r>
            <a:br>
              <a:rPr lang="en-US" altLang="en-US" sz="1700" dirty="0"/>
            </a:br>
            <a:r>
              <a:rPr lang="en-US" altLang="en-US" sz="1700" dirty="0"/>
              <a:t>       </a:t>
            </a:r>
            <a:r>
              <a:rPr lang="en-US" altLang="en-US" sz="1700" b="1" dirty="0"/>
              <a:t>constraint </a:t>
            </a:r>
            <a:r>
              <a:rPr lang="en-US" altLang="en-US" sz="1700" i="1" dirty="0" err="1"/>
              <a:t>degree_level_test</a:t>
            </a:r>
            <a:br>
              <a:rPr lang="en-US" altLang="en-US" sz="1700" i="1" dirty="0"/>
            </a:br>
            <a:r>
              <a:rPr lang="en-US" altLang="en-US" sz="1700" i="1" dirty="0"/>
              <a:t>            </a:t>
            </a:r>
            <a:r>
              <a:rPr lang="en-US" altLang="en-US" sz="1700" b="1" dirty="0"/>
              <a:t>check </a:t>
            </a:r>
            <a:r>
              <a:rPr lang="en-US" altLang="en-US" sz="1700" dirty="0"/>
              <a:t>(</a:t>
            </a:r>
            <a:r>
              <a:rPr lang="en-US" altLang="en-US" sz="1700" b="1" dirty="0"/>
              <a:t>value in </a:t>
            </a:r>
            <a:r>
              <a:rPr lang="en-US" altLang="en-US" sz="1700" dirty="0"/>
              <a:t>('Bachelors', 'Masters', 'Doctorate'));</a:t>
            </a:r>
          </a:p>
          <a:p>
            <a:pPr>
              <a:buNone/>
            </a:pPr>
            <a:endParaRPr lang="en-US" altLang="en-US" sz="1700" dirty="0"/>
          </a:p>
          <a:p>
            <a:r>
              <a:rPr lang="zh-TW" altLang="en-US" sz="1600" dirty="0">
                <a:ea typeface="ＭＳ Ｐゴシック" charset="-128"/>
              </a:rPr>
              <a:t>補充說明：</a:t>
            </a:r>
            <a:r>
              <a:rPr lang="en-US" altLang="zh-TW" sz="1600" dirty="0">
                <a:ea typeface="ＭＳ Ｐゴシック" charset="-128"/>
              </a:rPr>
              <a:t>The clause </a:t>
            </a:r>
            <a:r>
              <a:rPr lang="en-US" altLang="zh-TW" sz="1600" b="1" dirty="0">
                <a:ea typeface="ＭＳ Ｐゴシック" charset="-128"/>
              </a:rPr>
              <a:t>constraint </a:t>
            </a:r>
            <a:r>
              <a:rPr lang="en-US" altLang="zh-TW" sz="1600" dirty="0">
                <a:ea typeface="ＭＳ Ｐゴシック" charset="-128"/>
              </a:rPr>
              <a:t>is optional; it can give a name to the constraint.</a:t>
            </a:r>
          </a:p>
          <a:p>
            <a:r>
              <a:rPr lang="zh-TW" altLang="en-US" sz="1600" dirty="0">
                <a:ea typeface="ＭＳ Ｐゴシック" panose="020B0600070205080204" pitchFamily="34" charset="-128"/>
              </a:rPr>
              <a:t>各軟體支援的</a:t>
            </a:r>
            <a:r>
              <a:rPr lang="en-US" altLang="zh-TW" sz="1600" dirty="0">
                <a:ea typeface="ＭＳ Ｐゴシック" panose="020B0600070205080204" pitchFamily="34" charset="-128"/>
              </a:rPr>
              <a:t>type/domain</a:t>
            </a:r>
            <a:r>
              <a:rPr lang="zh-TW" altLang="en-US" sz="1600" dirty="0">
                <a:ea typeface="ＭＳ Ｐゴシック" panose="020B0600070205080204" pitchFamily="34" charset="-128"/>
              </a:rPr>
              <a:t>功能和語法差異很大</a:t>
            </a:r>
            <a:r>
              <a:rPr lang="en-US" altLang="zh-TW" sz="1600" dirty="0">
                <a:ea typeface="ＭＳ Ｐゴシック" panose="020B0600070205080204" pitchFamily="34" charset="-128"/>
              </a:rPr>
              <a:t>.</a:t>
            </a:r>
            <a:endParaRPr lang="en-US" altLang="zh-TW" sz="1600" dirty="0">
              <a:ea typeface="ＭＳ Ｐゴシック" charset="-128"/>
            </a:endParaRPr>
          </a:p>
          <a:p>
            <a:pPr>
              <a:buNone/>
            </a:pPr>
            <a:endParaRPr lang="en-US" altLang="en-US" sz="1700" dirty="0"/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 Creation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638802" cy="4112195"/>
          </a:xfrm>
        </p:spPr>
        <p:txBody>
          <a:bodyPr/>
          <a:lstStyle/>
          <a:p>
            <a:r>
              <a:rPr lang="en-US" altLang="en-US" sz="1700" dirty="0"/>
              <a:t>Many queries reference only a small proportion of the records in a table. </a:t>
            </a:r>
          </a:p>
          <a:p>
            <a:r>
              <a:rPr lang="en-US" altLang="en-US" sz="1700" dirty="0"/>
              <a:t>It is inefficient for the system to read every record to find a record with  particular value</a:t>
            </a:r>
          </a:p>
          <a:p>
            <a:r>
              <a:rPr lang="en-US" altLang="en-US" sz="1700" dirty="0"/>
              <a:t>An </a:t>
            </a:r>
            <a:r>
              <a:rPr lang="en-US" altLang="en-US" sz="1700" b="1" dirty="0">
                <a:solidFill>
                  <a:srgbClr val="002060"/>
                </a:solidFill>
              </a:rPr>
              <a:t>index</a:t>
            </a:r>
            <a:r>
              <a:rPr lang="en-US" altLang="en-US" sz="1700" dirty="0"/>
              <a:t> on an attribute of a relation is a data structure that allows the database system to find those tuples in the relation that have a specified value for that attribute efficiently, without scanning through all the tuples of the relation.</a:t>
            </a:r>
          </a:p>
          <a:p>
            <a:r>
              <a:rPr lang="en-US" altLang="en-US" sz="1700" dirty="0"/>
              <a:t>We create an index with the </a:t>
            </a:r>
            <a:r>
              <a:rPr lang="en-US" altLang="en-US" sz="1700" b="1" dirty="0"/>
              <a:t>create index </a:t>
            </a:r>
            <a:r>
              <a:rPr lang="en-US" altLang="en-US" sz="1700" dirty="0"/>
              <a:t>command</a:t>
            </a:r>
          </a:p>
          <a:p>
            <a:pPr>
              <a:buNone/>
            </a:pPr>
            <a:r>
              <a:rPr lang="en-US" altLang="en-US" sz="1700" dirty="0"/>
              <a:t>         </a:t>
            </a:r>
            <a:r>
              <a:rPr lang="en-US" altLang="en-US" sz="1700" b="1" dirty="0"/>
              <a:t>create index </a:t>
            </a:r>
            <a:r>
              <a:rPr lang="en-US" altLang="en-US" sz="1700" dirty="0"/>
              <a:t>&lt;name&gt; </a:t>
            </a:r>
            <a:r>
              <a:rPr lang="en-US" altLang="en-US" sz="1700" b="1" dirty="0"/>
              <a:t>on </a:t>
            </a:r>
            <a:r>
              <a:rPr lang="en-US" altLang="en-US" sz="1700" dirty="0"/>
              <a:t>&lt;relation-name&gt; (attribute);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ea typeface="新細明體" charset="-120"/>
              </a:rPr>
              <a:t>以屬性</a:t>
            </a:r>
            <a:r>
              <a:rPr lang="en-US" altLang="zh-TW" dirty="0">
                <a:ea typeface="新細明體" charset="-120"/>
              </a:rPr>
              <a:t>name</a:t>
            </a:r>
            <a:r>
              <a:rPr lang="zh-TW" altLang="en-US" dirty="0">
                <a:ea typeface="新細明體" charset="-120"/>
              </a:rPr>
              <a:t>建立</a:t>
            </a:r>
            <a:r>
              <a:rPr lang="en-US" altLang="zh-TW" dirty="0">
                <a:ea typeface="新細明體" charset="-120"/>
              </a:rPr>
              <a:t>Index</a:t>
            </a:r>
            <a:r>
              <a:rPr lang="zh-TW" altLang="en-US" dirty="0">
                <a:ea typeface="新細明體" charset="-120"/>
              </a:rPr>
              <a:t>的範例圖 </a:t>
            </a:r>
            <a:r>
              <a:rPr lang="en-US" altLang="zh-TW" dirty="0">
                <a:ea typeface="新細明體" charset="-120"/>
              </a:rPr>
              <a:t>(</a:t>
            </a:r>
            <a:r>
              <a:rPr lang="zh-TW" altLang="en-US" dirty="0">
                <a:ea typeface="新細明體" charset="-120"/>
              </a:rPr>
              <a:t>含</a:t>
            </a:r>
            <a:r>
              <a:rPr lang="en-US" altLang="zh-TW" dirty="0">
                <a:ea typeface="新細明體" charset="-120"/>
              </a:rPr>
              <a:t>Data File)</a:t>
            </a:r>
            <a:endParaRPr lang="zh-TW" altLang="en-US" dirty="0">
              <a:ea typeface="新細明體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>
              <a:ea typeface="新細明體" panose="02020500000000000000" pitchFamily="18" charset="-120"/>
            </a:endParaRPr>
          </a:p>
        </p:txBody>
      </p:sp>
      <p:pic>
        <p:nvPicPr>
          <p:cNvPr id="2355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" y="1093788"/>
            <a:ext cx="8891588" cy="503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06569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 Creation Example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497826" cy="4563300"/>
          </a:xfrm>
        </p:spPr>
        <p:txBody>
          <a:bodyPr/>
          <a:lstStyle/>
          <a:p>
            <a:r>
              <a:rPr lang="en-US" altLang="en-US" sz="1700" b="1" dirty="0"/>
              <a:t>create table </a:t>
            </a:r>
            <a:r>
              <a:rPr lang="en-US" altLang="en-US" sz="1700" i="1" dirty="0"/>
              <a:t>student	</a:t>
            </a:r>
            <a:br>
              <a:rPr lang="en-US" altLang="en-US" sz="1700" i="1" dirty="0"/>
            </a:br>
            <a:r>
              <a:rPr lang="en-US" altLang="en-US" sz="1700" dirty="0"/>
              <a:t>(</a:t>
            </a:r>
            <a:r>
              <a:rPr lang="en-US" altLang="en-US" sz="1700" i="1" dirty="0"/>
              <a:t>ID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i="1" dirty="0"/>
              <a:t>name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i="1" dirty="0"/>
              <a:t>dept_name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i="1" dirty="0"/>
              <a:t>tot_cred </a:t>
            </a:r>
            <a:r>
              <a:rPr lang="en-US" altLang="en-US" sz="1700" b="1" dirty="0"/>
              <a:t>numeric </a:t>
            </a:r>
            <a:r>
              <a:rPr lang="en-US" altLang="en-US" sz="1700" dirty="0"/>
              <a:t>(3,0) </a:t>
            </a:r>
            <a:r>
              <a:rPr lang="en-US" altLang="en-US" sz="1700" b="1" dirty="0"/>
              <a:t>default </a:t>
            </a:r>
            <a:r>
              <a:rPr lang="en-US" altLang="en-US" sz="1700" dirty="0"/>
              <a:t>0,</a:t>
            </a:r>
            <a:br>
              <a:rPr lang="en-US" altLang="en-US" sz="1700" dirty="0"/>
            </a:br>
            <a:r>
              <a:rPr lang="en-US" altLang="en-US" sz="1700" b="1" dirty="0"/>
              <a:t>primary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))</a:t>
            </a:r>
          </a:p>
          <a:p>
            <a:r>
              <a:rPr lang="en-US" altLang="en-US" sz="1700" b="1" dirty="0"/>
              <a:t>create index </a:t>
            </a:r>
            <a:r>
              <a:rPr lang="en-US" altLang="en-US" sz="1700" i="1" dirty="0" err="1"/>
              <a:t>studentID_index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on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</a:t>
            </a:r>
          </a:p>
          <a:p>
            <a:r>
              <a:rPr lang="en-US" altLang="en-US" sz="1700" dirty="0"/>
              <a:t>The query:</a:t>
            </a:r>
          </a:p>
          <a:p>
            <a:pPr>
              <a:buNone/>
            </a:pPr>
            <a:r>
              <a:rPr lang="en-US" altLang="en-US" sz="1700" b="1" dirty="0"/>
              <a:t>            select * </a:t>
            </a:r>
            <a:br>
              <a:rPr lang="en-US" altLang="en-US" sz="1700" b="1" dirty="0"/>
            </a:br>
            <a:r>
              <a:rPr lang="en-US" altLang="en-US" sz="1700" b="1" dirty="0"/>
              <a:t>       from </a:t>
            </a:r>
            <a:r>
              <a:rPr lang="en-US" altLang="en-US" sz="1700" dirty="0"/>
              <a:t> </a:t>
            </a:r>
            <a:r>
              <a:rPr lang="en-US" altLang="en-US" sz="1700" i="1" dirty="0"/>
              <a:t>student</a:t>
            </a:r>
            <a:br>
              <a:rPr lang="en-US" altLang="en-US" sz="1700" i="1" dirty="0"/>
            </a:br>
            <a:r>
              <a:rPr lang="en-US" altLang="en-US" sz="1700" i="1" dirty="0"/>
              <a:t>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 ID = </a:t>
            </a:r>
            <a:r>
              <a:rPr lang="en-US" altLang="en-US" sz="1700" dirty="0"/>
              <a:t>'12345'</a:t>
            </a:r>
          </a:p>
          <a:p>
            <a:pPr>
              <a:buNone/>
            </a:pPr>
            <a:r>
              <a:rPr lang="en-US" altLang="en-US" sz="1700" dirty="0"/>
              <a:t>     can be executed by using the index to find the required record,  without looking at all records of </a:t>
            </a:r>
            <a:r>
              <a:rPr lang="en-US" altLang="en-US" sz="1700" i="1" dirty="0"/>
              <a:t>student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Authorization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12169" cy="4758372"/>
          </a:xfrm>
        </p:spPr>
        <p:txBody>
          <a:bodyPr/>
          <a:lstStyle/>
          <a:p>
            <a:r>
              <a:rPr lang="en-US" altLang="en-US" sz="1700" dirty="0"/>
              <a:t>We may assign a user several forms of authorizations on parts of the database.</a:t>
            </a:r>
          </a:p>
          <a:p>
            <a:pPr lvl="1">
              <a:lnSpc>
                <a:spcPct val="160000"/>
              </a:lnSpc>
            </a:pPr>
            <a:r>
              <a:rPr lang="en-US" altLang="en-US" sz="1700" b="1" dirty="0"/>
              <a:t>Read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reading, but not modification of data.</a:t>
            </a:r>
          </a:p>
          <a:p>
            <a:pPr lvl="1"/>
            <a:r>
              <a:rPr lang="en-US" altLang="en-US" sz="1700" b="1" dirty="0"/>
              <a:t>Insert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insertion of new data, but not modification of existing data.</a:t>
            </a:r>
          </a:p>
          <a:p>
            <a:pPr lvl="1"/>
            <a:r>
              <a:rPr lang="en-US" altLang="en-US" sz="1700" b="1" dirty="0"/>
              <a:t>Update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modification, but not deletion of data.</a:t>
            </a:r>
          </a:p>
          <a:p>
            <a:pPr lvl="1"/>
            <a:r>
              <a:rPr lang="en-US" altLang="en-US" sz="1700" b="1" dirty="0"/>
              <a:t>Delete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deletion of data.</a:t>
            </a:r>
          </a:p>
          <a:p>
            <a:r>
              <a:rPr lang="en-US" altLang="en-US" sz="1700" dirty="0"/>
              <a:t>Each of these types of authorizations is called a </a:t>
            </a:r>
            <a:r>
              <a:rPr lang="en-US" altLang="en-US" sz="1700" b="1" dirty="0">
                <a:solidFill>
                  <a:srgbClr val="002060"/>
                </a:solidFill>
              </a:rPr>
              <a:t>privilege</a:t>
            </a:r>
            <a:r>
              <a:rPr lang="en-US" altLang="en-US" sz="1700" dirty="0"/>
              <a:t>. We may authorize the user all, none, or a combination of these types of privileges on specified parts of a database, such as a relation or a view.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Authorization (Cont.)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90445" cy="2807652"/>
          </a:xfrm>
        </p:spPr>
        <p:txBody>
          <a:bodyPr/>
          <a:lstStyle/>
          <a:p>
            <a:r>
              <a:rPr lang="en-US" altLang="en-US" sz="1700" dirty="0"/>
              <a:t>Forms of authorization to modify the database schema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Index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creation and deletion of indices.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Resources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creation of new relations.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Alteration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addition or deletion of attributes in a relation.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Drop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deletion of relations.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Privileges in SQL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327138" cy="4903787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select</a:t>
            </a:r>
            <a:r>
              <a:rPr lang="en-US" altLang="en-US" sz="1700" dirty="0"/>
              <a:t>: allows read access to relation, or the ability to query using the view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insert</a:t>
            </a:r>
            <a:r>
              <a:rPr lang="en-US" altLang="en-US" sz="1700" dirty="0"/>
              <a:t>: the ability to insert tuples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update</a:t>
            </a:r>
            <a:r>
              <a:rPr lang="en-US" altLang="en-US" sz="1700" dirty="0"/>
              <a:t>: the ability  to update using the SQL update statement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delete</a:t>
            </a:r>
            <a:r>
              <a:rPr lang="en-US" altLang="en-US" sz="1700" dirty="0"/>
              <a:t>: the ability to delete tuples.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all privileges</a:t>
            </a:r>
            <a:r>
              <a:rPr lang="en-US" altLang="en-US" sz="1700" dirty="0"/>
              <a:t>: used as a short form for all the allowable privileges</a:t>
            </a:r>
          </a:p>
          <a:p>
            <a:pPr marL="0" indent="0">
              <a:buNone/>
            </a:pPr>
            <a:r>
              <a:rPr lang="en-US" altLang="en-US" sz="1700" dirty="0"/>
              <a:t>(PS. </a:t>
            </a:r>
            <a:r>
              <a:rPr lang="zh-TW" altLang="en-US" dirty="0"/>
              <a:t>還有很多其他</a:t>
            </a:r>
            <a:r>
              <a:rPr lang="en-US" altLang="zh-TW" dirty="0"/>
              <a:t>privileges, </a:t>
            </a:r>
            <a:r>
              <a:rPr lang="zh-TW" altLang="en-US" dirty="0"/>
              <a:t>各家軟體不同</a:t>
            </a:r>
            <a:r>
              <a:rPr lang="en-US" altLang="zh-TW" dirty="0"/>
              <a:t>)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Authorization Specification in SQL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5980"/>
            <a:ext cx="7612169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grant</a:t>
            </a:r>
            <a:r>
              <a:rPr lang="en-US" altLang="en-US" sz="1700" dirty="0"/>
              <a:t> statement is used to confer authorization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	   </a:t>
            </a:r>
            <a:r>
              <a:rPr lang="en-US" altLang="en-US" sz="1700" b="1" dirty="0"/>
              <a:t>grant</a:t>
            </a:r>
            <a:r>
              <a:rPr lang="en-US" altLang="en-US" sz="1700" dirty="0"/>
              <a:t> &lt;privilege list&gt; </a:t>
            </a:r>
            <a:r>
              <a:rPr lang="en-US" altLang="en-US" sz="1700" b="1" dirty="0"/>
              <a:t>on </a:t>
            </a:r>
            <a:r>
              <a:rPr lang="en-US" altLang="en-US" sz="1700" dirty="0"/>
              <a:t>&lt;relation or view &gt;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&lt;user list&gt;</a:t>
            </a:r>
          </a:p>
          <a:p>
            <a:r>
              <a:rPr lang="en-US" altLang="en-US" sz="1700" dirty="0"/>
              <a:t>&lt;user list&gt; is:</a:t>
            </a:r>
          </a:p>
          <a:p>
            <a:pPr lvl="1"/>
            <a:r>
              <a:rPr lang="en-US" altLang="en-US" sz="1700" dirty="0"/>
              <a:t>a user-id</a:t>
            </a:r>
            <a:r>
              <a:rPr lang="zh-TW" altLang="en-US" sz="1700" dirty="0"/>
              <a:t> </a:t>
            </a:r>
            <a:r>
              <a:rPr lang="zh-TW" altLang="en-US" dirty="0">
                <a:ea typeface="ＭＳ Ｐゴシック" panose="020B0600070205080204" pitchFamily="34" charset="-128"/>
              </a:rPr>
              <a:t>（資料庫的帳號）</a:t>
            </a:r>
            <a:endParaRPr lang="en-US" altLang="en-US" sz="1700" dirty="0"/>
          </a:p>
          <a:p>
            <a:pPr lvl="1"/>
            <a:r>
              <a:rPr lang="en-US" altLang="en-US" sz="1700" b="1" dirty="0"/>
              <a:t>public</a:t>
            </a:r>
            <a:r>
              <a:rPr lang="en-US" altLang="en-US" sz="1700" dirty="0"/>
              <a:t>, which allows all valid users the privilege granted</a:t>
            </a:r>
          </a:p>
          <a:p>
            <a:pPr lvl="1"/>
            <a:r>
              <a:rPr lang="en-US" altLang="en-US" sz="1700" dirty="0"/>
              <a:t>A role (more on this later)</a:t>
            </a:r>
          </a:p>
          <a:p>
            <a:r>
              <a:rPr lang="en-US" altLang="en-US" sz="1700" dirty="0"/>
              <a:t>Example: (Amit</a:t>
            </a:r>
            <a:r>
              <a:rPr lang="zh-TW" altLang="en-US" sz="1700" dirty="0"/>
              <a:t>等是</a:t>
            </a:r>
            <a:r>
              <a:rPr lang="en-US" altLang="zh-TW" sz="1700" dirty="0"/>
              <a:t>user id)</a:t>
            </a:r>
            <a:endParaRPr lang="en-US" altLang="en-US" sz="1700" dirty="0"/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 </a:t>
            </a:r>
            <a:r>
              <a:rPr lang="en-US" altLang="en-US" sz="1700" b="1" dirty="0"/>
              <a:t>select on  </a:t>
            </a:r>
            <a:r>
              <a:rPr lang="en-US" altLang="en-US" sz="1700" i="1" dirty="0"/>
              <a:t>department</a:t>
            </a:r>
            <a:r>
              <a:rPr lang="en-US" altLang="en-US" sz="1700" b="1" dirty="0"/>
              <a:t> to</a:t>
            </a:r>
            <a:r>
              <a:rPr lang="en-US" altLang="en-US" sz="1700" dirty="0"/>
              <a:t> </a:t>
            </a:r>
            <a:r>
              <a:rPr lang="en-US" altLang="en-US" sz="1700" dirty="0" err="1"/>
              <a:t>Amit</a:t>
            </a:r>
            <a:r>
              <a:rPr lang="en-US" altLang="en-US" sz="1700" dirty="0"/>
              <a:t>,  Satoshi</a:t>
            </a:r>
          </a:p>
          <a:p>
            <a:r>
              <a:rPr lang="en-US" altLang="en-US" sz="1700" dirty="0"/>
              <a:t>Granting a privilege on a view does not imply granting any privileges on the underlying relations.</a:t>
            </a:r>
          </a:p>
          <a:p>
            <a:r>
              <a:rPr lang="en-US" altLang="en-US" sz="1700" dirty="0"/>
              <a:t>The grantor of the privilege must already hold the privilege on the specified item (or be the database administrator).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Revoking Authorization in SQL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42556"/>
            <a:ext cx="7558786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revoke</a:t>
            </a:r>
            <a:r>
              <a:rPr lang="en-US" altLang="en-US" sz="1700" b="1" dirty="0"/>
              <a:t> </a:t>
            </a:r>
            <a:r>
              <a:rPr lang="en-US" altLang="en-US" sz="1700" dirty="0"/>
              <a:t>statement is used to revoke authorization.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revoke </a:t>
            </a:r>
            <a:r>
              <a:rPr lang="en-US" altLang="en-US" sz="1700" dirty="0"/>
              <a:t>&lt;privilege list&gt; </a:t>
            </a:r>
            <a:r>
              <a:rPr lang="en-US" altLang="en-US" sz="1700" b="1" dirty="0"/>
              <a:t>on </a:t>
            </a:r>
            <a:r>
              <a:rPr lang="en-US" altLang="en-US" sz="1700" dirty="0"/>
              <a:t>&lt;relation or view&gt;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&lt;user list&gt;</a:t>
            </a:r>
          </a:p>
          <a:p>
            <a:r>
              <a:rPr lang="en-US" altLang="en-US" sz="1700" dirty="0"/>
              <a:t>Example: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revoke select on </a:t>
            </a:r>
            <a:r>
              <a:rPr lang="en-US" altLang="en-US" sz="1700" i="1" dirty="0"/>
              <a:t>student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U</a:t>
            </a:r>
            <a:r>
              <a:rPr lang="en-US" altLang="en-US" sz="1700" i="1" baseline="-25000" dirty="0"/>
              <a:t>1</a:t>
            </a:r>
            <a:r>
              <a:rPr lang="en-US" altLang="en-US" sz="1700" i="1" dirty="0"/>
              <a:t>, U</a:t>
            </a:r>
            <a:r>
              <a:rPr lang="en-US" altLang="en-US" sz="1700" i="1" baseline="-25000" dirty="0"/>
              <a:t>2</a:t>
            </a:r>
            <a:r>
              <a:rPr lang="en-US" altLang="en-US" sz="1700" i="1" dirty="0"/>
              <a:t>, U</a:t>
            </a:r>
            <a:r>
              <a:rPr lang="en-US" altLang="en-US" sz="1700" i="1" baseline="-25000" dirty="0"/>
              <a:t>3</a:t>
            </a:r>
          </a:p>
          <a:p>
            <a:r>
              <a:rPr lang="en-US" altLang="en-US" sz="1700" dirty="0"/>
              <a:t>&lt;privilege-list&gt; may be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to revoke all privileges the </a:t>
            </a:r>
            <a:r>
              <a:rPr lang="en-US" altLang="en-US" sz="1700" dirty="0" err="1"/>
              <a:t>revokee</a:t>
            </a:r>
            <a:r>
              <a:rPr lang="en-US" altLang="en-US" sz="1700" dirty="0"/>
              <a:t> may hold.</a:t>
            </a:r>
          </a:p>
          <a:p>
            <a:r>
              <a:rPr lang="en-US" altLang="en-US" sz="1700" dirty="0"/>
              <a:t>If &lt;</a:t>
            </a:r>
            <a:r>
              <a:rPr lang="en-US" altLang="en-US" sz="1700" dirty="0" err="1"/>
              <a:t>revokee</a:t>
            </a:r>
            <a:r>
              <a:rPr lang="en-US" altLang="en-US" sz="1700" dirty="0"/>
              <a:t>-list&gt; includes </a:t>
            </a:r>
            <a:r>
              <a:rPr lang="en-US" altLang="en-US" sz="1700" b="1" dirty="0"/>
              <a:t>public, </a:t>
            </a:r>
            <a:r>
              <a:rPr lang="en-US" altLang="en-US" sz="1700" dirty="0"/>
              <a:t>all users lose the privilege except those granted it explicitly.</a:t>
            </a:r>
          </a:p>
          <a:p>
            <a:r>
              <a:rPr lang="en-US" altLang="en-US" sz="1700" dirty="0"/>
              <a:t>If the same privilege was granted twice to the same user by different grantees, the user may retain the privilege after the revocation.</a:t>
            </a:r>
          </a:p>
          <a:p>
            <a:r>
              <a:rPr lang="en-US" altLang="en-US" sz="1700" dirty="0"/>
              <a:t>All privileges that depend on the privilege being revoked are also revoked.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/>
              </a:rPr>
              <a:t>Roles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629925" cy="4042912"/>
          </a:xfrm>
        </p:spPr>
        <p:txBody>
          <a:bodyPr/>
          <a:lstStyle/>
          <a:p>
            <a:r>
              <a:rPr lang="en-US" altLang="en-US" sz="1700" dirty="0"/>
              <a:t>A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role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is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a way to distinguish among various users as far as what these users can access/update in the database.</a:t>
            </a:r>
          </a:p>
          <a:p>
            <a:r>
              <a:rPr lang="en-US" altLang="en-US" sz="1700" dirty="0"/>
              <a:t>To create a role we use:</a:t>
            </a:r>
          </a:p>
          <a:p>
            <a:pPr>
              <a:buNone/>
            </a:pPr>
            <a:r>
              <a:rPr lang="en-US" altLang="en-US" sz="1700" b="1" dirty="0"/>
              <a:t>        create role </a:t>
            </a:r>
            <a:r>
              <a:rPr lang="en-US" altLang="en-US" sz="1700" dirty="0"/>
              <a:t>&lt;name&gt;</a:t>
            </a:r>
          </a:p>
          <a:p>
            <a:r>
              <a:rPr lang="en-US" altLang="en-US" sz="1700" dirty="0"/>
              <a:t>Example:</a:t>
            </a:r>
          </a:p>
          <a:p>
            <a:pPr lvl="1"/>
            <a:r>
              <a:rPr lang="en-US" altLang="en-US" sz="1700" dirty="0"/>
              <a:t>  </a:t>
            </a:r>
            <a:r>
              <a:rPr lang="en-US" altLang="en-US" sz="1700" b="1" dirty="0"/>
              <a:t>create role</a:t>
            </a:r>
            <a:r>
              <a:rPr lang="en-US" altLang="en-US" sz="1700" dirty="0"/>
              <a:t> instructor</a:t>
            </a:r>
          </a:p>
          <a:p>
            <a:r>
              <a:rPr lang="en-US" altLang="en-US" sz="1700" dirty="0"/>
              <a:t>Once a role is created we can assign “users” to the role using: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 &lt;role&gt; </a:t>
            </a:r>
            <a:r>
              <a:rPr lang="en-US" altLang="en-US" sz="1700" b="1" dirty="0"/>
              <a:t>to </a:t>
            </a:r>
            <a:r>
              <a:rPr lang="en-US" altLang="en-US" sz="1700" dirty="0"/>
              <a:t>&lt;users&gt;</a:t>
            </a:r>
          </a:p>
          <a:p>
            <a:r>
              <a:rPr lang="en-US" altLang="zh-TW" sz="1800" dirty="0"/>
              <a:t>Example:</a:t>
            </a:r>
            <a:endParaRPr lang="en-US" altLang="en-US" sz="1800" dirty="0"/>
          </a:p>
          <a:p>
            <a:pPr lvl="1"/>
            <a:r>
              <a:rPr lang="en-US" altLang="en-US" sz="1800" b="1" dirty="0"/>
              <a:t>create role</a:t>
            </a:r>
            <a:r>
              <a:rPr lang="en-US" altLang="en-US" sz="1800" dirty="0"/>
              <a:t> instructor;</a:t>
            </a:r>
          </a:p>
          <a:p>
            <a:pPr lvl="1"/>
            <a:r>
              <a:rPr lang="en-US" altLang="en-US" sz="1800" b="1" dirty="0"/>
              <a:t>grant</a:t>
            </a:r>
            <a:r>
              <a:rPr lang="en-US" altLang="en-US" sz="1800" dirty="0"/>
              <a:t> </a:t>
            </a:r>
            <a:r>
              <a:rPr lang="en-US" altLang="en-US" sz="1800" i="1" dirty="0"/>
              <a:t>instructor</a:t>
            </a:r>
            <a:r>
              <a:rPr lang="en-US" altLang="en-US" sz="1800" b="1" dirty="0"/>
              <a:t> to </a:t>
            </a:r>
            <a:r>
              <a:rPr lang="en-US" altLang="en-US" sz="1800" dirty="0"/>
              <a:t>Amit</a:t>
            </a:r>
            <a:r>
              <a:rPr lang="en-US" altLang="en-US" sz="1800" b="1" dirty="0"/>
              <a:t>;</a:t>
            </a:r>
            <a:endParaRPr lang="en-US" altLang="en-US" sz="1800" dirty="0"/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/>
              </a:rPr>
              <a:t>Roles Example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0364"/>
            <a:ext cx="7590445" cy="4903787"/>
          </a:xfrm>
        </p:spPr>
        <p:txBody>
          <a:bodyPr/>
          <a:lstStyle/>
          <a:p>
            <a:r>
              <a:rPr lang="en-US" altLang="en-US" sz="1700" dirty="0"/>
              <a:t>Privileges can be granted to roles: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</a:t>
            </a:r>
            <a:r>
              <a:rPr lang="en-US" altLang="en-US" sz="1700" b="1" dirty="0"/>
              <a:t>on</a:t>
            </a:r>
            <a:r>
              <a:rPr lang="en-US" altLang="en-US" sz="1700" dirty="0"/>
              <a:t> </a:t>
            </a:r>
            <a:r>
              <a:rPr lang="en-US" altLang="en-US" sz="1700" i="1" dirty="0"/>
              <a:t>takes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Roles can be granted to users, as well as to other roles</a:t>
            </a:r>
          </a:p>
          <a:p>
            <a:pPr lvl="1"/>
            <a:r>
              <a:rPr lang="en-US" altLang="en-US" sz="1700" b="1" dirty="0"/>
              <a:t>create</a:t>
            </a:r>
            <a:r>
              <a:rPr lang="en-US" altLang="en-US" sz="1700" dirty="0"/>
              <a:t> </a:t>
            </a:r>
            <a:r>
              <a:rPr lang="en-US" altLang="en-US" sz="1700" b="1" dirty="0"/>
              <a:t>role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teaching_assistant</a:t>
            </a:r>
            <a:endParaRPr lang="en-US" altLang="en-US" sz="1700" i="1" dirty="0"/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teaching_assistant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;</a:t>
            </a:r>
          </a:p>
          <a:p>
            <a:pPr lvl="2"/>
            <a:r>
              <a:rPr lang="en-US" altLang="en-US" sz="1700" i="1" dirty="0"/>
              <a:t>Instructor</a:t>
            </a:r>
            <a:r>
              <a:rPr lang="en-US" altLang="en-US" sz="1700" dirty="0"/>
              <a:t> inherits all privileges of </a:t>
            </a:r>
            <a:r>
              <a:rPr lang="en-US" altLang="en-US" sz="1700" i="1" dirty="0" err="1"/>
              <a:t>teaching_assistant</a:t>
            </a:r>
            <a:endParaRPr lang="en-US" altLang="en-US" sz="1700" i="1" dirty="0"/>
          </a:p>
          <a:p>
            <a:r>
              <a:rPr lang="en-US" altLang="en-US" sz="1700" dirty="0"/>
              <a:t>Chain of roles</a:t>
            </a:r>
          </a:p>
          <a:p>
            <a:pPr lvl="1"/>
            <a:r>
              <a:rPr lang="en-US" altLang="en-US" sz="1700" b="1" dirty="0"/>
              <a:t>create</a:t>
            </a:r>
            <a:r>
              <a:rPr lang="en-US" altLang="en-US" sz="1700" dirty="0"/>
              <a:t> </a:t>
            </a:r>
            <a:r>
              <a:rPr lang="en-US" altLang="en-US" sz="1700" b="1" dirty="0"/>
              <a:t>role</a:t>
            </a:r>
            <a:r>
              <a:rPr lang="en-US" altLang="en-US" sz="1700" dirty="0"/>
              <a:t> </a:t>
            </a:r>
            <a:r>
              <a:rPr lang="en-US" altLang="en-US" sz="1700" i="1" dirty="0"/>
              <a:t>dean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</a:t>
            </a:r>
            <a:r>
              <a:rPr lang="en-US" altLang="en-US" sz="1700" i="1" dirty="0"/>
              <a:t>dean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i="1" dirty="0"/>
              <a:t>dean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Satoshi;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Authorization on Views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79132"/>
            <a:ext cx="7612170" cy="3730219"/>
          </a:xfrm>
        </p:spPr>
        <p:txBody>
          <a:bodyPr/>
          <a:lstStyle/>
          <a:p>
            <a:r>
              <a:rPr lang="en-US" altLang="en-US" sz="1700" b="1" dirty="0"/>
              <a:t>create view  </a:t>
            </a:r>
            <a:r>
              <a:rPr lang="en-US" altLang="en-US" sz="1700" i="1" dirty="0" err="1"/>
              <a:t>geo_instructor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dept_name </a:t>
            </a:r>
            <a:r>
              <a:rPr lang="en-US" altLang="en-US" sz="1700" dirty="0"/>
              <a:t>= 'Geology');</a:t>
            </a:r>
          </a:p>
          <a:p>
            <a:r>
              <a:rPr lang="en-US" altLang="en-US" sz="1700" b="1" dirty="0"/>
              <a:t>grant select on </a:t>
            </a:r>
            <a:r>
              <a:rPr lang="en-US" altLang="en-US" sz="1700" i="1" dirty="0" err="1"/>
              <a:t>geo_instructor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to 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geo_staff</a:t>
            </a:r>
            <a:endParaRPr lang="en-US" altLang="en-US" sz="1700" i="1" dirty="0"/>
          </a:p>
          <a:p>
            <a:r>
              <a:rPr lang="en-US" altLang="en-US" sz="1700" dirty="0"/>
              <a:t>Suppose that a  </a:t>
            </a:r>
            <a:r>
              <a:rPr lang="en-US" altLang="en-US" sz="1700" i="1" dirty="0" err="1"/>
              <a:t>geo_staff</a:t>
            </a:r>
            <a:r>
              <a:rPr lang="en-US" altLang="en-US" sz="1700" dirty="0"/>
              <a:t> member issues</a:t>
            </a:r>
          </a:p>
          <a:p>
            <a:pPr lvl="1"/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 err="1"/>
              <a:t>geo_instructor</a:t>
            </a:r>
            <a:r>
              <a:rPr lang="en-US" altLang="en-US" sz="1700" dirty="0"/>
              <a:t>;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This staff is authorized to see the result of </a:t>
            </a:r>
            <a:r>
              <a:rPr lang="en-US" altLang="zh-TW">
                <a:ea typeface="ＭＳ Ｐゴシック" panose="020B0600070205080204" pitchFamily="34" charset="-128"/>
              </a:rPr>
              <a:t>the above </a:t>
            </a:r>
            <a:r>
              <a:rPr lang="en-US" altLang="zh-TW" dirty="0">
                <a:ea typeface="ＭＳ Ｐゴシック" panose="020B0600070205080204" pitchFamily="34" charset="-128"/>
              </a:rPr>
              <a:t>query.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93158</TotalTime>
  <Words>4682</Words>
  <Application>Microsoft Office PowerPoint</Application>
  <PresentationFormat>如螢幕大小 (4:3)</PresentationFormat>
  <Paragraphs>563</Paragraphs>
  <Slides>57</Slides>
  <Notes>37</Notes>
  <HiddenSlides>0</HiddenSlides>
  <MMClips>0</MMClips>
  <ScaleCrop>false</ScaleCrop>
  <HeadingPairs>
    <vt:vector size="8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57</vt:i4>
      </vt:variant>
      <vt:variant>
        <vt:lpstr>自訂放映</vt:lpstr>
      </vt:variant>
      <vt:variant>
        <vt:i4>1</vt:i4>
      </vt:variant>
    </vt:vector>
  </HeadingPairs>
  <TitlesOfParts>
    <vt:vector size="70" baseType="lpstr">
      <vt:lpstr>Monotype Sorts</vt:lpstr>
      <vt:lpstr>MS PGothic</vt:lpstr>
      <vt:lpstr>MS PGothic</vt:lpstr>
      <vt:lpstr>新細明體</vt:lpstr>
      <vt:lpstr>Arial</vt:lpstr>
      <vt:lpstr>Cambria Math</vt:lpstr>
      <vt:lpstr>Helvetica</vt:lpstr>
      <vt:lpstr>Symbol</vt:lpstr>
      <vt:lpstr>Times New Roman</vt:lpstr>
      <vt:lpstr>Webdings</vt:lpstr>
      <vt:lpstr>Wingdings</vt:lpstr>
      <vt:lpstr>2_db-5-grey</vt:lpstr>
      <vt:lpstr>Chapter 4 : Intermediate SQL</vt:lpstr>
      <vt:lpstr>Outline</vt:lpstr>
      <vt:lpstr>Joined Relations</vt:lpstr>
      <vt:lpstr>Natural Join in SQL</vt:lpstr>
      <vt:lpstr>Natural Join in SQL (Cont.)</vt:lpstr>
      <vt:lpstr>Takes Relation</vt:lpstr>
      <vt:lpstr>student natural join takes</vt:lpstr>
      <vt:lpstr>Dangerous in Natural Join</vt:lpstr>
      <vt:lpstr>Natural Join with Using Clause</vt:lpstr>
      <vt:lpstr>Join Condition</vt:lpstr>
      <vt:lpstr>Outer Join</vt:lpstr>
      <vt:lpstr>Outer Join Examples</vt:lpstr>
      <vt:lpstr>Example of Left/Right Outer Join</vt:lpstr>
      <vt:lpstr>Full Outer Join</vt:lpstr>
      <vt:lpstr>Joined Types and Conditions</vt:lpstr>
      <vt:lpstr>Joined Relations – Examples</vt:lpstr>
      <vt:lpstr>Joined Relations – Examples </vt:lpstr>
      <vt:lpstr>練習</vt:lpstr>
      <vt:lpstr>Views</vt:lpstr>
      <vt:lpstr>View Definition</vt:lpstr>
      <vt:lpstr>View Definition and Use</vt:lpstr>
      <vt:lpstr>Views Defined Using Other Views</vt:lpstr>
      <vt:lpstr>View Expansion</vt:lpstr>
      <vt:lpstr>※Views Defined Using Other Views</vt:lpstr>
      <vt:lpstr>※ View Expansion </vt:lpstr>
      <vt:lpstr>※ Materialized Views</vt:lpstr>
      <vt:lpstr>Update of a View</vt:lpstr>
      <vt:lpstr>Some Updates Cannot be Translated Uniquely</vt:lpstr>
      <vt:lpstr>And Some Not at All</vt:lpstr>
      <vt:lpstr>View Updates in SQL </vt:lpstr>
      <vt:lpstr>Transactions</vt:lpstr>
      <vt:lpstr>Integrity Constraints</vt:lpstr>
      <vt:lpstr> Constraints on a Single Relation </vt:lpstr>
      <vt:lpstr>Not Null Constraints </vt:lpstr>
      <vt:lpstr>Unique Constraints </vt:lpstr>
      <vt:lpstr>The check clause</vt:lpstr>
      <vt:lpstr>Referential Integrity</vt:lpstr>
      <vt:lpstr>Referential Integrity (Cont.)</vt:lpstr>
      <vt:lpstr>練習</vt:lpstr>
      <vt:lpstr>Cascading Actions in Referential Integrity</vt:lpstr>
      <vt:lpstr>※ Integrity Constraint Violation During Transactions</vt:lpstr>
      <vt:lpstr>※ Complex Check Conditions</vt:lpstr>
      <vt:lpstr>Built-in Data Types in SQL </vt:lpstr>
      <vt:lpstr>Large-Object Types</vt:lpstr>
      <vt:lpstr>User-Defined Types</vt:lpstr>
      <vt:lpstr>Domains</vt:lpstr>
      <vt:lpstr>Index Creation</vt:lpstr>
      <vt:lpstr>以屬性name建立Index的範例圖 (含Data File)</vt:lpstr>
      <vt:lpstr>Index Creation Example</vt:lpstr>
      <vt:lpstr>Authorization</vt:lpstr>
      <vt:lpstr>Authorization (Cont.)</vt:lpstr>
      <vt:lpstr>Privileges in SQL</vt:lpstr>
      <vt:lpstr>Authorization Specification in SQL</vt:lpstr>
      <vt:lpstr>Revoking Authorization in SQL</vt:lpstr>
      <vt:lpstr>Roles</vt:lpstr>
      <vt:lpstr>Roles Example</vt:lpstr>
      <vt:lpstr>Authorization on Views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張雅惠</cp:lastModifiedBy>
  <cp:revision>528</cp:revision>
  <cp:lastPrinted>1999-06-28T19:27:31Z</cp:lastPrinted>
  <dcterms:created xsi:type="dcterms:W3CDTF">2009-12-21T15:40:22Z</dcterms:created>
  <dcterms:modified xsi:type="dcterms:W3CDTF">2022-11-20T12:47:39Z</dcterms:modified>
</cp:coreProperties>
</file>