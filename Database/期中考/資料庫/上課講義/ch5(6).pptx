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8"/>
  </p:notesMasterIdLst>
  <p:handoutMasterIdLst>
    <p:handoutMasterId r:id="rId39"/>
  </p:handoutMasterIdLst>
  <p:sldIdLst>
    <p:sldId id="336" r:id="rId2"/>
    <p:sldId id="337" r:id="rId3"/>
    <p:sldId id="338" r:id="rId4"/>
    <p:sldId id="339" r:id="rId5"/>
    <p:sldId id="345" r:id="rId6"/>
    <p:sldId id="341" r:id="rId7"/>
    <p:sldId id="342" r:id="rId8"/>
    <p:sldId id="344" r:id="rId9"/>
    <p:sldId id="346" r:id="rId10"/>
    <p:sldId id="413" r:id="rId11"/>
    <p:sldId id="347" r:id="rId12"/>
    <p:sldId id="348" r:id="rId13"/>
    <p:sldId id="411" r:id="rId14"/>
    <p:sldId id="412" r:id="rId15"/>
    <p:sldId id="391" r:id="rId16"/>
    <p:sldId id="392" r:id="rId17"/>
    <p:sldId id="359" r:id="rId18"/>
    <p:sldId id="405" r:id="rId19"/>
    <p:sldId id="366" r:id="rId20"/>
    <p:sldId id="367" r:id="rId21"/>
    <p:sldId id="368" r:id="rId22"/>
    <p:sldId id="395" r:id="rId23"/>
    <p:sldId id="397" r:id="rId24"/>
    <p:sldId id="372" r:id="rId25"/>
    <p:sldId id="399" r:id="rId26"/>
    <p:sldId id="375" r:id="rId27"/>
    <p:sldId id="378" r:id="rId28"/>
    <p:sldId id="379" r:id="rId29"/>
    <p:sldId id="402" r:id="rId30"/>
    <p:sldId id="407" r:id="rId31"/>
    <p:sldId id="408" r:id="rId32"/>
    <p:sldId id="381" r:id="rId33"/>
    <p:sldId id="409" r:id="rId34"/>
    <p:sldId id="382" r:id="rId35"/>
    <p:sldId id="410" r:id="rId36"/>
    <p:sldId id="383" r:id="rId37"/>
  </p:sldIdLst>
  <p:sldSz cx="9144000" cy="6858000" type="screen4x3"/>
  <p:notesSz cx="6797675" cy="9928225"/>
  <p:custShowLst>
    <p:custShow name="Custom Show 1" id="0">
      <p:sldLst/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7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2" autoAdjust="0"/>
    <p:restoredTop sz="94737" autoAdjust="0"/>
  </p:normalViewPr>
  <p:slideViewPr>
    <p:cSldViewPr snapToGrid="0">
      <p:cViewPr varScale="1">
        <p:scale>
          <a:sx n="64" d="100"/>
          <a:sy n="64" d="100"/>
        </p:scale>
        <p:origin x="1208" y="56"/>
      </p:cViewPr>
      <p:guideLst>
        <p:guide orient="horz" pos="707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03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>
            <a:extLst>
              <a:ext uri="{FF2B5EF4-FFF2-40B4-BE49-F238E27FC236}">
                <a16:creationId xmlns:a16="http://schemas.microsoft.com/office/drawing/2014/main" id="{C6EF5354-BFFB-44DF-8FA7-1A088153BD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454" cy="495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7" name="Rectangle 3">
            <a:extLst>
              <a:ext uri="{FF2B5EF4-FFF2-40B4-BE49-F238E27FC236}">
                <a16:creationId xmlns:a16="http://schemas.microsoft.com/office/drawing/2014/main" id="{5BBF6CF9-ADFE-4F6E-89A0-8CB582D8FFC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2222" y="0"/>
            <a:ext cx="2945454" cy="495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8" name="Rectangle 4">
            <a:extLst>
              <a:ext uri="{FF2B5EF4-FFF2-40B4-BE49-F238E27FC236}">
                <a16:creationId xmlns:a16="http://schemas.microsoft.com/office/drawing/2014/main" id="{8C120FC7-7BCE-4696-BB5D-C087861E4B4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2493"/>
            <a:ext cx="2945454" cy="495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9" name="Rectangle 5">
            <a:extLst>
              <a:ext uri="{FF2B5EF4-FFF2-40B4-BE49-F238E27FC236}">
                <a16:creationId xmlns:a16="http://schemas.microsoft.com/office/drawing/2014/main" id="{6735A123-7D3E-455E-AB82-1C3749BB05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2222" y="9432493"/>
            <a:ext cx="2945454" cy="495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8B4C920-550B-4EA7-9CB5-2D8883A273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1305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>
            <a:extLst>
              <a:ext uri="{FF2B5EF4-FFF2-40B4-BE49-F238E27FC236}">
                <a16:creationId xmlns:a16="http://schemas.microsoft.com/office/drawing/2014/main" id="{2E8AF117-EF14-4BF3-AB7D-D75C4F934CC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454" cy="495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3" name="Rectangle 3">
            <a:extLst>
              <a:ext uri="{FF2B5EF4-FFF2-40B4-BE49-F238E27FC236}">
                <a16:creationId xmlns:a16="http://schemas.microsoft.com/office/drawing/2014/main" id="{D7D2DA5C-BED3-45D1-AFD2-94AF29863AB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52222" y="0"/>
            <a:ext cx="2945454" cy="495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2936E5F-4C9B-4144-9261-C3F188AA67D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5988" y="744538"/>
            <a:ext cx="4965700" cy="3724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0645" name="Rectangle 5">
            <a:extLst>
              <a:ext uri="{FF2B5EF4-FFF2-40B4-BE49-F238E27FC236}">
                <a16:creationId xmlns:a16="http://schemas.microsoft.com/office/drawing/2014/main" id="{D73F14C5-05F8-4300-9D01-F3633C85474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5227" y="4716247"/>
            <a:ext cx="4987223" cy="44666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0646" name="Rectangle 6">
            <a:extLst>
              <a:ext uri="{FF2B5EF4-FFF2-40B4-BE49-F238E27FC236}">
                <a16:creationId xmlns:a16="http://schemas.microsoft.com/office/drawing/2014/main" id="{BCB6CAD9-A006-4455-8054-9CACB290288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493"/>
            <a:ext cx="2945454" cy="495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7" name="Rectangle 7">
            <a:extLst>
              <a:ext uri="{FF2B5EF4-FFF2-40B4-BE49-F238E27FC236}">
                <a16:creationId xmlns:a16="http://schemas.microsoft.com/office/drawing/2014/main" id="{63060AD7-0C3D-477B-BD60-55C8EBDB94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2222" y="9432493"/>
            <a:ext cx="2945454" cy="495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E66C03C-4B0E-4149-8287-A3B340EB81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67080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384C445-B1F5-490F-A9C4-D80A2FD64200}" type="slidenum">
              <a:rPr lang="en-US" altLang="en-US" sz="1200"/>
              <a:pPr/>
              <a:t>1</a:t>
            </a:fld>
            <a:endParaRPr lang="en-US" altLang="en-US" sz="120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227" y="4716247"/>
            <a:ext cx="4987223" cy="446668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241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1350AA7-056F-4860-8F4F-423CF851BA62}" type="slidenum">
              <a:rPr lang="en-US" altLang="en-US" sz="1200"/>
              <a:pPr/>
              <a:t>2</a:t>
            </a:fld>
            <a:endParaRPr lang="en-US" altLang="en-US" sz="120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227" y="4716247"/>
            <a:ext cx="4987223" cy="446668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0452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B660626-6ED4-4019-A597-4C6DFE264C50}" type="slidenum">
              <a:rPr lang="en-US" altLang="en-US" sz="1200"/>
              <a:pPr/>
              <a:t>3</a:t>
            </a:fld>
            <a:endParaRPr lang="en-US" altLang="en-US" sz="120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227" y="4716247"/>
            <a:ext cx="4987223" cy="446668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79047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1CD168A-2AB0-40BE-8A28-C8934AB24B59}" type="slidenum">
              <a:rPr lang="en-US" altLang="en-US" sz="1200"/>
              <a:pPr/>
              <a:t>4</a:t>
            </a:fld>
            <a:endParaRPr lang="en-US" altLang="en-US" sz="120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227" y="4716247"/>
            <a:ext cx="4987223" cy="446668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61354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3EA5081-7C3B-4331-8DF4-4701702254E9}" type="slidenum">
              <a:rPr lang="en-US" altLang="en-US" sz="1200"/>
              <a:pPr/>
              <a:t>5</a:t>
            </a:fld>
            <a:endParaRPr lang="en-US" altLang="en-US" sz="120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227" y="4716247"/>
            <a:ext cx="4987223" cy="446668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55165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5C2FE0B-747E-4E51-8338-9337A712521F}" type="slidenum">
              <a:rPr lang="en-US" altLang="en-US" sz="1200"/>
              <a:pPr/>
              <a:t>6</a:t>
            </a:fld>
            <a:endParaRPr lang="en-US" altLang="en-US" sz="120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227" y="4716247"/>
            <a:ext cx="4987223" cy="446668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11569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EF74B7E-6D78-40C0-B480-B2E1F05096CD}" type="slidenum">
              <a:rPr lang="en-US" altLang="en-US" sz="1200"/>
              <a:pPr/>
              <a:t>7</a:t>
            </a:fld>
            <a:endParaRPr lang="en-US" altLang="en-US" sz="120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227" y="4716247"/>
            <a:ext cx="4987223" cy="446668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18463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EB2570B-4ECC-42D2-A915-3497ECD86CCC}" type="slidenum">
              <a:rPr lang="en-US" altLang="en-US" sz="1200"/>
              <a:pPr/>
              <a:t>8</a:t>
            </a:fld>
            <a:endParaRPr lang="en-US" altLang="en-US" sz="1200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227" y="4716247"/>
            <a:ext cx="4987223" cy="446668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04236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BAD4660-C1BD-43D6-AED2-2CDB1E45F07D}" type="slidenum">
              <a:rPr lang="en-US" altLang="en-US" sz="1200"/>
              <a:pPr/>
              <a:t>9</a:t>
            </a:fld>
            <a:endParaRPr lang="en-US" altLang="en-US" sz="1200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227" y="4716247"/>
            <a:ext cx="4987223" cy="446668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0322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79B905-280D-44BD-8E31-AB90F5734834}" type="slidenum">
              <a:rPr lang="en-US" altLang="en-US" smtClean="0"/>
              <a:pPr/>
              <a:t>15</a:t>
            </a:fld>
            <a:endParaRPr lang="en-US" alt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559698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79B905-280D-44BD-8E31-AB90F5734834}" type="slidenum">
              <a:rPr lang="en-US" altLang="en-US" smtClean="0"/>
              <a:pPr/>
              <a:t>16</a:t>
            </a:fld>
            <a:endParaRPr lang="en-US" alt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444600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1BA436F-0A43-4014-B8D3-1B023E7936DE}" type="slidenum">
              <a:rPr lang="en-US" altLang="en-US" sz="1200"/>
              <a:pPr/>
              <a:t>17</a:t>
            </a:fld>
            <a:endParaRPr lang="en-US" altLang="en-US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227" y="4716247"/>
            <a:ext cx="4987223" cy="446668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18911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6F0339C-7A5B-4860-8D42-52F584D09780}" type="slidenum">
              <a:rPr lang="en-US" altLang="en-US" sz="1200"/>
              <a:pPr/>
              <a:t>18</a:t>
            </a:fld>
            <a:endParaRPr lang="en-US" altLang="en-US" sz="1200"/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227" y="4716247"/>
            <a:ext cx="4987223" cy="446668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98742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6EA8CD4-BE8A-459D-9D31-26FCFAB06D25}" type="slidenum">
              <a:rPr lang="en-US" altLang="en-US" sz="1200"/>
              <a:pPr/>
              <a:t>19</a:t>
            </a:fld>
            <a:endParaRPr lang="en-US" altLang="en-US" sz="1200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227" y="4716247"/>
            <a:ext cx="4987223" cy="446668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50231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7040340-971D-4A83-83E8-822FA67F93DB}" type="slidenum">
              <a:rPr lang="en-US" altLang="en-US" sz="1200"/>
              <a:pPr/>
              <a:t>20</a:t>
            </a:fld>
            <a:endParaRPr lang="en-US" altLang="en-US" sz="1200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227" y="4716247"/>
            <a:ext cx="4987223" cy="446668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49981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0D3EC4A-6F15-43AE-AA3C-5A809172836D}" type="slidenum">
              <a:rPr lang="en-US" altLang="en-US" sz="1200"/>
              <a:pPr/>
              <a:t>21</a:t>
            </a:fld>
            <a:endParaRPr lang="en-US" altLang="en-US" sz="1200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227" y="4716247"/>
            <a:ext cx="4987223" cy="446668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2092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7174961-0CF3-42A6-8222-18520414FAD4}" type="slidenum">
              <a:rPr lang="en-US" altLang="en-US" sz="1200"/>
              <a:pPr/>
              <a:t>22</a:t>
            </a:fld>
            <a:endParaRPr lang="en-US" altLang="en-US" sz="1200" dirty="0"/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2950"/>
            <a:ext cx="4965700" cy="3724275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125" y="4716586"/>
            <a:ext cx="4987425" cy="44673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15122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7174961-0CF3-42A6-8222-18520414FAD4}" type="slidenum">
              <a:rPr lang="en-US" altLang="en-US" sz="1200"/>
              <a:pPr/>
              <a:t>23</a:t>
            </a:fld>
            <a:endParaRPr lang="en-US" altLang="en-US" sz="1200" dirty="0"/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2950"/>
            <a:ext cx="4965700" cy="3724275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125" y="4716586"/>
            <a:ext cx="4987425" cy="44673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15122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A0A2931-304C-4865-B2DC-2F6371DEAF73}" type="slidenum">
              <a:rPr lang="en-US" altLang="en-US" sz="1200"/>
              <a:pPr/>
              <a:t>24</a:t>
            </a:fld>
            <a:endParaRPr lang="en-US" altLang="en-US" sz="1200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227" y="4716247"/>
            <a:ext cx="4987223" cy="446668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64661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7174961-0CF3-42A6-8222-18520414FAD4}" type="slidenum">
              <a:rPr lang="en-US" altLang="en-US" sz="1200"/>
              <a:pPr/>
              <a:t>25</a:t>
            </a:fld>
            <a:endParaRPr lang="en-US" altLang="en-US" sz="1200" dirty="0"/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2950"/>
            <a:ext cx="4965700" cy="3724275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125" y="4716586"/>
            <a:ext cx="4987425" cy="44673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15122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C7B0BBF-B3C9-440E-B986-950E14E24760}" type="slidenum">
              <a:rPr lang="en-US" altLang="en-US" sz="1200"/>
              <a:pPr/>
              <a:t>26</a:t>
            </a:fld>
            <a:endParaRPr lang="en-US" altLang="en-US" sz="1200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227" y="4716247"/>
            <a:ext cx="4987223" cy="446668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59752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4AC97B1-25CD-474B-98A6-5180BA18AE28}" type="slidenum">
              <a:rPr lang="en-US" altLang="en-US" sz="1200"/>
              <a:pPr/>
              <a:t>27</a:t>
            </a:fld>
            <a:endParaRPr lang="en-US" altLang="en-US" sz="1200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227" y="4716247"/>
            <a:ext cx="4987223" cy="446668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01920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AFD31E9-BE10-4267-BC2D-73ADA680375F}" type="slidenum">
              <a:rPr lang="en-US" altLang="en-US" sz="1200"/>
              <a:pPr/>
              <a:t>28</a:t>
            </a:fld>
            <a:endParaRPr lang="en-US" altLang="en-US" sz="1200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2950"/>
            <a:ext cx="4965700" cy="3724275"/>
          </a:xfrm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227" y="4716247"/>
            <a:ext cx="4987223" cy="4468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775927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7174961-0CF3-42A6-8222-18520414FAD4}" type="slidenum">
              <a:rPr lang="en-US" altLang="en-US" sz="1200"/>
              <a:pPr/>
              <a:t>29</a:t>
            </a:fld>
            <a:endParaRPr lang="en-US" altLang="en-US" sz="1200" dirty="0"/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2950"/>
            <a:ext cx="4965700" cy="3724275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125" y="4716586"/>
            <a:ext cx="4987425" cy="44673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15122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38CB15C-F8E4-470F-B5DA-13E6E74948B4}" type="slidenum">
              <a:rPr lang="en-US" altLang="zh-TW" sz="1200" smtClean="0"/>
              <a:pPr/>
              <a:t>30</a:t>
            </a:fld>
            <a:endParaRPr lang="en-US" altLang="zh-TW" sz="1200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61988" y="790575"/>
            <a:ext cx="5280025" cy="3960813"/>
          </a:xfrm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9010" y="5016742"/>
            <a:ext cx="4846891" cy="4753596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altLang="zh-TW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81800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194026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F04CF4B-324E-46D0-BA47-9EB6AD9CA672}" type="slidenum">
              <a:rPr lang="en-US" altLang="en-US" sz="1200"/>
              <a:pPr/>
              <a:t>34</a:t>
            </a:fld>
            <a:endParaRPr lang="en-US" altLang="en-US" sz="1200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2950"/>
            <a:ext cx="4965700" cy="3724275"/>
          </a:xfrm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227" y="4716247"/>
            <a:ext cx="4987223" cy="4468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084197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0967849-B9F5-4791-B1A9-03C13B822321}" type="slidenum">
              <a:rPr lang="en-US" altLang="en-US" sz="1200"/>
              <a:pPr/>
              <a:t>36</a:t>
            </a:fld>
            <a:endParaRPr lang="en-US" altLang="en-US" sz="1200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2950"/>
            <a:ext cx="4965700" cy="3724275"/>
          </a:xfrm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227" y="4716247"/>
            <a:ext cx="4987223" cy="4468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08370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A25BB261-D773-4836-B381-7A051175F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5130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4760F52-45E1-4E1D-A744-2F2290DE90C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3B69BB99-A72A-4470-971F-83530C443C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13858" y="0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0487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350" y="1093788"/>
            <a:ext cx="7707313" cy="4903787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4371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6F2EBE-FF5F-4F9D-A3C2-A59A92D7809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7F3CAF-32BF-49A6-93F1-59C9E4B7C9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0709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6D4A7F0-1138-4608-80AA-D0A6F5D4118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852D5F-D37B-4E9D-98AD-511A1ABBD6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0802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6DFCFB3-6710-4DD2-8404-7E55A930F35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191CCC-CC48-429B-87C9-7123B48E52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9042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B431453-8F56-47C4-89BA-3EDF3CD092B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9D92F0-DB25-4E6B-A10D-A7937AC7A3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6005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4BE8099E-18A5-481A-9697-216087BE067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555C8E-F740-4D28-8DA3-D7B8E0F6F5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2147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7E2C57D-1205-411A-BA90-DF60A810F6D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BBE5B0-1186-4DAB-9E97-511F15F5C63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8809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9EB6957-06EE-46F8-A450-3DB417A1F8A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1DB2E-7BC4-4C22-ACAE-0B8B3F0C51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14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C950AD-734E-45C7-8042-5795FFAD675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E5E31B-1343-4510-8DCD-65E7B65446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304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A7A2CD-B5B0-4CF6-8038-339B0E99E3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3574B0-C055-4E38-82A9-667A1DF1F8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4649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796C49-4A73-449B-A170-DFFCD45313D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0D9E99-A0D8-4F2F-B04A-331DF655FE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82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6112478-D9B7-4D0D-ADE5-62D5EFAAFB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47558" y="1093788"/>
            <a:ext cx="7728105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512003" name="Rectangle 3">
            <a:extLst>
              <a:ext uri="{FF2B5EF4-FFF2-40B4-BE49-F238E27FC236}">
                <a16:creationId xmlns:a16="http://schemas.microsoft.com/office/drawing/2014/main" id="{D2EB5033-CF44-472B-B77D-FAA18581E6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00206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BECA7E0-09BC-41D3-BD93-B7E81A2ACCB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id="{D0CFC8B2-2C6C-4CA4-9AFC-14298F0DD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©Silberschatz, Korth and Sudarshan</a:t>
            </a:r>
          </a:p>
        </p:txBody>
      </p:sp>
      <p:sp>
        <p:nvSpPr>
          <p:cNvPr id="512005" name="Text Box 5">
            <a:extLst>
              <a:ext uri="{FF2B5EF4-FFF2-40B4-BE49-F238E27FC236}">
                <a16:creationId xmlns:a16="http://schemas.microsoft.com/office/drawing/2014/main" id="{ED25C836-0663-424A-84A7-5AB80342286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79984" y="6613525"/>
            <a:ext cx="44755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5.</a:t>
            </a:r>
            <a:fld id="{669DE52E-05EC-4487-BE79-3F9A6A9F8797}" type="slidenum">
              <a:rPr lang="en-US" altLang="en-US" sz="1000" b="1" smtClean="0">
                <a:solidFill>
                  <a:srgbClr val="00206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512006" name="Rectangle 6">
            <a:extLst>
              <a:ext uri="{FF2B5EF4-FFF2-40B4-BE49-F238E27FC236}">
                <a16:creationId xmlns:a16="http://schemas.microsoft.com/office/drawing/2014/main" id="{BFAC4B4C-D3C2-4A14-871E-CC7D45F076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5472E9A1-C06F-4393-872E-7F8100F91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id="{0362D880-06BD-4D02-876C-3226AC8E6F10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6 h 61"/>
              <a:gd name="T2" fmla="*/ 2147483646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2147483646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2147483646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2147483646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0" name="Picture 8" descr="Cover-6Ed"/>
          <p:cNvPicPr>
            <a:picLocks noChangeAspect="1" noChangeArrowheads="1"/>
          </p:cNvPicPr>
          <p:nvPr userDrawn="1"/>
        </p:nvPicPr>
        <p:blipFill>
          <a:blip r:embed="rId14"/>
          <a:stretch>
            <a:fillRect/>
          </a:stretch>
        </p:blipFill>
        <p:spPr bwMode="auto">
          <a:xfrm>
            <a:off x="5546" y="0"/>
            <a:ext cx="742012" cy="94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95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news.ltn.com.tw/news/life/breakingnews/2971370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mariadb.com/kb/en/create-function/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ariadb.com/kb/en/create-procedure/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mariadb.com/kb/en/trigger-overview/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8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Chapter 5: Advanced 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Outline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49351"/>
            <a:ext cx="7205218" cy="3995674"/>
          </a:xfrm>
        </p:spPr>
        <p:txBody>
          <a:bodyPr/>
          <a:lstStyle/>
          <a:p>
            <a:r>
              <a:rPr lang="en-US" altLang="en-US" sz="1700" dirty="0"/>
              <a:t>Accessing SQL From a Programming Language</a:t>
            </a:r>
          </a:p>
          <a:p>
            <a:r>
              <a:rPr lang="en-US" altLang="en-US" sz="1700" dirty="0"/>
              <a:t>Functions and Procedures</a:t>
            </a:r>
          </a:p>
          <a:p>
            <a:r>
              <a:rPr lang="en-US" altLang="en-US" sz="1700" dirty="0"/>
              <a:t>Triggers</a:t>
            </a:r>
          </a:p>
          <a:p>
            <a:r>
              <a:rPr lang="en-US" altLang="en-US" sz="1700" dirty="0">
                <a:latin typeface="新細明體" panose="02020500000000000000" pitchFamily="18" charset="-120"/>
                <a:ea typeface="新細明體" panose="02020500000000000000" pitchFamily="18" charset="-120"/>
              </a:rPr>
              <a:t>※</a:t>
            </a:r>
            <a:r>
              <a:rPr lang="zh-TW" altLang="en-US" sz="1700" dirty="0">
                <a:latin typeface="新細明體" panose="02020500000000000000" pitchFamily="18" charset="-120"/>
                <a:ea typeface="新細明體" panose="02020500000000000000" pitchFamily="18" charset="-120"/>
              </a:rPr>
              <a:t> </a:t>
            </a:r>
            <a:r>
              <a:rPr lang="en-US" altLang="en-US" sz="1700" dirty="0"/>
              <a:t>Recursive Queries</a:t>
            </a:r>
          </a:p>
          <a:p>
            <a:r>
              <a:rPr lang="en-US" altLang="en-US" sz="1700" dirty="0">
                <a:latin typeface="新細明體" panose="02020500000000000000" pitchFamily="18" charset="-120"/>
                <a:ea typeface="新細明體" panose="02020500000000000000" pitchFamily="18" charset="-120"/>
              </a:rPr>
              <a:t>※</a:t>
            </a:r>
            <a:r>
              <a:rPr lang="zh-TW" altLang="en-US" sz="1700" dirty="0">
                <a:latin typeface="新細明體" panose="02020500000000000000" pitchFamily="18" charset="-120"/>
                <a:ea typeface="新細明體" panose="02020500000000000000" pitchFamily="18" charset="-120"/>
              </a:rPr>
              <a:t> </a:t>
            </a:r>
            <a:r>
              <a:rPr lang="en-US" altLang="en-US" sz="1700" dirty="0"/>
              <a:t>Advanced Aggregation Features</a:t>
            </a:r>
          </a:p>
          <a:p>
            <a:endParaRPr lang="en-US" altLang="en-US" dirty="0"/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1435100" y="-763588"/>
            <a:ext cx="184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56802"/>
            <a:ext cx="8077200" cy="615554"/>
          </a:xfrm>
        </p:spPr>
        <p:txBody>
          <a:bodyPr/>
          <a:lstStyle/>
          <a:p>
            <a:pPr>
              <a:defRPr/>
            </a:pPr>
            <a:r>
              <a:rPr lang="en-US" alt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Accessing SQL from a Programming Language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18587" y="1813059"/>
            <a:ext cx="7247158" cy="2616073"/>
          </a:xfrm>
        </p:spPr>
        <p:txBody>
          <a:bodyPr/>
          <a:lstStyle/>
          <a:p>
            <a:r>
              <a:rPr lang="en-US" altLang="en-US" sz="1700" dirty="0"/>
              <a:t>Not all queries can be expressed in SQL, since SQL does not provide the full expressive power of a general-purpose language.</a:t>
            </a:r>
          </a:p>
          <a:p>
            <a:r>
              <a:rPr lang="en-US" altLang="en-US" sz="1700" dirty="0"/>
              <a:t>Non-declarative actions -- such as printing a report, interacting with a user, or sending the results of a query to a graphical user interface -- cannot be done from within SQL.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  <p:sp>
        <p:nvSpPr>
          <p:cNvPr id="6148" name="Rectangle 4"/>
          <p:cNvSpPr>
            <a:spLocks noChangeArrowheads="1"/>
          </p:cNvSpPr>
          <p:nvPr/>
        </p:nvSpPr>
        <p:spPr bwMode="auto">
          <a:xfrm>
            <a:off x="1435100" y="-763588"/>
            <a:ext cx="184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6149" name="TextBox 4"/>
          <p:cNvSpPr txBox="1">
            <a:spLocks noChangeArrowheads="1"/>
          </p:cNvSpPr>
          <p:nvPr/>
        </p:nvSpPr>
        <p:spPr bwMode="auto">
          <a:xfrm>
            <a:off x="768351" y="1119068"/>
            <a:ext cx="7692068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700" dirty="0"/>
              <a:t>A database programmer must have access to a general-purpose programming language for at least two reasons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39688"/>
            <a:ext cx="8375650" cy="609600"/>
          </a:xfrm>
        </p:spPr>
        <p:txBody>
          <a:bodyPr/>
          <a:lstStyle/>
          <a:p>
            <a:pPr>
              <a:defRPr/>
            </a:pPr>
            <a:r>
              <a:rPr lang="en-US" alt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Accessing SQL from a Programming Language (Cont.)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00831" y="1748663"/>
            <a:ext cx="7253056" cy="4341813"/>
          </a:xfrm>
        </p:spPr>
        <p:txBody>
          <a:bodyPr/>
          <a:lstStyle/>
          <a:p>
            <a:r>
              <a:rPr lang="en-US" altLang="en-US" sz="1700" dirty="0"/>
              <a:t>A general-purpose program  -- can connect to and communicate with a database server using a collection of functions</a:t>
            </a:r>
          </a:p>
          <a:p>
            <a:r>
              <a:rPr lang="en-US" altLang="en-US" sz="1700" dirty="0"/>
              <a:t>Embedded SQL -- provides a means by which a program can interact with a database server.  </a:t>
            </a:r>
          </a:p>
          <a:p>
            <a:pPr lvl="1"/>
            <a:r>
              <a:rPr lang="en-US" altLang="en-US" sz="1700" dirty="0"/>
              <a:t>The  SQL statements are translated at compile time  into function calls.  </a:t>
            </a:r>
          </a:p>
          <a:p>
            <a:pPr lvl="1"/>
            <a:r>
              <a:rPr lang="en-US" altLang="en-US" sz="1700" dirty="0"/>
              <a:t>At runtime,  these function calls connect to the database  using an API  that provides dynamic  SQL facilities.</a:t>
            </a:r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1435100" y="-763588"/>
            <a:ext cx="184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7173" name="TextBox 4"/>
          <p:cNvSpPr txBox="1">
            <a:spLocks noChangeArrowheads="1"/>
          </p:cNvSpPr>
          <p:nvPr/>
        </p:nvSpPr>
        <p:spPr bwMode="auto">
          <a:xfrm>
            <a:off x="768351" y="1030288"/>
            <a:ext cx="7585536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700" dirty="0"/>
              <a:t>There are two approaches to accessing  SQL from a general-purpose programming language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JDBC SUBSECTIONS       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35063"/>
            <a:ext cx="7734300" cy="4903787"/>
          </a:xfrm>
        </p:spPr>
        <p:txBody>
          <a:bodyPr/>
          <a:lstStyle/>
          <a:p>
            <a:r>
              <a:rPr lang="en-US" altLang="en-US" dirty="0"/>
              <a:t>Connecting to the Database</a:t>
            </a:r>
          </a:p>
          <a:p>
            <a:r>
              <a:rPr lang="en-US" altLang="en-US" dirty="0"/>
              <a:t>Shipping SQL Statements to the Database System</a:t>
            </a:r>
          </a:p>
          <a:p>
            <a:r>
              <a:rPr lang="en-US" altLang="en-US" dirty="0"/>
              <a:t>Exceptions and Resource Management</a:t>
            </a:r>
          </a:p>
          <a:p>
            <a:r>
              <a:rPr lang="en-US" altLang="en-US" dirty="0"/>
              <a:t>Retrieving the Result of a Query</a:t>
            </a:r>
          </a:p>
          <a:p>
            <a:r>
              <a:rPr lang="en-US" altLang="en-US" dirty="0"/>
              <a:t>Prepared Statements</a:t>
            </a:r>
          </a:p>
          <a:p>
            <a:r>
              <a:rPr lang="en-US" altLang="en-US" dirty="0">
                <a:latin typeface="新細明體" panose="02020500000000000000" pitchFamily="18" charset="-120"/>
                <a:ea typeface="新細明體" panose="02020500000000000000" pitchFamily="18" charset="-120"/>
              </a:rPr>
              <a:t>※ </a:t>
            </a:r>
            <a:r>
              <a:rPr lang="en-US" altLang="en-US" dirty="0"/>
              <a:t>Callable Statements</a:t>
            </a:r>
          </a:p>
          <a:p>
            <a:r>
              <a:rPr lang="en-US" altLang="en-US" dirty="0">
                <a:latin typeface="新細明體" panose="02020500000000000000" pitchFamily="18" charset="-120"/>
                <a:ea typeface="新細明體" panose="02020500000000000000" pitchFamily="18" charset="-120"/>
              </a:rPr>
              <a:t>※ </a:t>
            </a:r>
            <a:r>
              <a:rPr lang="en-US" altLang="en-US" dirty="0"/>
              <a:t>Metadata Features</a:t>
            </a:r>
          </a:p>
          <a:p>
            <a:r>
              <a:rPr lang="en-US" altLang="en-US" dirty="0">
                <a:latin typeface="新細明體" panose="02020500000000000000" pitchFamily="18" charset="-120"/>
                <a:ea typeface="新細明體" panose="02020500000000000000" pitchFamily="18" charset="-120"/>
              </a:rPr>
              <a:t>※ </a:t>
            </a:r>
            <a:r>
              <a:rPr lang="en-US" altLang="en-US" dirty="0"/>
              <a:t>Other Features</a:t>
            </a:r>
          </a:p>
          <a:p>
            <a:r>
              <a:rPr lang="en-US" altLang="en-US" dirty="0">
                <a:latin typeface="新細明體" panose="02020500000000000000" pitchFamily="18" charset="-120"/>
                <a:ea typeface="新細明體" panose="02020500000000000000" pitchFamily="18" charset="-120"/>
              </a:rPr>
              <a:t>※ </a:t>
            </a:r>
            <a:r>
              <a:rPr lang="en-US" altLang="en-US" dirty="0"/>
              <a:t>Database Access from Python</a:t>
            </a:r>
          </a:p>
          <a:p>
            <a:endParaRPr lang="en-US" altLang="en-US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JDBC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73150"/>
            <a:ext cx="7647681" cy="4791202"/>
          </a:xfrm>
        </p:spPr>
        <p:txBody>
          <a:bodyPr/>
          <a:lstStyle/>
          <a:p>
            <a:r>
              <a:rPr lang="en-US" altLang="en-US" sz="1700" b="1" dirty="0">
                <a:solidFill>
                  <a:srgbClr val="002060"/>
                </a:solidFill>
              </a:rPr>
              <a:t>JDBC</a:t>
            </a:r>
            <a:r>
              <a:rPr lang="en-US" altLang="en-US" sz="1700" dirty="0"/>
              <a:t> is a Java API for communicating with database systems supporting SQL.</a:t>
            </a:r>
          </a:p>
          <a:p>
            <a:r>
              <a:rPr lang="en-US" altLang="en-US" sz="1700" dirty="0"/>
              <a:t>JDBC supports a variety of features for querying and updating data, and for retrieving query results.</a:t>
            </a:r>
          </a:p>
          <a:p>
            <a:r>
              <a:rPr lang="en-US" altLang="en-US" sz="1700" dirty="0"/>
              <a:t>JDBC also supports metadata retrieval, such as querying about relations present in the database and the names and types of relation attributes.</a:t>
            </a:r>
          </a:p>
          <a:p>
            <a:r>
              <a:rPr lang="en-US" altLang="en-US" sz="1700" dirty="0"/>
              <a:t>Model for communicating with the database: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Open a connection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Create a </a:t>
            </a:r>
            <a:r>
              <a:rPr lang="ja-JP" altLang="en-US" sz="1700" dirty="0">
                <a:ea typeface="ＭＳ Ｐゴシック" panose="020B0600070205080204" pitchFamily="34" charset="-128"/>
              </a:rPr>
              <a:t>“</a:t>
            </a:r>
            <a:r>
              <a:rPr lang="en-US" altLang="ja-JP" sz="1700" dirty="0">
                <a:ea typeface="ＭＳ Ｐゴシック" panose="020B0600070205080204" pitchFamily="34" charset="-128"/>
              </a:rPr>
              <a:t>statement</a:t>
            </a:r>
            <a:r>
              <a:rPr lang="ja-JP" altLang="en-US" sz="1700" dirty="0">
                <a:ea typeface="ＭＳ Ｐゴシック" panose="020B0600070205080204" pitchFamily="34" charset="-128"/>
              </a:rPr>
              <a:t>”</a:t>
            </a:r>
            <a:r>
              <a:rPr lang="en-US" altLang="ja-JP" sz="1700" dirty="0">
                <a:ea typeface="ＭＳ Ｐゴシック" panose="020B0600070205080204" pitchFamily="34" charset="-128"/>
              </a:rPr>
              <a:t> object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Execute queries using the statement object to send queries and fetch results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Exception mechanism to handle errors</a:t>
            </a:r>
          </a:p>
          <a:p>
            <a:r>
              <a:rPr lang="zh-TW" altLang="en-US" dirty="0">
                <a:ea typeface="ＭＳ Ｐゴシック" panose="020B0600070205080204" pitchFamily="34" charset="-128"/>
              </a:rPr>
              <a:t>以下的程式範例必須先</a:t>
            </a:r>
            <a:r>
              <a:rPr lang="en-US" altLang="zh-TW" dirty="0">
                <a:ea typeface="ＭＳ Ｐゴシック" panose="020B0600070205080204" pitchFamily="34" charset="-128"/>
              </a:rPr>
              <a:t>import </a:t>
            </a:r>
            <a:r>
              <a:rPr lang="zh-TW" altLang="en-US" dirty="0">
                <a:latin typeface="新細明體" panose="02020500000000000000" pitchFamily="18" charset="-120"/>
                <a:ea typeface="新細明體" panose="02020500000000000000" pitchFamily="18" charset="-120"/>
              </a:rPr>
              <a:t>「</a:t>
            </a:r>
            <a:r>
              <a:rPr lang="en-US" altLang="zh-TW" dirty="0">
                <a:ea typeface="ＭＳ Ｐゴシック" panose="020B0600070205080204" pitchFamily="34" charset="-128"/>
              </a:rPr>
              <a:t>java.sql.*</a:t>
            </a:r>
            <a:r>
              <a:rPr lang="zh-TW" altLang="en-US" dirty="0">
                <a:latin typeface="新細明體" panose="02020500000000000000" pitchFamily="18" charset="-120"/>
                <a:ea typeface="新細明體" panose="02020500000000000000" pitchFamily="18" charset="-120"/>
              </a:rPr>
              <a:t>」</a:t>
            </a:r>
            <a:r>
              <a:rPr lang="en-US" altLang="zh-TW" dirty="0">
                <a:ea typeface="ＭＳ Ｐゴシック" panose="020B0600070205080204" pitchFamily="34" charset="-128"/>
              </a:rPr>
              <a:t>.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JDBC Code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8349" y="1135063"/>
            <a:ext cx="8031163" cy="5238750"/>
          </a:xfrm>
        </p:spPr>
        <p:txBody>
          <a:bodyPr/>
          <a:lstStyle/>
          <a:p>
            <a:pPr lvl="1">
              <a:buFont typeface="Monotype Sorts" charset="2"/>
              <a:buNone/>
            </a:pPr>
            <a:r>
              <a:rPr lang="en-US" altLang="en-US" sz="1600" b="1" dirty="0">
                <a:ea typeface="ＭＳ Ｐゴシック" panose="020B0600070205080204" pitchFamily="34" charset="-128"/>
              </a:rPr>
              <a:t>public static void </a:t>
            </a:r>
            <a:r>
              <a:rPr lang="en-US" altLang="en-US" sz="1600" b="1" dirty="0" err="1">
                <a:ea typeface="ＭＳ Ｐゴシック" panose="020B0600070205080204" pitchFamily="34" charset="-128"/>
              </a:rPr>
              <a:t>JDBCexample</a:t>
            </a:r>
            <a:r>
              <a:rPr lang="en-US" altLang="en-US" sz="1600" b="1" dirty="0">
                <a:ea typeface="ＭＳ Ｐゴシック" panose="020B0600070205080204" pitchFamily="34" charset="-128"/>
              </a:rPr>
              <a:t>(String </a:t>
            </a:r>
            <a:r>
              <a:rPr lang="en-US" altLang="en-US" sz="1600" b="1" dirty="0" err="1">
                <a:ea typeface="ＭＳ Ｐゴシック" panose="020B0600070205080204" pitchFamily="34" charset="-128"/>
              </a:rPr>
              <a:t>dbid</a:t>
            </a:r>
            <a:r>
              <a:rPr lang="en-US" altLang="en-US" sz="1600" b="1" dirty="0">
                <a:ea typeface="ＭＳ Ｐゴシック" panose="020B0600070205080204" pitchFamily="34" charset="-128"/>
              </a:rPr>
              <a:t>, String </a:t>
            </a:r>
            <a:r>
              <a:rPr lang="en-US" altLang="en-US" sz="1600" b="1" dirty="0" err="1">
                <a:ea typeface="ＭＳ Ｐゴシック" panose="020B0600070205080204" pitchFamily="34" charset="-128"/>
              </a:rPr>
              <a:t>userid</a:t>
            </a:r>
            <a:r>
              <a:rPr lang="en-US" altLang="en-US" sz="1600" b="1" dirty="0">
                <a:ea typeface="ＭＳ Ｐゴシック" panose="020B0600070205080204" pitchFamily="34" charset="-128"/>
              </a:rPr>
              <a:t>, String </a:t>
            </a:r>
            <a:r>
              <a:rPr lang="en-US" altLang="en-US" sz="1600" b="1" dirty="0" err="1">
                <a:ea typeface="ＭＳ Ｐゴシック" panose="020B0600070205080204" pitchFamily="34" charset="-128"/>
              </a:rPr>
              <a:t>passwd</a:t>
            </a:r>
            <a:r>
              <a:rPr lang="en-US" altLang="en-US" sz="1600" b="1" dirty="0">
                <a:ea typeface="ＭＳ Ｐゴシック" panose="020B0600070205080204" pitchFamily="34" charset="-128"/>
              </a:rPr>
              <a:t>) </a:t>
            </a:r>
          </a:p>
          <a:p>
            <a:pPr>
              <a:buFont typeface="Monotype Sorts" charset="2"/>
              <a:buNone/>
            </a:pPr>
            <a:r>
              <a:rPr lang="en-US" altLang="en-US" sz="1600" b="1" dirty="0"/>
              <a:t>            { </a:t>
            </a:r>
          </a:p>
          <a:p>
            <a:pPr lvl="1">
              <a:buFont typeface="Monotype Sorts" charset="2"/>
              <a:buNone/>
            </a:pPr>
            <a:r>
              <a:rPr lang="en-US" altLang="en-US" sz="1600" b="1" dirty="0">
                <a:ea typeface="ＭＳ Ｐゴシック" panose="020B0600070205080204" pitchFamily="34" charset="-128"/>
              </a:rPr>
              <a:t>     try (Connection conn = </a:t>
            </a:r>
            <a:r>
              <a:rPr lang="en-US" altLang="en-US" sz="1600" b="1" dirty="0" err="1">
                <a:ea typeface="ＭＳ Ｐゴシック" panose="020B0600070205080204" pitchFamily="34" charset="-128"/>
              </a:rPr>
              <a:t>DriverManager.getConnection</a:t>
            </a:r>
            <a:r>
              <a:rPr lang="en-US" altLang="en-US" sz="1600" b="1" dirty="0">
                <a:ea typeface="ＭＳ Ｐゴシック" panose="020B0600070205080204" pitchFamily="34" charset="-128"/>
              </a:rPr>
              <a:t>(     </a:t>
            </a:r>
            <a:br>
              <a:rPr lang="en-US" altLang="en-US" sz="1600" b="1" dirty="0">
                <a:ea typeface="ＭＳ Ｐゴシック" panose="020B0600070205080204" pitchFamily="34" charset="-128"/>
              </a:rPr>
            </a:br>
            <a:r>
              <a:rPr lang="en-US" altLang="en-US" sz="1600" b="1" dirty="0">
                <a:ea typeface="ＭＳ Ｐゴシック" panose="020B0600070205080204" pitchFamily="34" charset="-128"/>
              </a:rPr>
              <a:t>       "</a:t>
            </a:r>
            <a:r>
              <a:rPr lang="en-US" altLang="en-US" sz="1600" b="1" dirty="0" err="1">
                <a:ea typeface="ＭＳ Ｐゴシック" panose="020B0600070205080204" pitchFamily="34" charset="-128"/>
              </a:rPr>
              <a:t>jdbc:oracle:thin</a:t>
            </a:r>
            <a:r>
              <a:rPr lang="en-US" altLang="en-US" sz="1600" b="1" dirty="0">
                <a:ea typeface="ＭＳ Ｐゴシック" panose="020B0600070205080204" pitchFamily="34" charset="-128"/>
              </a:rPr>
              <a:t>:</a:t>
            </a:r>
            <a:r>
              <a:rPr lang="en-US" altLang="en-US" sz="1600" dirty="0">
                <a:ea typeface="ＭＳ Ｐゴシック" panose="020B0600070205080204" pitchFamily="34" charset="-128"/>
              </a:rPr>
              <a:t>@</a:t>
            </a:r>
            <a:r>
              <a:rPr kumimoji="0" lang="en-US" altLang="en-US" sz="1600" b="1" dirty="0">
                <a:ea typeface="ＭＳ Ｐゴシック" panose="020B0600070205080204" pitchFamily="34" charset="-128"/>
              </a:rPr>
              <a:t>db.yale.edu</a:t>
            </a:r>
            <a:r>
              <a:rPr lang="en-US" altLang="en-US" sz="1600" b="1" dirty="0">
                <a:ea typeface="ＭＳ Ｐゴシック" panose="020B0600070205080204" pitchFamily="34" charset="-128"/>
              </a:rPr>
              <a:t>:2000:univdb", </a:t>
            </a:r>
            <a:r>
              <a:rPr lang="en-US" altLang="en-US" sz="1600" b="1" dirty="0" err="1">
                <a:ea typeface="ＭＳ Ｐゴシック" panose="020B0600070205080204" pitchFamily="34" charset="-128"/>
              </a:rPr>
              <a:t>userid</a:t>
            </a:r>
            <a:r>
              <a:rPr lang="en-US" altLang="en-US" sz="1600" b="1" dirty="0">
                <a:ea typeface="ＭＳ Ｐゴシック" panose="020B0600070205080204" pitchFamily="34" charset="-128"/>
              </a:rPr>
              <a:t>, </a:t>
            </a:r>
            <a:r>
              <a:rPr lang="en-US" altLang="en-US" sz="1600" b="1" dirty="0" err="1">
                <a:ea typeface="ＭＳ Ｐゴシック" panose="020B0600070205080204" pitchFamily="34" charset="-128"/>
              </a:rPr>
              <a:t>passwd</a:t>
            </a:r>
            <a:r>
              <a:rPr lang="en-US" altLang="en-US" sz="1600" b="1" dirty="0">
                <a:ea typeface="ＭＳ Ｐゴシック" panose="020B0600070205080204" pitchFamily="34" charset="-128"/>
              </a:rPr>
              <a:t>); </a:t>
            </a:r>
          </a:p>
          <a:p>
            <a:pPr lvl="1">
              <a:buFont typeface="Monotype Sorts" charset="2"/>
              <a:buNone/>
            </a:pPr>
            <a:r>
              <a:rPr lang="en-US" altLang="en-US" sz="1600" b="1" dirty="0">
                <a:ea typeface="ＭＳ Ｐゴシック" panose="020B0600070205080204" pitchFamily="34" charset="-128"/>
              </a:rPr>
              <a:t>            Statement </a:t>
            </a:r>
            <a:r>
              <a:rPr lang="en-US" altLang="en-US" sz="1600" b="1" dirty="0" err="1">
                <a:ea typeface="ＭＳ Ｐゴシック" panose="020B0600070205080204" pitchFamily="34" charset="-128"/>
              </a:rPr>
              <a:t>stmt</a:t>
            </a:r>
            <a:r>
              <a:rPr lang="en-US" altLang="en-US" sz="1600" b="1" dirty="0">
                <a:ea typeface="ＭＳ Ｐゴシック" panose="020B0600070205080204" pitchFamily="34" charset="-128"/>
              </a:rPr>
              <a:t> = </a:t>
            </a:r>
            <a:r>
              <a:rPr lang="en-US" altLang="en-US" sz="1600" b="1" dirty="0" err="1">
                <a:ea typeface="ＭＳ Ｐゴシック" panose="020B0600070205080204" pitchFamily="34" charset="-128"/>
              </a:rPr>
              <a:t>conn.createStatement</a:t>
            </a:r>
            <a:r>
              <a:rPr lang="en-US" altLang="en-US" sz="1600" b="1" dirty="0">
                <a:ea typeface="ＭＳ Ｐゴシック" panose="020B0600070205080204" pitchFamily="34" charset="-128"/>
              </a:rPr>
              <a:t>();</a:t>
            </a:r>
            <a:br>
              <a:rPr lang="en-US" altLang="en-US" sz="1600" b="1" dirty="0">
                <a:ea typeface="ＭＳ Ｐゴシック" panose="020B0600070205080204" pitchFamily="34" charset="-128"/>
              </a:rPr>
            </a:br>
            <a:r>
              <a:rPr lang="en-US" altLang="en-US" sz="1600" b="1" dirty="0">
                <a:ea typeface="ＭＳ Ｐゴシック" panose="020B0600070205080204" pitchFamily="34" charset="-128"/>
              </a:rPr>
              <a:t>     ) </a:t>
            </a:r>
          </a:p>
          <a:p>
            <a:pPr lvl="1">
              <a:buFont typeface="Monotype Sorts" charset="2"/>
              <a:buNone/>
            </a:pPr>
            <a:r>
              <a:rPr lang="en-US" altLang="en-US" sz="1600" b="1" dirty="0">
                <a:ea typeface="ＭＳ Ｐゴシック" panose="020B0600070205080204" pitchFamily="34" charset="-128"/>
              </a:rPr>
              <a:t>     { </a:t>
            </a:r>
          </a:p>
          <a:p>
            <a:pPr lvl="1">
              <a:buFont typeface="Monotype Sorts" charset="2"/>
              <a:buNone/>
            </a:pPr>
            <a:r>
              <a:rPr lang="en-US" altLang="en-US" sz="1600" b="1" dirty="0">
                <a:ea typeface="ＭＳ Ｐゴシック" panose="020B0600070205080204" pitchFamily="34" charset="-128"/>
              </a:rPr>
              <a:t>            … Do Actual Work ….	</a:t>
            </a:r>
          </a:p>
          <a:p>
            <a:pPr lvl="1">
              <a:buFont typeface="Monotype Sorts" charset="2"/>
              <a:buNone/>
            </a:pPr>
            <a:r>
              <a:rPr lang="en-US" altLang="en-US" sz="1600" b="1" dirty="0">
                <a:ea typeface="ＭＳ Ｐゴシック" panose="020B0600070205080204" pitchFamily="34" charset="-128"/>
              </a:rPr>
              <a:t>     }		</a:t>
            </a:r>
          </a:p>
          <a:p>
            <a:pPr lvl="1">
              <a:buFont typeface="Monotype Sorts" charset="2"/>
              <a:buNone/>
            </a:pPr>
            <a:r>
              <a:rPr lang="en-US" altLang="en-US" sz="1600" b="1" dirty="0">
                <a:ea typeface="ＭＳ Ｐゴシック" panose="020B0600070205080204" pitchFamily="34" charset="-128"/>
              </a:rPr>
              <a:t>    catch (</a:t>
            </a:r>
            <a:r>
              <a:rPr lang="en-US" altLang="en-US" sz="1600" b="1" dirty="0" err="1">
                <a:ea typeface="ＭＳ Ｐゴシック" panose="020B0600070205080204" pitchFamily="34" charset="-128"/>
              </a:rPr>
              <a:t>SQLException</a:t>
            </a:r>
            <a:r>
              <a:rPr lang="en-US" altLang="en-US" sz="1600" b="1" dirty="0">
                <a:ea typeface="ＭＳ Ｐゴシック" panose="020B0600070205080204" pitchFamily="34" charset="-128"/>
              </a:rPr>
              <a:t> </a:t>
            </a:r>
            <a:r>
              <a:rPr lang="en-US" altLang="en-US" sz="1600" b="1" dirty="0" err="1">
                <a:ea typeface="ＭＳ Ｐゴシック" panose="020B0600070205080204" pitchFamily="34" charset="-128"/>
              </a:rPr>
              <a:t>sqle</a:t>
            </a:r>
            <a:r>
              <a:rPr lang="en-US" altLang="en-US" sz="1600" b="1" dirty="0">
                <a:ea typeface="ＭＳ Ｐゴシック" panose="020B0600070205080204" pitchFamily="34" charset="-128"/>
              </a:rPr>
              <a:t>) { 		</a:t>
            </a:r>
          </a:p>
          <a:p>
            <a:pPr lvl="1">
              <a:buFont typeface="Monotype Sorts" charset="2"/>
              <a:buNone/>
            </a:pPr>
            <a:r>
              <a:rPr lang="en-US" altLang="en-US" sz="1600" b="1" dirty="0">
                <a:ea typeface="ＭＳ Ｐゴシック" panose="020B0600070205080204" pitchFamily="34" charset="-128"/>
              </a:rPr>
              <a:t>        </a:t>
            </a:r>
            <a:r>
              <a:rPr lang="en-US" altLang="en-US" sz="1600" b="1" dirty="0" err="1">
                <a:ea typeface="ＭＳ Ｐゴシック" panose="020B0600070205080204" pitchFamily="34" charset="-128"/>
              </a:rPr>
              <a:t>System.out.println</a:t>
            </a:r>
            <a:r>
              <a:rPr lang="en-US" altLang="en-US" sz="1600" b="1" dirty="0">
                <a:ea typeface="ＭＳ Ｐゴシック" panose="020B0600070205080204" pitchFamily="34" charset="-128"/>
              </a:rPr>
              <a:t>("</a:t>
            </a:r>
            <a:r>
              <a:rPr lang="en-US" altLang="en-US" sz="1600" b="1" dirty="0" err="1">
                <a:ea typeface="ＭＳ Ｐゴシック" panose="020B0600070205080204" pitchFamily="34" charset="-128"/>
              </a:rPr>
              <a:t>SQLException</a:t>
            </a:r>
            <a:r>
              <a:rPr lang="en-US" altLang="en-US" sz="1600" b="1" dirty="0">
                <a:ea typeface="ＭＳ Ｐゴシック" panose="020B0600070205080204" pitchFamily="34" charset="-128"/>
              </a:rPr>
              <a:t> : " + </a:t>
            </a:r>
            <a:r>
              <a:rPr lang="en-US" altLang="en-US" sz="1600" b="1" dirty="0" err="1">
                <a:ea typeface="ＭＳ Ｐゴシック" panose="020B0600070205080204" pitchFamily="34" charset="-128"/>
              </a:rPr>
              <a:t>sqle</a:t>
            </a:r>
            <a:r>
              <a:rPr lang="en-US" altLang="en-US" sz="1600" b="1" dirty="0">
                <a:ea typeface="ＭＳ Ｐゴシック" panose="020B0600070205080204" pitchFamily="34" charset="-128"/>
              </a:rPr>
              <a:t>);		</a:t>
            </a:r>
          </a:p>
          <a:p>
            <a:pPr lvl="1">
              <a:buFont typeface="Monotype Sorts" charset="2"/>
              <a:buNone/>
            </a:pPr>
            <a:r>
              <a:rPr lang="en-US" altLang="en-US" sz="1600" b="1" dirty="0">
                <a:ea typeface="ＭＳ Ｐゴシック" panose="020B0600070205080204" pitchFamily="34" charset="-128"/>
              </a:rPr>
              <a:t>     }		</a:t>
            </a:r>
          </a:p>
          <a:p>
            <a:pPr>
              <a:buFont typeface="Monotype Sorts" charset="2"/>
              <a:buNone/>
            </a:pPr>
            <a:r>
              <a:rPr lang="en-US" altLang="en-US" sz="1600" b="1" dirty="0"/>
              <a:t>     }</a:t>
            </a:r>
          </a:p>
          <a:p>
            <a:pPr>
              <a:buFont typeface="Monotype Sorts" charset="2"/>
              <a:buNone/>
            </a:pPr>
            <a:endParaRPr lang="en-US" altLang="en-US" sz="800" b="1" dirty="0"/>
          </a:p>
          <a:p>
            <a:pPr>
              <a:buFont typeface="Monotype Sorts" charset="2"/>
              <a:buNone/>
            </a:pPr>
            <a:r>
              <a:rPr lang="en-US" altLang="en-US" sz="1600" b="1" dirty="0"/>
              <a:t>NOTE: Above syntax works with Java 7, and JDBC 4 onwards. </a:t>
            </a:r>
            <a:br>
              <a:rPr lang="en-US" altLang="en-US" sz="1600" b="1" dirty="0"/>
            </a:br>
            <a:r>
              <a:rPr lang="en-US" altLang="en-US" sz="1600" b="1" dirty="0"/>
              <a:t>Resources opened in “try (….)” syntax (“try with resources”) are automatically closed at the end of the try block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JDBC Code (Cont.)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4693" y="1141677"/>
            <a:ext cx="8202613" cy="5358415"/>
          </a:xfrm>
        </p:spPr>
        <p:txBody>
          <a:bodyPr/>
          <a:lstStyle/>
          <a:p>
            <a:r>
              <a:rPr lang="en-US" altLang="en-US" dirty="0"/>
              <a:t>Update to database</a:t>
            </a:r>
          </a:p>
          <a:p>
            <a:pPr>
              <a:buFont typeface="Monotype Sorts" charset="2"/>
              <a:buNone/>
            </a:pPr>
            <a:r>
              <a:rPr lang="en-US" altLang="en-US" sz="1000" dirty="0"/>
              <a:t/>
            </a:r>
            <a:br>
              <a:rPr lang="en-US" altLang="en-US" sz="1000" dirty="0"/>
            </a:br>
            <a:r>
              <a:rPr kumimoji="0" lang="en-US" altLang="en-US" b="1" dirty="0"/>
              <a:t>try {</a:t>
            </a:r>
            <a:br>
              <a:rPr kumimoji="0" lang="en-US" altLang="en-US" b="1" dirty="0"/>
            </a:br>
            <a:r>
              <a:rPr kumimoji="0" lang="en-US" altLang="en-US" b="1" dirty="0"/>
              <a:t>     </a:t>
            </a:r>
            <a:r>
              <a:rPr kumimoji="0" lang="en-US" altLang="en-US" b="1" dirty="0" err="1"/>
              <a:t>stmt.executeUpdate</a:t>
            </a:r>
            <a:r>
              <a:rPr kumimoji="0" lang="en-US" altLang="en-US" b="1" dirty="0"/>
              <a:t>(</a:t>
            </a:r>
            <a:br>
              <a:rPr kumimoji="0" lang="en-US" altLang="en-US" b="1" dirty="0"/>
            </a:br>
            <a:r>
              <a:rPr kumimoji="0" lang="en-US" altLang="en-US" b="1" dirty="0"/>
              <a:t>          "insert into instructor values(</a:t>
            </a:r>
            <a:r>
              <a:rPr kumimoji="0" lang="en-US" altLang="ja-JP" b="1" dirty="0">
                <a:latin typeface="Arial" panose="020B0604020202020204" pitchFamily="34" charset="0"/>
              </a:rPr>
              <a:t>'</a:t>
            </a:r>
            <a:r>
              <a:rPr kumimoji="0" lang="en-US" altLang="ja-JP" b="1" dirty="0"/>
              <a:t>77987</a:t>
            </a:r>
            <a:r>
              <a:rPr kumimoji="0" lang="en-US" altLang="ja-JP" b="1" dirty="0">
                <a:latin typeface="Arial" panose="020B0604020202020204" pitchFamily="34" charset="0"/>
              </a:rPr>
              <a:t>'</a:t>
            </a:r>
            <a:r>
              <a:rPr kumimoji="0" lang="en-US" altLang="ja-JP" b="1" dirty="0"/>
              <a:t>, </a:t>
            </a:r>
            <a:r>
              <a:rPr kumimoji="0" lang="en-US" altLang="ja-JP" b="1" dirty="0">
                <a:latin typeface="Arial" panose="020B0604020202020204" pitchFamily="34" charset="0"/>
              </a:rPr>
              <a:t>'</a:t>
            </a:r>
            <a:r>
              <a:rPr kumimoji="0" lang="en-US" altLang="ja-JP" b="1" dirty="0"/>
              <a:t>Kim</a:t>
            </a:r>
            <a:r>
              <a:rPr kumimoji="0" lang="en-US" altLang="ja-JP" b="1" dirty="0">
                <a:latin typeface="Arial" panose="020B0604020202020204" pitchFamily="34" charset="0"/>
              </a:rPr>
              <a:t>'</a:t>
            </a:r>
            <a:r>
              <a:rPr kumimoji="0" lang="en-US" altLang="ja-JP" b="1" dirty="0"/>
              <a:t>, </a:t>
            </a:r>
            <a:r>
              <a:rPr kumimoji="0" lang="en-US" altLang="ja-JP" b="1" dirty="0">
                <a:latin typeface="Arial" panose="020B0604020202020204" pitchFamily="34" charset="0"/>
              </a:rPr>
              <a:t>'</a:t>
            </a:r>
            <a:r>
              <a:rPr kumimoji="0" lang="en-US" altLang="ja-JP" b="1" dirty="0"/>
              <a:t>Physics</a:t>
            </a:r>
            <a:r>
              <a:rPr kumimoji="0" lang="en-US" altLang="ja-JP" b="1" dirty="0">
                <a:latin typeface="Arial" panose="020B0604020202020204" pitchFamily="34" charset="0"/>
              </a:rPr>
              <a:t>'</a:t>
            </a:r>
            <a:r>
              <a:rPr kumimoji="0" lang="en-US" altLang="ja-JP" b="1" dirty="0"/>
              <a:t>, 98000)");</a:t>
            </a:r>
            <a:br>
              <a:rPr kumimoji="0" lang="en-US" altLang="ja-JP" b="1" dirty="0"/>
            </a:br>
            <a:r>
              <a:rPr kumimoji="0" lang="en-US" altLang="ja-JP" b="1" dirty="0"/>
              <a:t>} catch (</a:t>
            </a:r>
            <a:r>
              <a:rPr kumimoji="0" lang="en-US" altLang="ja-JP" b="1" dirty="0" err="1"/>
              <a:t>SQLException</a:t>
            </a:r>
            <a:r>
              <a:rPr kumimoji="0" lang="en-US" altLang="ja-JP" b="1" dirty="0"/>
              <a:t> </a:t>
            </a:r>
            <a:r>
              <a:rPr kumimoji="0" lang="en-US" altLang="ja-JP" b="1" dirty="0" err="1"/>
              <a:t>sqle</a:t>
            </a:r>
            <a:r>
              <a:rPr kumimoji="0" lang="en-US" altLang="ja-JP" b="1" dirty="0"/>
              <a:t>)</a:t>
            </a:r>
            <a:br>
              <a:rPr kumimoji="0" lang="en-US" altLang="ja-JP" b="1" dirty="0"/>
            </a:br>
            <a:r>
              <a:rPr kumimoji="0" lang="en-US" altLang="ja-JP" b="1" dirty="0"/>
              <a:t>{</a:t>
            </a:r>
            <a:br>
              <a:rPr kumimoji="0" lang="en-US" altLang="ja-JP" b="1" dirty="0"/>
            </a:br>
            <a:r>
              <a:rPr kumimoji="0" lang="en-US" altLang="ja-JP" b="1" dirty="0"/>
              <a:t>    </a:t>
            </a:r>
            <a:r>
              <a:rPr kumimoji="0" lang="en-US" altLang="ja-JP" b="1" dirty="0" err="1"/>
              <a:t>System.out.println</a:t>
            </a:r>
            <a:r>
              <a:rPr kumimoji="0" lang="en-US" altLang="ja-JP" b="1" dirty="0"/>
              <a:t>("Could not insert tuple. " + </a:t>
            </a:r>
            <a:r>
              <a:rPr kumimoji="0" lang="en-US" altLang="ja-JP" b="1" dirty="0" err="1"/>
              <a:t>sqle</a:t>
            </a:r>
            <a:r>
              <a:rPr kumimoji="0" lang="en-US" altLang="ja-JP" b="1" dirty="0"/>
              <a:t>);</a:t>
            </a:r>
            <a:br>
              <a:rPr kumimoji="0" lang="en-US" altLang="ja-JP" b="1" dirty="0"/>
            </a:br>
            <a:r>
              <a:rPr kumimoji="0" lang="en-US" altLang="ja-JP" b="1" dirty="0"/>
              <a:t>}</a:t>
            </a:r>
          </a:p>
          <a:p>
            <a:r>
              <a:rPr lang="en-US" altLang="en-US" dirty="0"/>
              <a:t>Execute query and fetch and print results</a:t>
            </a:r>
          </a:p>
          <a:p>
            <a:pPr lvl="1">
              <a:buFont typeface="Monotype Sorts" charset="2"/>
              <a:buNone/>
            </a:pPr>
            <a:r>
              <a:rPr kumimoji="0" lang="en-US" altLang="en-US" dirty="0">
                <a:ea typeface="ＭＳ Ｐゴシック" panose="020B0600070205080204" pitchFamily="34" charset="-128"/>
              </a:rPr>
              <a:t>     </a:t>
            </a:r>
            <a:r>
              <a:rPr kumimoji="0" lang="en-US" altLang="en-US" b="1" dirty="0" err="1">
                <a:ea typeface="ＭＳ Ｐゴシック" panose="020B0600070205080204" pitchFamily="34" charset="-128"/>
              </a:rPr>
              <a:t>ResultSet</a:t>
            </a:r>
            <a:r>
              <a:rPr kumimoji="0" lang="en-US" altLang="en-US" b="1" dirty="0">
                <a:ea typeface="ＭＳ Ｐゴシック" panose="020B0600070205080204" pitchFamily="34" charset="-128"/>
              </a:rPr>
              <a:t> </a:t>
            </a:r>
            <a:r>
              <a:rPr kumimoji="0" lang="en-US" altLang="en-US" b="1" dirty="0" err="1">
                <a:ea typeface="ＭＳ Ｐゴシック" panose="020B0600070205080204" pitchFamily="34" charset="-128"/>
              </a:rPr>
              <a:t>rset</a:t>
            </a:r>
            <a:r>
              <a:rPr kumimoji="0" lang="en-US" altLang="en-US" b="1" dirty="0">
                <a:ea typeface="ＭＳ Ｐゴシック" panose="020B0600070205080204" pitchFamily="34" charset="-128"/>
              </a:rPr>
              <a:t> = </a:t>
            </a:r>
            <a:r>
              <a:rPr kumimoji="0" lang="en-US" altLang="en-US" b="1" dirty="0" err="1">
                <a:ea typeface="ＭＳ Ｐゴシック" panose="020B0600070205080204" pitchFamily="34" charset="-128"/>
              </a:rPr>
              <a:t>stmt.executeQuery</a:t>
            </a:r>
            <a:r>
              <a:rPr kumimoji="0" lang="en-US" altLang="en-US" b="1" dirty="0">
                <a:ea typeface="ＭＳ Ｐゴシック" panose="020B0600070205080204" pitchFamily="34" charset="-128"/>
              </a:rPr>
              <a:t>(</a:t>
            </a:r>
            <a:br>
              <a:rPr kumimoji="0" lang="en-US" altLang="en-US" b="1" dirty="0">
                <a:ea typeface="ＭＳ Ｐゴシック" panose="020B0600070205080204" pitchFamily="34" charset="-128"/>
              </a:rPr>
            </a:br>
            <a:r>
              <a:rPr kumimoji="0" lang="en-US" altLang="en-US" b="1" dirty="0">
                <a:ea typeface="ＭＳ Ｐゴシック" panose="020B0600070205080204" pitchFamily="34" charset="-128"/>
              </a:rPr>
              <a:t>                                "select </a:t>
            </a:r>
            <a:r>
              <a:rPr kumimoji="0" lang="en-US" altLang="en-US" b="1" dirty="0" err="1">
                <a:ea typeface="ＭＳ Ｐゴシック" panose="020B0600070205080204" pitchFamily="34" charset="-128"/>
              </a:rPr>
              <a:t>dept_name</a:t>
            </a:r>
            <a:r>
              <a:rPr kumimoji="0" lang="en-US" altLang="en-US" b="1" dirty="0">
                <a:ea typeface="ＭＳ Ｐゴシック" panose="020B0600070205080204" pitchFamily="34" charset="-128"/>
              </a:rPr>
              <a:t>, </a:t>
            </a:r>
            <a:r>
              <a:rPr kumimoji="0" lang="en-US" altLang="en-US" b="1" dirty="0" err="1">
                <a:ea typeface="ＭＳ Ｐゴシック" panose="020B0600070205080204" pitchFamily="34" charset="-128"/>
              </a:rPr>
              <a:t>avg</a:t>
            </a:r>
            <a:r>
              <a:rPr kumimoji="0" lang="en-US" altLang="en-US" b="1" dirty="0">
                <a:ea typeface="ＭＳ Ｐゴシック" panose="020B0600070205080204" pitchFamily="34" charset="-128"/>
              </a:rPr>
              <a:t> (salary)</a:t>
            </a:r>
            <a:br>
              <a:rPr kumimoji="0" lang="en-US" altLang="en-US" b="1" dirty="0">
                <a:ea typeface="ＭＳ Ｐゴシック" panose="020B0600070205080204" pitchFamily="34" charset="-128"/>
              </a:rPr>
            </a:br>
            <a:r>
              <a:rPr kumimoji="0" lang="en-US" altLang="en-US" b="1" dirty="0">
                <a:ea typeface="ＭＳ Ｐゴシック" panose="020B0600070205080204" pitchFamily="34" charset="-128"/>
              </a:rPr>
              <a:t>                                 from instructor</a:t>
            </a:r>
            <a:br>
              <a:rPr kumimoji="0" lang="en-US" altLang="en-US" b="1" dirty="0">
                <a:ea typeface="ＭＳ Ｐゴシック" panose="020B0600070205080204" pitchFamily="34" charset="-128"/>
              </a:rPr>
            </a:br>
            <a:r>
              <a:rPr kumimoji="0" lang="en-US" altLang="en-US" b="1" dirty="0">
                <a:ea typeface="ＭＳ Ｐゴシック" panose="020B0600070205080204" pitchFamily="34" charset="-128"/>
              </a:rPr>
              <a:t>                                 group by </a:t>
            </a:r>
            <a:r>
              <a:rPr kumimoji="0" lang="en-US" altLang="en-US" b="1" dirty="0" err="1">
                <a:ea typeface="ＭＳ Ｐゴシック" panose="020B0600070205080204" pitchFamily="34" charset="-128"/>
              </a:rPr>
              <a:t>dept_name</a:t>
            </a:r>
            <a:r>
              <a:rPr kumimoji="0" lang="en-US" altLang="en-US" b="1" dirty="0">
                <a:ea typeface="ＭＳ Ｐゴシック" panose="020B0600070205080204" pitchFamily="34" charset="-128"/>
              </a:rPr>
              <a:t>");</a:t>
            </a:r>
            <a:br>
              <a:rPr kumimoji="0" lang="en-US" altLang="en-US" b="1" dirty="0">
                <a:ea typeface="ＭＳ Ｐゴシック" panose="020B0600070205080204" pitchFamily="34" charset="-128"/>
              </a:rPr>
            </a:br>
            <a:r>
              <a:rPr kumimoji="0" lang="en-US" altLang="en-US" b="1" dirty="0">
                <a:ea typeface="ＭＳ Ｐゴシック" panose="020B0600070205080204" pitchFamily="34" charset="-128"/>
              </a:rPr>
              <a:t>while (</a:t>
            </a:r>
            <a:r>
              <a:rPr kumimoji="0" lang="en-US" altLang="en-US" b="1" dirty="0" err="1">
                <a:ea typeface="ＭＳ Ｐゴシック" panose="020B0600070205080204" pitchFamily="34" charset="-128"/>
              </a:rPr>
              <a:t>rset.next</a:t>
            </a:r>
            <a:r>
              <a:rPr kumimoji="0" lang="en-US" altLang="en-US" b="1" dirty="0">
                <a:ea typeface="ＭＳ Ｐゴシック" panose="020B0600070205080204" pitchFamily="34" charset="-128"/>
              </a:rPr>
              <a:t>()) {</a:t>
            </a:r>
            <a:br>
              <a:rPr kumimoji="0" lang="en-US" altLang="en-US" b="1" dirty="0">
                <a:ea typeface="ＭＳ Ｐゴシック" panose="020B0600070205080204" pitchFamily="34" charset="-128"/>
              </a:rPr>
            </a:br>
            <a:r>
              <a:rPr kumimoji="0" lang="en-US" altLang="en-US" b="1" dirty="0">
                <a:ea typeface="ＭＳ Ｐゴシック" panose="020B0600070205080204" pitchFamily="34" charset="-128"/>
              </a:rPr>
              <a:t>       </a:t>
            </a:r>
            <a:r>
              <a:rPr kumimoji="0" lang="en-US" altLang="en-US" b="1" dirty="0" err="1">
                <a:ea typeface="ＭＳ Ｐゴシック" panose="020B0600070205080204" pitchFamily="34" charset="-128"/>
              </a:rPr>
              <a:t>System.out.println</a:t>
            </a:r>
            <a:r>
              <a:rPr kumimoji="0" lang="en-US" altLang="en-US" b="1" dirty="0">
                <a:ea typeface="ＭＳ Ｐゴシック" panose="020B0600070205080204" pitchFamily="34" charset="-128"/>
              </a:rPr>
              <a:t>(</a:t>
            </a:r>
            <a:r>
              <a:rPr kumimoji="0" lang="en-US" altLang="en-US" b="1" dirty="0" err="1">
                <a:ea typeface="ＭＳ Ｐゴシック" panose="020B0600070205080204" pitchFamily="34" charset="-128"/>
              </a:rPr>
              <a:t>rset.getString</a:t>
            </a:r>
            <a:r>
              <a:rPr kumimoji="0" lang="en-US" altLang="en-US" b="1" dirty="0">
                <a:ea typeface="ＭＳ Ｐゴシック" panose="020B0600070205080204" pitchFamily="34" charset="-128"/>
              </a:rPr>
              <a:t>("</a:t>
            </a:r>
            <a:r>
              <a:rPr kumimoji="0" lang="en-US" altLang="en-US" b="1" dirty="0" err="1">
                <a:ea typeface="ＭＳ Ｐゴシック" panose="020B0600070205080204" pitchFamily="34" charset="-128"/>
              </a:rPr>
              <a:t>dept_name</a:t>
            </a:r>
            <a:r>
              <a:rPr kumimoji="0" lang="en-US" altLang="en-US" b="1" dirty="0">
                <a:ea typeface="ＭＳ Ｐゴシック" panose="020B0600070205080204" pitchFamily="34" charset="-128"/>
              </a:rPr>
              <a:t>") + " " +</a:t>
            </a:r>
            <a:br>
              <a:rPr kumimoji="0" lang="en-US" altLang="en-US" b="1" dirty="0">
                <a:ea typeface="ＭＳ Ｐゴシック" panose="020B0600070205080204" pitchFamily="34" charset="-128"/>
              </a:rPr>
            </a:br>
            <a:r>
              <a:rPr kumimoji="0" lang="en-US" altLang="en-US" b="1" dirty="0">
                <a:ea typeface="ＭＳ Ｐゴシック" panose="020B0600070205080204" pitchFamily="34" charset="-128"/>
              </a:rPr>
              <a:t>                                              </a:t>
            </a:r>
            <a:r>
              <a:rPr kumimoji="0" lang="en-US" altLang="en-US" b="1" dirty="0" err="1">
                <a:ea typeface="ＭＳ Ｐゴシック" panose="020B0600070205080204" pitchFamily="34" charset="-128"/>
              </a:rPr>
              <a:t>rset.getFloat</a:t>
            </a:r>
            <a:r>
              <a:rPr kumimoji="0" lang="en-US" altLang="en-US" b="1" dirty="0">
                <a:ea typeface="ＭＳ Ｐゴシック" panose="020B0600070205080204" pitchFamily="34" charset="-128"/>
              </a:rPr>
              <a:t>(2));</a:t>
            </a:r>
            <a:br>
              <a:rPr kumimoji="0" lang="en-US" altLang="en-US" b="1" dirty="0">
                <a:ea typeface="ＭＳ Ｐゴシック" panose="020B0600070205080204" pitchFamily="34" charset="-128"/>
              </a:rPr>
            </a:br>
            <a:r>
              <a:rPr kumimoji="0" lang="en-US" altLang="en-US" b="1" dirty="0">
                <a:ea typeface="ＭＳ Ｐゴシック" panose="020B0600070205080204" pitchFamily="34" charset="-128"/>
              </a:rPr>
              <a:t>}</a:t>
            </a:r>
          </a:p>
          <a:p>
            <a:endParaRPr lang="en-US" altLang="en-US" b="1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725" y="2644548"/>
            <a:ext cx="2409825" cy="23526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JDBC Code Details       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35063"/>
            <a:ext cx="7734300" cy="4903787"/>
          </a:xfrm>
        </p:spPr>
        <p:txBody>
          <a:bodyPr/>
          <a:lstStyle/>
          <a:p>
            <a:r>
              <a:rPr lang="en-US" altLang="en-US" dirty="0"/>
              <a:t>Getting result fields:</a:t>
            </a:r>
          </a:p>
          <a:p>
            <a:pPr lvl="1"/>
            <a:r>
              <a:rPr lang="en-US" altLang="en-US" b="1" dirty="0" err="1">
                <a:ea typeface="ＭＳ Ｐゴシック" panose="020B0600070205080204" pitchFamily="34" charset="-128"/>
              </a:rPr>
              <a:t>rs.getString</a:t>
            </a:r>
            <a:r>
              <a:rPr lang="en-US" altLang="en-US" b="1" dirty="0">
                <a:ea typeface="ＭＳ Ｐゴシック" panose="020B0600070205080204" pitchFamily="34" charset="-128"/>
              </a:rPr>
              <a:t>(</a:t>
            </a:r>
            <a:r>
              <a:rPr lang="ja-JP" altLang="en-US" b="1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“</a:t>
            </a:r>
            <a:r>
              <a:rPr lang="en-US" altLang="ja-JP" b="1" dirty="0" err="1">
                <a:ea typeface="ＭＳ Ｐゴシック" panose="020B0600070205080204" pitchFamily="34" charset="-128"/>
              </a:rPr>
              <a:t>dept_name</a:t>
            </a:r>
            <a:r>
              <a:rPr lang="ja-JP" altLang="en-US" b="1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”</a:t>
            </a:r>
            <a:r>
              <a:rPr lang="en-US" altLang="ja-JP" b="1" dirty="0">
                <a:ea typeface="ＭＳ Ｐゴシック" panose="020B0600070205080204" pitchFamily="34" charset="-128"/>
              </a:rPr>
              <a:t>) and </a:t>
            </a:r>
            <a:r>
              <a:rPr lang="en-US" altLang="ja-JP" b="1" dirty="0" err="1">
                <a:ea typeface="ＭＳ Ｐゴシック" panose="020B0600070205080204" pitchFamily="34" charset="-128"/>
              </a:rPr>
              <a:t>rs.getString</a:t>
            </a:r>
            <a:r>
              <a:rPr lang="en-US" altLang="ja-JP" b="1" dirty="0">
                <a:ea typeface="ＭＳ Ｐゴシック" panose="020B0600070205080204" pitchFamily="34" charset="-128"/>
              </a:rPr>
              <a:t>(1) equivalent if </a:t>
            </a:r>
            <a:r>
              <a:rPr lang="en-US" altLang="ja-JP" b="1" dirty="0" err="1">
                <a:ea typeface="ＭＳ Ｐゴシック" panose="020B0600070205080204" pitchFamily="34" charset="-128"/>
              </a:rPr>
              <a:t>dept_name</a:t>
            </a:r>
            <a:r>
              <a:rPr lang="en-US" altLang="ja-JP" b="1" dirty="0">
                <a:ea typeface="ＭＳ Ｐゴシック" panose="020B0600070205080204" pitchFamily="34" charset="-128"/>
              </a:rPr>
              <a:t> is the first argument of select result.</a:t>
            </a:r>
          </a:p>
          <a:p>
            <a:r>
              <a:rPr lang="en-US" altLang="en-US" dirty="0"/>
              <a:t>Dealing with Null values</a:t>
            </a:r>
          </a:p>
          <a:p>
            <a:pPr lvl="1">
              <a:buFont typeface="Monotype Sorts" charset="2"/>
              <a:buNone/>
            </a:pPr>
            <a:r>
              <a:rPr lang="en-US" altLang="en-US" b="1" dirty="0" err="1">
                <a:ea typeface="ＭＳ Ｐゴシック" panose="020B0600070205080204" pitchFamily="34" charset="-128"/>
              </a:rPr>
              <a:t>int</a:t>
            </a:r>
            <a:r>
              <a:rPr lang="en-US" altLang="en-US" b="1" dirty="0">
                <a:ea typeface="ＭＳ Ｐゴシック" panose="020B0600070205080204" pitchFamily="34" charset="-128"/>
              </a:rPr>
              <a:t> a = </a:t>
            </a:r>
            <a:r>
              <a:rPr lang="en-US" altLang="en-US" b="1" dirty="0" err="1">
                <a:ea typeface="ＭＳ Ｐゴシック" panose="020B0600070205080204" pitchFamily="34" charset="-128"/>
              </a:rPr>
              <a:t>rs.getInt</a:t>
            </a:r>
            <a:r>
              <a:rPr lang="en-US" altLang="en-US" b="1" dirty="0">
                <a:ea typeface="ＭＳ Ｐゴシック" panose="020B0600070205080204" pitchFamily="34" charset="-128"/>
              </a:rPr>
              <a:t>(</a:t>
            </a:r>
            <a:r>
              <a:rPr lang="ja-JP" altLang="en-US" b="1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“</a:t>
            </a:r>
            <a:r>
              <a:rPr lang="en-US" altLang="ja-JP" b="1" dirty="0">
                <a:ea typeface="ＭＳ Ｐゴシック" panose="020B0600070205080204" pitchFamily="34" charset="-128"/>
              </a:rPr>
              <a:t>a</a:t>
            </a:r>
            <a:r>
              <a:rPr lang="ja-JP" altLang="en-US" b="1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”</a:t>
            </a:r>
            <a:r>
              <a:rPr lang="en-US" altLang="ja-JP" b="1" dirty="0">
                <a:ea typeface="ＭＳ Ｐゴシック" panose="020B0600070205080204" pitchFamily="34" charset="-128"/>
              </a:rPr>
              <a:t>);</a:t>
            </a:r>
          </a:p>
          <a:p>
            <a:pPr lvl="1">
              <a:buFont typeface="Monotype Sorts" charset="2"/>
              <a:buNone/>
            </a:pPr>
            <a:r>
              <a:rPr lang="en-US" altLang="en-US" b="1" dirty="0">
                <a:ea typeface="ＭＳ Ｐゴシック" panose="020B0600070205080204" pitchFamily="34" charset="-128"/>
              </a:rPr>
              <a:t>if (</a:t>
            </a:r>
            <a:r>
              <a:rPr lang="en-US" altLang="en-US" b="1" dirty="0" err="1">
                <a:ea typeface="ＭＳ Ｐゴシック" panose="020B0600070205080204" pitchFamily="34" charset="-128"/>
              </a:rPr>
              <a:t>rs.wasNull</a:t>
            </a:r>
            <a:r>
              <a:rPr lang="en-US" altLang="en-US" b="1" dirty="0">
                <a:ea typeface="ＭＳ Ｐゴシック" panose="020B0600070205080204" pitchFamily="34" charset="-128"/>
              </a:rPr>
              <a:t>()) </a:t>
            </a:r>
            <a:r>
              <a:rPr lang="en-US" altLang="en-US" b="1" dirty="0" err="1">
                <a:ea typeface="ＭＳ Ｐゴシック" panose="020B0600070205080204" pitchFamily="34" charset="-128"/>
              </a:rPr>
              <a:t>Systems.out.println</a:t>
            </a:r>
            <a:r>
              <a:rPr lang="en-US" altLang="en-US" b="1" dirty="0">
                <a:ea typeface="ＭＳ Ｐゴシック" panose="020B0600070205080204" pitchFamily="34" charset="-128"/>
              </a:rPr>
              <a:t>(</a:t>
            </a:r>
            <a:r>
              <a:rPr lang="ja-JP" altLang="en-US" b="1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“</a:t>
            </a:r>
            <a:r>
              <a:rPr lang="en-US" altLang="ja-JP" b="1" dirty="0">
                <a:ea typeface="ＭＳ Ｐゴシック" panose="020B0600070205080204" pitchFamily="34" charset="-128"/>
              </a:rPr>
              <a:t>Got null value</a:t>
            </a:r>
            <a:r>
              <a:rPr lang="ja-JP" altLang="en-US" b="1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”</a:t>
            </a:r>
            <a:r>
              <a:rPr lang="en-US" altLang="ja-JP" b="1" dirty="0">
                <a:ea typeface="ＭＳ Ｐゴシック" panose="020B0600070205080204" pitchFamily="34" charset="-128"/>
              </a:rPr>
              <a:t>);</a:t>
            </a:r>
            <a:endParaRPr lang="en-US" altLang="en-US" b="1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Prepared Statement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96958" y="934278"/>
            <a:ext cx="7978706" cy="5063297"/>
          </a:xfrm>
        </p:spPr>
        <p:txBody>
          <a:bodyPr/>
          <a:lstStyle/>
          <a:p>
            <a:r>
              <a:rPr lang="en-US" altLang="zh-TW" dirty="0" smtClean="0"/>
              <a:t>We can create a prepared statement in which some values are replaced by “?”, thereby specifying that actual values will be provided later.</a:t>
            </a:r>
          </a:p>
          <a:p>
            <a:r>
              <a:rPr lang="en-US" altLang="zh-TW" dirty="0" smtClean="0"/>
              <a:t>The database system compiles the query when it is </a:t>
            </a:r>
            <a:r>
              <a:rPr lang="en-US" altLang="zh-TW" b="1" dirty="0" smtClean="0"/>
              <a:t>prepared</a:t>
            </a:r>
            <a:r>
              <a:rPr lang="en-US" altLang="zh-TW" dirty="0" smtClean="0"/>
              <a:t>. Each time the query is </a:t>
            </a:r>
            <a:r>
              <a:rPr lang="en-US" altLang="zh-TW" b="1" dirty="0" smtClean="0"/>
              <a:t>executed</a:t>
            </a:r>
            <a:r>
              <a:rPr lang="en-US" altLang="zh-TW" dirty="0" smtClean="0"/>
              <a:t>, the database system reuses the compiled form of the query and apply the new values as parameters.</a:t>
            </a:r>
          </a:p>
          <a:p>
            <a:r>
              <a:rPr lang="en-US" altLang="zh-TW" dirty="0" smtClean="0"/>
              <a:t>Prepared statements allow for more </a:t>
            </a:r>
            <a:r>
              <a:rPr lang="en-US" altLang="zh-TW" b="1" dirty="0" smtClean="0"/>
              <a:t>efficient</a:t>
            </a:r>
            <a:r>
              <a:rPr lang="en-US" altLang="zh-TW" dirty="0" smtClean="0"/>
              <a:t> execution in cases where the same query can be compiled once and then run multiple times with different parameter values.</a:t>
            </a:r>
          </a:p>
          <a:p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  <a:p>
            <a:pPr lvl="1"/>
            <a:r>
              <a:rPr lang="en-US" altLang="en-US" b="1" dirty="0" err="1">
                <a:ea typeface="ＭＳ Ｐゴシック" panose="020B0600070205080204" pitchFamily="34" charset="-128"/>
              </a:rPr>
              <a:t>PreparedStatement</a:t>
            </a:r>
            <a:r>
              <a:rPr lang="en-US" altLang="en-US" b="1" dirty="0">
                <a:ea typeface="ＭＳ Ｐゴシック" panose="020B0600070205080204" pitchFamily="34" charset="-128"/>
              </a:rPr>
              <a:t> </a:t>
            </a:r>
            <a:r>
              <a:rPr lang="en-US" altLang="en-US" b="1" dirty="0" err="1">
                <a:ea typeface="ＭＳ Ｐゴシック" panose="020B0600070205080204" pitchFamily="34" charset="-128"/>
              </a:rPr>
              <a:t>pStmt</a:t>
            </a:r>
            <a:r>
              <a:rPr lang="en-US" altLang="en-US" b="1" dirty="0">
                <a:ea typeface="ＭＳ Ｐゴシック" panose="020B0600070205080204" pitchFamily="34" charset="-128"/>
              </a:rPr>
              <a:t> = </a:t>
            </a:r>
            <a:r>
              <a:rPr lang="en-US" altLang="en-US" b="1" dirty="0" err="1">
                <a:ea typeface="ＭＳ Ｐゴシック" panose="020B0600070205080204" pitchFamily="34" charset="-128"/>
              </a:rPr>
              <a:t>conn.prepareStatement</a:t>
            </a:r>
            <a:r>
              <a:rPr lang="en-US" altLang="en-US" b="1" dirty="0">
                <a:ea typeface="ＭＳ Ｐゴシック" panose="020B0600070205080204" pitchFamily="34" charset="-128"/>
              </a:rPr>
              <a:t>( </a:t>
            </a:r>
            <a:br>
              <a:rPr lang="en-US" altLang="en-US" b="1" dirty="0">
                <a:ea typeface="ＭＳ Ｐゴシック" panose="020B0600070205080204" pitchFamily="34" charset="-128"/>
              </a:rPr>
            </a:br>
            <a:r>
              <a:rPr lang="en-US" altLang="en-US" b="1" dirty="0">
                <a:ea typeface="ＭＳ Ｐゴシック" panose="020B0600070205080204" pitchFamily="34" charset="-128"/>
              </a:rPr>
              <a:t>                                                 "insert into instructor values(?,?,?,?)");</a:t>
            </a:r>
            <a:br>
              <a:rPr lang="en-US" altLang="en-US" b="1" dirty="0">
                <a:ea typeface="ＭＳ Ｐゴシック" panose="020B0600070205080204" pitchFamily="34" charset="-128"/>
              </a:rPr>
            </a:br>
            <a:r>
              <a:rPr lang="en-US" altLang="en-US" b="1" dirty="0" err="1">
                <a:ea typeface="ＭＳ Ｐゴシック" panose="020B0600070205080204" pitchFamily="34" charset="-128"/>
              </a:rPr>
              <a:t>pStmt.setString</a:t>
            </a:r>
            <a:r>
              <a:rPr lang="en-US" altLang="en-US" b="1" dirty="0">
                <a:ea typeface="ＭＳ Ｐゴシック" panose="020B0600070205080204" pitchFamily="34" charset="-128"/>
              </a:rPr>
              <a:t>(1, "88877");</a:t>
            </a:r>
            <a:br>
              <a:rPr lang="en-US" altLang="en-US" b="1" dirty="0">
                <a:ea typeface="ＭＳ Ｐゴシック" panose="020B0600070205080204" pitchFamily="34" charset="-128"/>
              </a:rPr>
            </a:br>
            <a:r>
              <a:rPr lang="en-US" altLang="en-US" b="1" dirty="0" err="1">
                <a:ea typeface="ＭＳ Ｐゴシック" panose="020B0600070205080204" pitchFamily="34" charset="-128"/>
              </a:rPr>
              <a:t>pStmt.setString</a:t>
            </a:r>
            <a:r>
              <a:rPr lang="en-US" altLang="en-US" b="1" dirty="0">
                <a:ea typeface="ＭＳ Ｐゴシック" panose="020B0600070205080204" pitchFamily="34" charset="-128"/>
              </a:rPr>
              <a:t>(2, "Perry");</a:t>
            </a:r>
            <a:br>
              <a:rPr lang="en-US" altLang="en-US" b="1" dirty="0">
                <a:ea typeface="ＭＳ Ｐゴシック" panose="020B0600070205080204" pitchFamily="34" charset="-128"/>
              </a:rPr>
            </a:br>
            <a:r>
              <a:rPr lang="en-US" altLang="en-US" b="1" dirty="0" err="1">
                <a:ea typeface="ＭＳ Ｐゴシック" panose="020B0600070205080204" pitchFamily="34" charset="-128"/>
              </a:rPr>
              <a:t>pStmt.setString</a:t>
            </a:r>
            <a:r>
              <a:rPr lang="en-US" altLang="en-US" b="1" dirty="0">
                <a:ea typeface="ＭＳ Ｐゴシック" panose="020B0600070205080204" pitchFamily="34" charset="-128"/>
              </a:rPr>
              <a:t>(3, "Finance");</a:t>
            </a:r>
            <a:br>
              <a:rPr lang="en-US" altLang="en-US" b="1" dirty="0">
                <a:ea typeface="ＭＳ Ｐゴシック" panose="020B0600070205080204" pitchFamily="34" charset="-128"/>
              </a:rPr>
            </a:br>
            <a:r>
              <a:rPr lang="en-US" altLang="en-US" b="1" dirty="0" err="1">
                <a:ea typeface="ＭＳ Ｐゴシック" panose="020B0600070205080204" pitchFamily="34" charset="-128"/>
              </a:rPr>
              <a:t>pStmt.setInt</a:t>
            </a:r>
            <a:r>
              <a:rPr lang="en-US" altLang="en-US" b="1" dirty="0">
                <a:ea typeface="ＭＳ Ｐゴシック" panose="020B0600070205080204" pitchFamily="34" charset="-128"/>
              </a:rPr>
              <a:t>(4, 125000);</a:t>
            </a:r>
            <a:br>
              <a:rPr lang="en-US" altLang="en-US" b="1" dirty="0">
                <a:ea typeface="ＭＳ Ｐゴシック" panose="020B0600070205080204" pitchFamily="34" charset="-128"/>
              </a:rPr>
            </a:br>
            <a:r>
              <a:rPr lang="en-US" altLang="en-US" b="1" dirty="0" err="1">
                <a:ea typeface="ＭＳ Ｐゴシック" panose="020B0600070205080204" pitchFamily="34" charset="-128"/>
              </a:rPr>
              <a:t>pStmt.executeUpdate</a:t>
            </a:r>
            <a:r>
              <a:rPr lang="en-US" altLang="en-US" b="1" dirty="0">
                <a:ea typeface="ＭＳ Ｐゴシック" panose="020B0600070205080204" pitchFamily="34" charset="-128"/>
              </a:rPr>
              <a:t>();</a:t>
            </a:r>
            <a:br>
              <a:rPr lang="en-US" altLang="en-US" b="1" dirty="0">
                <a:ea typeface="ＭＳ Ｐゴシック" panose="020B0600070205080204" pitchFamily="34" charset="-128"/>
              </a:rPr>
            </a:br>
            <a:r>
              <a:rPr lang="en-US" altLang="en-US" b="1" dirty="0" err="1">
                <a:ea typeface="ＭＳ Ｐゴシック" panose="020B0600070205080204" pitchFamily="34" charset="-128"/>
              </a:rPr>
              <a:t>pStmt.setString</a:t>
            </a:r>
            <a:r>
              <a:rPr lang="en-US" altLang="en-US" b="1" dirty="0">
                <a:ea typeface="ＭＳ Ｐゴシック" panose="020B0600070205080204" pitchFamily="34" charset="-128"/>
              </a:rPr>
              <a:t>(1, "88878");</a:t>
            </a:r>
            <a:br>
              <a:rPr lang="en-US" altLang="en-US" b="1" dirty="0">
                <a:ea typeface="ＭＳ Ｐゴシック" panose="020B0600070205080204" pitchFamily="34" charset="-128"/>
              </a:rPr>
            </a:br>
            <a:r>
              <a:rPr lang="en-US" altLang="en-US" b="1" dirty="0" err="1">
                <a:ea typeface="ＭＳ Ｐゴシック" panose="020B0600070205080204" pitchFamily="34" charset="-128"/>
              </a:rPr>
              <a:t>pStmt.executeUpdate</a:t>
            </a:r>
            <a:r>
              <a:rPr lang="en-US" altLang="en-US" b="1" dirty="0">
                <a:ea typeface="ＭＳ Ｐゴシック" panose="020B0600070205080204" pitchFamily="34" charset="-128"/>
              </a:rPr>
              <a:t>();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70079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Prepared </a:t>
            </a:r>
            <a:r>
              <a:rPr lang="en-US" altLang="en-US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Statement (Cont.)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222616"/>
            <a:ext cx="7995871" cy="5252583"/>
          </a:xfrm>
        </p:spPr>
        <p:txBody>
          <a:bodyPr/>
          <a:lstStyle/>
          <a:p>
            <a:r>
              <a:rPr lang="en-US" altLang="en-US" dirty="0" smtClean="0"/>
              <a:t>WARNING</a:t>
            </a:r>
            <a:r>
              <a:rPr lang="en-US" altLang="en-US" dirty="0"/>
              <a:t>: always use prepared statements when taking an input from the user and adding it to a query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NEVER create a query by concatenating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strings</a:t>
            </a:r>
          </a:p>
          <a:p>
            <a:r>
              <a:rPr lang="en-US" altLang="zh-TW" dirty="0" smtClean="0">
                <a:ea typeface="ＭＳ Ｐゴシック" panose="020B0600070205080204" pitchFamily="34" charset="-128"/>
              </a:rPr>
              <a:t>Example: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</a:t>
            </a:r>
            <a:r>
              <a:rPr lang="en-US" altLang="en-US" b="1" dirty="0">
                <a:ea typeface="ＭＳ Ｐゴシック" panose="020B0600070205080204" pitchFamily="34" charset="-128"/>
              </a:rPr>
              <a:t>insert into instructor values(</a:t>
            </a:r>
            <a:r>
              <a:rPr lang="en-US" altLang="ja-JP" b="1" dirty="0">
                <a:ea typeface="ＭＳ Ｐゴシック" panose="020B0600070205080204" pitchFamily="34" charset="-128"/>
              </a:rPr>
              <a:t>‘ ” + ID + “ ’, ‘ ” + name + “ ’, ‘</a:t>
            </a:r>
            <a:r>
              <a:rPr lang="zh-TW" altLang="en-US" b="1" dirty="0">
                <a:ea typeface="ＭＳ Ｐゴシック" panose="020B0600070205080204" pitchFamily="34" charset="-128"/>
              </a:rPr>
              <a:t> </a:t>
            </a:r>
            <a:r>
              <a:rPr lang="en-US" altLang="zh-TW" b="1" dirty="0">
                <a:ea typeface="ＭＳ Ｐゴシック" panose="020B0600070205080204" pitchFamily="34" charset="-128"/>
              </a:rPr>
              <a:t>“</a:t>
            </a:r>
            <a:r>
              <a:rPr lang="zh-TW" altLang="en-US" b="1" dirty="0">
                <a:ea typeface="ＭＳ Ｐゴシック" panose="020B0600070205080204" pitchFamily="34" charset="-128"/>
              </a:rPr>
              <a:t> </a:t>
            </a:r>
            <a:r>
              <a:rPr lang="en-US" altLang="ja-JP" b="1" dirty="0">
                <a:ea typeface="ＭＳ Ｐゴシック" panose="020B0600070205080204" pitchFamily="34" charset="-128"/>
              </a:rPr>
              <a:t>+ dept</a:t>
            </a:r>
            <a:r>
              <a:rPr lang="en-US" altLang="zh-TW" b="1" dirty="0">
                <a:ea typeface="ＭＳ Ｐゴシック" panose="020B0600070205080204" pitchFamily="34" charset="-128"/>
              </a:rPr>
              <a:t>_</a:t>
            </a:r>
            <a:r>
              <a:rPr lang="en-US" altLang="ja-JP" b="1" dirty="0">
                <a:ea typeface="ＭＳ Ｐゴシック" panose="020B0600070205080204" pitchFamily="34" charset="-128"/>
              </a:rPr>
              <a:t> name + ” ‘,</a:t>
            </a:r>
            <a:r>
              <a:rPr lang="en-US" altLang="zh-TW" b="1" dirty="0">
                <a:ea typeface="ＭＳ Ｐゴシック" panose="020B0600070205080204" pitchFamily="34" charset="-128"/>
              </a:rPr>
              <a:t>”</a:t>
            </a:r>
            <a:r>
              <a:rPr lang="zh-TW" altLang="en-US" b="1" dirty="0">
                <a:ea typeface="ＭＳ Ｐゴシック" panose="020B0600070205080204" pitchFamily="34" charset="-128"/>
              </a:rPr>
              <a:t> </a:t>
            </a:r>
            <a:r>
              <a:rPr lang="en-US" altLang="ja-JP" b="1" dirty="0">
                <a:ea typeface="ＭＳ Ｐゴシック" panose="020B0600070205080204" pitchFamily="34" charset="-128"/>
              </a:rPr>
              <a:t>+ balance + “)</a:t>
            </a:r>
            <a:r>
              <a:rPr lang="en-US" altLang="zh-TW" b="1" dirty="0">
                <a:ea typeface="ＭＳ Ｐゴシック" panose="020B0600070205080204" pitchFamily="34" charset="-128"/>
              </a:rPr>
              <a:t>”</a:t>
            </a:r>
            <a:endParaRPr lang="en-US" altLang="ja-JP" b="1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en-US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</a:t>
            </a: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if name is </a:t>
            </a:r>
            <a:r>
              <a:rPr lang="ja-JP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</a:t>
            </a:r>
            <a:r>
              <a:rPr lang="en-US" altLang="zh-TW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Perry</a:t>
            </a:r>
            <a:r>
              <a:rPr lang="ja-JP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”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?</a:t>
            </a:r>
          </a:p>
          <a:p>
            <a:pPr marL="0" indent="0">
              <a:buNone/>
            </a:pPr>
            <a:r>
              <a:rPr lang="zh-TW" altLang="en-US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zh-TW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</a:t>
            </a: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insert into instructor values(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‘ ” +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“88877”</a:t>
            </a:r>
            <a:r>
              <a:rPr lang="zh-TW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+ " ', ' " + </a:t>
            </a:r>
            <a:r>
              <a:rPr lang="ja-JP" altLang="en-US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</a:t>
            </a:r>
            <a:r>
              <a:rPr lang="en-US" altLang="ja-JP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Perry</a:t>
            </a:r>
            <a:r>
              <a:rPr lang="ja-JP" altLang="en-US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”</a:t>
            </a:r>
            <a:r>
              <a:rPr lang="zh-TW" altLang="en-US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+ “ ’, ‘</a:t>
            </a:r>
            <a:r>
              <a:rPr lang="zh-TW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zh-TW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</a:t>
            </a:r>
            <a:r>
              <a:rPr lang="zh-TW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+ </a:t>
            </a:r>
            <a:r>
              <a:rPr lang="en-US" altLang="zh-TW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…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insert into instructor </a:t>
            </a:r>
            <a:r>
              <a:rPr lang="en-US" altLang="en-US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values</a:t>
            </a: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</a:t>
            </a:r>
            <a:r>
              <a:rPr lang="en-US" altLang="ja-JP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‘</a:t>
            </a:r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88877</a:t>
            </a:r>
            <a:r>
              <a:rPr lang="en-US" altLang="ja-JP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', </a:t>
            </a:r>
            <a:r>
              <a:rPr lang="en-US" altLang="zh-TW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‘</a:t>
            </a:r>
            <a:r>
              <a:rPr lang="en-US" altLang="zh-TW" dirty="0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Perry</a:t>
            </a:r>
            <a:r>
              <a:rPr lang="en-US" altLang="zh-TW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’,’…….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	</a:t>
            </a:r>
          </a:p>
          <a:p>
            <a:pPr lvl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if name is </a:t>
            </a:r>
            <a:r>
              <a:rPr lang="ja-JP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D'Souza</a:t>
            </a:r>
            <a:r>
              <a:rPr lang="ja-JP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”</a:t>
            </a:r>
            <a:r>
              <a:rPr lang="en-US" altLang="ja-JP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?</a:t>
            </a:r>
          </a:p>
          <a:p>
            <a:pPr marL="0" indent="0">
              <a:buNone/>
            </a:pPr>
            <a:r>
              <a:rPr lang="zh-TW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zh-TW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</a:t>
            </a: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insert into instructor values(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‘ ” +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“88877”</a:t>
            </a:r>
            <a:r>
              <a:rPr lang="zh-TW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+ " ', ' " + </a:t>
            </a:r>
            <a:r>
              <a:rPr lang="ja-JP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D’Souza</a:t>
            </a:r>
            <a:r>
              <a:rPr lang="ja-JP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”</a:t>
            </a:r>
            <a:r>
              <a:rPr lang="zh-TW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+ “ ’, ‘</a:t>
            </a:r>
            <a:r>
              <a:rPr lang="zh-TW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zh-TW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</a:t>
            </a:r>
            <a:r>
              <a:rPr lang="zh-TW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+ </a:t>
            </a:r>
            <a:r>
              <a:rPr lang="en-US" altLang="zh-TW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…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insert into instructor values(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‘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88877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', ' </a:t>
            </a:r>
            <a:r>
              <a:rPr lang="en-US" altLang="ja-JP" dirty="0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D’Souza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zh-TW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’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</a:t>
            </a:r>
            <a:r>
              <a:rPr lang="en-US" altLang="zh-TW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’…………</a:t>
            </a:r>
          </a:p>
          <a:p>
            <a:pPr marL="0" indent="0">
              <a:buNone/>
            </a:pP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				</a:t>
            </a:r>
          </a:p>
          <a:p>
            <a:pPr lvl="1"/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SQL Injection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Suppose query is constructed using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ea typeface="ＭＳ Ｐゴシック" panose="020B0600070205080204" pitchFamily="34" charset="-128"/>
              </a:rPr>
              <a:t>“select * from instructor where name = </a:t>
            </a:r>
            <a:r>
              <a:rPr lang="en-US" altLang="ja-JP" b="1" dirty="0">
                <a:ea typeface="ＭＳ Ｐゴシック" panose="020B0600070205080204" pitchFamily="34" charset="-128"/>
              </a:rPr>
              <a:t>‘” + name + “</a:t>
            </a:r>
            <a:r>
              <a:rPr lang="zh-TW" altLang="en-US" b="1" dirty="0">
                <a:ea typeface="ＭＳ Ｐゴシック" panose="020B0600070205080204" pitchFamily="34" charset="-128"/>
              </a:rPr>
              <a:t> </a:t>
            </a:r>
            <a:r>
              <a:rPr lang="en-US" altLang="ja-JP" b="1" dirty="0">
                <a:ea typeface="ＭＳ Ｐゴシック" panose="020B0600070205080204" pitchFamily="34" charset="-128"/>
              </a:rPr>
              <a:t>‘</a:t>
            </a:r>
            <a:r>
              <a:rPr lang="zh-TW" altLang="en-US" b="1" dirty="0">
                <a:ea typeface="ＭＳ Ｐゴシック" panose="020B0600070205080204" pitchFamily="34" charset="-128"/>
              </a:rPr>
              <a:t> 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"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Suppose the user, instead of entering a name, enters: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X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'</a:t>
            </a:r>
            <a:r>
              <a:rPr lang="en-US" altLang="ja-JP" dirty="0">
                <a:ea typeface="ＭＳ Ｐゴシック" panose="020B0600070205080204" pitchFamily="34" charset="-128"/>
              </a:rPr>
              <a:t> or 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'</a:t>
            </a:r>
            <a:r>
              <a:rPr lang="en-US" altLang="ja-JP" dirty="0">
                <a:ea typeface="ＭＳ Ｐゴシック" panose="020B0600070205080204" pitchFamily="34" charset="-128"/>
              </a:rPr>
              <a:t>Y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'</a:t>
            </a:r>
            <a:r>
              <a:rPr lang="en-US" altLang="ja-JP" dirty="0">
                <a:ea typeface="ＭＳ Ｐゴシック" panose="020B0600070205080204" pitchFamily="34" charset="-128"/>
              </a:rPr>
              <a:t> = 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'</a:t>
            </a:r>
            <a:r>
              <a:rPr lang="en-US" altLang="ja-JP" dirty="0">
                <a:ea typeface="ＭＳ Ｐゴシック" panose="020B0600070205080204" pitchFamily="34" charset="-128"/>
              </a:rPr>
              <a:t>Y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then the resulting statement becomes: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"select * from instructor where name = 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'</a:t>
            </a:r>
            <a:r>
              <a:rPr lang="en-US" altLang="ja-JP" dirty="0">
                <a:ea typeface="ＭＳ Ｐゴシック" panose="020B0600070205080204" pitchFamily="34" charset="-128"/>
              </a:rPr>
              <a:t>" + "X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'</a:t>
            </a:r>
            <a:r>
              <a:rPr lang="en-US" altLang="ja-JP" dirty="0">
                <a:ea typeface="ＭＳ Ｐゴシック" panose="020B0600070205080204" pitchFamily="34" charset="-128"/>
              </a:rPr>
              <a:t> or 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'</a:t>
            </a:r>
            <a:r>
              <a:rPr lang="en-US" altLang="ja-JP" dirty="0">
                <a:ea typeface="ＭＳ Ｐゴシック" panose="020B0600070205080204" pitchFamily="34" charset="-128"/>
              </a:rPr>
              <a:t>Y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'</a:t>
            </a:r>
            <a:r>
              <a:rPr lang="en-US" altLang="ja-JP" dirty="0">
                <a:ea typeface="ＭＳ Ｐゴシック" panose="020B0600070205080204" pitchFamily="34" charset="-128"/>
              </a:rPr>
              <a:t> = 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'</a:t>
            </a:r>
            <a:r>
              <a:rPr lang="en-US" altLang="ja-JP" dirty="0">
                <a:ea typeface="ＭＳ Ｐゴシック" panose="020B0600070205080204" pitchFamily="34" charset="-128"/>
              </a:rPr>
              <a:t>Y" + "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'</a:t>
            </a:r>
            <a:r>
              <a:rPr lang="en-US" altLang="ja-JP" dirty="0">
                <a:ea typeface="ＭＳ Ｐゴシック" panose="020B0600070205080204" pitchFamily="34" charset="-128"/>
              </a:rPr>
              <a:t>"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which is: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select * from instructor where name = 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‘</a:t>
            </a:r>
            <a:r>
              <a:rPr lang="en-US" altLang="ja-JP" dirty="0">
                <a:ea typeface="ＭＳ Ｐゴシック" panose="020B0600070205080204" pitchFamily="34" charset="-128"/>
              </a:rPr>
              <a:t>X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dirty="0">
                <a:ea typeface="ＭＳ Ｐゴシック" panose="020B0600070205080204" pitchFamily="34" charset="-128"/>
              </a:rPr>
              <a:t> or 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‘</a:t>
            </a:r>
            <a:r>
              <a:rPr lang="en-US" altLang="ja-JP" dirty="0">
                <a:ea typeface="ＭＳ Ｐゴシック" panose="020B0600070205080204" pitchFamily="34" charset="-128"/>
              </a:rPr>
              <a:t>Y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dirty="0">
                <a:ea typeface="ＭＳ Ｐゴシック" panose="020B0600070205080204" pitchFamily="34" charset="-128"/>
              </a:rPr>
              <a:t> = 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‘</a:t>
            </a:r>
            <a:r>
              <a:rPr lang="en-US" altLang="ja-JP" dirty="0">
                <a:ea typeface="ＭＳ Ｐゴシック" panose="020B0600070205080204" pitchFamily="34" charset="-128"/>
              </a:rPr>
              <a:t>Y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‘</a:t>
            </a:r>
            <a:r>
              <a:rPr lang="zh-TW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=&gt;</a:t>
            </a:r>
            <a:r>
              <a:rPr lang="zh-TW" altLang="en-US" dirty="0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看到全部</a:t>
            </a:r>
            <a:endParaRPr lang="en-US" altLang="ja-JP" dirty="0">
              <a:solidFill>
                <a:srgbClr val="FF0000"/>
              </a:solidFill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User could have even used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X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‘</a:t>
            </a:r>
            <a:r>
              <a:rPr lang="en-US" altLang="ja-JP" dirty="0">
                <a:ea typeface="ＭＳ Ｐゴシック" panose="020B0600070205080204" pitchFamily="34" charset="-128"/>
              </a:rPr>
              <a:t>; update instructor set salary = salary + 10000; --</a:t>
            </a:r>
            <a:r>
              <a:rPr lang="zh-TW" altLang="en-US" dirty="0">
                <a:ea typeface="ＭＳ Ｐゴシック" panose="020B0600070205080204" pitchFamily="34" charset="-128"/>
              </a:rPr>
              <a:t> </a:t>
            </a:r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=&gt;</a:t>
            </a:r>
            <a:r>
              <a:rPr lang="zh-TW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 更改資料</a:t>
            </a:r>
            <a:endParaRPr lang="en-US" altLang="ja-JP" dirty="0">
              <a:solidFill>
                <a:srgbClr val="FF0000"/>
              </a:solidFill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dirty="0"/>
              <a:t>Prepared statement internally uses:</a:t>
            </a:r>
            <a:br>
              <a:rPr lang="en-US" altLang="en-US" dirty="0"/>
            </a:br>
            <a:r>
              <a:rPr lang="en-US" altLang="en-US" dirty="0"/>
              <a:t>“select * from instructor where name = </a:t>
            </a:r>
            <a:r>
              <a:rPr lang="en-US" altLang="ja-JP" dirty="0">
                <a:latin typeface="Arial" panose="020B0604020202020204" pitchFamily="34" charset="0"/>
              </a:rPr>
              <a:t>'</a:t>
            </a:r>
            <a:r>
              <a:rPr lang="en-US" altLang="ja-JP" dirty="0"/>
              <a:t>X\</a:t>
            </a:r>
            <a:r>
              <a:rPr lang="en-US" altLang="ja-JP" dirty="0">
                <a:latin typeface="Arial" panose="020B0604020202020204" pitchFamily="34" charset="0"/>
              </a:rPr>
              <a:t>'</a:t>
            </a:r>
            <a:r>
              <a:rPr lang="en-US" altLang="ja-JP" dirty="0"/>
              <a:t> or \</a:t>
            </a:r>
            <a:r>
              <a:rPr lang="en-US" altLang="ja-JP" dirty="0">
                <a:latin typeface="Arial" panose="020B0604020202020204" pitchFamily="34" charset="0"/>
              </a:rPr>
              <a:t>'</a:t>
            </a:r>
            <a:r>
              <a:rPr lang="en-US" altLang="ja-JP" dirty="0"/>
              <a:t>Y\</a:t>
            </a:r>
            <a:r>
              <a:rPr lang="en-US" altLang="ja-JP" dirty="0">
                <a:latin typeface="Arial" panose="020B0604020202020204" pitchFamily="34" charset="0"/>
              </a:rPr>
              <a:t>'</a:t>
            </a:r>
            <a:r>
              <a:rPr lang="en-US" altLang="ja-JP" dirty="0"/>
              <a:t> = \</a:t>
            </a:r>
            <a:r>
              <a:rPr lang="en-US" altLang="ja-JP" dirty="0">
                <a:latin typeface="Arial" panose="020B0604020202020204" pitchFamily="34" charset="0"/>
              </a:rPr>
              <a:t>'</a:t>
            </a:r>
            <a:r>
              <a:rPr lang="en-US" altLang="ja-JP" dirty="0"/>
              <a:t>Y</a:t>
            </a:r>
            <a:r>
              <a:rPr lang="en-US" altLang="ja-JP" dirty="0">
                <a:latin typeface="Arial" panose="020B0604020202020204" pitchFamily="34" charset="0"/>
              </a:rPr>
              <a:t>'</a:t>
            </a:r>
            <a:endParaRPr lang="en-US" altLang="ja-JP" dirty="0"/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Always use prepared statements, with user inputs as parameters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ea typeface="ＭＳ Ｐゴシック" panose="020B0600070205080204" pitchFamily="34" charset="-128"/>
              </a:rPr>
              <a:t>SQL injection </a:t>
            </a:r>
            <a:r>
              <a:rPr lang="zh-TW" altLang="en-US" dirty="0">
                <a:ea typeface="ＭＳ Ｐゴシック" panose="020B0600070205080204" pitchFamily="34" charset="-128"/>
              </a:rPr>
              <a:t>實例</a:t>
            </a:r>
            <a:r>
              <a:rPr lang="en-US" altLang="zh-TW" dirty="0">
                <a:ea typeface="ＭＳ Ｐゴシック" panose="020B0600070205080204" pitchFamily="34" charset="-128"/>
              </a:rPr>
              <a:t>:</a:t>
            </a:r>
            <a:r>
              <a:rPr lang="zh-TW" altLang="en-US" dirty="0">
                <a:ea typeface="ＭＳ Ｐゴシック" panose="020B0600070205080204" pitchFamily="34" charset="-128"/>
              </a:rPr>
              <a:t> </a:t>
            </a:r>
            <a:r>
              <a:rPr lang="en-US" altLang="zh-TW" b="1" dirty="0">
                <a:solidFill>
                  <a:srgbClr val="002060"/>
                </a:solidFill>
                <a:ea typeface="ＭＳ Ｐゴシック" panose="020B0600070205080204" pitchFamily="34" charset="-128"/>
                <a:hlinkClick r:id="rId2"/>
              </a:rPr>
              <a:t>https://news.ltn.com.tw/news/life/breakingnews/2971370</a:t>
            </a:r>
            <a:endParaRPr lang="en-US" altLang="zh-TW" b="1" dirty="0">
              <a:solidFill>
                <a:srgbClr val="002060"/>
              </a:solidFill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endParaRPr lang="en-US" altLang="en-US" b="1" dirty="0">
              <a:solidFill>
                <a:srgbClr val="002060"/>
              </a:solidFill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</a:pP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/>
              <a:t>補充</a:t>
            </a:r>
            <a:r>
              <a:rPr lang="en-US" altLang="zh-TW" dirty="0"/>
              <a:t>PDO (PHP) prepared statements example</a:t>
            </a:r>
            <a:endParaRPr lang="zh-TW" altLang="en-US" dirty="0"/>
          </a:p>
        </p:txBody>
      </p:sp>
      <p:sp>
        <p:nvSpPr>
          <p:cNvPr id="24579" name="內容版面配置區 2"/>
          <p:cNvSpPr>
            <a:spLocks noGrp="1"/>
          </p:cNvSpPr>
          <p:nvPr>
            <p:ph idx="1"/>
          </p:nvPr>
        </p:nvSpPr>
        <p:spPr>
          <a:xfrm>
            <a:off x="768350" y="968375"/>
            <a:ext cx="7661275" cy="4903788"/>
          </a:xfrm>
        </p:spPr>
        <p:txBody>
          <a:bodyPr/>
          <a:lstStyle/>
          <a:p>
            <a:pPr marL="0" indent="0">
              <a:buFont typeface="Monotype Sorts" pitchFamily="2" charset="2"/>
              <a:buNone/>
            </a:pPr>
            <a:r>
              <a:rPr lang="en-US" altLang="zh-TW"/>
              <a:t>&lt;?php</a:t>
            </a:r>
            <a:endParaRPr lang="zh-TW" altLang="zh-TW"/>
          </a:p>
          <a:p>
            <a:pPr marL="0" indent="0">
              <a:buFont typeface="Monotype Sorts" pitchFamily="2" charset="2"/>
              <a:buNone/>
            </a:pPr>
            <a:r>
              <a:rPr lang="en-US" altLang="zh-TW"/>
              <a:t> //</a:t>
            </a:r>
            <a:r>
              <a:rPr lang="zh-TW" altLang="zh-TW"/>
              <a:t>連接資料庫</a:t>
            </a:r>
          </a:p>
          <a:p>
            <a:pPr marL="0" indent="0">
              <a:buFont typeface="Monotype Sorts" pitchFamily="2" charset="2"/>
              <a:buNone/>
            </a:pPr>
            <a:r>
              <a:rPr lang="en-US" altLang="zh-TW"/>
              <a:t> $db = new PDO('mysql:host=localhost;dbname=test;charset=utf8',$user,$password);</a:t>
            </a:r>
          </a:p>
          <a:p>
            <a:pPr marL="0" indent="0">
              <a:buFont typeface="Monotype Sorts" pitchFamily="2" charset="2"/>
              <a:buNone/>
            </a:pPr>
            <a:r>
              <a:rPr lang="en-US" altLang="zh-TW"/>
              <a:t> //</a:t>
            </a:r>
            <a:r>
              <a:rPr lang="zh-TW" altLang="zh-TW"/>
              <a:t>設定想要新增入資料庫的資料內容如下</a:t>
            </a:r>
          </a:p>
          <a:p>
            <a:pPr marL="0" indent="0">
              <a:buFont typeface="Monotype Sorts" pitchFamily="2" charset="2"/>
              <a:buNone/>
            </a:pPr>
            <a:r>
              <a:rPr lang="en-US" altLang="zh-TW"/>
              <a:t>	$dept = "</a:t>
            </a:r>
            <a:r>
              <a:rPr lang="zh-TW" altLang="zh-TW"/>
              <a:t>資工</a:t>
            </a:r>
            <a:r>
              <a:rPr lang="en-US" altLang="zh-TW"/>
              <a:t>";</a:t>
            </a:r>
            <a:endParaRPr lang="zh-TW" altLang="zh-TW"/>
          </a:p>
          <a:p>
            <a:pPr marL="0" indent="0">
              <a:buFont typeface="Monotype Sorts" pitchFamily="2" charset="2"/>
              <a:buNone/>
            </a:pPr>
            <a:r>
              <a:rPr lang="en-US" altLang="zh-TW"/>
              <a:t> 	$no = "00557888";</a:t>
            </a:r>
            <a:endParaRPr lang="zh-TW" altLang="zh-TW"/>
          </a:p>
          <a:p>
            <a:pPr marL="0" indent="0">
              <a:buFont typeface="Monotype Sorts" pitchFamily="2" charset="2"/>
              <a:buNone/>
            </a:pPr>
            <a:r>
              <a:rPr lang="en-US" altLang="zh-TW"/>
              <a:t>	$name = "</a:t>
            </a:r>
            <a:r>
              <a:rPr lang="zh-TW" altLang="zh-TW"/>
              <a:t>發發發</a:t>
            </a:r>
            <a:r>
              <a:rPr lang="en-US" altLang="zh-TW"/>
              <a:t>";</a:t>
            </a:r>
            <a:endParaRPr lang="zh-TW" altLang="zh-TW"/>
          </a:p>
          <a:p>
            <a:pPr marL="0" indent="0">
              <a:buFont typeface="Monotype Sorts" pitchFamily="2" charset="2"/>
              <a:buNone/>
            </a:pPr>
            <a:r>
              <a:rPr lang="en-US" altLang="zh-TW"/>
              <a:t>	$club = "</a:t>
            </a:r>
            <a:r>
              <a:rPr lang="zh-TW" altLang="zh-TW"/>
              <a:t>桌遊社</a:t>
            </a:r>
            <a:r>
              <a:rPr lang="en-US" altLang="zh-TW"/>
              <a:t>";</a:t>
            </a:r>
            <a:endParaRPr lang="zh-TW" altLang="zh-TW"/>
          </a:p>
          <a:p>
            <a:pPr marL="0" indent="0">
              <a:buFont typeface="Monotype Sorts" pitchFamily="2" charset="2"/>
              <a:buNone/>
            </a:pPr>
            <a:r>
              <a:rPr lang="en-US" altLang="zh-TW"/>
              <a:t> //</a:t>
            </a:r>
            <a:r>
              <a:rPr lang="zh-TW" altLang="zh-TW"/>
              <a:t>設定要使用的</a:t>
            </a:r>
            <a:r>
              <a:rPr lang="en-US" altLang="zh-TW"/>
              <a:t>SQL</a:t>
            </a:r>
            <a:r>
              <a:rPr lang="zh-TW" altLang="zh-TW"/>
              <a:t>指令</a:t>
            </a:r>
          </a:p>
          <a:p>
            <a:pPr marL="0" indent="0">
              <a:buFont typeface="Monotype Sorts" pitchFamily="2" charset="2"/>
              <a:buNone/>
            </a:pPr>
            <a:r>
              <a:rPr lang="en-US" altLang="zh-TW"/>
              <a:t>	$query = ("insert into student values(?,?,?,?)");</a:t>
            </a:r>
            <a:endParaRPr lang="zh-TW" altLang="zh-TW"/>
          </a:p>
          <a:p>
            <a:pPr marL="0" indent="0">
              <a:buFont typeface="Monotype Sorts" pitchFamily="2" charset="2"/>
              <a:buNone/>
            </a:pPr>
            <a:r>
              <a:rPr lang="en-US" altLang="zh-TW"/>
              <a:t>	$stmt = $db-&gt;prepare($query);</a:t>
            </a:r>
            <a:endParaRPr lang="zh-TW" altLang="zh-TW"/>
          </a:p>
          <a:p>
            <a:pPr marL="0" indent="0">
              <a:buFont typeface="Monotype Sorts" pitchFamily="2" charset="2"/>
              <a:buNone/>
            </a:pPr>
            <a:r>
              <a:rPr lang="en-US" altLang="zh-TW"/>
              <a:t> //</a:t>
            </a:r>
            <a:r>
              <a:rPr lang="zh-TW" altLang="zh-TW"/>
              <a:t>執行</a:t>
            </a:r>
            <a:r>
              <a:rPr lang="en-US" altLang="zh-TW"/>
              <a:t>SQL</a:t>
            </a:r>
            <a:r>
              <a:rPr lang="zh-TW" altLang="zh-TW"/>
              <a:t>語法</a:t>
            </a:r>
          </a:p>
          <a:p>
            <a:pPr marL="0" indent="0">
              <a:buFont typeface="Monotype Sorts" pitchFamily="2" charset="2"/>
              <a:buNone/>
            </a:pPr>
            <a:r>
              <a:rPr lang="en-US" altLang="zh-TW"/>
              <a:t>	$result = $stmt-&gt;execute(array($dept,$no,$name,$club));</a:t>
            </a:r>
            <a:endParaRPr lang="zh-TW" altLang="zh-TW"/>
          </a:p>
          <a:p>
            <a:pPr marL="0" indent="0">
              <a:buFont typeface="Monotype Sorts" pitchFamily="2" charset="2"/>
              <a:buNone/>
            </a:pPr>
            <a:r>
              <a:rPr lang="en-US" altLang="zh-TW"/>
              <a:t>?&gt;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7202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>
                <a:effectLst/>
                <a:ea typeface="新細明體" charset="-120"/>
              </a:rPr>
              <a:t>補充</a:t>
            </a:r>
            <a:r>
              <a:rPr lang="en-US" altLang="zh-TW" dirty="0">
                <a:effectLst/>
                <a:ea typeface="新細明體" charset="-120"/>
              </a:rPr>
              <a:t> </a:t>
            </a:r>
            <a:r>
              <a:rPr lang="en-US" altLang="zh-TW" dirty="0">
                <a:effectLst/>
              </a:rPr>
              <a:t>PDO – query example</a:t>
            </a:r>
            <a:endParaRPr lang="zh-TW" altLang="en-US" dirty="0"/>
          </a:p>
        </p:txBody>
      </p:sp>
      <p:sp>
        <p:nvSpPr>
          <p:cNvPr id="25603" name="內容版面配置區 2"/>
          <p:cNvSpPr>
            <a:spLocks noGrp="1"/>
          </p:cNvSpPr>
          <p:nvPr>
            <p:ph idx="1"/>
          </p:nvPr>
        </p:nvSpPr>
        <p:spPr>
          <a:xfrm>
            <a:off x="862013" y="1027113"/>
            <a:ext cx="7661275" cy="4903787"/>
          </a:xfrm>
        </p:spPr>
        <p:txBody>
          <a:bodyPr/>
          <a:lstStyle/>
          <a:p>
            <a:pPr marL="0" indent="0">
              <a:buFont typeface="Monotype Sorts" pitchFamily="2" charset="2"/>
              <a:buNone/>
            </a:pPr>
            <a:r>
              <a:rPr lang="en-US" altLang="zh-TW"/>
              <a:t>&lt;?php    </a:t>
            </a:r>
            <a:endParaRPr lang="zh-TW" altLang="zh-TW"/>
          </a:p>
          <a:p>
            <a:pPr marL="0" indent="0">
              <a:buFont typeface="Monotype Sorts" pitchFamily="2" charset="2"/>
              <a:buNone/>
            </a:pPr>
            <a:r>
              <a:rPr lang="en-US" altLang="zh-TW"/>
              <a:t>	include "db_conn.php";</a:t>
            </a:r>
            <a:endParaRPr lang="zh-TW" altLang="zh-TW"/>
          </a:p>
          <a:p>
            <a:pPr marL="0" indent="0">
              <a:buFont typeface="Monotype Sorts" pitchFamily="2" charset="2"/>
              <a:buNone/>
            </a:pPr>
            <a:r>
              <a:rPr lang="en-US" altLang="zh-TW"/>
              <a:t>	$no = "00557888";</a:t>
            </a:r>
            <a:endParaRPr lang="zh-TW" altLang="zh-TW"/>
          </a:p>
          <a:p>
            <a:pPr marL="0" indent="0">
              <a:buFont typeface="Monotype Sorts" pitchFamily="2" charset="2"/>
              <a:buNone/>
            </a:pPr>
            <a:r>
              <a:rPr lang="en-US" altLang="zh-TW"/>
              <a:t>	$query = ("select * from student where no = ?");</a:t>
            </a:r>
            <a:endParaRPr lang="zh-TW" altLang="zh-TW"/>
          </a:p>
          <a:p>
            <a:pPr marL="0" indent="0">
              <a:buFont typeface="Monotype Sorts" pitchFamily="2" charset="2"/>
              <a:buNone/>
            </a:pPr>
            <a:r>
              <a:rPr lang="en-US" altLang="zh-TW"/>
              <a:t>	$stmt =  $db-&gt;prepare($query);</a:t>
            </a:r>
            <a:endParaRPr lang="zh-TW" altLang="zh-TW"/>
          </a:p>
          <a:p>
            <a:pPr marL="0" indent="0">
              <a:buFont typeface="Monotype Sorts" pitchFamily="2" charset="2"/>
              <a:buNone/>
            </a:pPr>
            <a:r>
              <a:rPr lang="en-US" altLang="zh-TW"/>
              <a:t>	$error = $stmt-&gt;execute(array($no));</a:t>
            </a:r>
            <a:endParaRPr lang="zh-TW" altLang="zh-TW"/>
          </a:p>
          <a:p>
            <a:pPr marL="0" indent="0">
              <a:buFont typeface="Monotype Sorts" pitchFamily="2" charset="2"/>
              <a:buNone/>
            </a:pPr>
            <a:r>
              <a:rPr lang="en-US" altLang="zh-TW"/>
              <a:t>	$result = $stmt-&gt;fetchAll();</a:t>
            </a:r>
            <a:endParaRPr lang="zh-TW" altLang="zh-TW"/>
          </a:p>
          <a:p>
            <a:pPr marL="0" indent="0">
              <a:buFont typeface="Monotype Sorts" pitchFamily="2" charset="2"/>
              <a:buNone/>
            </a:pPr>
            <a:r>
              <a:rPr lang="en-US" altLang="zh-TW"/>
              <a:t>	for($i=0; $i&lt;count($</a:t>
            </a:r>
            <a:r>
              <a:rPr lang="en-US" altLang="zh-TW" i="1"/>
              <a:t>result</a:t>
            </a:r>
            <a:r>
              <a:rPr lang="en-US" altLang="zh-TW"/>
              <a:t>); $i++){</a:t>
            </a:r>
            <a:endParaRPr lang="zh-TW" altLang="zh-TW"/>
          </a:p>
          <a:p>
            <a:pPr marL="0" indent="0">
              <a:buFont typeface="Monotype Sorts" pitchFamily="2" charset="2"/>
              <a:buNone/>
            </a:pPr>
            <a:r>
              <a:rPr lang="en-US" altLang="zh-TW"/>
              <a:t>	echo "dept:".$</a:t>
            </a:r>
            <a:r>
              <a:rPr lang="en-US" altLang="zh-TW" i="1"/>
              <a:t>result</a:t>
            </a:r>
            <a:r>
              <a:rPr lang="en-US" altLang="zh-TW"/>
              <a:t> [$i]['dept'].' '.</a:t>
            </a:r>
            <a:endParaRPr lang="zh-TW" altLang="zh-TW"/>
          </a:p>
          <a:p>
            <a:pPr marL="0" indent="0">
              <a:buFont typeface="Monotype Sorts" pitchFamily="2" charset="2"/>
              <a:buNone/>
            </a:pPr>
            <a:r>
              <a:rPr lang="en-US" altLang="zh-TW"/>
              <a:t>		"no:". $</a:t>
            </a:r>
            <a:r>
              <a:rPr lang="en-US" altLang="zh-TW" i="1"/>
              <a:t>result</a:t>
            </a:r>
            <a:r>
              <a:rPr lang="en-US" altLang="zh-TW"/>
              <a:t> [$i]['no'].' '.</a:t>
            </a:r>
            <a:endParaRPr lang="zh-TW" altLang="zh-TW"/>
          </a:p>
          <a:p>
            <a:pPr marL="0" indent="0">
              <a:buFont typeface="Monotype Sorts" pitchFamily="2" charset="2"/>
              <a:buNone/>
            </a:pPr>
            <a:r>
              <a:rPr lang="en-US" altLang="zh-TW"/>
              <a:t>		"name:".$</a:t>
            </a:r>
            <a:r>
              <a:rPr lang="en-US" altLang="zh-TW" i="1"/>
              <a:t>result</a:t>
            </a:r>
            <a:r>
              <a:rPr lang="en-US" altLang="zh-TW"/>
              <a:t>[$i]['name'].' '.</a:t>
            </a:r>
            <a:endParaRPr lang="zh-TW" altLang="zh-TW"/>
          </a:p>
          <a:p>
            <a:pPr marL="0" indent="0">
              <a:buFont typeface="Monotype Sorts" pitchFamily="2" charset="2"/>
              <a:buNone/>
            </a:pPr>
            <a:r>
              <a:rPr lang="en-US" altLang="zh-TW"/>
              <a:t>		"club:". $</a:t>
            </a:r>
            <a:r>
              <a:rPr lang="en-US" altLang="zh-TW" i="1"/>
              <a:t>result</a:t>
            </a:r>
            <a:r>
              <a:rPr lang="en-US" altLang="zh-TW"/>
              <a:t>[$i]['club'].' '.</a:t>
            </a:r>
            <a:endParaRPr lang="zh-TW" altLang="zh-TW"/>
          </a:p>
          <a:p>
            <a:pPr marL="0" indent="0">
              <a:buFont typeface="Monotype Sorts" pitchFamily="2" charset="2"/>
              <a:buNone/>
            </a:pPr>
            <a:r>
              <a:rPr lang="en-US" altLang="zh-TW"/>
              <a:t>		'&lt;br&gt;'; </a:t>
            </a:r>
            <a:endParaRPr lang="zh-TW" altLang="zh-TW"/>
          </a:p>
          <a:p>
            <a:pPr marL="0" indent="0">
              <a:buFont typeface="Monotype Sorts" pitchFamily="2" charset="2"/>
              <a:buNone/>
            </a:pPr>
            <a:r>
              <a:rPr lang="zh-TW" altLang="zh-TW"/>
              <a:t>　　</a:t>
            </a:r>
            <a:r>
              <a:rPr lang="en-US" altLang="zh-TW"/>
              <a:t>}</a:t>
            </a:r>
            <a:endParaRPr lang="zh-TW" altLang="zh-TW"/>
          </a:p>
          <a:p>
            <a:pPr marL="0" indent="0">
              <a:buFont typeface="Monotype Sorts" pitchFamily="2" charset="2"/>
              <a:buNone/>
            </a:pPr>
            <a:r>
              <a:rPr lang="en-IN" altLang="zh-TW"/>
              <a:t/>
            </a:r>
            <a:br>
              <a:rPr lang="en-IN" altLang="zh-TW"/>
            </a:b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50919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Transaction Control in JDBC</a:t>
            </a:r>
            <a:endParaRPr lang="en-US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9169"/>
            <a:ext cx="7514516" cy="4983163"/>
          </a:xfrm>
        </p:spPr>
        <p:txBody>
          <a:bodyPr/>
          <a:lstStyle/>
          <a:p>
            <a:r>
              <a:rPr lang="en-US" altLang="en-US" dirty="0"/>
              <a:t>By default, each SQL statement is treated as a separate transaction that is committed automatically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bad idea for transactions with multiple updates</a:t>
            </a:r>
          </a:p>
          <a:p>
            <a:r>
              <a:rPr lang="en-US" altLang="en-US" dirty="0"/>
              <a:t>Can turn off automatic commit on a connection</a:t>
            </a:r>
          </a:p>
          <a:p>
            <a:pPr lvl="1"/>
            <a:r>
              <a:rPr lang="en-US" altLang="en-US" dirty="0" err="1">
                <a:ea typeface="ＭＳ Ｐゴシック" panose="020B0600070205080204" pitchFamily="34" charset="-128"/>
              </a:rPr>
              <a:t>conn.setAutoCommit</a:t>
            </a:r>
            <a:r>
              <a:rPr lang="en-US" altLang="en-US" dirty="0">
                <a:ea typeface="ＭＳ Ｐゴシック" panose="020B0600070205080204" pitchFamily="34" charset="-128"/>
              </a:rPr>
              <a:t>(false);</a:t>
            </a:r>
          </a:p>
          <a:p>
            <a:r>
              <a:rPr lang="en-US" altLang="en-US" dirty="0"/>
              <a:t>Transactions must then be committed or rolled back explicitly</a:t>
            </a:r>
          </a:p>
          <a:p>
            <a:pPr lvl="1"/>
            <a:r>
              <a:rPr lang="en-US" altLang="en-US" dirty="0" err="1">
                <a:ea typeface="ＭＳ Ｐゴシック" panose="020B0600070205080204" pitchFamily="34" charset="-128"/>
              </a:rPr>
              <a:t>conn.commit</a:t>
            </a:r>
            <a:r>
              <a:rPr lang="en-US" altLang="en-US" dirty="0">
                <a:ea typeface="ＭＳ Ｐゴシック" panose="020B0600070205080204" pitchFamily="34" charset="-128"/>
              </a:rPr>
              <a:t>();     or</a:t>
            </a:r>
          </a:p>
          <a:p>
            <a:pPr lvl="1"/>
            <a:r>
              <a:rPr lang="en-US" altLang="en-US" dirty="0" err="1">
                <a:ea typeface="ＭＳ Ｐゴシック" panose="020B0600070205080204" pitchFamily="34" charset="-128"/>
              </a:rPr>
              <a:t>conn.rollback</a:t>
            </a:r>
            <a:r>
              <a:rPr lang="en-US" altLang="en-US" dirty="0">
                <a:ea typeface="ＭＳ Ｐゴシック" panose="020B0600070205080204" pitchFamily="34" charset="-128"/>
              </a:rPr>
              <a:t>();</a:t>
            </a:r>
          </a:p>
          <a:p>
            <a:r>
              <a:rPr lang="en-US" altLang="en-US" dirty="0" err="1"/>
              <a:t>conn.setAutoCommit</a:t>
            </a:r>
            <a:r>
              <a:rPr lang="en-US" altLang="en-US" dirty="0"/>
              <a:t>(true) turns on automatic commit.</a:t>
            </a:r>
          </a:p>
          <a:p>
            <a:pPr>
              <a:buNone/>
            </a:pPr>
            <a:r>
              <a:rPr lang="en-US" altLang="en-US" dirty="0">
                <a:ea typeface="ＭＳ Ｐゴシック" pitchFamily="34" charset="-128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ODBC</a:t>
            </a:r>
            <a:endParaRPr lang="en-US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9709"/>
            <a:ext cx="7287837" cy="4635454"/>
          </a:xfrm>
        </p:spPr>
        <p:txBody>
          <a:bodyPr/>
          <a:lstStyle/>
          <a:p>
            <a:r>
              <a:rPr lang="en-US" altLang="en-US" dirty="0">
                <a:ea typeface="ＭＳ Ｐゴシック" pitchFamily="34" charset="-128"/>
              </a:rPr>
              <a:t>O</a:t>
            </a:r>
            <a:r>
              <a:rPr lang="en-US" altLang="en-US" dirty="0"/>
              <a:t>pen </a:t>
            </a:r>
            <a:r>
              <a:rPr lang="en-US" altLang="en-US" dirty="0" err="1"/>
              <a:t>DataBase</a:t>
            </a:r>
            <a:r>
              <a:rPr lang="en-US" altLang="en-US" dirty="0"/>
              <a:t> Connectivity (ODBC) standard 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standard for application program to communicate with a database server.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application program interface (API) to </a:t>
            </a:r>
          </a:p>
          <a:p>
            <a:pPr lvl="2"/>
            <a:r>
              <a:rPr lang="en-US" altLang="en-US" dirty="0">
                <a:ea typeface="ＭＳ Ｐゴシック" panose="020B0600070205080204" pitchFamily="34" charset="-128"/>
              </a:rPr>
              <a:t>open a connection with a database, </a:t>
            </a:r>
          </a:p>
          <a:p>
            <a:pPr lvl="2"/>
            <a:r>
              <a:rPr lang="en-US" altLang="en-US" dirty="0">
                <a:ea typeface="ＭＳ Ｐゴシック" panose="020B0600070205080204" pitchFamily="34" charset="-128"/>
              </a:rPr>
              <a:t>send queries and updates, </a:t>
            </a:r>
          </a:p>
          <a:p>
            <a:pPr lvl="2"/>
            <a:r>
              <a:rPr lang="en-US" altLang="en-US" dirty="0">
                <a:ea typeface="ＭＳ Ｐゴシック" panose="020B0600070205080204" pitchFamily="34" charset="-128"/>
              </a:rPr>
              <a:t>get back results.</a:t>
            </a:r>
          </a:p>
          <a:p>
            <a:r>
              <a:rPr lang="en-US" altLang="en-US" dirty="0"/>
              <a:t>Applications such as GUI, spreadsheets, etc. can use ODBC</a:t>
            </a:r>
          </a:p>
          <a:p>
            <a:r>
              <a:rPr lang="zh-TW" altLang="en-US" dirty="0"/>
              <a:t>可參考課本圖</a:t>
            </a:r>
            <a:r>
              <a:rPr lang="en-US" altLang="zh-TW" dirty="0"/>
              <a:t>5.5</a:t>
            </a:r>
            <a:r>
              <a:rPr lang="zh-TW" altLang="en-US" dirty="0"/>
              <a:t>的</a:t>
            </a:r>
            <a:r>
              <a:rPr lang="en-US" altLang="zh-TW" dirty="0"/>
              <a:t>ODBC</a:t>
            </a:r>
            <a:r>
              <a:rPr lang="zh-TW" altLang="en-US" dirty="0"/>
              <a:t>範例。</a:t>
            </a:r>
            <a:endParaRPr lang="en-US" altLang="zh-TW" dirty="0"/>
          </a:p>
          <a:p>
            <a:r>
              <a:rPr lang="zh-TW" altLang="en-US" dirty="0"/>
              <a:t>在</a:t>
            </a:r>
            <a:r>
              <a:rPr lang="en-US" altLang="zh-TW" dirty="0"/>
              <a:t>Windows</a:t>
            </a:r>
            <a:r>
              <a:rPr lang="zh-TW" altLang="en-US" dirty="0"/>
              <a:t>裡，有 </a:t>
            </a:r>
            <a:r>
              <a:rPr lang="en-US" altLang="zh-TW" dirty="0"/>
              <a:t>“ODBC</a:t>
            </a:r>
            <a:r>
              <a:rPr lang="zh-TW" altLang="en-US" dirty="0"/>
              <a:t>資料來源管理員</a:t>
            </a:r>
            <a:r>
              <a:rPr lang="en-US" altLang="zh-TW" dirty="0"/>
              <a:t>”</a:t>
            </a:r>
            <a:r>
              <a:rPr lang="zh-TW" altLang="en-US" dirty="0"/>
              <a:t>，可看到電腦裡已經灌好的 </a:t>
            </a:r>
            <a:r>
              <a:rPr lang="en-US" altLang="zh-TW" dirty="0"/>
              <a:t>driver</a:t>
            </a:r>
            <a:r>
              <a:rPr lang="zh-TW" altLang="en-US" dirty="0"/>
              <a:t> </a:t>
            </a:r>
            <a:r>
              <a:rPr lang="en-US" altLang="zh-TW" dirty="0"/>
              <a:t>library</a:t>
            </a:r>
            <a:r>
              <a:rPr lang="zh-TW" altLang="en-US" dirty="0"/>
              <a:t>。</a:t>
            </a:r>
            <a:endParaRPr lang="en-US" altLang="en-US" dirty="0"/>
          </a:p>
          <a:p>
            <a:pPr>
              <a:buNone/>
            </a:pPr>
            <a:r>
              <a:rPr lang="en-US" altLang="en-US" dirty="0">
                <a:ea typeface="ＭＳ Ｐゴシック" pitchFamily="34" charset="-128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latin typeface="新細明體" panose="02020500000000000000" pitchFamily="18" charset="-120"/>
                <a:ea typeface="新細明體" panose="02020500000000000000" pitchFamily="18" charset="-120"/>
              </a:rPr>
              <a:t>※ 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Embedded SQL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80730"/>
            <a:ext cx="8105775" cy="4858120"/>
          </a:xfrm>
        </p:spPr>
        <p:txBody>
          <a:bodyPr/>
          <a:lstStyle/>
          <a:p>
            <a:pPr>
              <a:tabLst>
                <a:tab pos="744538" algn="l"/>
              </a:tabLst>
            </a:pPr>
            <a:r>
              <a:rPr lang="en-US" altLang="en-US" dirty="0"/>
              <a:t>The SQL standard defines </a:t>
            </a:r>
            <a:r>
              <a:rPr lang="en-US" altLang="en-US" dirty="0" err="1"/>
              <a:t>embeddings</a:t>
            </a:r>
            <a:r>
              <a:rPr lang="en-US" altLang="en-US" dirty="0"/>
              <a:t> of SQL in a variety of programming languages such as C, C++, Java, Fortran, and PL/1, </a:t>
            </a:r>
          </a:p>
          <a:p>
            <a:pPr>
              <a:tabLst>
                <a:tab pos="744538" algn="l"/>
              </a:tabLst>
            </a:pPr>
            <a:r>
              <a:rPr lang="en-US" altLang="en-US" dirty="0"/>
              <a:t>A language to which SQL queries are embedded is referred to as a </a:t>
            </a:r>
            <a:r>
              <a:rPr lang="en-US" altLang="en-US" b="1" dirty="0">
                <a:solidFill>
                  <a:srgbClr val="002060"/>
                </a:solidFill>
              </a:rPr>
              <a:t>host language</a:t>
            </a:r>
            <a:r>
              <a:rPr lang="en-US" altLang="en-US" dirty="0"/>
              <a:t>, and the SQL structures permitted in the host language comprise </a:t>
            </a:r>
            <a:r>
              <a:rPr lang="en-US" altLang="en-US" i="1" dirty="0"/>
              <a:t>embedded </a:t>
            </a:r>
            <a:r>
              <a:rPr lang="en-US" altLang="en-US" dirty="0"/>
              <a:t>SQL.</a:t>
            </a:r>
          </a:p>
          <a:p>
            <a:pPr>
              <a:tabLst>
                <a:tab pos="744538" algn="l"/>
              </a:tabLst>
            </a:pPr>
            <a:r>
              <a:rPr lang="en-US" altLang="en-US" dirty="0"/>
              <a:t>The basic form of these languages follows that of the System R embedding of SQL into PL/1.</a:t>
            </a:r>
          </a:p>
          <a:p>
            <a:pPr>
              <a:tabLst>
                <a:tab pos="744538" algn="l"/>
              </a:tabLst>
            </a:pPr>
            <a:r>
              <a:rPr lang="en-US" altLang="en-US" b="1" dirty="0">
                <a:solidFill>
                  <a:srgbClr val="002060"/>
                </a:solidFill>
              </a:rPr>
              <a:t>EXEC SQL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statement is used in the host language to identify embedded SQL request to the preprocessor</a:t>
            </a:r>
          </a:p>
          <a:p>
            <a:pPr>
              <a:buFont typeface="Monotype Sorts" charset="2"/>
              <a:buNone/>
              <a:tabLst>
                <a:tab pos="744538" algn="l"/>
              </a:tabLst>
            </a:pPr>
            <a:r>
              <a:rPr lang="en-US" altLang="en-US" dirty="0"/>
              <a:t>               EXEC SQL &lt;embedded SQL statement &gt;;</a:t>
            </a:r>
          </a:p>
          <a:p>
            <a:pPr>
              <a:buFont typeface="Monotype Sorts" charset="2"/>
              <a:buNone/>
              <a:tabLst>
                <a:tab pos="744538" algn="l"/>
              </a:tabLst>
            </a:pPr>
            <a:r>
              <a:rPr lang="en-US" altLang="en-US" dirty="0"/>
              <a:t>      Note:  this varies by language: </a:t>
            </a:r>
          </a:p>
          <a:p>
            <a:pPr lvl="1">
              <a:tabLst>
                <a:tab pos="744538" algn="l"/>
              </a:tabLst>
            </a:pPr>
            <a:r>
              <a:rPr lang="en-US" altLang="en-US" dirty="0">
                <a:ea typeface="ＭＳ Ｐゴシック" panose="020B0600070205080204" pitchFamily="34" charset="-128"/>
              </a:rPr>
              <a:t>In some languages, like COBOL,  the semicolon is replaced with END-EXEC </a:t>
            </a:r>
          </a:p>
          <a:p>
            <a:pPr lvl="1">
              <a:tabLst>
                <a:tab pos="744538" algn="l"/>
              </a:tabLst>
            </a:pPr>
            <a:r>
              <a:rPr lang="en-US" altLang="en-US" dirty="0">
                <a:ea typeface="ＭＳ Ｐゴシック" panose="020B0600070205080204" pitchFamily="34" charset="-128"/>
              </a:rPr>
              <a:t>In Java embedding uses    # SQL { …. };</a:t>
            </a:r>
          </a:p>
          <a:p>
            <a:pPr>
              <a:buFont typeface="Monotype Sorts" charset="2"/>
              <a:buNone/>
              <a:tabLst>
                <a:tab pos="744538" algn="l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05879" y="2664651"/>
            <a:ext cx="5671930" cy="1430271"/>
          </a:xfrm>
        </p:spPr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 altLang="en-US" sz="3200" b="1" dirty="0">
                <a:solidFill>
                  <a:srgbClr val="002060"/>
                </a:solidFill>
                <a:latin typeface="+mj-lt"/>
              </a:rPr>
              <a:t>Functions and Procedures</a:t>
            </a:r>
          </a:p>
        </p:txBody>
      </p:sp>
      <p:sp>
        <p:nvSpPr>
          <p:cNvPr id="54275" name="Rectangle 4"/>
          <p:cNvSpPr>
            <a:spLocks noChangeArrowheads="1"/>
          </p:cNvSpPr>
          <p:nvPr/>
        </p:nvSpPr>
        <p:spPr bwMode="auto">
          <a:xfrm>
            <a:off x="1435100" y="-763588"/>
            <a:ext cx="184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Functions and Procedures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35063"/>
            <a:ext cx="7692069" cy="4876800"/>
          </a:xfrm>
        </p:spPr>
        <p:txBody>
          <a:bodyPr/>
          <a:lstStyle/>
          <a:p>
            <a:r>
              <a:rPr lang="en-US" altLang="en-US" dirty="0"/>
              <a:t>Functions and procedures allow  “business logic”  to be stored in the database and executed from SQL statements.</a:t>
            </a:r>
          </a:p>
          <a:p>
            <a:r>
              <a:rPr lang="en-US" altLang="en-US" dirty="0"/>
              <a:t>These can be defined either by the procedural component of SQL or  by an external programming language such as Java, C, or C++.</a:t>
            </a:r>
          </a:p>
          <a:p>
            <a:r>
              <a:rPr lang="en-US" altLang="en-US" dirty="0"/>
              <a:t>The syntax we present here is defined by the SQL standard.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Most databases implement nonstandard versions of this syntax.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Declaring SQL Functions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863146"/>
            <a:ext cx="7775575" cy="4878231"/>
          </a:xfrm>
        </p:spPr>
        <p:txBody>
          <a:bodyPr/>
          <a:lstStyle/>
          <a:p>
            <a:pPr>
              <a:tabLst>
                <a:tab pos="803275" algn="l"/>
                <a:tab pos="1370013" algn="l"/>
                <a:tab pos="2112963" algn="l"/>
              </a:tabLst>
            </a:pPr>
            <a:r>
              <a:rPr lang="en-US" altLang="en-US" dirty="0"/>
              <a:t>Define a function that, given the name of a department, returns the count of the number of instructors in that department.</a:t>
            </a:r>
          </a:p>
          <a:p>
            <a:pPr>
              <a:buFont typeface="Monotype Sorts" charset="2"/>
              <a:buNone/>
              <a:tabLst>
                <a:tab pos="803275" algn="l"/>
                <a:tab pos="1370013" algn="l"/>
                <a:tab pos="2112963" algn="l"/>
              </a:tabLst>
            </a:pPr>
            <a:r>
              <a:rPr lang="en-US" altLang="en-US" sz="1600" b="1" dirty="0"/>
              <a:t>             </a:t>
            </a:r>
            <a:r>
              <a:rPr lang="en-US" altLang="en-US" b="1" dirty="0"/>
              <a:t>create function </a:t>
            </a:r>
            <a:r>
              <a:rPr lang="en-US" altLang="en-US" i="1" dirty="0" err="1"/>
              <a:t>dept_count</a:t>
            </a:r>
            <a:r>
              <a:rPr lang="en-US" altLang="en-US" i="1" dirty="0"/>
              <a:t> </a:t>
            </a:r>
            <a:r>
              <a:rPr lang="en-US" altLang="en-US" dirty="0"/>
              <a:t>(</a:t>
            </a:r>
            <a:r>
              <a:rPr lang="en-US" altLang="en-US" i="1" dirty="0" err="1"/>
              <a:t>dept_name</a:t>
            </a:r>
            <a:r>
              <a:rPr lang="en-US" altLang="en-US" i="1" dirty="0"/>
              <a:t> </a:t>
            </a:r>
            <a:r>
              <a:rPr lang="en-US" altLang="en-US" b="1" dirty="0"/>
              <a:t>varchar</a:t>
            </a:r>
            <a:r>
              <a:rPr lang="en-US" altLang="en-US" dirty="0"/>
              <a:t>(20))</a:t>
            </a:r>
            <a:r>
              <a:rPr lang="en-US" altLang="en-US" b="1" dirty="0"/>
              <a:t/>
            </a:r>
            <a:br>
              <a:rPr lang="en-US" altLang="en-US" b="1" dirty="0"/>
            </a:br>
            <a:r>
              <a:rPr lang="en-US" altLang="en-US" sz="1600" b="1" dirty="0"/>
              <a:t>                </a:t>
            </a:r>
            <a:r>
              <a:rPr lang="en-US" altLang="en-US" b="1" dirty="0"/>
              <a:t>returns integer</a:t>
            </a:r>
            <a:br>
              <a:rPr lang="en-US" altLang="en-US" b="1" dirty="0"/>
            </a:br>
            <a:r>
              <a:rPr lang="en-US" altLang="en-US" b="1" dirty="0"/>
              <a:t>               begin</a:t>
            </a:r>
            <a:br>
              <a:rPr lang="en-US" altLang="en-US" b="1" dirty="0"/>
            </a:br>
            <a:r>
              <a:rPr lang="en-US" altLang="en-US" b="1" dirty="0"/>
              <a:t>               declare </a:t>
            </a:r>
            <a:r>
              <a:rPr lang="en-US" altLang="en-US" i="1" dirty="0" err="1"/>
              <a:t>d_count</a:t>
            </a:r>
            <a:r>
              <a:rPr lang="en-US" altLang="en-US" i="1" dirty="0"/>
              <a:t>  </a:t>
            </a:r>
            <a:r>
              <a:rPr lang="en-US" altLang="en-US" b="1" dirty="0"/>
              <a:t>integer;</a:t>
            </a:r>
            <a:br>
              <a:rPr lang="en-US" altLang="en-US" b="1" dirty="0"/>
            </a:br>
            <a:r>
              <a:rPr lang="en-US" altLang="en-US" b="1" dirty="0"/>
              <a:t>                      select count </a:t>
            </a:r>
            <a:r>
              <a:rPr lang="en-US" altLang="en-US" dirty="0"/>
              <a:t>(</a:t>
            </a:r>
            <a:r>
              <a:rPr lang="en-US" altLang="en-US" i="1" dirty="0"/>
              <a:t>* </a:t>
            </a:r>
            <a:r>
              <a:rPr lang="en-US" altLang="en-US" dirty="0"/>
              <a:t>) </a:t>
            </a:r>
            <a:r>
              <a:rPr lang="en-US" altLang="en-US" b="1" dirty="0"/>
              <a:t>into </a:t>
            </a:r>
            <a:r>
              <a:rPr lang="en-US" altLang="en-US" i="1" dirty="0" err="1"/>
              <a:t>d_count</a:t>
            </a:r>
            <a:r>
              <a:rPr lang="en-US" altLang="en-US" i="1" dirty="0"/>
              <a:t/>
            </a:r>
            <a:br>
              <a:rPr lang="en-US" altLang="en-US" i="1" dirty="0"/>
            </a:br>
            <a:r>
              <a:rPr lang="en-US" altLang="en-US" i="1" dirty="0"/>
              <a:t>                      </a:t>
            </a:r>
            <a:r>
              <a:rPr lang="en-US" altLang="en-US" b="1" dirty="0"/>
              <a:t>from </a:t>
            </a:r>
            <a:r>
              <a:rPr lang="en-US" altLang="en-US" i="1" dirty="0"/>
              <a:t>instructor</a:t>
            </a:r>
            <a:br>
              <a:rPr lang="en-US" altLang="en-US" i="1" dirty="0"/>
            </a:br>
            <a:r>
              <a:rPr lang="en-US" altLang="en-US" i="1" dirty="0"/>
              <a:t>                      </a:t>
            </a:r>
            <a:r>
              <a:rPr lang="en-US" altLang="en-US" b="1" dirty="0"/>
              <a:t>where </a:t>
            </a:r>
            <a:r>
              <a:rPr lang="en-US" altLang="en-US" i="1" dirty="0" err="1"/>
              <a:t>instructor.dept_name</a:t>
            </a:r>
            <a:r>
              <a:rPr lang="en-US" altLang="en-US" i="1" dirty="0"/>
              <a:t> = </a:t>
            </a:r>
            <a:r>
              <a:rPr lang="en-US" altLang="en-US" i="1" dirty="0" err="1"/>
              <a:t>dept_name</a:t>
            </a:r>
            <a:r>
              <a:rPr lang="en-US" altLang="en-US" i="1" dirty="0"/>
              <a:t>;</a:t>
            </a:r>
            <a:br>
              <a:rPr lang="en-US" altLang="en-US" i="1" dirty="0"/>
            </a:br>
            <a:r>
              <a:rPr lang="en-US" altLang="en-US" i="1" dirty="0"/>
              <a:t>               </a:t>
            </a:r>
            <a:r>
              <a:rPr lang="en-US" altLang="en-US" b="1" dirty="0"/>
              <a:t>return </a:t>
            </a:r>
            <a:r>
              <a:rPr lang="en-US" altLang="en-US" i="1" dirty="0" err="1"/>
              <a:t>d_count</a:t>
            </a:r>
            <a:r>
              <a:rPr lang="en-US" altLang="en-US" i="1" dirty="0"/>
              <a:t>;</a:t>
            </a:r>
            <a:br>
              <a:rPr lang="en-US" altLang="en-US" i="1" dirty="0"/>
            </a:br>
            <a:r>
              <a:rPr lang="en-US" altLang="en-US" i="1" dirty="0"/>
              <a:t>      	</a:t>
            </a:r>
            <a:r>
              <a:rPr lang="zh-TW" altLang="en-US" i="1" dirty="0"/>
              <a:t>      </a:t>
            </a:r>
            <a:r>
              <a:rPr lang="en-US" altLang="en-US" i="1" dirty="0"/>
              <a:t> </a:t>
            </a:r>
            <a:r>
              <a:rPr lang="en-US" altLang="en-US" b="1" dirty="0"/>
              <a:t>end</a:t>
            </a:r>
          </a:p>
          <a:p>
            <a:pPr>
              <a:tabLst>
                <a:tab pos="803275" algn="l"/>
                <a:tab pos="1370013" algn="l"/>
                <a:tab pos="2112963" algn="l"/>
              </a:tabLst>
            </a:pPr>
            <a:endParaRPr lang="en-US" altLang="en-US" dirty="0"/>
          </a:p>
          <a:p>
            <a:pPr>
              <a:tabLst>
                <a:tab pos="803275" algn="l"/>
                <a:tab pos="1370013" algn="l"/>
                <a:tab pos="2112963" algn="l"/>
              </a:tabLst>
            </a:pPr>
            <a:r>
              <a:rPr lang="en-US" altLang="en-US" dirty="0"/>
              <a:t>The function </a:t>
            </a:r>
            <a:r>
              <a:rPr lang="en-US" altLang="en-US" i="1" dirty="0" err="1"/>
              <a:t>dept_</a:t>
            </a:r>
            <a:r>
              <a:rPr lang="en-US" altLang="en-US" dirty="0" err="1"/>
              <a:t>count</a:t>
            </a:r>
            <a:r>
              <a:rPr lang="en-US" altLang="en-US" dirty="0"/>
              <a:t> can be used to find the department names and budget of all departments with more than 12 instructors.</a:t>
            </a:r>
          </a:p>
          <a:p>
            <a:pPr>
              <a:buFont typeface="Monotype Sorts" charset="2"/>
              <a:buNone/>
              <a:tabLst>
                <a:tab pos="803275" algn="l"/>
                <a:tab pos="1370013" algn="l"/>
                <a:tab pos="2112963" algn="l"/>
              </a:tabLst>
            </a:pPr>
            <a:r>
              <a:rPr lang="en-US" altLang="en-US" dirty="0"/>
              <a:t>		</a:t>
            </a:r>
            <a:r>
              <a:rPr lang="en-US" altLang="en-US" b="1" dirty="0"/>
              <a:t>select </a:t>
            </a:r>
            <a:r>
              <a:rPr lang="en-US" altLang="en-US" i="1" dirty="0" err="1"/>
              <a:t>dept_name</a:t>
            </a:r>
            <a:r>
              <a:rPr lang="en-US" altLang="en-US" i="1" dirty="0"/>
              <a:t>, budget</a:t>
            </a:r>
            <a:br>
              <a:rPr lang="en-US" altLang="en-US" i="1" dirty="0"/>
            </a:br>
            <a:r>
              <a:rPr lang="en-US" altLang="en-US" i="1" dirty="0"/>
              <a:t>	</a:t>
            </a:r>
            <a:r>
              <a:rPr lang="en-US" altLang="en-US" b="1" dirty="0"/>
              <a:t>from</a:t>
            </a:r>
            <a:r>
              <a:rPr lang="en-US" altLang="en-US" i="1" dirty="0"/>
              <a:t> department</a:t>
            </a:r>
            <a:br>
              <a:rPr lang="en-US" altLang="en-US" i="1" dirty="0"/>
            </a:br>
            <a:r>
              <a:rPr lang="en-US" altLang="en-US" i="1" dirty="0"/>
              <a:t>	</a:t>
            </a:r>
            <a:r>
              <a:rPr lang="en-US" altLang="en-US" b="1" dirty="0"/>
              <a:t>where </a:t>
            </a:r>
            <a:r>
              <a:rPr lang="en-US" altLang="en-US" i="1" dirty="0" err="1"/>
              <a:t>dept_</a:t>
            </a:r>
            <a:r>
              <a:rPr lang="en-US" altLang="en-US" dirty="0" err="1"/>
              <a:t>count</a:t>
            </a:r>
            <a:r>
              <a:rPr lang="en-US" altLang="en-US" dirty="0"/>
              <a:t> (</a:t>
            </a:r>
            <a:r>
              <a:rPr lang="en-US" altLang="en-US" i="1" dirty="0" err="1"/>
              <a:t>dept_name</a:t>
            </a:r>
            <a:r>
              <a:rPr lang="en-US" altLang="en-US" i="1" dirty="0"/>
              <a:t> </a:t>
            </a:r>
            <a:r>
              <a:rPr lang="en-US" altLang="en-US" dirty="0"/>
              <a:t>) &gt; 12;</a:t>
            </a:r>
          </a:p>
          <a:p>
            <a:pPr>
              <a:tabLst>
                <a:tab pos="803275" algn="l"/>
                <a:tab pos="1370013" algn="l"/>
                <a:tab pos="2112963" algn="l"/>
              </a:tabLst>
            </a:pPr>
            <a:r>
              <a:rPr lang="zh-TW" altLang="en-US" dirty="0"/>
              <a:t>函數可直接用在</a:t>
            </a:r>
            <a:r>
              <a:rPr lang="en-US" altLang="zh-TW" dirty="0"/>
              <a:t>select</a:t>
            </a:r>
            <a:r>
              <a:rPr lang="zh-TW" altLang="en-US" dirty="0"/>
              <a:t>和</a:t>
            </a:r>
            <a:r>
              <a:rPr lang="en-US" altLang="zh-TW" dirty="0"/>
              <a:t>where</a:t>
            </a:r>
            <a:r>
              <a:rPr lang="zh-TW" altLang="en-US" dirty="0"/>
              <a:t>裡。</a:t>
            </a:r>
            <a:endParaRPr lang="en-US" altLang="en-US" dirty="0"/>
          </a:p>
        </p:txBody>
      </p:sp>
      <p:cxnSp>
        <p:nvCxnSpPr>
          <p:cNvPr id="4" name="直線單箭頭接點 4"/>
          <p:cNvCxnSpPr>
            <a:cxnSpLocks noChangeShapeType="1"/>
          </p:cNvCxnSpPr>
          <p:nvPr/>
        </p:nvCxnSpPr>
        <p:spPr bwMode="auto">
          <a:xfrm flipH="1" flipV="1">
            <a:off x="5311775" y="1973716"/>
            <a:ext cx="682625" cy="1365250"/>
          </a:xfrm>
          <a:prstGeom prst="straightConnector1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F620E5F5-20CA-49C2-AB32-C0A08B627788}"/>
              </a:ext>
            </a:extLst>
          </p:cNvPr>
          <p:cNvSpPr/>
          <p:nvPr/>
        </p:nvSpPr>
        <p:spPr>
          <a:xfrm>
            <a:off x="4656137" y="3519035"/>
            <a:ext cx="4039456" cy="58477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dirty="0">
                <a:ea typeface="新細明體" panose="02020500000000000000" pitchFamily="18" charset="-120"/>
              </a:rPr>
              <a:t>instructor (</a:t>
            </a:r>
            <a:r>
              <a:rPr lang="en-US" altLang="zh-TW" u="sng" dirty="0">
                <a:ea typeface="新細明體" panose="02020500000000000000" pitchFamily="18" charset="-120"/>
              </a:rPr>
              <a:t>ID,</a:t>
            </a:r>
            <a:r>
              <a:rPr lang="en-US" altLang="zh-TW" dirty="0">
                <a:ea typeface="新細明體" panose="02020500000000000000" pitchFamily="18" charset="-120"/>
              </a:rPr>
              <a:t> name, </a:t>
            </a:r>
            <a:r>
              <a:rPr lang="en-US" altLang="zh-TW" dirty="0" err="1">
                <a:ea typeface="新細明體" panose="02020500000000000000" pitchFamily="18" charset="-120"/>
              </a:rPr>
              <a:t>dept_name</a:t>
            </a:r>
            <a:r>
              <a:rPr lang="en-US" altLang="zh-TW" dirty="0">
                <a:ea typeface="新細明體" panose="02020500000000000000" pitchFamily="18" charset="-120"/>
              </a:rPr>
              <a:t>, salary)</a:t>
            </a:r>
          </a:p>
          <a:p>
            <a:r>
              <a:rPr lang="en-US" altLang="zh-TW" dirty="0">
                <a:ea typeface="新細明體" panose="02020500000000000000" pitchFamily="18" charset="-120"/>
              </a:rPr>
              <a:t>department (</a:t>
            </a:r>
            <a:r>
              <a:rPr lang="en-US" altLang="zh-TW" u="sng" dirty="0" err="1">
                <a:ea typeface="新細明體" panose="02020500000000000000" pitchFamily="18" charset="-120"/>
              </a:rPr>
              <a:t>dept_name</a:t>
            </a:r>
            <a:r>
              <a:rPr lang="en-US" altLang="zh-TW" dirty="0">
                <a:ea typeface="新細明體" panose="02020500000000000000" pitchFamily="18" charset="-120"/>
              </a:rPr>
              <a:t>, building, budget)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latin typeface="新細明體" panose="02020500000000000000" pitchFamily="18" charset="-120"/>
                <a:ea typeface="新細明體" panose="02020500000000000000" pitchFamily="18" charset="-120"/>
              </a:rPr>
              <a:t>※ 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Table Functions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30300"/>
            <a:ext cx="8362950" cy="5508625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The SQL standard supports functions that can return tables as results; such functions are called </a:t>
            </a:r>
            <a:r>
              <a:rPr lang="en-US" altLang="en-US" b="1" dirty="0">
                <a:solidFill>
                  <a:srgbClr val="002060"/>
                </a:solidFill>
              </a:rPr>
              <a:t>table functions</a:t>
            </a:r>
          </a:p>
          <a:p>
            <a:pPr>
              <a:defRPr/>
            </a:pPr>
            <a:r>
              <a:rPr lang="en-US" altLang="en-US" dirty="0"/>
              <a:t>Example: Return all instructors in a given department</a:t>
            </a:r>
          </a:p>
          <a:p>
            <a:pPr>
              <a:buFont typeface="Monotype Sorts" charset="2"/>
              <a:buNone/>
              <a:defRPr/>
            </a:pPr>
            <a:r>
              <a:rPr lang="en-US" altLang="en-US" dirty="0"/>
              <a:t>	</a:t>
            </a:r>
            <a:r>
              <a:rPr lang="en-US" altLang="en-US" b="1" dirty="0"/>
              <a:t>create</a:t>
            </a:r>
            <a:r>
              <a:rPr lang="en-US" altLang="en-US" dirty="0"/>
              <a:t> </a:t>
            </a:r>
            <a:r>
              <a:rPr lang="en-US" altLang="en-US" b="1" dirty="0"/>
              <a:t>function</a:t>
            </a:r>
            <a:r>
              <a:rPr lang="en-US" altLang="en-US" dirty="0"/>
              <a:t> </a:t>
            </a:r>
            <a:r>
              <a:rPr lang="en-US" altLang="en-US" i="1" dirty="0" err="1"/>
              <a:t>instructor_of</a:t>
            </a:r>
            <a:r>
              <a:rPr lang="en-US" altLang="en-US" dirty="0"/>
              <a:t> (</a:t>
            </a:r>
            <a:r>
              <a:rPr lang="en-US" altLang="en-US" i="1" dirty="0"/>
              <a:t>dept_name</a:t>
            </a:r>
            <a:r>
              <a:rPr lang="en-US" altLang="en-US" dirty="0"/>
              <a:t> </a:t>
            </a:r>
            <a:r>
              <a:rPr lang="en-US" altLang="en-US" b="1" dirty="0"/>
              <a:t>char</a:t>
            </a:r>
            <a:r>
              <a:rPr lang="en-US" altLang="en-US" dirty="0"/>
              <a:t>(20))</a:t>
            </a:r>
          </a:p>
          <a:p>
            <a:pPr>
              <a:buFont typeface="Monotype Sorts" charset="2"/>
              <a:buNone/>
              <a:defRPr/>
            </a:pPr>
            <a:r>
              <a:rPr lang="en-US" altLang="en-US" dirty="0"/>
              <a:t>		</a:t>
            </a:r>
            <a:r>
              <a:rPr lang="en-US" altLang="en-US" b="1" dirty="0"/>
              <a:t>returns</a:t>
            </a:r>
            <a:r>
              <a:rPr lang="en-US" altLang="en-US" dirty="0"/>
              <a:t> </a:t>
            </a:r>
            <a:r>
              <a:rPr lang="en-US" altLang="en-US" b="1" dirty="0"/>
              <a:t>table  </a:t>
            </a:r>
            <a:r>
              <a:rPr lang="en-US" altLang="en-US" dirty="0"/>
              <a:t>(</a:t>
            </a:r>
            <a:r>
              <a:rPr lang="en-US" altLang="en-US" b="1" dirty="0"/>
              <a:t> </a:t>
            </a:r>
            <a:r>
              <a:rPr lang="en-US" altLang="en-US" dirty="0"/>
              <a:t> </a:t>
            </a:r>
          </a:p>
          <a:p>
            <a:pPr>
              <a:buFont typeface="Monotype Sorts" charset="2"/>
              <a:buNone/>
              <a:defRPr/>
            </a:pPr>
            <a:r>
              <a:rPr lang="en-US" altLang="en-US" dirty="0"/>
              <a:t>                        </a:t>
            </a:r>
            <a:r>
              <a:rPr lang="en-US" altLang="en-US" i="1" dirty="0"/>
              <a:t>ID </a:t>
            </a:r>
            <a:r>
              <a:rPr lang="en-US" altLang="en-US" b="1" dirty="0" err="1"/>
              <a:t>varchar</a:t>
            </a:r>
            <a:r>
              <a:rPr lang="en-US" altLang="en-US" dirty="0"/>
              <a:t>(5),</a:t>
            </a:r>
            <a:br>
              <a:rPr lang="en-US" altLang="en-US" dirty="0"/>
            </a:br>
            <a:r>
              <a:rPr lang="en-US" altLang="en-US" dirty="0"/>
              <a:t>	          </a:t>
            </a:r>
            <a:r>
              <a:rPr lang="en-US" altLang="en-US" i="1" dirty="0"/>
              <a:t>name</a:t>
            </a:r>
            <a:r>
              <a:rPr lang="en-US" altLang="en-US" dirty="0"/>
              <a:t> </a:t>
            </a:r>
            <a:r>
              <a:rPr lang="en-US" altLang="en-US" b="1" dirty="0" err="1"/>
              <a:t>varchar</a:t>
            </a:r>
            <a:r>
              <a:rPr lang="en-US" altLang="en-US" dirty="0"/>
              <a:t>(20),</a:t>
            </a:r>
            <a:br>
              <a:rPr lang="en-US" altLang="en-US" dirty="0"/>
            </a:br>
            <a:r>
              <a:rPr lang="en-US" altLang="en-US" dirty="0"/>
              <a:t>                   </a:t>
            </a:r>
            <a:r>
              <a:rPr lang="en-US" altLang="en-US" i="1" dirty="0"/>
              <a:t>dept_name</a:t>
            </a:r>
            <a:r>
              <a:rPr lang="en-US" altLang="en-US" dirty="0"/>
              <a:t> </a:t>
            </a:r>
            <a:r>
              <a:rPr lang="en-US" altLang="en-US" b="1" dirty="0" err="1"/>
              <a:t>varchar</a:t>
            </a:r>
            <a:r>
              <a:rPr lang="en-US" altLang="en-US" dirty="0"/>
              <a:t>(20),</a:t>
            </a:r>
            <a:br>
              <a:rPr lang="en-US" altLang="en-US" dirty="0"/>
            </a:br>
            <a:r>
              <a:rPr lang="en-US" altLang="en-US" dirty="0"/>
              <a:t>	          </a:t>
            </a:r>
            <a:r>
              <a:rPr lang="en-US" altLang="en-US" i="1" dirty="0"/>
              <a:t>salary</a:t>
            </a:r>
            <a:r>
              <a:rPr lang="en-US" altLang="en-US" dirty="0"/>
              <a:t> </a:t>
            </a:r>
            <a:r>
              <a:rPr lang="en-US" altLang="en-US" b="1" dirty="0"/>
              <a:t>numeric</a:t>
            </a:r>
            <a:r>
              <a:rPr lang="en-US" altLang="en-US" dirty="0"/>
              <a:t>(8,2))</a:t>
            </a:r>
          </a:p>
          <a:p>
            <a:pPr>
              <a:buFont typeface="Monotype Sorts" charset="2"/>
              <a:buNone/>
              <a:defRPr/>
            </a:pPr>
            <a:r>
              <a:rPr lang="en-US" altLang="en-US" dirty="0"/>
              <a:t>	         </a:t>
            </a:r>
            <a:r>
              <a:rPr lang="en-US" altLang="en-US" b="1" dirty="0"/>
              <a:t>return</a:t>
            </a:r>
            <a:r>
              <a:rPr lang="en-US" altLang="en-US" dirty="0"/>
              <a:t> </a:t>
            </a:r>
            <a:r>
              <a:rPr lang="en-US" altLang="en-US" b="1" dirty="0"/>
              <a:t>table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	         (</a:t>
            </a:r>
            <a:r>
              <a:rPr lang="en-US" altLang="en-US" b="1" dirty="0"/>
              <a:t>select</a:t>
            </a:r>
            <a:r>
              <a:rPr lang="en-US" altLang="en-US" dirty="0"/>
              <a:t> </a:t>
            </a:r>
            <a:r>
              <a:rPr lang="en-US" altLang="en-US" i="1" dirty="0"/>
              <a:t>ID, name, dept_name, salary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	          </a:t>
            </a:r>
            <a:r>
              <a:rPr lang="en-US" altLang="en-US" b="1" dirty="0"/>
              <a:t>from</a:t>
            </a:r>
            <a:r>
              <a:rPr lang="en-US" altLang="en-US" dirty="0"/>
              <a:t> </a:t>
            </a:r>
            <a:r>
              <a:rPr lang="en-US" altLang="en-US" i="1" dirty="0"/>
              <a:t>instructor</a:t>
            </a:r>
            <a:br>
              <a:rPr lang="en-US" altLang="en-US" i="1" dirty="0"/>
            </a:br>
            <a:r>
              <a:rPr lang="en-US" altLang="en-US" dirty="0"/>
              <a:t>	          </a:t>
            </a:r>
            <a:r>
              <a:rPr lang="en-US" altLang="en-US" b="1" dirty="0"/>
              <a:t>where</a:t>
            </a:r>
            <a:r>
              <a:rPr lang="en-US" altLang="en-US" i="1" dirty="0"/>
              <a:t> </a:t>
            </a:r>
            <a:r>
              <a:rPr lang="en-US" altLang="en-US" i="1" dirty="0" err="1"/>
              <a:t>instructor.dept_name</a:t>
            </a:r>
            <a:r>
              <a:rPr lang="en-US" altLang="en-US" i="1" dirty="0"/>
              <a:t> = </a:t>
            </a:r>
            <a:r>
              <a:rPr lang="en-US" altLang="en-US" i="1" dirty="0" err="1"/>
              <a:t>instructor_of.dept_name</a:t>
            </a:r>
            <a:r>
              <a:rPr lang="en-US" altLang="en-US" dirty="0"/>
              <a:t>);</a:t>
            </a:r>
          </a:p>
          <a:p>
            <a:pPr>
              <a:defRPr/>
            </a:pPr>
            <a:r>
              <a:rPr lang="en-US" altLang="en-US" dirty="0"/>
              <a:t>Usage</a:t>
            </a:r>
          </a:p>
          <a:p>
            <a:pPr>
              <a:buFont typeface="Monotype Sorts" charset="2"/>
              <a:buNone/>
              <a:defRPr/>
            </a:pPr>
            <a:r>
              <a:rPr lang="en-US" altLang="en-US" dirty="0"/>
              <a:t>		</a:t>
            </a:r>
            <a:r>
              <a:rPr lang="en-US" altLang="en-US" b="1" dirty="0"/>
              <a:t>select *</a:t>
            </a:r>
            <a:br>
              <a:rPr lang="en-US" altLang="en-US" b="1" dirty="0"/>
            </a:br>
            <a:r>
              <a:rPr lang="en-US" altLang="en-US" b="1" dirty="0"/>
              <a:t>	from table </a:t>
            </a:r>
            <a:r>
              <a:rPr lang="en-US" altLang="en-US" dirty="0"/>
              <a:t>(</a:t>
            </a:r>
            <a:r>
              <a:rPr lang="en-US" altLang="en-US" i="1" dirty="0" err="1"/>
              <a:t>instructor_of</a:t>
            </a:r>
            <a:r>
              <a:rPr lang="en-US" altLang="en-US" i="1" dirty="0"/>
              <a:t> </a:t>
            </a:r>
            <a:r>
              <a:rPr lang="en-US" altLang="en-US" dirty="0"/>
              <a:t>(</a:t>
            </a:r>
            <a:r>
              <a:rPr lang="en-US" altLang="ja-JP" dirty="0"/>
              <a:t>'Music'));</a:t>
            </a:r>
            <a:endParaRPr lang="en-US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SQL Procedures</a:t>
            </a:r>
            <a:endParaRPr lang="en-US" altLang="en-US" sz="32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170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093790"/>
            <a:ext cx="7780845" cy="4903787"/>
          </a:xfrm>
        </p:spPr>
        <p:txBody>
          <a:bodyPr lIns="91440"/>
          <a:lstStyle/>
          <a:p>
            <a:r>
              <a:rPr lang="en-US" altLang="en-US" dirty="0"/>
              <a:t>The </a:t>
            </a:r>
            <a:r>
              <a:rPr lang="en-US" altLang="en-US" i="1" dirty="0" err="1"/>
              <a:t>dept_count</a:t>
            </a:r>
            <a:r>
              <a:rPr lang="en-US" altLang="en-US" i="1" dirty="0"/>
              <a:t> </a:t>
            </a:r>
            <a:r>
              <a:rPr lang="en-US" altLang="en-US" dirty="0"/>
              <a:t>function could instead be written as procedure:</a:t>
            </a:r>
          </a:p>
          <a:p>
            <a:pPr>
              <a:buFont typeface="Monotype Sorts" charset="2"/>
              <a:buNone/>
            </a:pPr>
            <a:r>
              <a:rPr lang="en-US" altLang="en-US" b="1" dirty="0"/>
              <a:t>	create procedure </a:t>
            </a:r>
            <a:r>
              <a:rPr lang="en-US" altLang="en-US" i="1" dirty="0" err="1"/>
              <a:t>dept_count_proc</a:t>
            </a:r>
            <a:r>
              <a:rPr lang="en-US" altLang="en-US" i="1" dirty="0"/>
              <a:t> </a:t>
            </a:r>
            <a:r>
              <a:rPr lang="en-US" altLang="en-US" dirty="0"/>
              <a:t>(</a:t>
            </a:r>
            <a:r>
              <a:rPr lang="en-US" altLang="en-US" b="1" dirty="0"/>
              <a:t>in </a:t>
            </a:r>
            <a:r>
              <a:rPr lang="en-US" altLang="en-US" i="1" dirty="0"/>
              <a:t>dept_name </a:t>
            </a:r>
            <a:r>
              <a:rPr lang="en-US" altLang="en-US" b="1" dirty="0" err="1"/>
              <a:t>varchar</a:t>
            </a:r>
            <a:r>
              <a:rPr lang="en-US" altLang="en-US" dirty="0"/>
              <a:t>(20), </a:t>
            </a:r>
            <a:br>
              <a:rPr lang="en-US" altLang="en-US" dirty="0"/>
            </a:br>
            <a:r>
              <a:rPr lang="en-US" altLang="en-US" dirty="0"/>
              <a:t>                                                           </a:t>
            </a:r>
            <a:r>
              <a:rPr lang="en-US" altLang="en-US" b="1" dirty="0"/>
              <a:t>out </a:t>
            </a:r>
            <a:r>
              <a:rPr lang="en-US" altLang="en-US" i="1" dirty="0" err="1"/>
              <a:t>d_count</a:t>
            </a:r>
            <a:r>
              <a:rPr lang="en-US" altLang="en-US" i="1" dirty="0"/>
              <a:t> </a:t>
            </a:r>
            <a:r>
              <a:rPr lang="en-US" altLang="en-US" b="1" dirty="0"/>
              <a:t>integer)</a:t>
            </a:r>
            <a:br>
              <a:rPr lang="en-US" altLang="en-US" b="1" dirty="0"/>
            </a:br>
            <a:r>
              <a:rPr lang="en-US" altLang="en-US" b="1" dirty="0"/>
              <a:t>   begin</a:t>
            </a:r>
          </a:p>
          <a:p>
            <a:pPr>
              <a:buFont typeface="Monotype Sorts" charset="2"/>
              <a:buNone/>
            </a:pPr>
            <a:r>
              <a:rPr lang="en-US" altLang="en-US" b="1" dirty="0"/>
              <a:t>	       select count</a:t>
            </a:r>
            <a:r>
              <a:rPr lang="en-US" altLang="en-US" dirty="0"/>
              <a:t>(</a:t>
            </a:r>
            <a:r>
              <a:rPr lang="en-US" altLang="en-US" i="1" dirty="0"/>
              <a:t>*</a:t>
            </a:r>
            <a:r>
              <a:rPr lang="en-US" altLang="en-US" dirty="0"/>
              <a:t>) </a:t>
            </a:r>
            <a:r>
              <a:rPr lang="en-US" altLang="en-US" b="1" dirty="0"/>
              <a:t>into </a:t>
            </a:r>
            <a:r>
              <a:rPr lang="en-US" altLang="en-US" i="1" dirty="0" err="1"/>
              <a:t>d_count</a:t>
            </a:r>
            <a:r>
              <a:rPr lang="en-US" altLang="en-US" i="1" dirty="0"/>
              <a:t/>
            </a:r>
            <a:br>
              <a:rPr lang="en-US" altLang="en-US" i="1" dirty="0"/>
            </a:br>
            <a:r>
              <a:rPr lang="en-US" altLang="en-US" i="1" dirty="0"/>
              <a:t>       </a:t>
            </a:r>
            <a:r>
              <a:rPr lang="en-US" altLang="en-US" b="1" dirty="0"/>
              <a:t>from </a:t>
            </a:r>
            <a:r>
              <a:rPr lang="en-US" altLang="en-US" i="1" dirty="0"/>
              <a:t>instructor</a:t>
            </a:r>
            <a:br>
              <a:rPr lang="en-US" altLang="en-US" i="1" dirty="0"/>
            </a:br>
            <a:r>
              <a:rPr lang="en-US" altLang="en-US" i="1" dirty="0"/>
              <a:t>       </a:t>
            </a:r>
            <a:r>
              <a:rPr lang="en-US" altLang="en-US" b="1" dirty="0"/>
              <a:t>where </a:t>
            </a:r>
            <a:r>
              <a:rPr lang="en-US" altLang="en-US" i="1" dirty="0" err="1"/>
              <a:t>instructor.dept_name</a:t>
            </a:r>
            <a:r>
              <a:rPr lang="en-US" altLang="en-US" i="1" dirty="0"/>
              <a:t> = </a:t>
            </a:r>
            <a:r>
              <a:rPr lang="en-US" altLang="en-US" i="1" dirty="0" err="1"/>
              <a:t>dept_count_proc.dept_name</a:t>
            </a:r>
            <a:endParaRPr lang="en-US" altLang="en-US" i="1" dirty="0"/>
          </a:p>
          <a:p>
            <a:pPr>
              <a:buFont typeface="Monotype Sorts" charset="2"/>
              <a:buNone/>
            </a:pPr>
            <a:r>
              <a:rPr lang="en-US" altLang="en-US" i="1" dirty="0"/>
              <a:t>        </a:t>
            </a:r>
            <a:r>
              <a:rPr lang="en-US" altLang="en-US" b="1" dirty="0"/>
              <a:t>end</a:t>
            </a:r>
            <a:endParaRPr lang="en-US" altLang="en-US" dirty="0"/>
          </a:p>
          <a:p>
            <a:r>
              <a:rPr lang="en-US" altLang="en-US" dirty="0"/>
              <a:t>The keywords </a:t>
            </a:r>
            <a:r>
              <a:rPr lang="en-US" altLang="en-US" b="1" dirty="0"/>
              <a:t>in</a:t>
            </a:r>
            <a:r>
              <a:rPr lang="en-US" altLang="en-US" dirty="0"/>
              <a:t> and  </a:t>
            </a:r>
            <a:r>
              <a:rPr lang="en-US" altLang="en-US" b="1" dirty="0"/>
              <a:t>out  </a:t>
            </a:r>
            <a:r>
              <a:rPr lang="en-US" altLang="en-US" dirty="0"/>
              <a:t>are parameters that are expected to have values assigned to them and parameters whose values are set in the procedure in order to return results.</a:t>
            </a:r>
          </a:p>
          <a:p>
            <a:r>
              <a:rPr lang="en-US" altLang="en-US" dirty="0"/>
              <a:t>Procedures can be invoked either from an SQL procedure or from embedded SQL, using the </a:t>
            </a:r>
            <a:r>
              <a:rPr lang="en-US" altLang="en-US" b="1" dirty="0"/>
              <a:t>call</a:t>
            </a:r>
            <a:r>
              <a:rPr lang="en-US" altLang="en-US" dirty="0"/>
              <a:t> statement.</a:t>
            </a:r>
          </a:p>
          <a:p>
            <a:pPr>
              <a:buFont typeface="Monotype Sorts" charset="2"/>
              <a:buNone/>
            </a:pPr>
            <a:r>
              <a:rPr lang="en-US" altLang="en-US" b="1" dirty="0"/>
              <a:t>		declare </a:t>
            </a:r>
            <a:r>
              <a:rPr lang="en-US" altLang="en-US" i="1" dirty="0" err="1"/>
              <a:t>d_count</a:t>
            </a:r>
            <a:r>
              <a:rPr lang="en-US" altLang="en-US" i="1" dirty="0"/>
              <a:t> </a:t>
            </a:r>
            <a:r>
              <a:rPr lang="en-US" altLang="en-US" b="1" dirty="0"/>
              <a:t>integer</a:t>
            </a:r>
            <a:r>
              <a:rPr lang="en-US" altLang="en-US" dirty="0"/>
              <a:t>;</a:t>
            </a:r>
            <a:br>
              <a:rPr lang="en-US" altLang="en-US" dirty="0"/>
            </a:br>
            <a:r>
              <a:rPr lang="en-US" altLang="en-US" dirty="0"/>
              <a:t>	</a:t>
            </a:r>
            <a:r>
              <a:rPr lang="en-US" altLang="en-US" b="1" dirty="0"/>
              <a:t>call </a:t>
            </a:r>
            <a:r>
              <a:rPr lang="en-US" altLang="en-US" i="1" dirty="0" err="1"/>
              <a:t>dept_count_proc</a:t>
            </a:r>
            <a:r>
              <a:rPr lang="en-US" altLang="en-US" dirty="0"/>
              <a:t>( </a:t>
            </a:r>
            <a:r>
              <a:rPr lang="en-US" altLang="ja-JP" dirty="0"/>
              <a:t>'Physics', </a:t>
            </a:r>
            <a:r>
              <a:rPr lang="en-US" altLang="ja-JP" i="1" dirty="0" err="1"/>
              <a:t>d_count</a:t>
            </a:r>
            <a:r>
              <a:rPr lang="en-US" altLang="ja-JP" dirty="0"/>
              <a:t>);</a:t>
            </a:r>
          </a:p>
          <a:p>
            <a:r>
              <a:rPr lang="zh-TW" altLang="en-US" dirty="0"/>
              <a:t>補充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SQL Server</a:t>
            </a:r>
            <a:r>
              <a:rPr lang="zh-TW" altLang="en-US" dirty="0"/>
              <a:t>和</a:t>
            </a:r>
            <a:r>
              <a:rPr lang="en-US" altLang="zh-TW" dirty="0"/>
              <a:t>MySQL</a:t>
            </a:r>
            <a:r>
              <a:rPr lang="zh-TW" altLang="en-US" dirty="0"/>
              <a:t>支援</a:t>
            </a:r>
            <a:r>
              <a:rPr lang="en-US" altLang="zh-TW" dirty="0"/>
              <a:t>stored procedure. </a:t>
            </a:r>
            <a:endParaRPr lang="en-US" altLang="ja-JP" dirty="0"/>
          </a:p>
          <a:p>
            <a:pPr>
              <a:buFont typeface="Monotype Sorts" charset="2"/>
              <a:buNone/>
            </a:pPr>
            <a:r>
              <a:rPr lang="en-US" altLang="en-US" dirty="0"/>
              <a:t>	</a:t>
            </a:r>
          </a:p>
          <a:p>
            <a:pPr indent="-365760"/>
            <a:endParaRPr lang="en-US" altLang="en-US" dirty="0"/>
          </a:p>
        </p:txBody>
      </p:sp>
      <p:cxnSp>
        <p:nvCxnSpPr>
          <p:cNvPr id="4" name="直線單箭頭接點 4"/>
          <p:cNvCxnSpPr>
            <a:cxnSpLocks noChangeShapeType="1"/>
          </p:cNvCxnSpPr>
          <p:nvPr/>
        </p:nvCxnSpPr>
        <p:spPr bwMode="auto">
          <a:xfrm rot="16200000" flipV="1">
            <a:off x="5701526" y="1979548"/>
            <a:ext cx="1219200" cy="652462"/>
          </a:xfrm>
          <a:prstGeom prst="straightConnector1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Language Constructs for Procedures &amp; Functions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093790"/>
            <a:ext cx="7727580" cy="5074998"/>
          </a:xfrm>
        </p:spPr>
        <p:txBody>
          <a:bodyPr lIns="91440"/>
          <a:lstStyle/>
          <a:p>
            <a:pPr>
              <a:defRPr/>
            </a:pPr>
            <a:r>
              <a:rPr lang="en-US" altLang="en-US" dirty="0"/>
              <a:t>SQL supports constructs that gives it almost all the power of a general-purpose programming language.</a:t>
            </a:r>
          </a:p>
          <a:p>
            <a:pPr lvl="1">
              <a:defRPr/>
            </a:pPr>
            <a:r>
              <a:rPr lang="en-US" altLang="en-US" dirty="0">
                <a:ea typeface="ＭＳ Ｐゴシック" pitchFamily="34" charset="-128"/>
              </a:rPr>
              <a:t>Warning: most database systems implement their own variant of the standard syntax below.</a:t>
            </a:r>
          </a:p>
          <a:p>
            <a:pPr>
              <a:defRPr/>
            </a:pPr>
            <a:r>
              <a:rPr lang="en-US" altLang="en-US" dirty="0"/>
              <a:t>Compound statement: </a:t>
            </a:r>
            <a:r>
              <a:rPr lang="en-US" altLang="en-US" b="1" dirty="0"/>
              <a:t>begin</a:t>
            </a:r>
            <a:r>
              <a:rPr lang="en-US" altLang="en-US" dirty="0"/>
              <a:t> … </a:t>
            </a:r>
            <a:r>
              <a:rPr lang="en-US" altLang="en-US" b="1" dirty="0"/>
              <a:t>end,</a:t>
            </a:r>
            <a:r>
              <a:rPr lang="en-US" altLang="en-US" dirty="0"/>
              <a:t> </a:t>
            </a:r>
          </a:p>
          <a:p>
            <a:pPr lvl="1">
              <a:defRPr/>
            </a:pPr>
            <a:r>
              <a:rPr lang="en-US" altLang="en-US" dirty="0">
                <a:ea typeface="ＭＳ Ｐゴシック" pitchFamily="34" charset="-128"/>
              </a:rPr>
              <a:t>May contain multiple SQL statements between </a:t>
            </a:r>
            <a:r>
              <a:rPr lang="en-US" altLang="en-US" b="1" dirty="0">
                <a:ea typeface="ＭＳ Ｐゴシック" pitchFamily="34" charset="-128"/>
              </a:rPr>
              <a:t>begin</a:t>
            </a:r>
            <a:r>
              <a:rPr lang="en-US" altLang="en-US" dirty="0">
                <a:ea typeface="ＭＳ Ｐゴシック" pitchFamily="34" charset="-128"/>
              </a:rPr>
              <a:t> and </a:t>
            </a:r>
            <a:r>
              <a:rPr lang="en-US" altLang="en-US" b="1" dirty="0">
                <a:ea typeface="ＭＳ Ｐゴシック" pitchFamily="34" charset="-128"/>
              </a:rPr>
              <a:t>end</a:t>
            </a:r>
            <a:r>
              <a:rPr lang="en-US" altLang="en-US" dirty="0">
                <a:ea typeface="ＭＳ Ｐゴシック" pitchFamily="34" charset="-128"/>
              </a:rPr>
              <a:t>.</a:t>
            </a:r>
          </a:p>
          <a:p>
            <a:pPr lvl="1">
              <a:defRPr/>
            </a:pPr>
            <a:r>
              <a:rPr lang="en-US" altLang="en-US" dirty="0">
                <a:ea typeface="ＭＳ Ｐゴシック" pitchFamily="34" charset="-128"/>
              </a:rPr>
              <a:t>Local variables can be declared within a compound statements</a:t>
            </a:r>
          </a:p>
          <a:p>
            <a:pPr>
              <a:defRPr/>
            </a:pPr>
            <a:r>
              <a:rPr lang="en-US" altLang="en-US" dirty="0"/>
              <a:t>While and repeat statements:</a:t>
            </a:r>
          </a:p>
          <a:p>
            <a:pPr lvl="1">
              <a:defRPr/>
            </a:pPr>
            <a:r>
              <a:rPr lang="en-US" altLang="en-US" dirty="0">
                <a:ea typeface="ＭＳ Ｐゴシック" pitchFamily="34" charset="-128"/>
              </a:rPr>
              <a:t>  </a:t>
            </a:r>
            <a:r>
              <a:rPr lang="en-US" altLang="en-US" b="1" dirty="0">
                <a:ea typeface="ＭＳ Ｐゴシック" pitchFamily="34" charset="-128"/>
              </a:rPr>
              <a:t>while</a:t>
            </a:r>
            <a:r>
              <a:rPr lang="en-US" altLang="en-US" dirty="0">
                <a:ea typeface="ＭＳ Ｐゴシック" pitchFamily="34" charset="-128"/>
              </a:rPr>
              <a:t> </a:t>
            </a:r>
            <a:r>
              <a:rPr lang="en-US" altLang="en-US" dirty="0" err="1">
                <a:ea typeface="ＭＳ Ｐゴシック" pitchFamily="34" charset="-128"/>
              </a:rPr>
              <a:t>boolean</a:t>
            </a:r>
            <a:r>
              <a:rPr lang="en-US" altLang="en-US" dirty="0">
                <a:ea typeface="ＭＳ Ｐゴシック" pitchFamily="34" charset="-128"/>
              </a:rPr>
              <a:t> expression  </a:t>
            </a:r>
            <a:r>
              <a:rPr lang="en-US" altLang="en-US" b="1" dirty="0">
                <a:ea typeface="ＭＳ Ｐゴシック" pitchFamily="34" charset="-128"/>
              </a:rPr>
              <a:t>do</a:t>
            </a:r>
          </a:p>
          <a:p>
            <a:pPr lvl="2">
              <a:lnSpc>
                <a:spcPct val="70000"/>
              </a:lnSpc>
              <a:buFont typeface="Webdings" panose="05030102010509060703" pitchFamily="18" charset="2"/>
              <a:buNone/>
              <a:defRPr/>
            </a:pPr>
            <a:r>
              <a:rPr lang="en-US" altLang="en-US" dirty="0">
                <a:ea typeface="ＭＳ Ｐゴシック" pitchFamily="34" charset="-128"/>
              </a:rPr>
              <a:t>           sequence of statements ;</a:t>
            </a:r>
          </a:p>
          <a:p>
            <a:pPr lvl="1">
              <a:lnSpc>
                <a:spcPct val="70000"/>
              </a:lnSpc>
              <a:buFont typeface="Monotype Sorts" charset="2"/>
              <a:buNone/>
              <a:defRPr/>
            </a:pPr>
            <a:r>
              <a:rPr lang="en-US" altLang="en-US" dirty="0">
                <a:ea typeface="ＭＳ Ｐゴシック" pitchFamily="34" charset="-128"/>
              </a:rPr>
              <a:t>		</a:t>
            </a:r>
            <a:r>
              <a:rPr lang="en-US" altLang="en-US" b="1" dirty="0">
                <a:ea typeface="ＭＳ Ｐゴシック" pitchFamily="34" charset="-128"/>
              </a:rPr>
              <a:t>end while</a:t>
            </a:r>
          </a:p>
          <a:p>
            <a:pPr lvl="1">
              <a:lnSpc>
                <a:spcPct val="70000"/>
              </a:lnSpc>
              <a:buFont typeface="Monotype Sorts" charset="2"/>
              <a:buNone/>
              <a:defRPr/>
            </a:pPr>
            <a:r>
              <a:rPr lang="en-US" altLang="en-US" sz="800" dirty="0">
                <a:ea typeface="ＭＳ Ｐゴシック" pitchFamily="34" charset="-128"/>
              </a:rPr>
              <a:t> </a:t>
            </a:r>
          </a:p>
          <a:p>
            <a:pPr lvl="1">
              <a:defRPr/>
            </a:pPr>
            <a:r>
              <a:rPr lang="en-US" altLang="en-US" dirty="0">
                <a:ea typeface="ＭＳ Ｐゴシック" pitchFamily="34" charset="-128"/>
              </a:rPr>
              <a:t> </a:t>
            </a:r>
            <a:r>
              <a:rPr lang="en-US" altLang="en-US" b="1" dirty="0">
                <a:ea typeface="ＭＳ Ｐゴシック" pitchFamily="34" charset="-128"/>
              </a:rPr>
              <a:t>repeat</a:t>
            </a:r>
          </a:p>
          <a:p>
            <a:pPr lvl="2">
              <a:lnSpc>
                <a:spcPct val="70000"/>
              </a:lnSpc>
              <a:buFont typeface="Monotype Sorts" charset="2"/>
              <a:buNone/>
              <a:defRPr/>
            </a:pPr>
            <a:r>
              <a:rPr lang="en-US" altLang="en-US" dirty="0">
                <a:ea typeface="ＭＳ Ｐゴシック" pitchFamily="34" charset="-128"/>
              </a:rPr>
              <a:t>         sequence of statements ;</a:t>
            </a:r>
          </a:p>
          <a:p>
            <a:pPr lvl="1">
              <a:lnSpc>
                <a:spcPct val="70000"/>
              </a:lnSpc>
              <a:buFont typeface="Monotype Sorts" charset="2"/>
              <a:buNone/>
              <a:defRPr/>
            </a:pPr>
            <a:r>
              <a:rPr lang="en-US" altLang="en-US" dirty="0">
                <a:ea typeface="ＭＳ Ｐゴシック" pitchFamily="34" charset="-128"/>
              </a:rPr>
              <a:t>		</a:t>
            </a:r>
            <a:r>
              <a:rPr lang="en-US" altLang="en-US" b="1" dirty="0">
                <a:ea typeface="ＭＳ Ｐゴシック" pitchFamily="34" charset="-128"/>
              </a:rPr>
              <a:t>until</a:t>
            </a:r>
            <a:r>
              <a:rPr lang="en-US" altLang="en-US" dirty="0">
                <a:ea typeface="ＭＳ Ｐゴシック" pitchFamily="34" charset="-128"/>
              </a:rPr>
              <a:t> </a:t>
            </a:r>
            <a:r>
              <a:rPr lang="en-US" altLang="en-US" dirty="0" err="1">
                <a:ea typeface="ＭＳ Ｐゴシック" pitchFamily="34" charset="-128"/>
              </a:rPr>
              <a:t>boolean</a:t>
            </a:r>
            <a:r>
              <a:rPr lang="en-US" altLang="en-US" dirty="0">
                <a:ea typeface="ＭＳ Ｐゴシック" pitchFamily="34" charset="-128"/>
              </a:rPr>
              <a:t> expression </a:t>
            </a:r>
          </a:p>
          <a:p>
            <a:pPr lvl="1">
              <a:lnSpc>
                <a:spcPct val="70000"/>
              </a:lnSpc>
              <a:buFont typeface="Monotype Sorts" charset="2"/>
              <a:buNone/>
              <a:defRPr/>
            </a:pPr>
            <a:r>
              <a:rPr lang="en-US" altLang="en-US" dirty="0">
                <a:ea typeface="ＭＳ Ｐゴシック" pitchFamily="34" charset="-128"/>
              </a:rPr>
              <a:t>		</a:t>
            </a:r>
            <a:r>
              <a:rPr lang="en-US" altLang="en-US" b="1" dirty="0">
                <a:ea typeface="ＭＳ Ｐゴシック" pitchFamily="34" charset="-128"/>
              </a:rPr>
              <a:t>end repeat</a:t>
            </a:r>
          </a:p>
          <a:p>
            <a:pPr indent="-365760"/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latin typeface="新細明體" panose="02020500000000000000" pitchFamily="18" charset="-120"/>
                <a:ea typeface="新細明體" panose="02020500000000000000" pitchFamily="18" charset="-120"/>
              </a:rPr>
              <a:t>※ 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Language Constructs (Cont.)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35063"/>
            <a:ext cx="7734300" cy="4903787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b="1" dirty="0">
                <a:latin typeface="Tahoma" panose="020B0604030504040204" pitchFamily="34" charset="0"/>
              </a:rPr>
              <a:t>For</a:t>
            </a:r>
            <a:r>
              <a:rPr lang="en-US" altLang="en-US" dirty="0">
                <a:latin typeface="Tahoma" panose="020B0604030504040204" pitchFamily="34" charset="0"/>
              </a:rPr>
              <a:t> loop</a:t>
            </a:r>
          </a:p>
          <a:p>
            <a:pPr lvl="1">
              <a:lnSpc>
                <a:spcPct val="80000"/>
              </a:lnSpc>
            </a:pPr>
            <a:r>
              <a:rPr lang="en-US" altLang="en-US" dirty="0">
                <a:latin typeface="Tahoma" panose="020B0604030504040204" pitchFamily="34" charset="0"/>
                <a:ea typeface="ＭＳ Ｐゴシック" panose="020B0600070205080204" pitchFamily="34" charset="-128"/>
              </a:rPr>
              <a:t>Permits iteration over all results of a query</a:t>
            </a:r>
          </a:p>
          <a:p>
            <a:r>
              <a:rPr lang="en-US" altLang="en-US" dirty="0">
                <a:latin typeface="Tahoma" panose="020B0604030504040204" pitchFamily="34" charset="0"/>
              </a:rPr>
              <a:t>Example:   Find the budget of all departments</a:t>
            </a:r>
            <a:br>
              <a:rPr lang="en-US" altLang="en-US" dirty="0">
                <a:latin typeface="Tahoma" panose="020B0604030504040204" pitchFamily="34" charset="0"/>
              </a:rPr>
            </a:br>
            <a:r>
              <a:rPr lang="en-US" altLang="en-US" dirty="0">
                <a:latin typeface="Tahoma" panose="020B0604030504040204" pitchFamily="34" charset="0"/>
              </a:rPr>
              <a:t/>
            </a:r>
            <a:br>
              <a:rPr lang="en-US" altLang="en-US" dirty="0">
                <a:latin typeface="Tahoma" panose="020B0604030504040204" pitchFamily="34" charset="0"/>
              </a:rPr>
            </a:br>
            <a:r>
              <a:rPr lang="en-US" altLang="en-US" dirty="0">
                <a:latin typeface="Tahoma" panose="020B0604030504040204" pitchFamily="34" charset="0"/>
              </a:rPr>
              <a:t>  </a:t>
            </a:r>
            <a:r>
              <a:rPr lang="en-US" altLang="en-US" b="1" dirty="0"/>
              <a:t>declare </a:t>
            </a:r>
            <a:r>
              <a:rPr lang="en-US" altLang="en-US" i="1" dirty="0"/>
              <a:t>n  </a:t>
            </a:r>
            <a:r>
              <a:rPr lang="en-US" altLang="en-US" b="1" dirty="0"/>
              <a:t>integer default </a:t>
            </a:r>
            <a:r>
              <a:rPr lang="en-US" altLang="en-US" dirty="0"/>
              <a:t>0;</a:t>
            </a:r>
            <a:br>
              <a:rPr lang="en-US" altLang="en-US" dirty="0"/>
            </a:br>
            <a:r>
              <a:rPr lang="en-US" altLang="en-US" dirty="0"/>
              <a:t>  </a:t>
            </a:r>
            <a:r>
              <a:rPr lang="en-US" altLang="en-US" b="1" dirty="0"/>
              <a:t>for </a:t>
            </a:r>
            <a:r>
              <a:rPr lang="en-US" altLang="en-US" i="1" dirty="0"/>
              <a:t>r  </a:t>
            </a:r>
            <a:r>
              <a:rPr lang="en-US" altLang="en-US" b="1" dirty="0"/>
              <a:t>as</a:t>
            </a:r>
            <a:br>
              <a:rPr lang="en-US" altLang="en-US" b="1" dirty="0"/>
            </a:br>
            <a:r>
              <a:rPr lang="en-US" altLang="en-US" b="1" dirty="0"/>
              <a:t>         select </a:t>
            </a:r>
            <a:r>
              <a:rPr lang="en-US" altLang="en-US" i="1" dirty="0"/>
              <a:t>budget </a:t>
            </a:r>
            <a:r>
              <a:rPr lang="en-US" altLang="en-US" b="1" dirty="0"/>
              <a:t>from </a:t>
            </a:r>
            <a:r>
              <a:rPr lang="en-US" altLang="en-US" i="1" dirty="0"/>
              <a:t>department</a:t>
            </a:r>
            <a:r>
              <a:rPr lang="en-US" altLang="en-US" strike="dblStrike" dirty="0"/>
              <a:t/>
            </a:r>
            <a:br>
              <a:rPr lang="en-US" altLang="en-US" strike="dblStrike" dirty="0"/>
            </a:br>
            <a:r>
              <a:rPr lang="en-US" altLang="en-US" dirty="0"/>
              <a:t>   </a:t>
            </a:r>
            <a:r>
              <a:rPr lang="en-US" altLang="en-US" b="1" dirty="0"/>
              <a:t>do</a:t>
            </a:r>
            <a:br>
              <a:rPr lang="en-US" altLang="en-US" b="1" dirty="0"/>
            </a:br>
            <a:r>
              <a:rPr lang="en-US" altLang="en-US" b="1" dirty="0"/>
              <a:t>	       set </a:t>
            </a:r>
            <a:r>
              <a:rPr lang="en-US" altLang="en-US" i="1" dirty="0"/>
              <a:t>n </a:t>
            </a:r>
            <a:r>
              <a:rPr lang="en-US" altLang="en-US" dirty="0"/>
              <a:t>= </a:t>
            </a:r>
            <a:r>
              <a:rPr lang="en-US" altLang="en-US" i="1" dirty="0"/>
              <a:t>n </a:t>
            </a:r>
            <a:r>
              <a:rPr lang="en-US" altLang="en-US" dirty="0"/>
              <a:t>+ </a:t>
            </a:r>
            <a:r>
              <a:rPr lang="en-US" altLang="en-US" dirty="0" err="1"/>
              <a:t>r.</a:t>
            </a:r>
            <a:r>
              <a:rPr lang="en-US" altLang="en-US" i="1" dirty="0" err="1"/>
              <a:t>budget</a:t>
            </a:r>
            <a:r>
              <a:rPr lang="en-US" altLang="en-US" i="1" dirty="0"/>
              <a:t/>
            </a:r>
            <a:br>
              <a:rPr lang="en-US" altLang="en-US" i="1" dirty="0"/>
            </a:br>
            <a:r>
              <a:rPr lang="en-US" altLang="en-US" i="1" dirty="0"/>
              <a:t>   </a:t>
            </a:r>
            <a:r>
              <a:rPr lang="en-US" altLang="en-US" b="1" dirty="0"/>
              <a:t>end for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Language Constructs – if-then-else</a:t>
            </a:r>
            <a:endParaRPr lang="en-US" altLang="en-US" sz="32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170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093790"/>
            <a:ext cx="8119618" cy="4903787"/>
          </a:xfrm>
        </p:spPr>
        <p:txBody>
          <a:bodyPr lIns="91440"/>
          <a:lstStyle/>
          <a:p>
            <a:r>
              <a:rPr lang="en-US" altLang="en-US" dirty="0"/>
              <a:t>Conditional statements  (</a:t>
            </a:r>
            <a:r>
              <a:rPr lang="en-US" altLang="en-US" b="1" dirty="0"/>
              <a:t>if-then-else</a:t>
            </a:r>
            <a:r>
              <a:rPr lang="en-US" altLang="en-US" dirty="0"/>
              <a:t>)</a:t>
            </a:r>
          </a:p>
          <a:p>
            <a:pPr>
              <a:buFont typeface="Monotype Sorts" charset="2"/>
              <a:buNone/>
            </a:pPr>
            <a:r>
              <a:rPr lang="en-US" altLang="en-US" dirty="0"/>
              <a:t>              </a:t>
            </a:r>
            <a:r>
              <a:rPr lang="en-US" altLang="en-US" b="1" dirty="0"/>
              <a:t>if</a:t>
            </a:r>
            <a:r>
              <a:rPr lang="en-US" altLang="en-US" dirty="0"/>
              <a:t> </a:t>
            </a:r>
            <a:r>
              <a:rPr lang="en-US" altLang="en-US" i="1" dirty="0" err="1"/>
              <a:t>boolean</a:t>
            </a:r>
            <a:r>
              <a:rPr lang="en-US" altLang="en-US" i="1" dirty="0"/>
              <a:t>  expression </a:t>
            </a:r>
            <a:r>
              <a:rPr lang="en-US" altLang="en-US" b="1" dirty="0"/>
              <a:t/>
            </a:r>
            <a:br>
              <a:rPr lang="en-US" altLang="en-US" b="1" dirty="0"/>
            </a:br>
            <a:r>
              <a:rPr lang="en-US" altLang="en-US" b="1" dirty="0"/>
              <a:t>	    then </a:t>
            </a:r>
            <a:r>
              <a:rPr lang="en-US" altLang="en-US" i="1" dirty="0"/>
              <a:t>statement or compound statement </a:t>
            </a:r>
            <a:br>
              <a:rPr lang="en-US" altLang="en-US" i="1" dirty="0"/>
            </a:br>
            <a:r>
              <a:rPr lang="en-US" altLang="en-US" i="1" dirty="0"/>
              <a:t>	</a:t>
            </a:r>
            <a:r>
              <a:rPr lang="en-US" altLang="en-US" b="1" dirty="0" err="1"/>
              <a:t>elseif</a:t>
            </a:r>
            <a:r>
              <a:rPr lang="en-US" altLang="en-US" b="1" dirty="0"/>
              <a:t> </a:t>
            </a:r>
            <a:r>
              <a:rPr lang="en-US" altLang="en-US" i="1" dirty="0" err="1"/>
              <a:t>boolean</a:t>
            </a:r>
            <a:r>
              <a:rPr lang="en-US" altLang="en-US" i="1" dirty="0"/>
              <a:t>  expression </a:t>
            </a:r>
            <a:r>
              <a:rPr lang="en-US" altLang="en-US" b="1" dirty="0"/>
              <a:t/>
            </a:r>
            <a:br>
              <a:rPr lang="en-US" altLang="en-US" b="1" dirty="0"/>
            </a:br>
            <a:r>
              <a:rPr lang="en-US" altLang="en-US" b="1" dirty="0"/>
              <a:t>	</a:t>
            </a:r>
            <a:r>
              <a:rPr lang="en-US" altLang="en-US" dirty="0"/>
              <a:t>    </a:t>
            </a:r>
            <a:r>
              <a:rPr lang="en-US" altLang="en-US" b="1" dirty="0"/>
              <a:t>then </a:t>
            </a:r>
            <a:r>
              <a:rPr lang="en-US" altLang="en-US" i="1" dirty="0"/>
              <a:t>statement or compound statement 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         </a:t>
            </a:r>
            <a:r>
              <a:rPr lang="en-US" altLang="en-US" b="1" dirty="0"/>
              <a:t>else</a:t>
            </a:r>
            <a:r>
              <a:rPr lang="en-US" altLang="en-US" dirty="0"/>
              <a:t> </a:t>
            </a:r>
            <a:r>
              <a:rPr lang="en-US" altLang="en-US" i="1" dirty="0"/>
              <a:t>statement or compound statement 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	</a:t>
            </a:r>
            <a:r>
              <a:rPr lang="en-US" altLang="en-US" b="1" dirty="0"/>
              <a:t>end</a:t>
            </a:r>
            <a:r>
              <a:rPr lang="en-US" altLang="en-US" dirty="0"/>
              <a:t> </a:t>
            </a:r>
            <a:r>
              <a:rPr lang="en-US" altLang="en-US" b="1" dirty="0"/>
              <a:t>if</a:t>
            </a:r>
          </a:p>
          <a:p>
            <a:pPr indent="-365760"/>
            <a:endParaRPr lang="en-US" altLang="zh-TW" dirty="0"/>
          </a:p>
          <a:p>
            <a:pPr indent="-365760"/>
            <a:r>
              <a:rPr lang="zh-TW" altLang="en-US" dirty="0"/>
              <a:t>複雜的例子請參考課本圖</a:t>
            </a:r>
            <a:r>
              <a:rPr lang="en-US" altLang="zh-TW" dirty="0" smtClean="0"/>
              <a:t>5.8</a:t>
            </a:r>
          </a:p>
          <a:p>
            <a:pPr indent="-365760"/>
            <a:r>
              <a:rPr lang="en-US" altLang="en-US" dirty="0">
                <a:latin typeface="新細明體" panose="02020500000000000000" pitchFamily="18" charset="-120"/>
                <a:ea typeface="新細明體" panose="02020500000000000000" pitchFamily="18" charset="-120"/>
              </a:rPr>
              <a:t>※ </a:t>
            </a:r>
            <a:r>
              <a:rPr lang="en-US" altLang="zh-TW" dirty="0" err="1" smtClean="0"/>
              <a:t>MariaDB</a:t>
            </a:r>
            <a:r>
              <a:rPr lang="en-US" altLang="zh-TW" dirty="0" smtClean="0"/>
              <a:t> </a:t>
            </a:r>
            <a:r>
              <a:rPr lang="en-US" altLang="zh-TW" dirty="0"/>
              <a:t>function: </a:t>
            </a:r>
            <a:r>
              <a:rPr lang="en-US" altLang="zh-TW" dirty="0">
                <a:hlinkClick r:id="rId3"/>
              </a:rPr>
              <a:t>https://mariadb.com/kb/en/create-function</a:t>
            </a:r>
            <a:r>
              <a:rPr lang="en-US" altLang="zh-TW" dirty="0" smtClean="0">
                <a:hlinkClick r:id="rId3"/>
              </a:rPr>
              <a:t>/</a:t>
            </a:r>
            <a:endParaRPr lang="en-US" altLang="zh-TW" dirty="0" smtClean="0"/>
          </a:p>
          <a:p>
            <a:pPr indent="-365760"/>
            <a:r>
              <a:rPr lang="en-US" altLang="en-US" dirty="0">
                <a:latin typeface="新細明體" panose="02020500000000000000" pitchFamily="18" charset="-120"/>
                <a:ea typeface="新細明體" panose="02020500000000000000" pitchFamily="18" charset="-120"/>
              </a:rPr>
              <a:t>※ </a:t>
            </a:r>
            <a:r>
              <a:rPr lang="en-US" altLang="en-US" dirty="0" err="1" smtClean="0"/>
              <a:t>MariaDB</a:t>
            </a:r>
            <a:r>
              <a:rPr lang="en-US" altLang="en-US" dirty="0" smtClean="0"/>
              <a:t> </a:t>
            </a:r>
            <a:r>
              <a:rPr lang="en-US" altLang="en-US" dirty="0"/>
              <a:t>procedure: </a:t>
            </a:r>
            <a:r>
              <a:rPr lang="en-US" altLang="en-US" dirty="0">
                <a:hlinkClick r:id="rId4"/>
              </a:rPr>
              <a:t>https://mariadb.com/kb/en/create-procedure</a:t>
            </a:r>
            <a:r>
              <a:rPr lang="en-US" altLang="en-US" dirty="0" smtClean="0">
                <a:hlinkClick r:id="rId4"/>
              </a:rPr>
              <a:t>/</a:t>
            </a:r>
            <a:endParaRPr lang="en-US" altLang="en-US" dirty="0" smtClean="0"/>
          </a:p>
          <a:p>
            <a:pPr marL="0" indent="0">
              <a:buNone/>
            </a:pPr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latin typeface="新細明體" panose="02020500000000000000" pitchFamily="18" charset="-120"/>
                <a:ea typeface="新細明體" panose="02020500000000000000" pitchFamily="18" charset="-120"/>
              </a:rPr>
              <a:t>※ 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External Language Routines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722313"/>
            <a:ext cx="7692069" cy="5251450"/>
          </a:xfrm>
        </p:spPr>
        <p:txBody>
          <a:bodyPr/>
          <a:lstStyle/>
          <a:p>
            <a:endParaRPr kumimoji="0" lang="en-US" altLang="en-US" dirty="0"/>
          </a:p>
          <a:p>
            <a:r>
              <a:rPr kumimoji="0" lang="en-US" altLang="en-US" dirty="0"/>
              <a:t>SQL allows us to define functions in a programming language such as Java, C#, C or C++. 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Can be more efficient than functions defined in SQL, and computations that cannot be carried out in SQL can be executed by these functions.</a:t>
            </a:r>
          </a:p>
          <a:p>
            <a:r>
              <a:rPr lang="en-US" altLang="en-US" dirty="0"/>
              <a:t>Declaring external language procedures and functions</a:t>
            </a:r>
            <a:br>
              <a:rPr lang="en-US" altLang="en-US" dirty="0"/>
            </a:br>
            <a:endParaRPr lang="en-US" altLang="en-US" dirty="0"/>
          </a:p>
          <a:p>
            <a:pPr>
              <a:buFont typeface="Monotype Sorts" charset="2"/>
              <a:buNone/>
            </a:pPr>
            <a:r>
              <a:rPr lang="en-US" altLang="en-US" dirty="0"/>
              <a:t>	     </a:t>
            </a:r>
            <a:r>
              <a:rPr lang="en-US" altLang="en-US" b="1" dirty="0"/>
              <a:t>create procedure </a:t>
            </a:r>
            <a:r>
              <a:rPr lang="en-US" altLang="en-US" dirty="0" err="1"/>
              <a:t>dept_count_proc</a:t>
            </a:r>
            <a:r>
              <a:rPr lang="en-US" altLang="en-US" dirty="0"/>
              <a:t>(</a:t>
            </a:r>
            <a:r>
              <a:rPr lang="en-US" altLang="en-US" b="1" dirty="0"/>
              <a:t>in</a:t>
            </a:r>
            <a:r>
              <a:rPr lang="en-US" altLang="en-US" dirty="0"/>
              <a:t> </a:t>
            </a:r>
            <a:r>
              <a:rPr lang="en-US" altLang="en-US" i="1" dirty="0" err="1"/>
              <a:t>dept_name</a:t>
            </a:r>
            <a:r>
              <a:rPr lang="en-US" altLang="en-US" i="1" dirty="0"/>
              <a:t> </a:t>
            </a:r>
            <a:r>
              <a:rPr lang="en-US" altLang="en-US" b="1" dirty="0"/>
              <a:t>varchar</a:t>
            </a:r>
            <a:r>
              <a:rPr lang="en-US" altLang="en-US" dirty="0"/>
              <a:t>(20),</a:t>
            </a:r>
            <a:br>
              <a:rPr lang="en-US" altLang="en-US" dirty="0"/>
            </a:br>
            <a:r>
              <a:rPr lang="en-US" altLang="en-US" dirty="0"/>
              <a:t>                                                          </a:t>
            </a:r>
            <a:r>
              <a:rPr lang="en-US" altLang="en-US" b="1" dirty="0"/>
              <a:t>out </a:t>
            </a:r>
            <a:r>
              <a:rPr lang="en-US" altLang="en-US" dirty="0"/>
              <a:t>count </a:t>
            </a:r>
            <a:r>
              <a:rPr lang="en-US" altLang="en-US" b="1" dirty="0"/>
              <a:t>integer</a:t>
            </a:r>
            <a:r>
              <a:rPr lang="en-US" altLang="en-US" dirty="0"/>
              <a:t>)</a:t>
            </a:r>
            <a:br>
              <a:rPr lang="en-US" altLang="en-US" dirty="0"/>
            </a:br>
            <a:r>
              <a:rPr lang="en-US" altLang="en-US" dirty="0"/>
              <a:t>     </a:t>
            </a:r>
            <a:r>
              <a:rPr lang="en-US" altLang="en-US" b="1" dirty="0"/>
              <a:t>language </a:t>
            </a:r>
            <a:r>
              <a:rPr lang="en-US" altLang="en-US" dirty="0"/>
              <a:t>C</a:t>
            </a:r>
            <a:br>
              <a:rPr lang="en-US" altLang="en-US" dirty="0"/>
            </a:br>
            <a:r>
              <a:rPr lang="en-US" altLang="en-US" dirty="0"/>
              <a:t>     </a:t>
            </a:r>
            <a:r>
              <a:rPr lang="en-US" altLang="en-US" b="1" dirty="0"/>
              <a:t>external name </a:t>
            </a:r>
            <a:r>
              <a:rPr lang="ja-JP" altLang="en-US" dirty="0"/>
              <a:t> </a:t>
            </a:r>
            <a:r>
              <a:rPr lang="en-US" altLang="ja-JP" dirty="0"/>
              <a:t> '/</a:t>
            </a:r>
            <a:r>
              <a:rPr lang="en-US" altLang="ja-JP" dirty="0" err="1"/>
              <a:t>usr</a:t>
            </a:r>
            <a:r>
              <a:rPr lang="en-US" altLang="ja-JP" dirty="0"/>
              <a:t>/</a:t>
            </a:r>
            <a:r>
              <a:rPr lang="en-US" altLang="ja-JP" dirty="0" err="1"/>
              <a:t>avi</a:t>
            </a:r>
            <a:r>
              <a:rPr lang="en-US" altLang="ja-JP" dirty="0"/>
              <a:t>/bin/</a:t>
            </a:r>
            <a:r>
              <a:rPr lang="en-US" altLang="ja-JP" dirty="0" err="1"/>
              <a:t>dept_count_proc</a:t>
            </a:r>
            <a:r>
              <a:rPr lang="en-US" altLang="ja-JP" dirty="0"/>
              <a:t>'</a:t>
            </a:r>
            <a:br>
              <a:rPr lang="en-US" altLang="ja-JP" dirty="0"/>
            </a:br>
            <a:r>
              <a:rPr lang="en-US" altLang="ja-JP" dirty="0"/>
              <a:t/>
            </a:r>
            <a:br>
              <a:rPr lang="en-US" altLang="ja-JP" dirty="0"/>
            </a:br>
            <a:r>
              <a:rPr lang="en-US" altLang="ja-JP" dirty="0"/>
              <a:t>     </a:t>
            </a:r>
            <a:r>
              <a:rPr lang="en-US" altLang="ja-JP" b="1" dirty="0"/>
              <a:t>create function </a:t>
            </a:r>
            <a:r>
              <a:rPr lang="en-US" altLang="ja-JP" dirty="0" err="1"/>
              <a:t>dept_count</a:t>
            </a:r>
            <a:r>
              <a:rPr lang="en-US" altLang="ja-JP" dirty="0"/>
              <a:t>(</a:t>
            </a:r>
            <a:r>
              <a:rPr lang="en-US" altLang="ja-JP" i="1" dirty="0" err="1"/>
              <a:t>dept_name</a:t>
            </a:r>
            <a:r>
              <a:rPr lang="en-US" altLang="ja-JP" i="1" dirty="0"/>
              <a:t> </a:t>
            </a:r>
            <a:r>
              <a:rPr lang="en-US" altLang="ja-JP" b="1" dirty="0"/>
              <a:t>varchar</a:t>
            </a:r>
            <a:r>
              <a:rPr lang="en-US" altLang="ja-JP" dirty="0"/>
              <a:t>(20))</a:t>
            </a:r>
            <a:br>
              <a:rPr lang="en-US" altLang="ja-JP" dirty="0"/>
            </a:br>
            <a:r>
              <a:rPr lang="en-US" altLang="ja-JP" dirty="0"/>
              <a:t>     </a:t>
            </a:r>
            <a:r>
              <a:rPr lang="en-US" altLang="ja-JP" b="1" dirty="0"/>
              <a:t>returns </a:t>
            </a:r>
            <a:r>
              <a:rPr lang="en-US" altLang="ja-JP" dirty="0"/>
              <a:t>integer</a:t>
            </a:r>
            <a:br>
              <a:rPr lang="en-US" altLang="ja-JP" dirty="0"/>
            </a:br>
            <a:r>
              <a:rPr lang="en-US" altLang="ja-JP" dirty="0"/>
              <a:t>     </a:t>
            </a:r>
            <a:r>
              <a:rPr lang="en-US" altLang="ja-JP" b="1" dirty="0"/>
              <a:t>language </a:t>
            </a:r>
            <a:r>
              <a:rPr lang="en-US" altLang="ja-JP" dirty="0"/>
              <a:t>C</a:t>
            </a:r>
            <a:br>
              <a:rPr lang="en-US" altLang="ja-JP" dirty="0"/>
            </a:br>
            <a:r>
              <a:rPr lang="en-US" altLang="ja-JP" dirty="0"/>
              <a:t>     </a:t>
            </a:r>
            <a:r>
              <a:rPr lang="en-US" altLang="ja-JP" b="1" dirty="0"/>
              <a:t>external name </a:t>
            </a:r>
            <a:r>
              <a:rPr lang="en-US" altLang="ja-JP" dirty="0"/>
              <a:t>'/</a:t>
            </a:r>
            <a:r>
              <a:rPr lang="en-US" altLang="ja-JP" dirty="0" err="1"/>
              <a:t>usr</a:t>
            </a:r>
            <a:r>
              <a:rPr lang="en-US" altLang="ja-JP" dirty="0"/>
              <a:t>/</a:t>
            </a:r>
            <a:r>
              <a:rPr lang="en-US" altLang="ja-JP" dirty="0" err="1"/>
              <a:t>avi</a:t>
            </a:r>
            <a:r>
              <a:rPr lang="en-US" altLang="ja-JP" dirty="0"/>
              <a:t>/bin/</a:t>
            </a:r>
            <a:r>
              <a:rPr lang="en-US" altLang="ja-JP" dirty="0" err="1"/>
              <a:t>dept_count</a:t>
            </a:r>
            <a:r>
              <a:rPr lang="en-US" altLang="ja-JP" dirty="0"/>
              <a:t>’</a:t>
            </a:r>
          </a:p>
          <a:p>
            <a:r>
              <a:rPr lang="en-US" altLang="ja-JP" dirty="0"/>
              <a:t>Benefit:</a:t>
            </a:r>
            <a:r>
              <a:rPr lang="zh-TW" altLang="en-US" dirty="0"/>
              <a:t>ｅｆｆｉｃｉｅｎｃｙ；　ｄｒａｗｂａｃｋ： </a:t>
            </a:r>
            <a:r>
              <a:rPr lang="en-US" altLang="zh-TW" dirty="0"/>
              <a:t>security</a:t>
            </a:r>
            <a:endParaRPr lang="en-US" altLang="ja-JP" dirty="0"/>
          </a:p>
          <a:p>
            <a:pPr>
              <a:buFont typeface="Monotype Sorts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38004" y="2607785"/>
            <a:ext cx="4398700" cy="1858963"/>
          </a:xfrm>
        </p:spPr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Triggers</a:t>
            </a:r>
          </a:p>
        </p:txBody>
      </p:sp>
      <p:sp>
        <p:nvSpPr>
          <p:cNvPr id="47107" name="Rectangle 4"/>
          <p:cNvSpPr>
            <a:spLocks noChangeArrowheads="1"/>
          </p:cNvSpPr>
          <p:nvPr/>
        </p:nvSpPr>
        <p:spPr bwMode="auto">
          <a:xfrm>
            <a:off x="1435100" y="-763588"/>
            <a:ext cx="184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Triggers (</a:t>
            </a:r>
            <a:r>
              <a:rPr lang="zh-TW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觸發程序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)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55700"/>
            <a:ext cx="7647681" cy="4833938"/>
          </a:xfrm>
        </p:spPr>
        <p:txBody>
          <a:bodyPr/>
          <a:lstStyle/>
          <a:p>
            <a:r>
              <a:rPr lang="en-US" altLang="en-US" dirty="0"/>
              <a:t>A </a:t>
            </a:r>
            <a:r>
              <a:rPr lang="en-US" altLang="en-US" b="1" dirty="0">
                <a:solidFill>
                  <a:srgbClr val="002060"/>
                </a:solidFill>
              </a:rPr>
              <a:t>trigger</a:t>
            </a:r>
            <a:r>
              <a:rPr lang="en-US" altLang="en-US" dirty="0"/>
              <a:t> is a statement that is executed automatically by the system as a side effect of a modification to the database.</a:t>
            </a:r>
          </a:p>
          <a:p>
            <a:r>
              <a:rPr lang="en-US" altLang="en-US" dirty="0"/>
              <a:t>To design a trigger mechanism, we must: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Specify the conditions under which the trigger is to be executed.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Specify the actions to be taken when the trigger executes.</a:t>
            </a:r>
          </a:p>
          <a:p>
            <a:r>
              <a:rPr lang="en-US" altLang="en-US" dirty="0"/>
              <a:t>Triggers introduced to SQL standard in SQL:1999, but supported even earlier using non-standard syntax by most databases.		</a:t>
            </a:r>
          </a:p>
          <a:p>
            <a:pPr lvl="1"/>
            <a:r>
              <a:rPr lang="en-US" altLang="en-US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Syntax illustrated here may not work exactly on your database system; check the system manuals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Triggering Events and Actions in SQL</a:t>
            </a:r>
            <a:endParaRPr lang="en-US" altLang="en-US" sz="32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170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093790"/>
            <a:ext cx="8077199" cy="4903787"/>
          </a:xfrm>
        </p:spPr>
        <p:txBody>
          <a:bodyPr lIns="91440"/>
          <a:lstStyle/>
          <a:p>
            <a:pPr>
              <a:lnSpc>
                <a:spcPct val="90000"/>
              </a:lnSpc>
            </a:pPr>
            <a:r>
              <a:rPr lang="en-US" altLang="en-US" dirty="0"/>
              <a:t>Triggering event can be </a:t>
            </a:r>
            <a:r>
              <a:rPr lang="en-US" altLang="en-US" b="1" dirty="0"/>
              <a:t>insert</a:t>
            </a:r>
            <a:r>
              <a:rPr lang="en-US" altLang="en-US" dirty="0"/>
              <a:t>, </a:t>
            </a:r>
            <a:r>
              <a:rPr lang="en-US" altLang="en-US" b="1" dirty="0"/>
              <a:t>delete</a:t>
            </a:r>
            <a:r>
              <a:rPr lang="en-US" altLang="en-US" dirty="0"/>
              <a:t> or </a:t>
            </a:r>
            <a:r>
              <a:rPr lang="en-US" altLang="en-US" b="1" dirty="0"/>
              <a:t>update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Triggers on update can be restricted to a relation or a specific attribute</a:t>
            </a:r>
            <a:r>
              <a:rPr lang="en-US" altLang="zh-TW" dirty="0"/>
              <a:t>;</a:t>
            </a:r>
            <a:r>
              <a:rPr lang="zh-TW" altLang="en-US" dirty="0"/>
              <a:t> </a:t>
            </a:r>
            <a:r>
              <a:rPr lang="en-US" altLang="zh-TW" dirty="0"/>
              <a:t>e.g.,</a:t>
            </a:r>
            <a:endParaRPr lang="en-US" altLang="en-US" dirty="0"/>
          </a:p>
          <a:p>
            <a:pPr lvl="2">
              <a:lnSpc>
                <a:spcPct val="90000"/>
              </a:lnSpc>
            </a:pPr>
            <a:r>
              <a:rPr lang="en-US" altLang="en-US" b="1" dirty="0">
                <a:ea typeface="ＭＳ Ｐゴシック" panose="020B0600070205080204" pitchFamily="34" charset="-128"/>
              </a:rPr>
              <a:t>after update on</a:t>
            </a:r>
            <a:r>
              <a:rPr lang="en-US" altLang="en-US" i="1" dirty="0">
                <a:ea typeface="ＭＳ Ｐゴシック" panose="020B0600070205080204" pitchFamily="34" charset="-128"/>
              </a:rPr>
              <a:t> </a:t>
            </a:r>
            <a:r>
              <a:rPr lang="en-US" altLang="en-US" i="1" dirty="0" smtClean="0">
                <a:ea typeface="ＭＳ Ｐゴシック" panose="020B0600070205080204" pitchFamily="34" charset="-128"/>
              </a:rPr>
              <a:t>takes </a:t>
            </a:r>
            <a:r>
              <a:rPr lang="en-US" altLang="en-US" i="1" dirty="0">
                <a:ea typeface="ＭＳ Ｐゴシック" panose="020B0600070205080204" pitchFamily="34" charset="-128"/>
              </a:rPr>
              <a:t>&lt;- </a:t>
            </a:r>
            <a:r>
              <a:rPr lang="zh-TW" altLang="en-US" dirty="0">
                <a:ea typeface="ＭＳ Ｐゴシック" panose="020B0600070205080204" pitchFamily="34" charset="-128"/>
              </a:rPr>
              <a:t>較多軟體支援</a:t>
            </a:r>
            <a:endParaRPr lang="en-US" altLang="en-US" b="1" dirty="0">
              <a:ea typeface="ＭＳ Ｐゴシック" panose="020B0600070205080204" pitchFamily="34" charset="-128"/>
            </a:endParaRPr>
          </a:p>
          <a:p>
            <a:pPr lvl="2">
              <a:lnSpc>
                <a:spcPct val="90000"/>
              </a:lnSpc>
            </a:pPr>
            <a:r>
              <a:rPr lang="en-US" altLang="en-US" b="1" dirty="0">
                <a:ea typeface="ＭＳ Ｐゴシック" panose="020B0600070205080204" pitchFamily="34" charset="-128"/>
              </a:rPr>
              <a:t>after update of </a:t>
            </a:r>
            <a:r>
              <a:rPr lang="en-US" altLang="en-US" i="1" dirty="0" smtClean="0">
                <a:ea typeface="ＭＳ Ｐゴシック" panose="020B0600070205080204" pitchFamily="34" charset="-128"/>
              </a:rPr>
              <a:t>grade </a:t>
            </a:r>
            <a:r>
              <a:rPr lang="en-US" altLang="en-US" b="1" dirty="0">
                <a:ea typeface="ＭＳ Ｐゴシック" panose="020B0600070205080204" pitchFamily="34" charset="-128"/>
              </a:rPr>
              <a:t>on</a:t>
            </a:r>
            <a:r>
              <a:rPr lang="en-US" altLang="en-US" i="1" dirty="0">
                <a:ea typeface="ＭＳ Ｐゴシック" panose="020B0600070205080204" pitchFamily="34" charset="-128"/>
              </a:rPr>
              <a:t> </a:t>
            </a:r>
            <a:r>
              <a:rPr lang="en-US" altLang="en-US" i="1" dirty="0" smtClean="0">
                <a:ea typeface="ＭＳ Ｐゴシック" panose="020B0600070205080204" pitchFamily="34" charset="-128"/>
              </a:rPr>
              <a:t>takes </a:t>
            </a:r>
            <a:endParaRPr lang="en-US" altLang="en-US" i="1" dirty="0"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dirty="0"/>
              <a:t>Values of attributes before and after an update can be referenced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ea typeface="ＭＳ Ｐゴシック" panose="020B0600070205080204" pitchFamily="34" charset="-128"/>
              </a:rPr>
              <a:t>referencing old row as</a:t>
            </a:r>
            <a:r>
              <a:rPr lang="en-US" altLang="en-US" dirty="0">
                <a:ea typeface="ＭＳ Ｐゴシック" panose="020B0600070205080204" pitchFamily="34" charset="-128"/>
              </a:rPr>
              <a:t>   </a:t>
            </a:r>
            <a:r>
              <a:rPr lang="en-US" altLang="en-US" b="1" dirty="0">
                <a:ea typeface="ＭＳ Ｐゴシック" panose="020B0600070205080204" pitchFamily="34" charset="-128"/>
              </a:rPr>
              <a:t>: </a:t>
            </a:r>
            <a:r>
              <a:rPr lang="en-US" altLang="en-US" dirty="0">
                <a:ea typeface="ＭＳ Ｐゴシック" panose="020B0600070205080204" pitchFamily="34" charset="-128"/>
              </a:rPr>
              <a:t> for deletes and updates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ea typeface="ＭＳ Ｐゴシック" panose="020B0600070205080204" pitchFamily="34" charset="-128"/>
              </a:rPr>
              <a:t>referencing new row as  : </a:t>
            </a:r>
            <a:r>
              <a:rPr lang="en-US" altLang="en-US" dirty="0">
                <a:ea typeface="ＭＳ Ｐゴシック" panose="020B0600070205080204" pitchFamily="34" charset="-128"/>
              </a:rPr>
              <a:t>for inserts and updates</a:t>
            </a:r>
            <a:endParaRPr lang="en-US" altLang="en-US" b="1" dirty="0"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dirty="0"/>
              <a:t>Triggers can be activated before an event, which can serve as extra constraints.  For example,  convert blank grades to null.</a:t>
            </a:r>
          </a:p>
          <a:p>
            <a:pPr>
              <a:lnSpc>
                <a:spcPct val="90000"/>
              </a:lnSpc>
              <a:buFont typeface="Monotype Sorts" charset="2"/>
              <a:buNone/>
            </a:pPr>
            <a:r>
              <a:rPr lang="en-US" altLang="en-US" sz="800" dirty="0"/>
              <a:t> </a:t>
            </a:r>
          </a:p>
          <a:p>
            <a:pPr>
              <a:buNone/>
            </a:pPr>
            <a:r>
              <a:rPr lang="en-US" altLang="en-US" b="1" dirty="0"/>
              <a:t>		create trigger </a:t>
            </a:r>
            <a:r>
              <a:rPr lang="en-US" altLang="en-US" i="1" dirty="0" err="1"/>
              <a:t>setnull_trigger</a:t>
            </a:r>
            <a:r>
              <a:rPr lang="en-US" altLang="en-US" i="1" dirty="0"/>
              <a:t> </a:t>
            </a:r>
            <a:r>
              <a:rPr lang="en-US" altLang="en-US" b="1" dirty="0"/>
              <a:t>before update </a:t>
            </a:r>
            <a:r>
              <a:rPr lang="en-US" altLang="en-US" i="1" dirty="0" smtClean="0"/>
              <a:t>on takes</a:t>
            </a:r>
            <a:r>
              <a:rPr lang="en-US" altLang="en-US" i="1" dirty="0"/>
              <a:t/>
            </a:r>
            <a:br>
              <a:rPr lang="en-US" altLang="en-US" i="1" dirty="0"/>
            </a:br>
            <a:r>
              <a:rPr lang="en-US" altLang="en-US" b="1" dirty="0"/>
              <a:t>	referencing new row as </a:t>
            </a:r>
            <a:r>
              <a:rPr lang="en-US" altLang="en-US" i="1" dirty="0" err="1"/>
              <a:t>nrow</a:t>
            </a:r>
            <a:r>
              <a:rPr lang="en-US" altLang="en-US" i="1" dirty="0"/>
              <a:t/>
            </a:r>
            <a:br>
              <a:rPr lang="en-US" altLang="en-US" i="1" dirty="0"/>
            </a:br>
            <a:r>
              <a:rPr lang="en-US" altLang="en-US" b="1" dirty="0"/>
              <a:t>	for each row</a:t>
            </a:r>
            <a:br>
              <a:rPr lang="en-US" altLang="en-US" b="1" dirty="0"/>
            </a:br>
            <a:r>
              <a:rPr lang="en-US" altLang="en-US" b="1" dirty="0"/>
              <a:t>	      when (</a:t>
            </a:r>
            <a:r>
              <a:rPr lang="en-US" altLang="en-US" i="1" dirty="0" err="1"/>
              <a:t>nrow.grade</a:t>
            </a:r>
            <a:r>
              <a:rPr lang="en-US" altLang="en-US" dirty="0"/>
              <a:t> = </a:t>
            </a:r>
            <a:r>
              <a:rPr lang="en-US" altLang="ja-JP" dirty="0"/>
              <a:t>‘ ’)</a:t>
            </a:r>
            <a:br>
              <a:rPr lang="en-US" altLang="ja-JP" dirty="0"/>
            </a:br>
            <a:r>
              <a:rPr lang="en-US" altLang="ja-JP" dirty="0"/>
              <a:t>               </a:t>
            </a:r>
            <a:r>
              <a:rPr lang="en-US" altLang="ja-JP" b="1" dirty="0"/>
              <a:t>begin atomic</a:t>
            </a:r>
            <a:r>
              <a:rPr lang="en-US" altLang="ja-JP" i="1" dirty="0"/>
              <a:t/>
            </a:r>
            <a:br>
              <a:rPr lang="en-US" altLang="ja-JP" i="1" dirty="0"/>
            </a:br>
            <a:r>
              <a:rPr lang="en-US" altLang="ja-JP" b="1" dirty="0"/>
              <a:t>	          set </a:t>
            </a:r>
            <a:r>
              <a:rPr lang="en-US" altLang="ja-JP" i="1" dirty="0" err="1"/>
              <a:t>nrow.grade</a:t>
            </a:r>
            <a:r>
              <a:rPr lang="en-US" altLang="ja-JP" i="1" dirty="0"/>
              <a:t> </a:t>
            </a:r>
            <a:r>
              <a:rPr lang="en-US" altLang="ja-JP" dirty="0"/>
              <a:t>= </a:t>
            </a:r>
            <a:r>
              <a:rPr lang="en-US" altLang="ja-JP" b="1" dirty="0"/>
              <a:t>null;</a:t>
            </a:r>
            <a:br>
              <a:rPr lang="en-US" altLang="ja-JP" b="1" dirty="0"/>
            </a:br>
            <a:r>
              <a:rPr lang="en-US" altLang="ja-JP" b="1" dirty="0"/>
              <a:t>         </a:t>
            </a:r>
            <a:r>
              <a:rPr lang="zh-TW" altLang="en-US" b="1" dirty="0"/>
              <a:t>      </a:t>
            </a:r>
            <a:r>
              <a:rPr lang="en-US" altLang="ja-JP" b="1" dirty="0"/>
              <a:t>end;</a:t>
            </a:r>
          </a:p>
          <a:p>
            <a:pPr indent="-365760"/>
            <a:endParaRPr lang="en-US" altLang="en-US" dirty="0"/>
          </a:p>
        </p:txBody>
      </p:sp>
      <p:sp>
        <p:nvSpPr>
          <p:cNvPr id="2" name="右大括弧 1"/>
          <p:cNvSpPr/>
          <p:nvPr/>
        </p:nvSpPr>
        <p:spPr bwMode="auto">
          <a:xfrm>
            <a:off x="4615031" y="4948518"/>
            <a:ext cx="247425" cy="333487"/>
          </a:xfrm>
          <a:prstGeom prst="rightBrac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952755" y="4948518"/>
            <a:ext cx="220108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declare a transaction</a:t>
            </a:r>
            <a:endParaRPr lang="zh-TW" altLang="en-US" dirty="0"/>
          </a:p>
        </p:txBody>
      </p:sp>
    </p:spTree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Trigger </a:t>
            </a:r>
            <a:r>
              <a:rPr lang="en-US" altLang="zh-TW" dirty="0">
                <a:ea typeface="+mj-ea"/>
              </a:rPr>
              <a:t>Example</a:t>
            </a:r>
            <a:r>
              <a:rPr lang="en-US" dirty="0">
                <a:ea typeface="+mj-ea"/>
              </a:rPr>
              <a:t> 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4388" y="1279525"/>
            <a:ext cx="7920037" cy="4903788"/>
          </a:xfrm>
        </p:spPr>
        <p:txBody>
          <a:bodyPr/>
          <a:lstStyle/>
          <a:p>
            <a:r>
              <a:rPr lang="en-US" altLang="zh-TW" dirty="0"/>
              <a:t>E.g. </a:t>
            </a:r>
            <a:r>
              <a:rPr lang="en-US" altLang="zh-TW" i="1" dirty="0" err="1"/>
              <a:t>time_slot_id</a:t>
            </a:r>
            <a:r>
              <a:rPr lang="en-US" altLang="zh-TW" dirty="0"/>
              <a:t> is not a primary key of </a:t>
            </a:r>
            <a:r>
              <a:rPr lang="en-US" altLang="zh-TW" i="1" dirty="0"/>
              <a:t>timeslot, </a:t>
            </a:r>
            <a:r>
              <a:rPr lang="en-US" altLang="zh-TW" dirty="0"/>
              <a:t>so we cannot create a foreign key constraint from </a:t>
            </a:r>
            <a:r>
              <a:rPr lang="en-US" altLang="zh-TW" i="1" dirty="0"/>
              <a:t>section</a:t>
            </a:r>
            <a:r>
              <a:rPr lang="en-US" altLang="zh-TW" dirty="0"/>
              <a:t> to </a:t>
            </a:r>
            <a:r>
              <a:rPr lang="en-US" altLang="zh-TW" i="1" dirty="0"/>
              <a:t>timeslot.</a:t>
            </a:r>
          </a:p>
          <a:p>
            <a:r>
              <a:rPr lang="en-US" altLang="zh-TW" dirty="0"/>
              <a:t>Alternative: use triggers on </a:t>
            </a:r>
            <a:r>
              <a:rPr lang="en-US" altLang="zh-TW" i="1" dirty="0"/>
              <a:t>section</a:t>
            </a:r>
            <a:r>
              <a:rPr lang="en-US" altLang="zh-TW" dirty="0"/>
              <a:t> and </a:t>
            </a:r>
            <a:r>
              <a:rPr lang="en-US" altLang="zh-TW" i="1" dirty="0"/>
              <a:t>timeslot</a:t>
            </a:r>
            <a:r>
              <a:rPr lang="en-US" altLang="zh-TW" dirty="0"/>
              <a:t> to enforce integrity constraints</a:t>
            </a:r>
          </a:p>
          <a:p>
            <a:pPr>
              <a:buFont typeface="Monotype Sorts" pitchFamily="2" charset="2"/>
              <a:buNone/>
            </a:pPr>
            <a:r>
              <a:rPr lang="en-US" altLang="zh-TW" b="1" dirty="0"/>
              <a:t>     create trigger </a:t>
            </a:r>
            <a:r>
              <a:rPr lang="en-US" altLang="zh-TW" i="1" dirty="0"/>
              <a:t>timeslot_check1 </a:t>
            </a:r>
            <a:r>
              <a:rPr lang="en-US" altLang="zh-TW" b="1" dirty="0"/>
              <a:t>after insert on </a:t>
            </a:r>
            <a:r>
              <a:rPr lang="en-US" altLang="zh-TW" i="1" dirty="0"/>
              <a:t>section</a:t>
            </a:r>
            <a:br>
              <a:rPr lang="en-US" altLang="zh-TW" i="1" dirty="0"/>
            </a:br>
            <a:r>
              <a:rPr lang="en-US" altLang="zh-TW" b="1" dirty="0"/>
              <a:t>referencing new row as </a:t>
            </a:r>
            <a:r>
              <a:rPr lang="en-US" altLang="zh-TW" i="1" dirty="0" err="1"/>
              <a:t>nrow</a:t>
            </a:r>
            <a:r>
              <a:rPr lang="en-US" altLang="zh-TW" i="1" dirty="0"/>
              <a:t/>
            </a:r>
            <a:br>
              <a:rPr lang="en-US" altLang="zh-TW" i="1" dirty="0"/>
            </a:br>
            <a:r>
              <a:rPr lang="en-US" altLang="zh-TW" b="1" dirty="0"/>
              <a:t>for each row</a:t>
            </a:r>
            <a:br>
              <a:rPr lang="en-US" altLang="zh-TW" b="1" dirty="0"/>
            </a:br>
            <a:r>
              <a:rPr lang="en-US" altLang="zh-TW" b="1" dirty="0"/>
              <a:t>when </a:t>
            </a:r>
            <a:r>
              <a:rPr lang="en-US" altLang="zh-TW" dirty="0"/>
              <a:t>(</a:t>
            </a:r>
            <a:r>
              <a:rPr lang="en-US" altLang="zh-TW" i="1" dirty="0" err="1"/>
              <a:t>nrow.time_slot_id</a:t>
            </a:r>
            <a:r>
              <a:rPr lang="en-US" altLang="zh-TW" i="1" dirty="0"/>
              <a:t> </a:t>
            </a:r>
            <a:r>
              <a:rPr lang="en-US" altLang="zh-TW" b="1" dirty="0"/>
              <a:t>not in </a:t>
            </a:r>
            <a:r>
              <a:rPr lang="en-US" altLang="zh-TW" dirty="0"/>
              <a:t>(</a:t>
            </a:r>
            <a:br>
              <a:rPr lang="en-US" altLang="zh-TW" dirty="0"/>
            </a:br>
            <a:r>
              <a:rPr lang="en-US" altLang="zh-TW" dirty="0"/>
              <a:t>                 </a:t>
            </a:r>
            <a:r>
              <a:rPr lang="en-US" altLang="zh-TW" b="1" dirty="0"/>
              <a:t>select </a:t>
            </a:r>
            <a:r>
              <a:rPr lang="en-US" altLang="zh-TW" i="1" dirty="0" err="1"/>
              <a:t>time_slot_id</a:t>
            </a:r>
            <a:r>
              <a:rPr lang="en-US" altLang="zh-TW" i="1" dirty="0"/>
              <a:t/>
            </a:r>
            <a:br>
              <a:rPr lang="en-US" altLang="zh-TW" i="1" dirty="0"/>
            </a:br>
            <a:r>
              <a:rPr lang="en-US" altLang="zh-TW" i="1" dirty="0"/>
              <a:t>                 </a:t>
            </a:r>
            <a:r>
              <a:rPr lang="en-US" altLang="zh-TW" b="1" dirty="0"/>
              <a:t>from </a:t>
            </a:r>
            <a:r>
              <a:rPr lang="en-US" altLang="zh-TW" i="1" dirty="0" err="1"/>
              <a:t>time_slot</a:t>
            </a:r>
            <a:r>
              <a:rPr lang="en-US" altLang="zh-TW" dirty="0"/>
              <a:t>)) /* </a:t>
            </a:r>
            <a:r>
              <a:rPr lang="en-US" altLang="zh-TW" i="1" dirty="0" err="1"/>
              <a:t>time_slot_id</a:t>
            </a:r>
            <a:r>
              <a:rPr lang="en-US" altLang="zh-TW" i="1" dirty="0"/>
              <a:t> </a:t>
            </a:r>
            <a:r>
              <a:rPr lang="en-US" altLang="zh-TW" dirty="0"/>
              <a:t>not present in </a:t>
            </a:r>
            <a:r>
              <a:rPr lang="en-US" altLang="zh-TW" i="1" dirty="0" err="1"/>
              <a:t>time_slot</a:t>
            </a:r>
            <a:r>
              <a:rPr lang="en-US" altLang="zh-TW" i="1" dirty="0"/>
              <a:t> </a:t>
            </a:r>
            <a:r>
              <a:rPr lang="en-US" altLang="zh-TW" dirty="0"/>
              <a:t>*/</a:t>
            </a:r>
            <a:br>
              <a:rPr lang="en-US" altLang="zh-TW" dirty="0"/>
            </a:br>
            <a:r>
              <a:rPr lang="en-US" altLang="zh-TW" b="1" dirty="0"/>
              <a:t>begin</a:t>
            </a:r>
            <a:br>
              <a:rPr lang="en-US" altLang="zh-TW" b="1" dirty="0"/>
            </a:br>
            <a:r>
              <a:rPr lang="en-US" altLang="zh-TW" b="1" dirty="0"/>
              <a:t>     rollback</a:t>
            </a:r>
            <a:br>
              <a:rPr lang="en-US" altLang="zh-TW" b="1" dirty="0"/>
            </a:br>
            <a:r>
              <a:rPr lang="en-US" altLang="zh-TW" b="1" dirty="0"/>
              <a:t>end</a:t>
            </a:r>
            <a:r>
              <a:rPr lang="en-US" altLang="zh-TW" dirty="0"/>
              <a:t>;</a:t>
            </a:r>
          </a:p>
          <a:p>
            <a:r>
              <a:rPr lang="zh-TW" altLang="en-US" dirty="0"/>
              <a:t>完整範例請參考課本圖</a:t>
            </a:r>
            <a:r>
              <a:rPr lang="en-US" altLang="zh-TW" dirty="0"/>
              <a:t>5.9</a:t>
            </a:r>
          </a:p>
        </p:txBody>
      </p:sp>
      <p:sp>
        <p:nvSpPr>
          <p:cNvPr id="40964" name="矩形 3"/>
          <p:cNvSpPr>
            <a:spLocks noChangeArrowheads="1"/>
          </p:cNvSpPr>
          <p:nvPr/>
        </p:nvSpPr>
        <p:spPr bwMode="auto">
          <a:xfrm>
            <a:off x="536575" y="5386388"/>
            <a:ext cx="7983538" cy="584200"/>
          </a:xfrm>
          <a:prstGeom prst="rect">
            <a:avLst/>
          </a:prstGeom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dirty="0">
                <a:ea typeface="新細明體" panose="02020500000000000000" pitchFamily="18" charset="-120"/>
              </a:rPr>
              <a:t>section (</a:t>
            </a:r>
            <a:r>
              <a:rPr kumimoji="0" lang="en-US" altLang="zh-TW" u="sng" dirty="0" err="1">
                <a:ea typeface="新細明體" panose="02020500000000000000" pitchFamily="18" charset="-120"/>
              </a:rPr>
              <a:t>course_id</a:t>
            </a:r>
            <a:r>
              <a:rPr kumimoji="0" lang="en-US" altLang="zh-TW" u="sng" dirty="0">
                <a:ea typeface="新細明體" panose="02020500000000000000" pitchFamily="18" charset="-120"/>
              </a:rPr>
              <a:t>, </a:t>
            </a:r>
            <a:r>
              <a:rPr kumimoji="0" lang="en-US" altLang="zh-TW" u="sng" dirty="0" err="1">
                <a:ea typeface="新細明體" panose="02020500000000000000" pitchFamily="18" charset="-120"/>
              </a:rPr>
              <a:t>sec_id</a:t>
            </a:r>
            <a:r>
              <a:rPr kumimoji="0" lang="en-US" altLang="zh-TW" u="sng" dirty="0">
                <a:ea typeface="新細明體" panose="02020500000000000000" pitchFamily="18" charset="-120"/>
              </a:rPr>
              <a:t>, semester, year</a:t>
            </a:r>
            <a:r>
              <a:rPr kumimoji="0" lang="en-US" altLang="zh-TW" dirty="0">
                <a:ea typeface="新細明體" panose="02020500000000000000" pitchFamily="18" charset="-120"/>
              </a:rPr>
              <a:t>, building, </a:t>
            </a:r>
            <a:r>
              <a:rPr kumimoji="0" lang="en-US" altLang="zh-TW" dirty="0" err="1">
                <a:ea typeface="新細明體" panose="02020500000000000000" pitchFamily="18" charset="-120"/>
              </a:rPr>
              <a:t>room_number</a:t>
            </a:r>
            <a:r>
              <a:rPr kumimoji="0" lang="en-US" altLang="zh-TW" dirty="0">
                <a:ea typeface="新細明體" panose="02020500000000000000" pitchFamily="18" charset="-120"/>
              </a:rPr>
              <a:t>, </a:t>
            </a:r>
            <a:r>
              <a:rPr kumimoji="0" lang="en-US" altLang="zh-TW" dirty="0" err="1">
                <a:ea typeface="新細明體" panose="02020500000000000000" pitchFamily="18" charset="-120"/>
              </a:rPr>
              <a:t>time_slot_id</a:t>
            </a:r>
            <a:r>
              <a:rPr kumimoji="0" lang="en-US" altLang="zh-TW" dirty="0">
                <a:ea typeface="新細明體" panose="02020500000000000000" pitchFamily="18" charset="-120"/>
              </a:rPr>
              <a:t>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dirty="0" err="1">
                <a:ea typeface="新細明體" panose="02020500000000000000" pitchFamily="18" charset="-120"/>
              </a:rPr>
              <a:t>time_slot</a:t>
            </a:r>
            <a:r>
              <a:rPr kumimoji="0" lang="en-US" altLang="zh-TW" dirty="0">
                <a:ea typeface="新細明體" panose="02020500000000000000" pitchFamily="18" charset="-120"/>
              </a:rPr>
              <a:t> (</a:t>
            </a:r>
            <a:r>
              <a:rPr kumimoji="0" lang="en-US" altLang="zh-TW" dirty="0" err="1">
                <a:ea typeface="新細明體" panose="02020500000000000000" pitchFamily="18" charset="-120"/>
              </a:rPr>
              <a:t>time_slot_id</a:t>
            </a:r>
            <a:r>
              <a:rPr kumimoji="0" lang="en-US" altLang="zh-TW" dirty="0">
                <a:ea typeface="新細明體" panose="02020500000000000000" pitchFamily="18" charset="-120"/>
              </a:rPr>
              <a:t>, day, </a:t>
            </a:r>
            <a:r>
              <a:rPr kumimoji="0" lang="en-US" altLang="zh-TW" dirty="0" err="1">
                <a:ea typeface="新細明體" panose="02020500000000000000" pitchFamily="18" charset="-120"/>
              </a:rPr>
              <a:t>start_time</a:t>
            </a:r>
            <a:r>
              <a:rPr kumimoji="0" lang="en-US" altLang="zh-TW" dirty="0">
                <a:ea typeface="新細明體" panose="02020500000000000000" pitchFamily="18" charset="-120"/>
              </a:rPr>
              <a:t>, </a:t>
            </a:r>
            <a:r>
              <a:rPr kumimoji="0" lang="en-US" altLang="zh-TW" dirty="0" err="1">
                <a:ea typeface="新細明體" panose="02020500000000000000" pitchFamily="18" charset="-120"/>
              </a:rPr>
              <a:t>end_time</a:t>
            </a:r>
            <a:r>
              <a:rPr kumimoji="0" lang="en-US" altLang="zh-TW" dirty="0">
                <a:ea typeface="新細明體" panose="02020500000000000000" pitchFamily="18" charset="-120"/>
              </a:rPr>
              <a:t>)</a:t>
            </a:r>
          </a:p>
        </p:txBody>
      </p:sp>
      <p:cxnSp>
        <p:nvCxnSpPr>
          <p:cNvPr id="40965" name="直線接點 5"/>
          <p:cNvCxnSpPr>
            <a:cxnSpLocks noChangeShapeType="1"/>
          </p:cNvCxnSpPr>
          <p:nvPr/>
        </p:nvCxnSpPr>
        <p:spPr bwMode="auto">
          <a:xfrm>
            <a:off x="1552575" y="5921375"/>
            <a:ext cx="1495425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3803935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練習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Write triggers to enforce the referential integrity constraint from </a:t>
            </a:r>
            <a:r>
              <a:rPr lang="en-US" altLang="zh-TW" i="1" dirty="0"/>
              <a:t>section</a:t>
            </a:r>
            <a:r>
              <a:rPr lang="en-US" altLang="zh-TW" dirty="0"/>
              <a:t> to </a:t>
            </a:r>
            <a:r>
              <a:rPr lang="en-US" altLang="zh-TW" i="1" dirty="0" err="1"/>
              <a:t>time_slot</a:t>
            </a:r>
            <a:r>
              <a:rPr lang="en-US" altLang="zh-TW" dirty="0"/>
              <a:t>, on </a:t>
            </a:r>
            <a:r>
              <a:rPr lang="en-US" altLang="zh-TW" dirty="0">
                <a:solidFill>
                  <a:srgbClr val="FF0000"/>
                </a:solidFill>
              </a:rPr>
              <a:t>deletion</a:t>
            </a:r>
            <a:r>
              <a:rPr lang="en-US" altLang="zh-TW" dirty="0"/>
              <a:t> to </a:t>
            </a:r>
            <a:r>
              <a:rPr lang="en-US" altLang="zh-TW" i="1" dirty="0" err="1"/>
              <a:t>time_slot</a:t>
            </a:r>
            <a:r>
              <a:rPr lang="en-US" altLang="zh-TW" dirty="0"/>
              <a:t>.</a:t>
            </a:r>
          </a:p>
          <a:p>
            <a:pPr marL="0" indent="0">
              <a:buNone/>
            </a:pPr>
            <a:r>
              <a:rPr lang="en-US" altLang="zh-TW" dirty="0"/>
              <a:t>(hint: You need to check that the </a:t>
            </a:r>
            <a:r>
              <a:rPr lang="en-US" altLang="zh-TW" i="1" dirty="0" err="1"/>
              <a:t>time_slot_id</a:t>
            </a:r>
            <a:r>
              <a:rPr lang="en-US" altLang="zh-TW" dirty="0"/>
              <a:t> of the tuple being deleted is either still present in </a:t>
            </a:r>
            <a:r>
              <a:rPr lang="en-US" altLang="zh-TW" i="1" dirty="0" err="1"/>
              <a:t>time_slot</a:t>
            </a:r>
            <a:r>
              <a:rPr lang="en-US" altLang="zh-TW" dirty="0"/>
              <a:t>, or that no tuple in </a:t>
            </a:r>
            <a:r>
              <a:rPr lang="en-US" altLang="zh-TW" i="1" dirty="0"/>
              <a:t>section </a:t>
            </a:r>
            <a:r>
              <a:rPr lang="en-US" altLang="zh-TW" dirty="0"/>
              <a:t>contains that particular </a:t>
            </a:r>
            <a:r>
              <a:rPr lang="en-US" altLang="zh-TW" dirty="0" err="1"/>
              <a:t>time_slot_id</a:t>
            </a:r>
            <a:r>
              <a:rPr lang="en-US" altLang="zh-TW" dirty="0"/>
              <a:t> value; otherwise, referential integrity would be violated.)</a:t>
            </a:r>
          </a:p>
          <a:p>
            <a:pPr>
              <a:buFont typeface="Monotype Sorts" pitchFamily="2" charset="2"/>
              <a:buNone/>
            </a:pPr>
            <a:r>
              <a:rPr lang="en-US" altLang="zh-TW" dirty="0"/>
              <a:t>Answer:</a:t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272683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874713" y="117475"/>
            <a:ext cx="8077200" cy="609600"/>
          </a:xfrm>
        </p:spPr>
        <p:txBody>
          <a:bodyPr/>
          <a:lstStyle/>
          <a:p>
            <a:r>
              <a:rPr lang="en-US" altLang="en-US">
                <a:effectLst/>
              </a:rPr>
              <a:t>Trigger to Maintain credits_earned value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5174" y="727075"/>
            <a:ext cx="7989704" cy="4903787"/>
          </a:xfrm>
        </p:spPr>
        <p:txBody>
          <a:bodyPr/>
          <a:lstStyle/>
          <a:p>
            <a:r>
              <a:rPr lang="en-US" altLang="en-US" b="1" dirty="0"/>
              <a:t>create trigger </a:t>
            </a:r>
            <a:r>
              <a:rPr lang="en-US" altLang="en-US" i="1" dirty="0" err="1"/>
              <a:t>credits_earned</a:t>
            </a:r>
            <a:r>
              <a:rPr lang="en-US" altLang="en-US" i="1" dirty="0"/>
              <a:t> </a:t>
            </a:r>
            <a:r>
              <a:rPr lang="en-US" altLang="en-US" b="1" dirty="0"/>
              <a:t>after update of </a:t>
            </a:r>
            <a:r>
              <a:rPr lang="en-US" altLang="en-US" i="1" dirty="0" smtClean="0"/>
              <a:t>grade </a:t>
            </a:r>
            <a:r>
              <a:rPr lang="en-US" altLang="en-US" b="1" dirty="0"/>
              <a:t>on </a:t>
            </a:r>
            <a:r>
              <a:rPr lang="en-US" altLang="en-US" i="1" dirty="0" smtClean="0"/>
              <a:t>takes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b="1" dirty="0"/>
              <a:t>referencing new row as </a:t>
            </a:r>
            <a:r>
              <a:rPr lang="en-US" altLang="en-US" i="1" dirty="0" err="1"/>
              <a:t>nrow</a:t>
            </a:r>
            <a:r>
              <a:rPr lang="en-US" altLang="en-US" i="1" dirty="0"/>
              <a:t/>
            </a:r>
            <a:br>
              <a:rPr lang="en-US" altLang="en-US" i="1" dirty="0"/>
            </a:br>
            <a:r>
              <a:rPr lang="en-US" altLang="en-US" b="1" dirty="0"/>
              <a:t>referencing old row as </a:t>
            </a:r>
            <a:r>
              <a:rPr lang="en-US" altLang="en-US" i="1" dirty="0" err="1"/>
              <a:t>orow</a:t>
            </a:r>
            <a:r>
              <a:rPr lang="en-US" altLang="en-US" i="1" dirty="0"/>
              <a:t/>
            </a:r>
            <a:br>
              <a:rPr lang="en-US" altLang="en-US" i="1" dirty="0"/>
            </a:br>
            <a:r>
              <a:rPr lang="en-US" altLang="en-US" b="1" dirty="0"/>
              <a:t>for each row</a:t>
            </a:r>
            <a:br>
              <a:rPr lang="en-US" altLang="en-US" b="1" dirty="0"/>
            </a:br>
            <a:r>
              <a:rPr lang="en-US" altLang="en-US" b="1" dirty="0"/>
              <a:t>when </a:t>
            </a:r>
            <a:r>
              <a:rPr lang="en-US" altLang="en-US" dirty="0"/>
              <a:t>(</a:t>
            </a:r>
            <a:r>
              <a:rPr lang="en-US" altLang="en-US" i="1" dirty="0" err="1"/>
              <a:t>nrow.grade</a:t>
            </a:r>
            <a:r>
              <a:rPr lang="en-US" altLang="en-US" i="1" dirty="0"/>
              <a:t> </a:t>
            </a:r>
            <a:r>
              <a:rPr lang="en-US" altLang="en-US" dirty="0"/>
              <a:t>&lt;&gt; 'F' </a:t>
            </a:r>
            <a:r>
              <a:rPr lang="en-US" altLang="en-US" b="1" dirty="0"/>
              <a:t>and </a:t>
            </a:r>
            <a:r>
              <a:rPr lang="en-US" altLang="en-US" i="1" dirty="0" err="1"/>
              <a:t>nrow.grade</a:t>
            </a:r>
            <a:r>
              <a:rPr lang="en-US" altLang="en-US" i="1" dirty="0"/>
              <a:t> </a:t>
            </a:r>
            <a:r>
              <a:rPr lang="en-US" altLang="en-US" b="1" dirty="0"/>
              <a:t>is not null)</a:t>
            </a:r>
            <a:br>
              <a:rPr lang="en-US" altLang="en-US" b="1" dirty="0"/>
            </a:br>
            <a:r>
              <a:rPr lang="en-US" altLang="en-US" b="1" dirty="0"/>
              <a:t>    and </a:t>
            </a:r>
            <a:r>
              <a:rPr lang="en-US" altLang="en-US" dirty="0"/>
              <a:t>(</a:t>
            </a:r>
            <a:r>
              <a:rPr lang="en-US" altLang="en-US" i="1" dirty="0" err="1"/>
              <a:t>orow.grade</a:t>
            </a:r>
            <a:r>
              <a:rPr lang="en-US" altLang="en-US" i="1" dirty="0"/>
              <a:t> </a:t>
            </a:r>
            <a:r>
              <a:rPr lang="en-US" altLang="en-US" dirty="0"/>
              <a:t>= 'F' </a:t>
            </a:r>
            <a:r>
              <a:rPr lang="en-US" altLang="en-US" b="1" dirty="0"/>
              <a:t>or </a:t>
            </a:r>
            <a:r>
              <a:rPr lang="en-US" altLang="en-US" i="1" dirty="0" err="1"/>
              <a:t>orow.grade</a:t>
            </a:r>
            <a:r>
              <a:rPr lang="en-US" altLang="en-US" i="1" dirty="0"/>
              <a:t> </a:t>
            </a:r>
            <a:r>
              <a:rPr lang="en-US" altLang="en-US" b="1" dirty="0"/>
              <a:t>is null</a:t>
            </a:r>
            <a:r>
              <a:rPr lang="en-US" altLang="en-US" dirty="0"/>
              <a:t>)</a:t>
            </a:r>
            <a:br>
              <a:rPr lang="en-US" altLang="en-US" dirty="0"/>
            </a:br>
            <a:r>
              <a:rPr lang="en-US" altLang="en-US" b="1" dirty="0"/>
              <a:t>begin atomic</a:t>
            </a:r>
            <a:br>
              <a:rPr lang="en-US" altLang="en-US" b="1" dirty="0"/>
            </a:br>
            <a:r>
              <a:rPr lang="en-US" altLang="en-US" b="1" dirty="0"/>
              <a:t>     update </a:t>
            </a:r>
            <a:r>
              <a:rPr lang="en-US" altLang="en-US" i="1" dirty="0"/>
              <a:t>student</a:t>
            </a:r>
            <a:br>
              <a:rPr lang="en-US" altLang="en-US" i="1" dirty="0"/>
            </a:br>
            <a:r>
              <a:rPr lang="en-US" altLang="en-US" i="1" dirty="0"/>
              <a:t>     </a:t>
            </a:r>
            <a:r>
              <a:rPr lang="en-US" altLang="en-US" b="1" dirty="0"/>
              <a:t>set </a:t>
            </a:r>
            <a:r>
              <a:rPr lang="en-US" altLang="en-US" i="1" dirty="0" err="1"/>
              <a:t>tot_cred</a:t>
            </a:r>
            <a:r>
              <a:rPr lang="en-US" altLang="en-US" dirty="0"/>
              <a:t>= </a:t>
            </a:r>
            <a:r>
              <a:rPr lang="en-US" altLang="en-US" i="1" dirty="0" err="1"/>
              <a:t>tot_cred</a:t>
            </a:r>
            <a:r>
              <a:rPr lang="en-US" altLang="en-US" i="1" dirty="0"/>
              <a:t> </a:t>
            </a:r>
            <a:r>
              <a:rPr lang="en-US" altLang="en-US" dirty="0"/>
              <a:t>+ </a:t>
            </a:r>
            <a:br>
              <a:rPr lang="en-US" altLang="en-US" dirty="0"/>
            </a:br>
            <a:r>
              <a:rPr lang="en-US" altLang="en-US" dirty="0"/>
              <a:t>           (</a:t>
            </a:r>
            <a:r>
              <a:rPr lang="en-US" altLang="en-US" b="1" dirty="0"/>
              <a:t>select </a:t>
            </a:r>
            <a:r>
              <a:rPr lang="en-US" altLang="en-US" i="1" dirty="0"/>
              <a:t>credits</a:t>
            </a:r>
            <a:br>
              <a:rPr lang="en-US" altLang="en-US" i="1" dirty="0"/>
            </a:br>
            <a:r>
              <a:rPr lang="en-US" altLang="en-US" i="1" dirty="0"/>
              <a:t>            </a:t>
            </a:r>
            <a:r>
              <a:rPr lang="en-US" altLang="en-US" b="1" dirty="0"/>
              <a:t>from </a:t>
            </a:r>
            <a:r>
              <a:rPr lang="en-US" altLang="en-US" i="1" dirty="0"/>
              <a:t>course</a:t>
            </a:r>
            <a:br>
              <a:rPr lang="en-US" altLang="en-US" i="1" dirty="0"/>
            </a:br>
            <a:r>
              <a:rPr lang="en-US" altLang="en-US" i="1" dirty="0"/>
              <a:t>            </a:t>
            </a:r>
            <a:r>
              <a:rPr lang="en-US" altLang="en-US" b="1" dirty="0"/>
              <a:t>where </a:t>
            </a:r>
            <a:r>
              <a:rPr lang="en-US" altLang="en-US" i="1" dirty="0" err="1"/>
              <a:t>course</a:t>
            </a:r>
            <a:r>
              <a:rPr lang="en-US" altLang="en-US" dirty="0" err="1"/>
              <a:t>.</a:t>
            </a:r>
            <a:r>
              <a:rPr lang="en-US" altLang="en-US" i="1" dirty="0" err="1"/>
              <a:t>course_id</a:t>
            </a:r>
            <a:r>
              <a:rPr lang="en-US" altLang="en-US" dirty="0"/>
              <a:t>= </a:t>
            </a:r>
            <a:r>
              <a:rPr lang="en-US" altLang="en-US" i="1" dirty="0" err="1"/>
              <a:t>nrow.course_id</a:t>
            </a:r>
            <a:r>
              <a:rPr lang="en-US" altLang="en-US" dirty="0"/>
              <a:t>)</a:t>
            </a:r>
            <a:br>
              <a:rPr lang="en-US" altLang="en-US" dirty="0"/>
            </a:br>
            <a:r>
              <a:rPr lang="en-US" altLang="en-US" dirty="0"/>
              <a:t>     </a:t>
            </a:r>
            <a:r>
              <a:rPr lang="en-US" altLang="en-US" b="1" dirty="0"/>
              <a:t>where </a:t>
            </a:r>
            <a:r>
              <a:rPr lang="en-US" altLang="en-US" i="1" dirty="0"/>
              <a:t>student.id </a:t>
            </a:r>
            <a:r>
              <a:rPr lang="en-US" altLang="en-US" dirty="0"/>
              <a:t>= </a:t>
            </a:r>
            <a:r>
              <a:rPr lang="en-US" altLang="en-US" i="1" dirty="0"/>
              <a:t>nrow.id</a:t>
            </a:r>
            <a:r>
              <a:rPr lang="en-US" altLang="en-US" dirty="0"/>
              <a:t>;</a:t>
            </a:r>
            <a:br>
              <a:rPr lang="en-US" altLang="en-US" dirty="0"/>
            </a:br>
            <a:r>
              <a:rPr lang="en-US" altLang="en-US" b="1" dirty="0"/>
              <a:t>end</a:t>
            </a:r>
            <a:r>
              <a:rPr lang="en-US" altLang="en-US" dirty="0"/>
              <a:t>;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0384597"/>
              </p:ext>
            </p:extLst>
          </p:nvPr>
        </p:nvGraphicFramePr>
        <p:xfrm>
          <a:off x="1797050" y="4335463"/>
          <a:ext cx="5989639" cy="113347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84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05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54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21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35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30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1921">
                <a:tc>
                  <a:txBody>
                    <a:bodyPr/>
                    <a:lstStyle/>
                    <a:p>
                      <a:r>
                        <a:rPr lang="en-US" altLang="zh-TW" sz="1800" baseline="0" dirty="0"/>
                        <a:t>ID</a:t>
                      </a:r>
                      <a:endParaRPr lang="zh-TW" altLang="en-US" sz="1800" baseline="0" dirty="0">
                        <a:solidFill>
                          <a:srgbClr val="000099"/>
                        </a:solidFill>
                      </a:endParaRPr>
                    </a:p>
                  </a:txBody>
                  <a:tcPr marL="91433" marR="91433" marT="45707" marB="45707"/>
                </a:tc>
                <a:tc>
                  <a:txBody>
                    <a:bodyPr/>
                    <a:lstStyle/>
                    <a:p>
                      <a:r>
                        <a:rPr lang="en-US" altLang="zh-TW" sz="1800" baseline="0" dirty="0" err="1"/>
                        <a:t>course_id</a:t>
                      </a:r>
                      <a:endParaRPr lang="zh-TW" altLang="en-US" sz="1800" baseline="0" dirty="0">
                        <a:solidFill>
                          <a:srgbClr val="000099"/>
                        </a:solidFill>
                      </a:endParaRPr>
                    </a:p>
                  </a:txBody>
                  <a:tcPr marL="91433" marR="91433" marT="45707" marB="45707"/>
                </a:tc>
                <a:tc>
                  <a:txBody>
                    <a:bodyPr/>
                    <a:lstStyle/>
                    <a:p>
                      <a:r>
                        <a:rPr lang="en-US" altLang="zh-TW" sz="1800" baseline="0" dirty="0" err="1"/>
                        <a:t>sec_id</a:t>
                      </a:r>
                      <a:endParaRPr lang="zh-TW" altLang="en-US" sz="1800" baseline="0" dirty="0">
                        <a:solidFill>
                          <a:srgbClr val="000099"/>
                        </a:solidFill>
                      </a:endParaRPr>
                    </a:p>
                  </a:txBody>
                  <a:tcPr marL="91433" marR="91433" marT="45707" marB="45707"/>
                </a:tc>
                <a:tc>
                  <a:txBody>
                    <a:bodyPr/>
                    <a:lstStyle/>
                    <a:p>
                      <a:r>
                        <a:rPr lang="en-US" altLang="zh-TW" sz="1800" baseline="0" dirty="0"/>
                        <a:t>semester</a:t>
                      </a:r>
                      <a:endParaRPr lang="zh-TW" altLang="en-US" sz="1800" baseline="0" dirty="0">
                        <a:solidFill>
                          <a:srgbClr val="000099"/>
                        </a:solidFill>
                      </a:endParaRPr>
                    </a:p>
                  </a:txBody>
                  <a:tcPr marL="91433" marR="91433" marT="45707" marB="45707"/>
                </a:tc>
                <a:tc>
                  <a:txBody>
                    <a:bodyPr/>
                    <a:lstStyle/>
                    <a:p>
                      <a:r>
                        <a:rPr lang="en-US" altLang="zh-TW" sz="1800" baseline="0" dirty="0"/>
                        <a:t>year</a:t>
                      </a:r>
                      <a:endParaRPr lang="zh-TW" altLang="en-US" sz="1800" baseline="0" dirty="0">
                        <a:solidFill>
                          <a:srgbClr val="000099"/>
                        </a:solidFill>
                      </a:endParaRPr>
                    </a:p>
                  </a:txBody>
                  <a:tcPr marL="91433" marR="91433" marT="45707" marB="45707"/>
                </a:tc>
                <a:tc>
                  <a:txBody>
                    <a:bodyPr/>
                    <a:lstStyle/>
                    <a:p>
                      <a:r>
                        <a:rPr lang="en-US" altLang="zh-TW" sz="1800" baseline="0" dirty="0"/>
                        <a:t>grade</a:t>
                      </a:r>
                      <a:endParaRPr lang="zh-TW" altLang="en-US" sz="1800" baseline="0" dirty="0">
                        <a:solidFill>
                          <a:srgbClr val="000099"/>
                        </a:solidFill>
                      </a:endParaRPr>
                    </a:p>
                  </a:txBody>
                  <a:tcPr marL="91433" marR="91433" marT="45707" marB="4570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77">
                <a:tc rowSpan="2">
                  <a:txBody>
                    <a:bodyPr/>
                    <a:lstStyle/>
                    <a:p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91433" marR="91433" marT="45707" marB="45707"/>
                </a:tc>
                <a:tc rowSpan="2">
                  <a:txBody>
                    <a:bodyPr/>
                    <a:lstStyle/>
                    <a:p>
                      <a:r>
                        <a:rPr lang="en-US" altLang="zh-TW" sz="1800" dirty="0"/>
                        <a:t>CS-101</a:t>
                      </a:r>
                      <a:endParaRPr lang="zh-TW" altLang="en-US" sz="1800" dirty="0"/>
                    </a:p>
                  </a:txBody>
                  <a:tcPr marL="91433" marR="91433" marT="45707" marB="45707"/>
                </a:tc>
                <a:tc rowSpan="2">
                  <a:txBody>
                    <a:bodyPr/>
                    <a:lstStyle/>
                    <a:p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91433" marR="91433" marT="45707" marB="45707"/>
                </a:tc>
                <a:tc rowSpan="2">
                  <a:txBody>
                    <a:bodyPr/>
                    <a:lstStyle/>
                    <a:p>
                      <a:r>
                        <a:rPr lang="en-US" altLang="zh-TW" sz="1800" dirty="0"/>
                        <a:t>Spring</a:t>
                      </a:r>
                      <a:endParaRPr lang="zh-TW" altLang="en-US" sz="1800" dirty="0"/>
                    </a:p>
                  </a:txBody>
                  <a:tcPr marL="91433" marR="91433" marT="45707" marB="45707"/>
                </a:tc>
                <a:tc rowSpan="2">
                  <a:txBody>
                    <a:bodyPr/>
                    <a:lstStyle/>
                    <a:p>
                      <a:r>
                        <a:rPr lang="en-US" altLang="zh-TW" sz="1800" dirty="0"/>
                        <a:t>2010</a:t>
                      </a:r>
                      <a:endParaRPr lang="zh-TW" altLang="en-US" sz="1800" dirty="0"/>
                    </a:p>
                  </a:txBody>
                  <a:tcPr marL="91433" marR="91433" marT="45707" marB="45707"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F 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33" marR="91433" marT="45707" marB="4570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7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800" b="1" dirty="0">
                          <a:solidFill>
                            <a:srgbClr val="FF0000"/>
                          </a:solidFill>
                        </a:rPr>
                        <a:t>A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33" marR="91433" marT="45707" marB="4570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242888" y="5529263"/>
          <a:ext cx="4608512" cy="109711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568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18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7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654">
                <a:tc>
                  <a:txBody>
                    <a:bodyPr/>
                    <a:lstStyle/>
                    <a:p>
                      <a:r>
                        <a:rPr lang="en-US" altLang="zh-TW" sz="1800" baseline="0" dirty="0"/>
                        <a:t>ID</a:t>
                      </a:r>
                      <a:endParaRPr lang="zh-TW" altLang="en-US" sz="1800" baseline="0" dirty="0">
                        <a:solidFill>
                          <a:srgbClr val="000099"/>
                        </a:solidFill>
                      </a:endParaRPr>
                    </a:p>
                  </a:txBody>
                  <a:tcPr marL="91441" marR="91441" marT="45692" marB="45692"/>
                </a:tc>
                <a:tc>
                  <a:txBody>
                    <a:bodyPr/>
                    <a:lstStyle/>
                    <a:p>
                      <a:r>
                        <a:rPr lang="en-US" altLang="zh-TW" sz="1800" baseline="0" dirty="0"/>
                        <a:t>name</a:t>
                      </a:r>
                      <a:endParaRPr lang="zh-TW" altLang="en-US" sz="1800" baseline="0" dirty="0">
                        <a:solidFill>
                          <a:srgbClr val="000099"/>
                        </a:solidFill>
                      </a:endParaRPr>
                    </a:p>
                  </a:txBody>
                  <a:tcPr marL="91441" marR="91441" marT="45692" marB="45692"/>
                </a:tc>
                <a:tc>
                  <a:txBody>
                    <a:bodyPr/>
                    <a:lstStyle/>
                    <a:p>
                      <a:r>
                        <a:rPr lang="en-US" altLang="zh-TW" sz="1800" baseline="0" dirty="0" err="1"/>
                        <a:t>dept_name</a:t>
                      </a:r>
                      <a:endParaRPr lang="zh-TW" altLang="en-US" sz="1800" baseline="0" dirty="0">
                        <a:solidFill>
                          <a:srgbClr val="000099"/>
                        </a:solidFill>
                      </a:endParaRPr>
                    </a:p>
                  </a:txBody>
                  <a:tcPr marL="91441" marR="91441" marT="45692" marB="45692"/>
                </a:tc>
                <a:tc>
                  <a:txBody>
                    <a:bodyPr/>
                    <a:lstStyle/>
                    <a:p>
                      <a:r>
                        <a:rPr lang="en-US" altLang="zh-TW" sz="1800" baseline="0" dirty="0" err="1"/>
                        <a:t>tot_cred</a:t>
                      </a:r>
                      <a:endParaRPr lang="zh-TW" altLang="en-US" sz="1800" baseline="0" dirty="0">
                        <a:solidFill>
                          <a:srgbClr val="000099"/>
                        </a:solidFill>
                      </a:endParaRPr>
                    </a:p>
                  </a:txBody>
                  <a:tcPr marL="91441" marR="91441" marT="45692" marB="4569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4">
                <a:tc rowSpan="2">
                  <a:txBody>
                    <a:bodyPr/>
                    <a:lstStyle/>
                    <a:p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91441" marR="91441" marT="45692" marB="45692"/>
                </a:tc>
                <a:tc rowSpan="2">
                  <a:txBody>
                    <a:bodyPr/>
                    <a:lstStyle/>
                    <a:p>
                      <a:r>
                        <a:rPr lang="en-US" altLang="zh-TW" sz="1800" dirty="0"/>
                        <a:t>John</a:t>
                      </a:r>
                      <a:endParaRPr lang="zh-TW" altLang="en-US" sz="1800" dirty="0"/>
                    </a:p>
                  </a:txBody>
                  <a:tcPr marL="91441" marR="91441" marT="45692" marB="45692"/>
                </a:tc>
                <a:tc rowSpan="2">
                  <a:txBody>
                    <a:bodyPr/>
                    <a:lstStyle/>
                    <a:p>
                      <a:r>
                        <a:rPr lang="en-US" altLang="zh-TW" sz="1800" dirty="0"/>
                        <a:t>Comp. Sci.</a:t>
                      </a:r>
                      <a:endParaRPr lang="zh-TW" altLang="en-US" sz="1800" dirty="0"/>
                    </a:p>
                  </a:txBody>
                  <a:tcPr marL="91441" marR="91441" marT="45692" marB="45692"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100 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41" marR="91441" marT="45692" marB="4569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5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800" b="1" dirty="0">
                          <a:solidFill>
                            <a:srgbClr val="FF0000"/>
                          </a:solidFill>
                        </a:rPr>
                        <a:t>103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41" marR="91441" marT="45692" marB="4569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5224463" y="5707063"/>
          <a:ext cx="3629024" cy="741362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263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0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r>
                        <a:rPr lang="en-US" altLang="zh-TW" sz="1800" baseline="0" dirty="0" err="1"/>
                        <a:t>course_id</a:t>
                      </a:r>
                      <a:endParaRPr lang="zh-TW" altLang="en-US" sz="1800" baseline="0" dirty="0">
                        <a:solidFill>
                          <a:srgbClr val="000099"/>
                        </a:solidFill>
                      </a:endParaRP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altLang="zh-TW" sz="1800" baseline="0" dirty="0"/>
                        <a:t>..</a:t>
                      </a:r>
                      <a:endParaRPr lang="zh-TW" altLang="en-US" sz="1800" baseline="0" dirty="0">
                        <a:solidFill>
                          <a:srgbClr val="000099"/>
                        </a:solidFill>
                      </a:endParaRP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altLang="zh-TW" sz="1800" baseline="0" dirty="0"/>
                        <a:t>..</a:t>
                      </a:r>
                      <a:endParaRPr lang="zh-TW" altLang="en-US" sz="1800" baseline="0" dirty="0">
                        <a:solidFill>
                          <a:srgbClr val="000099"/>
                        </a:solidFill>
                      </a:endParaRPr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altLang="zh-TW" sz="1800" baseline="0" dirty="0"/>
                        <a:t>credits</a:t>
                      </a:r>
                      <a:endParaRPr lang="zh-TW" altLang="en-US" sz="1800" baseline="0" dirty="0">
                        <a:solidFill>
                          <a:srgbClr val="000099"/>
                        </a:solidFill>
                      </a:endParaRPr>
                    </a:p>
                  </a:txBody>
                  <a:tcPr marL="91434" marR="91434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CS-101</a:t>
                      </a:r>
                      <a:endParaRPr lang="zh-TW" altLang="en-US" sz="1800" dirty="0"/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91434" marR="91434" marT="45700" marB="4570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91434" marR="91434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文字方塊 1"/>
          <p:cNvSpPr txBox="1">
            <a:spLocks noChangeArrowheads="1"/>
          </p:cNvSpPr>
          <p:nvPr/>
        </p:nvSpPr>
        <p:spPr bwMode="auto">
          <a:xfrm>
            <a:off x="7148513" y="3908425"/>
            <a:ext cx="7683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i="1">
                <a:solidFill>
                  <a:srgbClr val="0066CC"/>
                </a:solidFill>
              </a:rPr>
              <a:t>takes</a:t>
            </a:r>
            <a:endParaRPr kumimoji="0" lang="zh-TW" altLang="en-US" i="1">
              <a:solidFill>
                <a:srgbClr val="0066CC"/>
              </a:solidFill>
            </a:endParaRPr>
          </a:p>
        </p:txBody>
      </p:sp>
      <p:sp>
        <p:nvSpPr>
          <p:cNvPr id="8" name="文字方塊 7"/>
          <p:cNvSpPr txBox="1">
            <a:spLocks noChangeArrowheads="1"/>
          </p:cNvSpPr>
          <p:nvPr/>
        </p:nvSpPr>
        <p:spPr bwMode="auto">
          <a:xfrm>
            <a:off x="7916863" y="5384800"/>
            <a:ext cx="9810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i="1">
                <a:solidFill>
                  <a:srgbClr val="0066CC"/>
                </a:solidFill>
              </a:rPr>
              <a:t>course</a:t>
            </a:r>
            <a:endParaRPr kumimoji="0" lang="zh-TW" altLang="en-US" i="1">
              <a:solidFill>
                <a:srgbClr val="0066CC"/>
              </a:solidFill>
            </a:endParaRPr>
          </a:p>
        </p:txBody>
      </p:sp>
      <p:sp>
        <p:nvSpPr>
          <p:cNvPr id="9" name="文字方塊 8"/>
          <p:cNvSpPr txBox="1">
            <a:spLocks noChangeArrowheads="1"/>
          </p:cNvSpPr>
          <p:nvPr/>
        </p:nvSpPr>
        <p:spPr bwMode="auto">
          <a:xfrm>
            <a:off x="261938" y="5130800"/>
            <a:ext cx="9366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i="1">
                <a:solidFill>
                  <a:srgbClr val="0066CC"/>
                </a:solidFill>
              </a:rPr>
              <a:t>student</a:t>
            </a:r>
            <a:endParaRPr kumimoji="0" lang="zh-TW" altLang="en-US" i="1">
              <a:solidFill>
                <a:srgbClr val="0066CC"/>
              </a:solidFill>
            </a:endParaRPr>
          </a:p>
        </p:txBody>
      </p:sp>
      <p:cxnSp>
        <p:nvCxnSpPr>
          <p:cNvPr id="10" name="直線單箭頭接點 6"/>
          <p:cNvCxnSpPr>
            <a:cxnSpLocks noChangeShapeType="1"/>
          </p:cNvCxnSpPr>
          <p:nvPr/>
        </p:nvCxnSpPr>
        <p:spPr bwMode="auto">
          <a:xfrm flipH="1">
            <a:off x="7786688" y="4902200"/>
            <a:ext cx="417512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1" name="直線單箭頭接點 9"/>
          <p:cNvCxnSpPr>
            <a:cxnSpLocks noChangeShapeType="1"/>
          </p:cNvCxnSpPr>
          <p:nvPr/>
        </p:nvCxnSpPr>
        <p:spPr bwMode="auto">
          <a:xfrm flipH="1">
            <a:off x="7786688" y="5224463"/>
            <a:ext cx="417512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2" name="文字方塊 1"/>
          <p:cNvSpPr txBox="1">
            <a:spLocks noChangeArrowheads="1"/>
          </p:cNvSpPr>
          <p:nvPr/>
        </p:nvSpPr>
        <p:spPr bwMode="auto">
          <a:xfrm>
            <a:off x="8204200" y="4633913"/>
            <a:ext cx="939800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TW" dirty="0" err="1">
                <a:solidFill>
                  <a:srgbClr val="FF0000"/>
                </a:solidFill>
              </a:rPr>
              <a:t>orow</a:t>
            </a:r>
            <a:endParaRPr lang="en-US" altLang="zh-TW" dirty="0">
              <a:solidFill>
                <a:srgbClr val="FF0000"/>
              </a:solidFill>
            </a:endParaRPr>
          </a:p>
          <a:p>
            <a:pPr>
              <a:lnSpc>
                <a:spcPts val="1400"/>
              </a:lnSpc>
            </a:pPr>
            <a:endParaRPr lang="en-US" altLang="zh-TW" dirty="0">
              <a:solidFill>
                <a:srgbClr val="FF0000"/>
              </a:solidFill>
            </a:endParaRPr>
          </a:p>
          <a:p>
            <a:r>
              <a:rPr lang="en-US" altLang="zh-TW" dirty="0" err="1">
                <a:solidFill>
                  <a:srgbClr val="FF0000"/>
                </a:solidFill>
              </a:rPr>
              <a:t>nrow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>
                <a:effectLst/>
                <a:ea typeface="新細明體" pitchFamily="18" charset="-120"/>
              </a:rPr>
              <a:t>※ </a:t>
            </a:r>
            <a:r>
              <a:rPr lang="zh-TW" altLang="en-US" dirty="0">
                <a:effectLst/>
                <a:ea typeface="新細明體" pitchFamily="18" charset="-120"/>
              </a:rPr>
              <a:t>補充</a:t>
            </a:r>
            <a:r>
              <a:rPr lang="en-US" altLang="zh-TW" dirty="0" err="1"/>
              <a:t>MariaDB</a:t>
            </a:r>
            <a:r>
              <a:rPr lang="zh-TW" altLang="en-US" dirty="0"/>
              <a:t>的</a:t>
            </a:r>
            <a:r>
              <a:rPr lang="en-US" altLang="zh-TW" dirty="0"/>
              <a:t>Trigger</a:t>
            </a:r>
            <a:r>
              <a:rPr lang="zh-TW" altLang="en-US" dirty="0"/>
              <a:t>範例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95654" y="1093788"/>
            <a:ext cx="8449896" cy="5175127"/>
          </a:xfrm>
        </p:spPr>
        <p:txBody>
          <a:bodyPr/>
          <a:lstStyle/>
          <a:p>
            <a:pPr>
              <a:defRPr/>
            </a:pPr>
            <a:r>
              <a:rPr lang="en-US" altLang="zh-TW" dirty="0"/>
              <a:t>Two tables: animals (</a:t>
            </a:r>
            <a:r>
              <a:rPr lang="en-US" altLang="zh-TW" u="sng" dirty="0"/>
              <a:t>ID</a:t>
            </a:r>
            <a:r>
              <a:rPr lang="en-US" altLang="zh-TW" dirty="0"/>
              <a:t>, name); </a:t>
            </a:r>
            <a:r>
              <a:rPr lang="en-US" altLang="zh-TW" dirty="0" err="1"/>
              <a:t>animal_count</a:t>
            </a:r>
            <a:r>
              <a:rPr lang="en-US" altLang="zh-TW" dirty="0"/>
              <a:t> (animals);</a:t>
            </a:r>
          </a:p>
          <a:p>
            <a:pPr>
              <a:defRPr/>
            </a:pPr>
            <a:r>
              <a:rPr lang="en-US" altLang="zh-TW" dirty="0"/>
              <a:t>CREATE TRIGGER </a:t>
            </a:r>
            <a:r>
              <a:rPr lang="en-US" altLang="zh-TW" dirty="0" err="1"/>
              <a:t>increment_animal</a:t>
            </a:r>
            <a:r>
              <a:rPr lang="zh-TW" altLang="en-US" dirty="0"/>
              <a:t> </a:t>
            </a:r>
            <a:r>
              <a:rPr lang="en-US" altLang="zh-TW" dirty="0"/>
              <a:t>AFTER INSERT ON animals</a:t>
            </a:r>
          </a:p>
          <a:p>
            <a:pPr marL="0" indent="0">
              <a:buFont typeface="Monotype Sorts" pitchFamily="2" charset="2"/>
              <a:buNone/>
              <a:defRPr/>
            </a:pPr>
            <a:r>
              <a:rPr lang="en-US" altLang="zh-TW" dirty="0"/>
              <a:t>       FOR EACH ROW </a:t>
            </a:r>
          </a:p>
          <a:p>
            <a:pPr marL="0" indent="0">
              <a:buFont typeface="Monotype Sorts" pitchFamily="2" charset="2"/>
              <a:buNone/>
              <a:defRPr/>
            </a:pPr>
            <a:r>
              <a:rPr lang="en-US" altLang="zh-TW" dirty="0"/>
              <a:t>       UPDATE </a:t>
            </a:r>
            <a:r>
              <a:rPr lang="en-US" altLang="zh-TW" dirty="0" err="1"/>
              <a:t>animal_count</a:t>
            </a:r>
            <a:r>
              <a:rPr lang="en-US" altLang="zh-TW" dirty="0"/>
              <a:t> SET </a:t>
            </a:r>
            <a:r>
              <a:rPr lang="en-US" altLang="zh-TW" dirty="0" err="1"/>
              <a:t>animal_count.animals</a:t>
            </a:r>
            <a:r>
              <a:rPr lang="en-US" altLang="zh-TW" dirty="0"/>
              <a:t> = animal_count.animals+1;</a:t>
            </a:r>
          </a:p>
          <a:p>
            <a:pPr>
              <a:lnSpc>
                <a:spcPts val="1600"/>
              </a:lnSpc>
              <a:defRPr/>
            </a:pPr>
            <a:r>
              <a:rPr lang="en-US" altLang="zh-TW" dirty="0"/>
              <a:t>CREATE TRIGGER </a:t>
            </a:r>
            <a:r>
              <a:rPr lang="en-US" altLang="zh-TW" dirty="0" err="1"/>
              <a:t>the_mooses_are_loose</a:t>
            </a:r>
            <a:r>
              <a:rPr lang="en-US" altLang="zh-TW" dirty="0"/>
              <a:t> AFTER INSERT ON animals</a:t>
            </a:r>
          </a:p>
          <a:p>
            <a:pPr marL="0" indent="0">
              <a:lnSpc>
                <a:spcPts val="1600"/>
              </a:lnSpc>
              <a:buNone/>
              <a:defRPr/>
            </a:pPr>
            <a:r>
              <a:rPr lang="en-US" altLang="zh-TW" dirty="0"/>
              <a:t>        FOR EACH ROW</a:t>
            </a:r>
          </a:p>
          <a:p>
            <a:pPr marL="0" indent="0">
              <a:lnSpc>
                <a:spcPts val="1600"/>
              </a:lnSpc>
              <a:buNone/>
              <a:defRPr/>
            </a:pPr>
            <a:r>
              <a:rPr lang="en-US" altLang="zh-TW" dirty="0"/>
              <a:t>           BEGIN</a:t>
            </a:r>
          </a:p>
          <a:p>
            <a:pPr marL="742950" lvl="2" indent="0">
              <a:lnSpc>
                <a:spcPts val="1600"/>
              </a:lnSpc>
              <a:buNone/>
              <a:defRPr/>
            </a:pPr>
            <a:r>
              <a:rPr lang="en-US" altLang="zh-TW" dirty="0"/>
              <a:t> IF NEW.name = 'Moose' THEN </a:t>
            </a:r>
          </a:p>
          <a:p>
            <a:pPr marL="742950" lvl="2" indent="0">
              <a:lnSpc>
                <a:spcPts val="1600"/>
              </a:lnSpc>
              <a:buNone/>
              <a:defRPr/>
            </a:pPr>
            <a:r>
              <a:rPr lang="en-US" altLang="zh-TW" dirty="0"/>
              <a:t>	   UPDATE </a:t>
            </a:r>
            <a:r>
              <a:rPr lang="en-US" altLang="zh-TW" dirty="0" err="1"/>
              <a:t>animal_count</a:t>
            </a:r>
            <a:r>
              <a:rPr lang="en-US" altLang="zh-TW" dirty="0"/>
              <a:t> SET 		  </a:t>
            </a:r>
          </a:p>
          <a:p>
            <a:pPr marL="742950" lvl="2" indent="0">
              <a:lnSpc>
                <a:spcPts val="1600"/>
              </a:lnSpc>
              <a:buNone/>
              <a:defRPr/>
            </a:pPr>
            <a:r>
              <a:rPr lang="en-US" altLang="zh-TW" dirty="0"/>
              <a:t>      </a:t>
            </a:r>
            <a:r>
              <a:rPr lang="en-US" altLang="zh-TW" dirty="0" err="1"/>
              <a:t>animal_count.animals</a:t>
            </a:r>
            <a:r>
              <a:rPr lang="en-US" altLang="zh-TW" dirty="0"/>
              <a:t> = animal_count.animals+100;</a:t>
            </a:r>
          </a:p>
          <a:p>
            <a:pPr marL="742950" lvl="2" indent="0">
              <a:lnSpc>
                <a:spcPts val="1600"/>
              </a:lnSpc>
              <a:buNone/>
              <a:defRPr/>
            </a:pPr>
            <a:r>
              <a:rPr lang="en-US" altLang="zh-TW" dirty="0"/>
              <a:t> ELSE </a:t>
            </a:r>
          </a:p>
          <a:p>
            <a:pPr marL="742950" lvl="2" indent="0">
              <a:lnSpc>
                <a:spcPts val="1600"/>
              </a:lnSpc>
              <a:buNone/>
              <a:defRPr/>
            </a:pPr>
            <a:r>
              <a:rPr lang="en-US" altLang="zh-TW" dirty="0"/>
              <a:t>      UPDATE </a:t>
            </a:r>
            <a:r>
              <a:rPr lang="en-US" altLang="zh-TW" dirty="0" err="1"/>
              <a:t>animal_count</a:t>
            </a:r>
            <a:r>
              <a:rPr lang="en-US" altLang="zh-TW" dirty="0"/>
              <a:t> SET </a:t>
            </a:r>
          </a:p>
          <a:p>
            <a:pPr marL="742950" lvl="2" indent="0">
              <a:lnSpc>
                <a:spcPts val="1600"/>
              </a:lnSpc>
              <a:buNone/>
              <a:defRPr/>
            </a:pPr>
            <a:r>
              <a:rPr lang="en-US" altLang="zh-TW" dirty="0"/>
              <a:t>	   </a:t>
            </a:r>
            <a:r>
              <a:rPr lang="en-US" altLang="zh-TW" dirty="0" err="1"/>
              <a:t>animal_count.animals</a:t>
            </a:r>
            <a:r>
              <a:rPr lang="en-US" altLang="zh-TW" dirty="0"/>
              <a:t> = animal_count.animals+1;</a:t>
            </a:r>
          </a:p>
          <a:p>
            <a:pPr marL="742950" lvl="2" indent="0">
              <a:lnSpc>
                <a:spcPts val="1600"/>
              </a:lnSpc>
              <a:buNone/>
              <a:defRPr/>
            </a:pPr>
            <a:r>
              <a:rPr lang="en-US" altLang="zh-TW" dirty="0"/>
              <a:t> END IF;</a:t>
            </a:r>
          </a:p>
          <a:p>
            <a:pPr marL="742950" lvl="2" indent="0">
              <a:lnSpc>
                <a:spcPts val="1600"/>
              </a:lnSpc>
              <a:buNone/>
              <a:defRPr/>
            </a:pPr>
            <a:r>
              <a:rPr lang="en-US" altLang="zh-TW" dirty="0"/>
              <a:t>END; </a:t>
            </a:r>
          </a:p>
          <a:p>
            <a:pPr>
              <a:defRPr/>
            </a:pPr>
            <a:r>
              <a:rPr lang="zh-TW" altLang="en-US" dirty="0"/>
              <a:t>參考網址：</a:t>
            </a:r>
            <a:r>
              <a:rPr lang="en-US" altLang="zh-TW" dirty="0"/>
              <a:t> </a:t>
            </a:r>
            <a:r>
              <a:rPr lang="en-US" altLang="zh-TW" u="sng" dirty="0">
                <a:hlinkClick r:id="rId2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https://mariadb.com/kb/en/trigger-overview/</a:t>
            </a:r>
            <a:endParaRPr lang="zh-TW" altLang="zh-TW" dirty="0"/>
          </a:p>
          <a:p>
            <a:pPr marL="0" indent="0">
              <a:buFont typeface="Monotype Sorts" pitchFamily="2" charset="2"/>
              <a:buNone/>
              <a:defRPr/>
            </a:pPr>
            <a:endParaRPr lang="en-US" altLang="zh-TW" dirty="0"/>
          </a:p>
          <a:p>
            <a:pPr marL="0" indent="0">
              <a:buFont typeface="Monotype Sorts" pitchFamily="2" charset="2"/>
              <a:buNone/>
              <a:defRPr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74738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Statement Level Triggers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93800"/>
            <a:ext cx="7692069" cy="4903788"/>
          </a:xfrm>
        </p:spPr>
        <p:txBody>
          <a:bodyPr/>
          <a:lstStyle/>
          <a:p>
            <a:r>
              <a:rPr lang="en-US" altLang="en-US" dirty="0"/>
              <a:t>Instead of executing a separate action for each affected row, a single action can be executed for all rows affected by a transaction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Use     </a:t>
            </a:r>
            <a:r>
              <a:rPr lang="en-US" altLang="en-US" b="1" dirty="0">
                <a:ea typeface="ＭＳ Ｐゴシック" panose="020B0600070205080204" pitchFamily="34" charset="-128"/>
              </a:rPr>
              <a:t>for each statement      </a:t>
            </a:r>
            <a:r>
              <a:rPr lang="en-US" altLang="en-US" dirty="0">
                <a:ea typeface="ＭＳ Ｐゴシック" panose="020B0600070205080204" pitchFamily="34" charset="-128"/>
              </a:rPr>
              <a:t>instead of    </a:t>
            </a:r>
            <a:r>
              <a:rPr lang="en-US" altLang="en-US" b="1" dirty="0">
                <a:ea typeface="ＭＳ Ｐゴシック" panose="020B0600070205080204" pitchFamily="34" charset="-128"/>
              </a:rPr>
              <a:t>for each row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Use     </a:t>
            </a:r>
            <a:r>
              <a:rPr lang="en-US" altLang="en-US" b="1" dirty="0">
                <a:ea typeface="ＭＳ Ｐゴシック" panose="020B0600070205080204" pitchFamily="34" charset="-128"/>
              </a:rPr>
              <a:t>referencing old table</a:t>
            </a:r>
            <a:r>
              <a:rPr lang="en-US" altLang="en-US" dirty="0">
                <a:ea typeface="ＭＳ Ｐゴシック" panose="020B0600070205080204" pitchFamily="34" charset="-128"/>
              </a:rPr>
              <a:t>   or   </a:t>
            </a:r>
            <a:r>
              <a:rPr lang="en-US" altLang="en-US" b="1" dirty="0">
                <a:ea typeface="ＭＳ Ｐゴシック" panose="020B0600070205080204" pitchFamily="34" charset="-128"/>
              </a:rPr>
              <a:t>referencing new table</a:t>
            </a:r>
            <a:r>
              <a:rPr lang="en-US" altLang="en-US" dirty="0">
                <a:ea typeface="ＭＳ Ｐゴシック" panose="020B0600070205080204" pitchFamily="34" charset="-128"/>
              </a:rPr>
              <a:t>   to refer to temporary tables  (called </a:t>
            </a:r>
            <a:r>
              <a:rPr lang="en-US" altLang="en-US" b="1" i="1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transition tables</a:t>
            </a:r>
            <a:r>
              <a:rPr lang="en-US" altLang="en-US" dirty="0">
                <a:ea typeface="ＭＳ Ｐゴシック" panose="020B0600070205080204" pitchFamily="34" charset="-128"/>
              </a:rPr>
              <a:t>) containing the affected rows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Can be more efficient when dealing with SQL statements that update a large number of rows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>
                <a:effectLst/>
                <a:ea typeface="新細明體" pitchFamily="18" charset="-120"/>
              </a:rPr>
              <a:t>※ </a:t>
            </a:r>
            <a:r>
              <a:rPr lang="zh-TW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新細明體" pitchFamily="18" charset="-120"/>
              </a:rPr>
              <a:t>補充</a:t>
            </a:r>
            <a:r>
              <a:rPr lang="en-US" altLang="zh-TW" dirty="0">
                <a:effectLst>
                  <a:outerShdw blurRad="38100" dist="38100" dir="2700000" algn="tl">
                    <a:srgbClr val="C0C0C0"/>
                  </a:outerShdw>
                </a:effectLst>
                <a:ea typeface="新細明體" pitchFamily="18" charset="-120"/>
              </a:rPr>
              <a:t>MS-SQL </a:t>
            </a:r>
            <a:r>
              <a:rPr lang="zh-TW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新細明體" pitchFamily="18" charset="-120"/>
              </a:rPr>
              <a:t>的</a:t>
            </a:r>
            <a:r>
              <a:rPr lang="en-US" altLang="zh-TW" dirty="0">
                <a:effectLst>
                  <a:outerShdw blurRad="38100" dist="38100" dir="2700000" algn="tl">
                    <a:srgbClr val="C0C0C0"/>
                  </a:outerShdw>
                </a:effectLst>
                <a:ea typeface="新細明體" pitchFamily="18" charset="-120"/>
              </a:rPr>
              <a:t>Trigger</a:t>
            </a:r>
            <a:r>
              <a:rPr lang="zh-TW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新細明體" pitchFamily="18" charset="-120"/>
              </a:rPr>
              <a:t>範例</a:t>
            </a:r>
          </a:p>
        </p:txBody>
      </p:sp>
      <p:sp>
        <p:nvSpPr>
          <p:cNvPr id="53251" name="內容版面配置區 2"/>
          <p:cNvSpPr>
            <a:spLocks noGrp="1"/>
          </p:cNvSpPr>
          <p:nvPr>
            <p:ph idx="1"/>
          </p:nvPr>
        </p:nvSpPr>
        <p:spPr>
          <a:xfrm>
            <a:off x="449263" y="658813"/>
            <a:ext cx="8694737" cy="49037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sz="1600">
                <a:ea typeface="新細明體" panose="02020500000000000000" pitchFamily="18" charset="-120"/>
              </a:rPr>
              <a:t>This example creates a trigger that, when an employee job level is inserted or updated, checks that the specified employee job level (</a:t>
            </a:r>
            <a:r>
              <a:rPr lang="en-US" altLang="zh-TW" sz="1600" b="1">
                <a:ea typeface="新細明體" panose="02020500000000000000" pitchFamily="18" charset="-120"/>
              </a:rPr>
              <a:t>job_lv</a:t>
            </a:r>
            <a:r>
              <a:rPr lang="en-US" altLang="zh-TW" sz="1600">
                <a:ea typeface="新細明體" panose="02020500000000000000" pitchFamily="18" charset="-120"/>
              </a:rPr>
              <a:t>) is within the range defined for the job. To get the appropriate range, the </a:t>
            </a:r>
            <a:r>
              <a:rPr lang="en-US" altLang="zh-TW" sz="1600" b="1">
                <a:ea typeface="新細明體" panose="02020500000000000000" pitchFamily="18" charset="-120"/>
              </a:rPr>
              <a:t>jobs</a:t>
            </a:r>
            <a:r>
              <a:rPr lang="en-US" altLang="zh-TW" sz="1600">
                <a:ea typeface="新細明體" panose="02020500000000000000" pitchFamily="18" charset="-120"/>
              </a:rPr>
              <a:t> table must be referenced. </a:t>
            </a:r>
            <a:endParaRPr lang="en-US" altLang="zh-TW" sz="1600" b="1">
              <a:ea typeface="新細明體" panose="02020500000000000000" pitchFamily="18" charset="-12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1600" b="1">
                <a:latin typeface="Arial Unicode MS" panose="020B0604020202020204" pitchFamily="34" charset="-120"/>
                <a:ea typeface="新細明體" panose="02020500000000000000" pitchFamily="18" charset="-120"/>
              </a:rPr>
              <a:t>CREATE TRIGGER</a:t>
            </a:r>
            <a:r>
              <a:rPr lang="en-US" altLang="zh-TW" sz="1600">
                <a:latin typeface="Arial Unicode MS" panose="020B0604020202020204" pitchFamily="34" charset="-120"/>
                <a:ea typeface="新細明體" panose="02020500000000000000" pitchFamily="18" charset="-120"/>
              </a:rPr>
              <a:t> employee_insupd</a:t>
            </a:r>
            <a:r>
              <a:rPr lang="en-US" altLang="zh-TW" sz="1600">
                <a:ea typeface="新細明體" panose="02020500000000000000" pitchFamily="18" charset="-120"/>
              </a:rPr>
              <a:t> </a:t>
            </a:r>
            <a:r>
              <a:rPr lang="en-US" altLang="zh-TW" sz="1600" b="1">
                <a:latin typeface="Arial Unicode MS" panose="020B0604020202020204" pitchFamily="34" charset="-120"/>
                <a:ea typeface="新細明體" panose="02020500000000000000" pitchFamily="18" charset="-120"/>
              </a:rPr>
              <a:t>ON</a:t>
            </a:r>
            <a:r>
              <a:rPr lang="en-US" altLang="zh-TW" sz="1600">
                <a:latin typeface="Arial Unicode MS" panose="020B0604020202020204" pitchFamily="34" charset="-120"/>
                <a:ea typeface="新細明體" panose="02020500000000000000" pitchFamily="18" charset="-120"/>
              </a:rPr>
              <a:t> employee</a:t>
            </a:r>
            <a:r>
              <a:rPr lang="en-US" altLang="zh-TW" sz="1600">
                <a:ea typeface="新細明體" panose="02020500000000000000" pitchFamily="18" charset="-120"/>
              </a:rPr>
              <a:t> </a:t>
            </a:r>
            <a:r>
              <a:rPr lang="en-US" altLang="zh-TW" sz="1600" b="1">
                <a:latin typeface="Arial Unicode MS" panose="020B0604020202020204" pitchFamily="34" charset="-120"/>
                <a:ea typeface="新細明體" panose="02020500000000000000" pitchFamily="18" charset="-120"/>
              </a:rPr>
              <a:t>FOR INSERT, UPDATE</a:t>
            </a:r>
            <a:r>
              <a:rPr lang="en-US" altLang="zh-TW" sz="1600" b="1">
                <a:ea typeface="新細明體" panose="02020500000000000000" pitchFamily="18" charset="-120"/>
              </a:rPr>
              <a:t> </a:t>
            </a:r>
            <a:r>
              <a:rPr lang="en-US" altLang="zh-TW" sz="1600" b="1">
                <a:latin typeface="Arial Unicode MS" panose="020B0604020202020204" pitchFamily="34" charset="-120"/>
                <a:ea typeface="新細明體" panose="02020500000000000000" pitchFamily="18" charset="-120"/>
              </a:rPr>
              <a:t>AS</a:t>
            </a:r>
            <a:endParaRPr lang="en-US" altLang="zh-TW" sz="1600" b="1">
              <a:ea typeface="新細明體" panose="02020500000000000000" pitchFamily="18" charset="-12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1600">
                <a:latin typeface="Arial Unicode MS" panose="020B0604020202020204" pitchFamily="34" charset="-120"/>
                <a:ea typeface="新細明體" panose="02020500000000000000" pitchFamily="18" charset="-120"/>
              </a:rPr>
              <a:t>/* Get the range of level for this job type from the jobs table. */</a:t>
            </a:r>
            <a:endParaRPr lang="en-US" altLang="zh-TW" sz="1600">
              <a:ea typeface="新細明體" panose="02020500000000000000" pitchFamily="18" charset="-12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1600" b="1">
                <a:latin typeface="Arial Unicode MS" panose="020B0604020202020204" pitchFamily="34" charset="-120"/>
                <a:ea typeface="新細明體" panose="02020500000000000000" pitchFamily="18" charset="-120"/>
              </a:rPr>
              <a:t>DECLARE</a:t>
            </a:r>
            <a:r>
              <a:rPr lang="en-US" altLang="zh-TW" sz="1600">
                <a:latin typeface="Arial Unicode MS" panose="020B0604020202020204" pitchFamily="34" charset="-120"/>
                <a:ea typeface="新細明體" panose="02020500000000000000" pitchFamily="18" charset="-120"/>
              </a:rPr>
              <a:t> @min_lv tinyint,</a:t>
            </a:r>
            <a:r>
              <a:rPr lang="en-US" altLang="zh-TW" sz="1600">
                <a:ea typeface="新細明體" panose="02020500000000000000" pitchFamily="18" charset="-120"/>
              </a:rPr>
              <a:t> </a:t>
            </a:r>
            <a:r>
              <a:rPr lang="en-US" altLang="zh-TW" sz="1600">
                <a:latin typeface="Arial Unicode MS" panose="020B0604020202020204" pitchFamily="34" charset="-120"/>
                <a:ea typeface="新細明體" panose="02020500000000000000" pitchFamily="18" charset="-120"/>
              </a:rPr>
              <a:t>@max_lv tinyint,</a:t>
            </a:r>
            <a:r>
              <a:rPr lang="en-US" altLang="zh-TW" sz="1600">
                <a:latin typeface="Times New Roman" panose="02020603050405020304" pitchFamily="18" charset="0"/>
                <a:ea typeface="新細明體" panose="02020500000000000000" pitchFamily="18" charset="-120"/>
              </a:rPr>
              <a:t>   </a:t>
            </a:r>
            <a:r>
              <a:rPr lang="en-US" altLang="zh-TW" sz="1600">
                <a:latin typeface="Arial Unicode MS" panose="020B0604020202020204" pitchFamily="34" charset="-120"/>
                <a:ea typeface="新細明體" panose="02020500000000000000" pitchFamily="18" charset="-120"/>
              </a:rPr>
              <a:t>@emp_lv tinyint,</a:t>
            </a:r>
            <a:r>
              <a:rPr lang="en-US" altLang="zh-TW" sz="1600">
                <a:latin typeface="Times New Roman" panose="02020603050405020304" pitchFamily="18" charset="0"/>
                <a:ea typeface="新細明體" panose="02020500000000000000" pitchFamily="18" charset="-120"/>
              </a:rPr>
              <a:t>    </a:t>
            </a:r>
            <a:r>
              <a:rPr lang="en-US" altLang="zh-TW" sz="1600">
                <a:latin typeface="Arial Unicode MS" panose="020B0604020202020204" pitchFamily="34" charset="-120"/>
                <a:ea typeface="新細明體" panose="02020500000000000000" pitchFamily="18" charset="-120"/>
              </a:rPr>
              <a:t>@job_id smallint</a:t>
            </a:r>
            <a:endParaRPr lang="en-US" altLang="zh-TW" sz="1600">
              <a:ea typeface="新細明體" panose="02020500000000000000" pitchFamily="18" charset="-12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1600">
                <a:latin typeface="Arial Unicode MS" panose="020B0604020202020204" pitchFamily="34" charset="-120"/>
                <a:ea typeface="新細明體" panose="02020500000000000000" pitchFamily="18" charset="-120"/>
              </a:rPr>
              <a:t>SELECT @min_lv = min_lv, </a:t>
            </a:r>
            <a:r>
              <a:rPr lang="en-US" altLang="zh-TW" sz="1600">
                <a:ea typeface="新細明體" panose="02020500000000000000" pitchFamily="18" charset="-120"/>
              </a:rPr>
              <a:t> </a:t>
            </a:r>
            <a:r>
              <a:rPr lang="en-US" altLang="zh-TW" sz="1600">
                <a:latin typeface="Arial Unicode MS" panose="020B0604020202020204" pitchFamily="34" charset="-120"/>
                <a:ea typeface="新細明體" panose="02020500000000000000" pitchFamily="18" charset="-120"/>
              </a:rPr>
              <a:t>@max_lv = max_lv, </a:t>
            </a:r>
            <a:r>
              <a:rPr lang="en-US" altLang="zh-TW" sz="1600">
                <a:latin typeface="Times New Roman" panose="02020603050405020304" pitchFamily="18" charset="0"/>
                <a:ea typeface="新細明體" panose="02020500000000000000" pitchFamily="18" charset="-120"/>
              </a:rPr>
              <a:t>  </a:t>
            </a:r>
            <a:r>
              <a:rPr lang="en-US" altLang="zh-TW" sz="1600">
                <a:latin typeface="Arial Unicode MS" panose="020B0604020202020204" pitchFamily="34" charset="-120"/>
                <a:ea typeface="新細明體" panose="02020500000000000000" pitchFamily="18" charset="-120"/>
              </a:rPr>
              <a:t>@emp_lv = i.job_lv,</a:t>
            </a:r>
            <a:r>
              <a:rPr lang="en-US" altLang="zh-TW" sz="1600">
                <a:latin typeface="Times New Roman" panose="02020603050405020304" pitchFamily="18" charset="0"/>
                <a:ea typeface="新細明體" panose="02020500000000000000" pitchFamily="18" charset="-120"/>
              </a:rPr>
              <a:t>    </a:t>
            </a:r>
            <a:r>
              <a:rPr lang="en-US" altLang="zh-TW" sz="1600">
                <a:latin typeface="Arial Unicode MS" panose="020B0604020202020204" pitchFamily="34" charset="-120"/>
                <a:ea typeface="新細明體" panose="02020500000000000000" pitchFamily="18" charset="-120"/>
              </a:rPr>
              <a:t>@job_id = i.job_id</a:t>
            </a:r>
            <a:endParaRPr lang="en-US" altLang="zh-TW" sz="1600">
              <a:ea typeface="新細明體" panose="02020500000000000000" pitchFamily="18" charset="-12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1600">
                <a:latin typeface="Arial Unicode MS" panose="020B0604020202020204" pitchFamily="34" charset="-120"/>
                <a:ea typeface="新細明體" panose="02020500000000000000" pitchFamily="18" charset="-120"/>
              </a:rPr>
              <a:t>FROM employee e INNER JOIN </a:t>
            </a:r>
            <a:r>
              <a:rPr lang="en-US" altLang="zh-TW" sz="1600" b="1">
                <a:latin typeface="Arial Unicode MS" panose="020B0604020202020204" pitchFamily="34" charset="-120"/>
                <a:ea typeface="新細明體" panose="02020500000000000000" pitchFamily="18" charset="-120"/>
              </a:rPr>
              <a:t>inserted</a:t>
            </a:r>
            <a:r>
              <a:rPr lang="en-US" altLang="zh-TW" sz="1600">
                <a:latin typeface="Arial Unicode MS" panose="020B0604020202020204" pitchFamily="34" charset="-120"/>
                <a:ea typeface="新細明體" panose="02020500000000000000" pitchFamily="18" charset="-120"/>
              </a:rPr>
              <a:t> i ON e.emp_id = i.emp_id INNER JOIN jobs j ON j.job_id = i.job_id</a:t>
            </a:r>
            <a:endParaRPr lang="en-US" altLang="zh-TW" sz="1600">
              <a:ea typeface="新細明體" panose="02020500000000000000" pitchFamily="18" charset="-12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1600" b="1">
                <a:latin typeface="Arial Unicode MS" panose="020B0604020202020204" pitchFamily="34" charset="-120"/>
                <a:ea typeface="新細明體" panose="02020500000000000000" pitchFamily="18" charset="-120"/>
              </a:rPr>
              <a:t>IF</a:t>
            </a:r>
            <a:r>
              <a:rPr lang="en-US" altLang="zh-TW" sz="1600">
                <a:latin typeface="Arial Unicode MS" panose="020B0604020202020204" pitchFamily="34" charset="-120"/>
                <a:ea typeface="新細明體" panose="02020500000000000000" pitchFamily="18" charset="-120"/>
              </a:rPr>
              <a:t> (@job_id = 1) and (@emp_lv &lt;&gt; 10) </a:t>
            </a:r>
            <a:endParaRPr lang="en-US" altLang="zh-TW" sz="1600" b="1">
              <a:ea typeface="新細明體" panose="02020500000000000000" pitchFamily="18" charset="-12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1600" b="1">
                <a:latin typeface="Arial Unicode MS" panose="020B0604020202020204" pitchFamily="34" charset="-120"/>
                <a:ea typeface="新細明體" panose="02020500000000000000" pitchFamily="18" charset="-120"/>
              </a:rPr>
              <a:t>BEGIN</a:t>
            </a:r>
            <a:endParaRPr lang="en-US" altLang="zh-TW" sz="1600" b="1">
              <a:ea typeface="新細明體" panose="02020500000000000000" pitchFamily="18" charset="-12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1600">
                <a:latin typeface="Times New Roman" panose="02020603050405020304" pitchFamily="18" charset="0"/>
                <a:ea typeface="新細明體" panose="02020500000000000000" pitchFamily="18" charset="-120"/>
              </a:rPr>
              <a:t>    </a:t>
            </a:r>
            <a:r>
              <a:rPr lang="en-US" altLang="zh-TW" sz="1600">
                <a:latin typeface="Arial Unicode MS" panose="020B0604020202020204" pitchFamily="34" charset="-120"/>
                <a:ea typeface="新細明體" panose="02020500000000000000" pitchFamily="18" charset="-120"/>
              </a:rPr>
              <a:t>RAISERROR ('Job id 1 expects the default level of 10.')</a:t>
            </a:r>
            <a:endParaRPr lang="en-US" altLang="zh-TW" sz="1600">
              <a:ea typeface="新細明體" panose="02020500000000000000" pitchFamily="18" charset="-12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1600">
                <a:latin typeface="Times New Roman" panose="02020603050405020304" pitchFamily="18" charset="0"/>
                <a:ea typeface="新細明體" panose="02020500000000000000" pitchFamily="18" charset="-120"/>
              </a:rPr>
              <a:t>    </a:t>
            </a:r>
            <a:r>
              <a:rPr lang="en-US" altLang="zh-TW" sz="1600">
                <a:latin typeface="Arial Unicode MS" panose="020B0604020202020204" pitchFamily="34" charset="-120"/>
                <a:ea typeface="新細明體" panose="02020500000000000000" pitchFamily="18" charset="-120"/>
              </a:rPr>
              <a:t>ROLLBACK TRANSACTION</a:t>
            </a:r>
            <a:endParaRPr lang="en-US" altLang="zh-TW" sz="1600">
              <a:ea typeface="新細明體" panose="02020500000000000000" pitchFamily="18" charset="-12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1600" b="1">
                <a:latin typeface="Arial Unicode MS" panose="020B0604020202020204" pitchFamily="34" charset="-120"/>
                <a:ea typeface="新細明體" panose="02020500000000000000" pitchFamily="18" charset="-120"/>
              </a:rPr>
              <a:t>END</a:t>
            </a:r>
            <a:endParaRPr lang="en-US" altLang="zh-TW" sz="1600" b="1">
              <a:ea typeface="新細明體" panose="02020500000000000000" pitchFamily="18" charset="-12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1600" b="1">
                <a:latin typeface="Arial Unicode MS" panose="020B0604020202020204" pitchFamily="34" charset="-120"/>
                <a:ea typeface="新細明體" panose="02020500000000000000" pitchFamily="18" charset="-120"/>
              </a:rPr>
              <a:t>ELSE</a:t>
            </a:r>
            <a:endParaRPr lang="en-US" altLang="zh-TW" sz="1600" b="1">
              <a:ea typeface="新細明體" panose="02020500000000000000" pitchFamily="18" charset="-12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1600" b="1">
                <a:latin typeface="Arial Unicode MS" panose="020B0604020202020204" pitchFamily="34" charset="-120"/>
                <a:ea typeface="新細明體" panose="02020500000000000000" pitchFamily="18" charset="-120"/>
              </a:rPr>
              <a:t>IF </a:t>
            </a:r>
            <a:r>
              <a:rPr lang="en-US" altLang="zh-TW" sz="1600">
                <a:latin typeface="Arial Unicode MS" panose="020B0604020202020204" pitchFamily="34" charset="-120"/>
                <a:ea typeface="新細明體" panose="02020500000000000000" pitchFamily="18" charset="-120"/>
              </a:rPr>
              <a:t>NOT (@emp_lv BETWEEN @min_lv AND @max_lv)</a:t>
            </a:r>
            <a:endParaRPr lang="en-US" altLang="zh-TW" sz="1600">
              <a:ea typeface="新細明體" panose="02020500000000000000" pitchFamily="18" charset="-12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1600" b="1">
                <a:latin typeface="Arial Unicode MS" panose="020B0604020202020204" pitchFamily="34" charset="-120"/>
                <a:ea typeface="新細明體" panose="02020500000000000000" pitchFamily="18" charset="-120"/>
              </a:rPr>
              <a:t>BEGIN</a:t>
            </a:r>
            <a:endParaRPr lang="en-US" altLang="zh-TW" sz="1600" b="1">
              <a:ea typeface="新細明體" panose="02020500000000000000" pitchFamily="18" charset="-12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1600">
                <a:latin typeface="Times New Roman" panose="02020603050405020304" pitchFamily="18" charset="0"/>
                <a:ea typeface="新細明體" panose="02020500000000000000" pitchFamily="18" charset="-120"/>
              </a:rPr>
              <a:t>   </a:t>
            </a:r>
            <a:r>
              <a:rPr lang="en-US" altLang="zh-TW" sz="1600">
                <a:latin typeface="Arial Unicode MS" panose="020B0604020202020204" pitchFamily="34" charset="-120"/>
                <a:ea typeface="新細明體" panose="02020500000000000000" pitchFamily="18" charset="-120"/>
              </a:rPr>
              <a:t>RAISERROR ('The level for job_id:%d should be between %d and %d.', @job_id, @min_lv, @max_lv)</a:t>
            </a:r>
            <a:endParaRPr lang="en-US" altLang="zh-TW" sz="1600">
              <a:ea typeface="新細明體" panose="02020500000000000000" pitchFamily="18" charset="-12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1600">
                <a:latin typeface="Times New Roman" panose="02020603050405020304" pitchFamily="18" charset="0"/>
                <a:ea typeface="新細明體" panose="02020500000000000000" pitchFamily="18" charset="-120"/>
              </a:rPr>
              <a:t>   </a:t>
            </a:r>
            <a:r>
              <a:rPr lang="en-US" altLang="zh-TW" sz="1600">
                <a:latin typeface="Arial Unicode MS" panose="020B0604020202020204" pitchFamily="34" charset="-120"/>
                <a:ea typeface="新細明體" panose="02020500000000000000" pitchFamily="18" charset="-120"/>
              </a:rPr>
              <a:t>ROLLBACK TRANSACTION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1600" b="1">
                <a:latin typeface="Arial Unicode MS" panose="020B0604020202020204" pitchFamily="34" charset="-120"/>
                <a:ea typeface="新細明體" panose="02020500000000000000" pitchFamily="18" charset="-120"/>
              </a:rPr>
              <a:t>END</a:t>
            </a:r>
            <a:endParaRPr lang="zh-TW" altLang="en-US" sz="1600" b="1"/>
          </a:p>
        </p:txBody>
      </p:sp>
    </p:spTree>
    <p:extLst>
      <p:ext uri="{BB962C8B-B14F-4D97-AF65-F5344CB8AC3E}">
        <p14:creationId xmlns:p14="http://schemas.microsoft.com/office/powerpoint/2010/main" val="285134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When Not To Use Triggers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46416"/>
            <a:ext cx="7638802" cy="4570803"/>
          </a:xfrm>
        </p:spPr>
        <p:txBody>
          <a:bodyPr/>
          <a:lstStyle/>
          <a:p>
            <a:r>
              <a:rPr lang="en-US" altLang="en-US" dirty="0"/>
              <a:t>Triggers were used earlier for tasks such as 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Maintaining summary data (e.g., total salary of each department)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Replicating databases by recording changes to special relations (called </a:t>
            </a:r>
            <a:r>
              <a:rPr lang="en-US" altLang="en-US" b="1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change</a:t>
            </a:r>
            <a:r>
              <a:rPr lang="en-US" altLang="en-US" dirty="0">
                <a:ea typeface="ＭＳ Ｐゴシック" panose="020B0600070205080204" pitchFamily="34" charset="-128"/>
              </a:rPr>
              <a:t> or </a:t>
            </a:r>
            <a:r>
              <a:rPr lang="en-US" altLang="en-US" b="1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delta</a:t>
            </a:r>
            <a:r>
              <a:rPr lang="en-US" altLang="en-US" dirty="0">
                <a:ea typeface="ＭＳ Ｐゴシック" panose="020B0600070205080204" pitchFamily="34" charset="-128"/>
              </a:rPr>
              <a:t> relations) and having a separate process that applies the changes over to a replica </a:t>
            </a:r>
          </a:p>
          <a:p>
            <a:r>
              <a:rPr lang="en-US" altLang="en-US" dirty="0"/>
              <a:t>There are better ways of doing these now: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Databases today provide built in materialized view facilities to maintain summary data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Databases provide built-in support for replication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93191</TotalTime>
  <Words>2094</Words>
  <Application>Microsoft Office PowerPoint</Application>
  <PresentationFormat>如螢幕大小 (4:3)</PresentationFormat>
  <Paragraphs>363</Paragraphs>
  <Slides>36</Slides>
  <Notes>28</Notes>
  <HiddenSlides>0</HiddenSlides>
  <MMClips>0</MMClips>
  <ScaleCrop>false</ScaleCrop>
  <HeadingPairs>
    <vt:vector size="8" baseType="variant">
      <vt:variant>
        <vt:lpstr>使用字型</vt:lpstr>
      </vt:variant>
      <vt:variant>
        <vt:i4>12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36</vt:i4>
      </vt:variant>
      <vt:variant>
        <vt:lpstr>自訂放映</vt:lpstr>
      </vt:variant>
      <vt:variant>
        <vt:i4>1</vt:i4>
      </vt:variant>
    </vt:vector>
  </HeadingPairs>
  <TitlesOfParts>
    <vt:vector size="50" baseType="lpstr">
      <vt:lpstr>Arial Unicode MS</vt:lpstr>
      <vt:lpstr>Monotype Sorts</vt:lpstr>
      <vt:lpstr>ＭＳ Ｐゴシック</vt:lpstr>
      <vt:lpstr>ＭＳ Ｐゴシック</vt:lpstr>
      <vt:lpstr>新細明體</vt:lpstr>
      <vt:lpstr>Arial</vt:lpstr>
      <vt:lpstr>Helvetica</vt:lpstr>
      <vt:lpstr>Symbol</vt:lpstr>
      <vt:lpstr>Tahoma</vt:lpstr>
      <vt:lpstr>Times New Roman</vt:lpstr>
      <vt:lpstr>Webdings</vt:lpstr>
      <vt:lpstr>Wingdings</vt:lpstr>
      <vt:lpstr>2_db-5-grey</vt:lpstr>
      <vt:lpstr>Chapter 5: Advanced SQL</vt:lpstr>
      <vt:lpstr>Outline</vt:lpstr>
      <vt:lpstr>Accessing SQL from a Programming Language</vt:lpstr>
      <vt:lpstr>Accessing SQL from a Programming Language (Cont.)</vt:lpstr>
      <vt:lpstr>JDBC SUBSECTIONS       </vt:lpstr>
      <vt:lpstr>JDBC</vt:lpstr>
      <vt:lpstr>JDBC Code</vt:lpstr>
      <vt:lpstr>JDBC Code (Cont.)</vt:lpstr>
      <vt:lpstr>JDBC Code Details       </vt:lpstr>
      <vt:lpstr>Prepared Statement</vt:lpstr>
      <vt:lpstr>Prepared Statement (Cont.)</vt:lpstr>
      <vt:lpstr>SQL Injection</vt:lpstr>
      <vt:lpstr>補充PDO (PHP) prepared statements example</vt:lpstr>
      <vt:lpstr>補充 PDO – query example</vt:lpstr>
      <vt:lpstr>Transaction Control in JDBC</vt:lpstr>
      <vt:lpstr>ODBC</vt:lpstr>
      <vt:lpstr>※ Embedded SQL</vt:lpstr>
      <vt:lpstr>PowerPoint 簡報</vt:lpstr>
      <vt:lpstr>Functions and Procedures</vt:lpstr>
      <vt:lpstr>Declaring SQL Functions</vt:lpstr>
      <vt:lpstr>※ Table Functions</vt:lpstr>
      <vt:lpstr>SQL Procedures</vt:lpstr>
      <vt:lpstr>Language Constructs for Procedures &amp; Functions</vt:lpstr>
      <vt:lpstr>※ Language Constructs (Cont.)</vt:lpstr>
      <vt:lpstr>Language Constructs – if-then-else</vt:lpstr>
      <vt:lpstr>※ External Language Routines</vt:lpstr>
      <vt:lpstr>PowerPoint 簡報</vt:lpstr>
      <vt:lpstr>Triggers (觸發程序)</vt:lpstr>
      <vt:lpstr>Triggering Events and Actions in SQL</vt:lpstr>
      <vt:lpstr>Trigger Example </vt:lpstr>
      <vt:lpstr>練習</vt:lpstr>
      <vt:lpstr>Trigger to Maintain credits_earned value</vt:lpstr>
      <vt:lpstr>※ 補充MariaDB的Trigger範例</vt:lpstr>
      <vt:lpstr>Statement Level Triggers</vt:lpstr>
      <vt:lpstr>※ 補充MS-SQL 的Trigger範例</vt:lpstr>
      <vt:lpstr>When Not To Use Triggers</vt:lpstr>
      <vt:lpstr>Custom Show 1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user</cp:lastModifiedBy>
  <cp:revision>507</cp:revision>
  <cp:lastPrinted>2020-11-23T02:03:37Z</cp:lastPrinted>
  <dcterms:created xsi:type="dcterms:W3CDTF">2009-12-21T15:40:22Z</dcterms:created>
  <dcterms:modified xsi:type="dcterms:W3CDTF">2023-11-04T13:23:17Z</dcterms:modified>
</cp:coreProperties>
</file>